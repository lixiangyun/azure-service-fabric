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959" r:id="rId1"/>
  </p:sldMasterIdLst>
  <p:notesMasterIdLst>
    <p:notesMasterId r:id="rId80"/>
  </p:notesMasterIdLst>
  <p:sldIdLst>
    <p:sldId id="460" r:id="rId2"/>
    <p:sldId id="466" r:id="rId3"/>
    <p:sldId id="472" r:id="rId4"/>
    <p:sldId id="487" r:id="rId5"/>
    <p:sldId id="486" r:id="rId6"/>
    <p:sldId id="281" r:id="rId7"/>
    <p:sldId id="482" r:id="rId8"/>
    <p:sldId id="431" r:id="rId9"/>
    <p:sldId id="477" r:id="rId10"/>
    <p:sldId id="474" r:id="rId11"/>
    <p:sldId id="475" r:id="rId12"/>
    <p:sldId id="256" r:id="rId13"/>
    <p:sldId id="292" r:id="rId14"/>
    <p:sldId id="409" r:id="rId15"/>
    <p:sldId id="288" r:id="rId16"/>
    <p:sldId id="421" r:id="rId17"/>
    <p:sldId id="488" r:id="rId18"/>
    <p:sldId id="287" r:id="rId19"/>
    <p:sldId id="429" r:id="rId20"/>
    <p:sldId id="455" r:id="rId21"/>
    <p:sldId id="430" r:id="rId22"/>
    <p:sldId id="289" r:id="rId23"/>
    <p:sldId id="290" r:id="rId24"/>
    <p:sldId id="362" r:id="rId25"/>
    <p:sldId id="353" r:id="rId26"/>
    <p:sldId id="428" r:id="rId27"/>
    <p:sldId id="478" r:id="rId28"/>
    <p:sldId id="433" r:id="rId29"/>
    <p:sldId id="446" r:id="rId30"/>
    <p:sldId id="310" r:id="rId31"/>
    <p:sldId id="308" r:id="rId32"/>
    <p:sldId id="450" r:id="rId33"/>
    <p:sldId id="434" r:id="rId34"/>
    <p:sldId id="363" r:id="rId35"/>
    <p:sldId id="454" r:id="rId36"/>
    <p:sldId id="312" r:id="rId37"/>
    <p:sldId id="321" r:id="rId38"/>
    <p:sldId id="322" r:id="rId39"/>
    <p:sldId id="294" r:id="rId40"/>
    <p:sldId id="435" r:id="rId41"/>
    <p:sldId id="311" r:id="rId42"/>
    <p:sldId id="453" r:id="rId43"/>
    <p:sldId id="449" r:id="rId44"/>
    <p:sldId id="313" r:id="rId45"/>
    <p:sldId id="295" r:id="rId46"/>
    <p:sldId id="483" r:id="rId47"/>
    <p:sldId id="476" r:id="rId48"/>
    <p:sldId id="441" r:id="rId49"/>
    <p:sldId id="335" r:id="rId50"/>
    <p:sldId id="339" r:id="rId51"/>
    <p:sldId id="436" r:id="rId52"/>
    <p:sldId id="334" r:id="rId53"/>
    <p:sldId id="437" r:id="rId54"/>
    <p:sldId id="341" r:id="rId55"/>
    <p:sldId id="346" r:id="rId56"/>
    <p:sldId id="442" r:id="rId57"/>
    <p:sldId id="489" r:id="rId58"/>
    <p:sldId id="458" r:id="rId59"/>
    <p:sldId id="464" r:id="rId60"/>
    <p:sldId id="471" r:id="rId61"/>
    <p:sldId id="485" r:id="rId62"/>
    <p:sldId id="445" r:id="rId63"/>
    <p:sldId id="270" r:id="rId64"/>
    <p:sldId id="463" r:id="rId65"/>
    <p:sldId id="459" r:id="rId66"/>
    <p:sldId id="468" r:id="rId67"/>
    <p:sldId id="469" r:id="rId68"/>
    <p:sldId id="470" r:id="rId69"/>
    <p:sldId id="298" r:id="rId70"/>
    <p:sldId id="326" r:id="rId71"/>
    <p:sldId id="410" r:id="rId72"/>
    <p:sldId id="456" r:id="rId73"/>
    <p:sldId id="314" r:id="rId74"/>
    <p:sldId id="479" r:id="rId75"/>
    <p:sldId id="480" r:id="rId76"/>
    <p:sldId id="481" r:id="rId77"/>
    <p:sldId id="484" r:id="rId78"/>
    <p:sldId id="467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9970B0-F263-4CFB-99E1-36B577128D52}">
          <p14:sldIdLst>
            <p14:sldId id="460"/>
            <p14:sldId id="466"/>
            <p14:sldId id="472"/>
            <p14:sldId id="487"/>
            <p14:sldId id="486"/>
            <p14:sldId id="281"/>
            <p14:sldId id="482"/>
            <p14:sldId id="431"/>
            <p14:sldId id="477"/>
            <p14:sldId id="474"/>
            <p14:sldId id="475"/>
            <p14:sldId id="256"/>
            <p14:sldId id="292"/>
            <p14:sldId id="409"/>
            <p14:sldId id="288"/>
            <p14:sldId id="421"/>
            <p14:sldId id="488"/>
            <p14:sldId id="287"/>
            <p14:sldId id="429"/>
            <p14:sldId id="455"/>
          </p14:sldIdLst>
        </p14:section>
        <p14:section name="Application Packaging" id="{B8EF61B8-8DBA-4F55-A2D9-F60B5380BFBA}">
          <p14:sldIdLst>
            <p14:sldId id="430"/>
            <p14:sldId id="289"/>
            <p14:sldId id="290"/>
            <p14:sldId id="362"/>
            <p14:sldId id="353"/>
            <p14:sldId id="428"/>
            <p14:sldId id="478"/>
            <p14:sldId id="433"/>
            <p14:sldId id="446"/>
          </p14:sldIdLst>
        </p14:section>
        <p14:section name="Health" id="{9B583692-2EDA-4B08-8A1E-E920EEE55F5A}">
          <p14:sldIdLst>
            <p14:sldId id="310"/>
            <p14:sldId id="308"/>
            <p14:sldId id="450"/>
            <p14:sldId id="434"/>
            <p14:sldId id="363"/>
            <p14:sldId id="454"/>
            <p14:sldId id="312"/>
            <p14:sldId id="321"/>
            <p14:sldId id="322"/>
            <p14:sldId id="294"/>
            <p14:sldId id="435"/>
            <p14:sldId id="311"/>
            <p14:sldId id="453"/>
            <p14:sldId id="449"/>
          </p14:sldIdLst>
        </p14:section>
        <p14:section name="Upgrades" id="{33CC134C-622C-4732-9437-D9D2BF56BB26}">
          <p14:sldIdLst>
            <p14:sldId id="313"/>
            <p14:sldId id="295"/>
            <p14:sldId id="483"/>
            <p14:sldId id="476"/>
            <p14:sldId id="441"/>
            <p14:sldId id="335"/>
            <p14:sldId id="339"/>
            <p14:sldId id="436"/>
            <p14:sldId id="334"/>
          </p14:sldIdLst>
        </p14:section>
        <p14:section name="Updating a Named Service" id="{D29CAE8D-D184-4DC8-BCCA-E1CC7FFA66F0}">
          <p14:sldIdLst>
            <p14:sldId id="437"/>
            <p14:sldId id="341"/>
            <p14:sldId id="346"/>
          </p14:sldIdLst>
        </p14:section>
        <p14:section name="PRB" id="{9F82C88C-C16D-415C-87D4-668D4DA53E75}">
          <p14:sldIdLst>
            <p14:sldId id="442"/>
            <p14:sldId id="489"/>
            <p14:sldId id="458"/>
            <p14:sldId id="464"/>
            <p14:sldId id="471"/>
            <p14:sldId id="485"/>
            <p14:sldId id="445"/>
            <p14:sldId id="270"/>
            <p14:sldId id="463"/>
            <p14:sldId id="459"/>
            <p14:sldId id="468"/>
            <p14:sldId id="469"/>
            <p14:sldId id="470"/>
          </p14:sldIdLst>
        </p14:section>
        <p14:section name="Testability" id="{3E2BF68F-7DF6-4BFA-815C-E4481A56958F}">
          <p14:sldIdLst>
            <p14:sldId id="298"/>
            <p14:sldId id="326"/>
            <p14:sldId id="410"/>
            <p14:sldId id="456"/>
          </p14:sldIdLst>
        </p14:section>
        <p14:section name="Diagnostics" id="{BE0B4D0D-9F47-4983-B069-5CA74AACCC6C}">
          <p14:sldIdLst>
            <p14:sldId id="314"/>
            <p14:sldId id="479"/>
            <p14:sldId id="480"/>
            <p14:sldId id="481"/>
            <p14:sldId id="484"/>
          </p14:sldIdLst>
        </p14:section>
        <p14:section name="Containers" id="{9488C709-7A94-4CB3-A326-C0EAA38E8696}">
          <p14:sldIdLst>
            <p14:sldId id="4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8" autoAdjust="0"/>
    <p:restoredTop sz="87748" autoAdjust="0"/>
  </p:normalViewPr>
  <p:slideViewPr>
    <p:cSldViewPr snapToGrid="0">
      <p:cViewPr varScale="1">
        <p:scale>
          <a:sx n="57" d="100"/>
          <a:sy n="57" d="100"/>
        </p:scale>
        <p:origin x="365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492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D095A-D48C-4EB3-93A4-11A44A9E4AE9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882A8-7401-4BD1-8A1B-5FE40FC4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66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48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867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29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9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32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4E5211-12D7-4616-8071-FB4BA1D2D21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404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8C67A6-C0E7-47DF-97C2-CA9B112753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572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8C67A6-C0E7-47DF-97C2-CA9B112753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739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74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04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179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35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21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6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74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642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445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70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379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517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505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021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848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640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389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334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550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557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850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148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409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846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125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518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468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049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827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837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263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85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3877271"/>
            <a:ext cx="627341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6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9303" y="2075840"/>
            <a:ext cx="9860610" cy="1801436"/>
          </a:xfrm>
          <a:noFill/>
        </p:spPr>
        <p:txBody>
          <a:bodyPr lIns="146304" tIns="91440" rIns="146304" bIns="91440" anchor="t" anchorCtr="0"/>
          <a:lstStyle>
            <a:lvl1pPr>
              <a:defRPr sz="6000" spc="-98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449322" y="6061766"/>
            <a:ext cx="1522404" cy="326167"/>
          </a:xfrm>
          <a:prstGeom prst="rect">
            <a:avLst/>
          </a:prstGeom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3113" y="4309988"/>
            <a:ext cx="12188887" cy="2551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8963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3960406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455 -1.34362E-6 L -3.90605E-7 -1.34362E-6 " pathEditMode="relative" rAng="0" ptsTypes="AA">
                                      <p:cBhvr>
                                        <p:cTn id="9" dur="9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8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" presetClass="emph" presetSubtype="0" accel="100000" autoRev="1" fill="hold" grpId="2" nodeType="withEffect">
                                  <p:stCondLst>
                                    <p:cond delay="50"/>
                                  </p:stCondLst>
                                  <p:childTnLst>
                                    <p:animScale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1455 -1.34362E-6 L -3.90605E-7 -1.34362E-6 " pathEditMode="relative" rAng="0" ptsTypes="AA">
                                      <p:cBhvr>
                                        <p:cTn id="16" dur="9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8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accel="100000" autoRev="1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10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455 -1.34362E-6 L -3.90605E-7 -1.34362E-6 " pathEditMode="relative" rAng="0" ptsTypes="AA">
                                      <p:cBhvr>
                                        <p:cTn id="23" dur="9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8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" presetClass="emph" presetSubtype="0" accel="100000" autoRev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1">
        <p:tmplLst>
          <p:tmpl>
            <p:tnLst>
              <p:par>
                <p:cTn presetID="63" presetClass="path" presetSubtype="0" decel="100000" fill="hold" nodeType="withEffect">
                  <p:stCondLst>
                    <p:cond delay="800"/>
                  </p:stCondLst>
                  <p:childTnLst>
                    <p:animMotion origin="layout" path="M -0.01455 -1.34362E-6 L -3.90605E-7 -1.34362E-6 " pathEditMode="relative" rAng="0" ptsTypes="AA">
                      <p:cBhvr>
                        <p:cTn dur="950" fill="hold"/>
                        <p:tgtEl>
                          <p:spTgt spid="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728" y="0"/>
                    </p:animMotion>
                  </p:childTnLst>
                </p:cTn>
              </p:par>
            </p:tnLst>
          </p:tmpl>
        </p:tmplLst>
      </p:bldP>
      <p:bldP spid="5" grpId="2">
        <p:tmplLst>
          <p:tmpl>
            <p:tnLst>
              <p:par>
                <p:cTn presetID="6" presetClass="emph" presetSubtype="0" accel="100000" autoRev="1" fill="hold" nodeType="withEffect">
                  <p:stCondLst>
                    <p:cond delay="100"/>
                  </p:stCondLst>
                  <p:childTnLst>
                    <p:animScale>
                      <p:cBhvr>
                        <p:cTn dur="500" fill="hold"/>
                        <p:tgtEl>
                          <p:spTgt spid="5"/>
                        </p:tgtEl>
                      </p:cBhvr>
                      <p:by x="95000" y="95000"/>
                    </p:animScale>
                  </p:childTnLst>
                </p:cTn>
              </p:par>
            </p:tnLst>
          </p:tmpl>
        </p:tmplLst>
      </p:bldP>
      <p:bldP spid="9" grpId="0"/>
      <p:bldP spid="9" grpId="1"/>
      <p:bldP spid="9" grpId="2"/>
    </p:bldLst>
  </p:timing>
  <p:extLst mod="1">
    <p:ext uri="{DCECCB84-F9BA-43D5-87BE-67443E8EF086}">
      <p15:sldGuideLst xmlns:p15="http://schemas.microsoft.com/office/powerpoint/2012/main">
        <p15:guide id="4" orient="horz" pos="4406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72"/>
            <a:ext cx="11653523" cy="1403461"/>
          </a:xfrm>
          <a:noFill/>
        </p:spPr>
        <p:txBody>
          <a:bodyPr tIns="91440" bIns="91440" anchor="t" anchorCtr="0">
            <a:spAutoFit/>
          </a:bodyPr>
          <a:lstStyle>
            <a:lvl1pPr algn="l" defTabSz="91436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800" b="0" kern="1200" cap="none" spc="-98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9343387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214965"/>
          </a:xfrm>
        </p:spPr>
        <p:txBody>
          <a:bodyPr>
            <a:spAutoFit/>
          </a:bodyPr>
          <a:lstStyle>
            <a:lvl1pPr>
              <a:buClrTx/>
              <a:defRPr sz="3600">
                <a:solidFill>
                  <a:schemeClr val="tx1"/>
                </a:solidFill>
              </a:defRPr>
            </a:lvl1pPr>
            <a:lvl2pPr>
              <a:buClrTx/>
              <a:defRPr sz="2400">
                <a:solidFill>
                  <a:schemeClr val="tx1"/>
                </a:solidFill>
              </a:defRPr>
            </a:lvl2pPr>
            <a:lvl3pPr>
              <a:buClrTx/>
              <a:defRPr sz="2400">
                <a:solidFill>
                  <a:schemeClr val="tx1"/>
                </a:solidFill>
              </a:defRPr>
            </a:lvl3pPr>
            <a:lvl4pPr>
              <a:buClrTx/>
              <a:defRPr sz="2000">
                <a:solidFill>
                  <a:schemeClr val="tx1"/>
                </a:solidFill>
              </a:defRPr>
            </a:lvl4pPr>
            <a:lvl5pPr>
              <a:buClrTx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1505932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041532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4953" y="298255"/>
            <a:ext cx="4322760" cy="6275864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 bwMode="auto">
          <a:xfrm>
            <a:off x="269302" y="1187644"/>
            <a:ext cx="9860610" cy="2689632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02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53" b="0" i="0" u="none" strike="noStrike" kern="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1186356"/>
            <a:ext cx="7170265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98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 title</a:t>
            </a:r>
          </a:p>
        </p:txBody>
      </p:sp>
    </p:spTree>
    <p:extLst>
      <p:ext uri="{BB962C8B-B14F-4D97-AF65-F5344CB8AC3E}">
        <p14:creationId xmlns:p14="http://schemas.microsoft.com/office/powerpoint/2010/main" val="378831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098523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270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184808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46081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5294" b="0" kern="1200" cap="none" spc="-10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§"/>
        <a:tabLst/>
        <a:defRPr sz="3600" kern="1200" spc="0" baseline="0">
          <a:solidFill>
            <a:schemeClr val="tx1"/>
          </a:soli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§"/>
        <a:tabLst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§"/>
        <a:tabLst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§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§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661">
          <p15:clr>
            <a:srgbClr val="5ACBF0"/>
          </p15:clr>
        </p15:guide>
        <p15:guide id="4" orient="horz" pos="4219">
          <p15:clr>
            <a:srgbClr val="5ACBF0"/>
          </p15:clr>
        </p15:guide>
        <p15:guide id="5" pos="749">
          <p15:clr>
            <a:srgbClr val="5ACBF0"/>
          </p15:clr>
        </p15:guide>
        <p15:guide id="6" pos="1325">
          <p15:clr>
            <a:srgbClr val="5ACBF0"/>
          </p15:clr>
        </p15:guide>
        <p15:guide id="7" pos="1901">
          <p15:clr>
            <a:srgbClr val="5ACBF0"/>
          </p15:clr>
        </p15:guide>
        <p15:guide id="8" pos="2477">
          <p15:clr>
            <a:srgbClr val="5ACBF0"/>
          </p15:clr>
        </p15:guide>
        <p15:guide id="9" pos="3053">
          <p15:clr>
            <a:srgbClr val="5ACBF0"/>
          </p15:clr>
        </p15:guide>
        <p15:guide id="10" pos="3629">
          <p15:clr>
            <a:srgbClr val="5ACBF0"/>
          </p15:clr>
        </p15:guide>
        <p15:guide id="11" pos="4205">
          <p15:clr>
            <a:srgbClr val="5ACBF0"/>
          </p15:clr>
        </p15:guide>
        <p15:guide id="12" pos="4781">
          <p15:clr>
            <a:srgbClr val="5ACBF0"/>
          </p15:clr>
        </p15:guide>
        <p15:guide id="13" pos="5357">
          <p15:clr>
            <a:srgbClr val="5ACBF0"/>
          </p15:clr>
        </p15:guide>
        <p15:guide id="14" pos="5933">
          <p15:clr>
            <a:srgbClr val="5ACBF0"/>
          </p15:clr>
        </p15:guide>
        <p15:guide id="15" pos="6509">
          <p15:clr>
            <a:srgbClr val="5ACBF0"/>
          </p15:clr>
        </p15:guide>
        <p15:guide id="16" pos="7085">
          <p15:clr>
            <a:srgbClr val="5ACBF0"/>
          </p15:clr>
        </p15:guide>
        <p15:guide id="17" orient="horz" pos="763">
          <p15:clr>
            <a:srgbClr val="5ACBF0"/>
          </p15:clr>
        </p15:guide>
        <p15:guide id="18" orient="horz" pos="1339">
          <p15:clr>
            <a:srgbClr val="5ACBF0"/>
          </p15:clr>
        </p15:guide>
        <p15:guide id="19" orient="horz" pos="1915">
          <p15:clr>
            <a:srgbClr val="5ACBF0"/>
          </p15:clr>
        </p15:guide>
        <p15:guide id="20" orient="horz" pos="2491">
          <p15:clr>
            <a:srgbClr val="5ACBF0"/>
          </p15:clr>
        </p15:guide>
        <p15:guide id="21" orient="horz" pos="3067">
          <p15:clr>
            <a:srgbClr val="5ACBF0"/>
          </p15:clr>
        </p15:guide>
        <p15:guide id="22" orient="horz" pos="3643">
          <p15:clr>
            <a:srgbClr val="5ACBF0"/>
          </p15:clr>
        </p15:guide>
        <p15:guide id="23" pos="288">
          <p15:clr>
            <a:srgbClr val="C35EA4"/>
          </p15:clr>
        </p15:guide>
        <p15:guide id="24" pos="7546">
          <p15:clr>
            <a:srgbClr val="C35EA4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bit.do/ServiceFabric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aka.ms/ServiceFabricSDK" TargetMode="External"/><Relationship Id="rId2" Type="http://schemas.openxmlformats.org/officeDocument/2006/relationships/hyperlink" Target="https://github.com/azure/service-fabric-issues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msdn.microsoft.com/en-us/library/mt125914.aspx" TargetMode="External"/><Relationship Id="rId3" Type="http://schemas.openxmlformats.org/officeDocument/2006/relationships/hyperlink" Target="https://msdn.microsoft.com/en-us/library/mt125958.aspx" TargetMode="External"/><Relationship Id="rId7" Type="http://schemas.openxmlformats.org/officeDocument/2006/relationships/hyperlink" Target="https://msdn.microsoft.com/en-us/library/mt126033.aspx" TargetMode="External"/><Relationship Id="rId2" Type="http://schemas.openxmlformats.org/officeDocument/2006/relationships/hyperlink" Target="https://msdn.microsoft.com/en-us/library/mt125905.aspx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sdn.microsoft.com/en-us/library/mt125874.aspx" TargetMode="External"/><Relationship Id="rId5" Type="http://schemas.openxmlformats.org/officeDocument/2006/relationships/hyperlink" Target="https://msdn.microsoft.com/en-us/library/mt125913.aspx" TargetMode="External"/><Relationship Id="rId4" Type="http://schemas.openxmlformats.org/officeDocument/2006/relationships/hyperlink" Target="https://msdn.microsoft.com/en-us/library/mt163532.aspx" TargetMode="External"/><Relationship Id="rId9" Type="http://schemas.openxmlformats.org/officeDocument/2006/relationships/hyperlink" Target="https://msdn.microsoft.com/en-us/library/mt125885.aspx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mt125975.aspx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mt125988.aspx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msdn.microsoft.com/en-us/library/mt163511.aspx" TargetMode="Externa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mt125874.aspx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sdn.microsoft.com/en-us/library/mt163511.aspx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mt125874.aspx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msdn.microsoft.com/en-us/library/system.fabric.iservicepartition.reportload.aspx" TargetMode="External"/><Relationship Id="rId4" Type="http://schemas.openxmlformats.org/officeDocument/2006/relationships/hyperlink" Target="https://msdn.microsoft.com/en-us/library/mt163511.aspx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imulated_annealing" TargetMode="Externa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7843265" y="5534587"/>
            <a:ext cx="4027148" cy="1138773"/>
            <a:chOff x="4032944" y="2597680"/>
            <a:chExt cx="4027148" cy="1138773"/>
          </a:xfrm>
        </p:grpSpPr>
        <p:sp>
          <p:nvSpPr>
            <p:cNvPr id="5" name="TextBox 4"/>
            <p:cNvSpPr txBox="1"/>
            <p:nvPr/>
          </p:nvSpPr>
          <p:spPr>
            <a:xfrm>
              <a:off x="4947344" y="2597680"/>
              <a:ext cx="3112748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Microsoft Azure </a:t>
              </a:r>
            </a:p>
            <a:p>
              <a:r>
                <a:rPr lang="en-US" sz="4000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Service Fabric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2944" y="2709867"/>
              <a:ext cx="914400" cy="914400"/>
            </a:xfrm>
            <a:prstGeom prst="rect">
              <a:avLst/>
            </a:prstGeom>
          </p:spPr>
        </p:pic>
      </p:grp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71103" y="3877271"/>
            <a:ext cx="11203142" cy="1794661"/>
          </a:xfrm>
        </p:spPr>
        <p:txBody>
          <a:bodyPr/>
          <a:lstStyle/>
          <a:p>
            <a:r>
              <a:rPr lang="en-US" dirty="0"/>
              <a:t>Jeffrey Richter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3200" dirty="0"/>
              <a:t>Materials: </a:t>
            </a:r>
            <a:r>
              <a:rPr lang="en-US" sz="3200" dirty="0">
                <a:hlinkClick r:id="rId4"/>
              </a:rPr>
              <a:t>http://bit.do/ServiceFabric</a:t>
            </a:r>
            <a:r>
              <a:rPr lang="en-US" sz="3200" dirty="0"/>
              <a:t> (case-sensitive)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303" y="2075840"/>
            <a:ext cx="10290542" cy="1801436"/>
          </a:xfrm>
        </p:spPr>
        <p:txBody>
          <a:bodyPr>
            <a:normAutofit fontScale="90000"/>
          </a:bodyPr>
          <a:lstStyle/>
          <a:p>
            <a:r>
              <a:rPr lang="en-US" dirty="0"/>
              <a:t>Building </a:t>
            </a:r>
            <a:r>
              <a:rPr lang="en-US" dirty="0" err="1"/>
              <a:t>Microservices</a:t>
            </a:r>
            <a:r>
              <a:rPr lang="en-US" dirty="0"/>
              <a:t> Applications on Azure Service Fabric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250380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Jeffrey Richter: Microsoft Software Engineer, Wintellect Co-Founder, &amp; Author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945" y="1918905"/>
            <a:ext cx="2118945" cy="2632700"/>
          </a:xfrm>
          <a:prstGeom prst="rect">
            <a:avLst/>
          </a:prstGeom>
        </p:spPr>
      </p:pic>
      <p:pic>
        <p:nvPicPr>
          <p:cNvPr id="9" name="Picture 2" descr="http://pixhost.me/avaxhome/96/6c/000e6c96_medium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855" y="1918904"/>
            <a:ext cx="2101761" cy="263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727" y="1918905"/>
            <a:ext cx="2162560" cy="2633477"/>
          </a:xfrm>
          <a:prstGeom prst="rect">
            <a:avLst/>
          </a:prstGeom>
        </p:spPr>
      </p:pic>
      <p:sp>
        <p:nvSpPr>
          <p:cNvPr id="19" name="Content Placeholder 2"/>
          <p:cNvSpPr txBox="1">
            <a:spLocks/>
          </p:cNvSpPr>
          <p:nvPr/>
        </p:nvSpPr>
        <p:spPr>
          <a:xfrm>
            <a:off x="4310595" y="4881735"/>
            <a:ext cx="4553186" cy="148245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00"/>
              </a:spcAft>
              <a:buNone/>
              <a:tabLst>
                <a:tab pos="1143000" algn="l"/>
              </a:tabLst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JeffreyR@Microsoft.com</a:t>
            </a:r>
          </a:p>
          <a:p>
            <a:pPr marL="0" indent="0">
              <a:lnSpc>
                <a:spcPct val="100000"/>
              </a:lnSpc>
              <a:spcAft>
                <a:spcPts val="100"/>
              </a:spcAft>
              <a:buNone/>
              <a:tabLst>
                <a:tab pos="1143000" algn="l"/>
              </a:tabLst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www.linkedin.com/in/JeffRichter</a:t>
            </a:r>
          </a:p>
          <a:p>
            <a:pPr marL="0" indent="0">
              <a:lnSpc>
                <a:spcPct val="100000"/>
              </a:lnSpc>
              <a:spcAft>
                <a:spcPts val="100"/>
              </a:spcAft>
              <a:buNone/>
              <a:tabLst>
                <a:tab pos="1143000" algn="l"/>
              </a:tabLst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@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JeffRichter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6" descr="http://www.steveor.com/images/stories/twitter-badge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219" y="5901607"/>
            <a:ext cx="47396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2" descr="http://www.steveor.com/images/stories/linkedin-badge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219" y="5387326"/>
            <a:ext cx="47396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6" descr="http://t2.gstatic.com/images?q=tbn:ANd9GcQ9lxPrdR4gJjCmZrMC122VeCdeKejTHxvjYK4EeaB6Jb_CwNbeqQ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219" y="4842565"/>
            <a:ext cx="47396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53560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Boris Scholl: Principal PM, Azure Compute</a:t>
            </a:r>
            <a:br>
              <a:rPr lang="en-US" dirty="0"/>
            </a:br>
            <a:r>
              <a:rPr lang="en-US" dirty="0"/>
              <a:t>Author and Speaker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3177120" y="5062710"/>
            <a:ext cx="6119280" cy="97206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00"/>
              </a:spcAft>
              <a:buNone/>
              <a:tabLst>
                <a:tab pos="1143000" algn="l"/>
              </a:tabLst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bscholl@Microsoft.com</a:t>
            </a:r>
          </a:p>
          <a:p>
            <a:pPr marL="0" indent="0">
              <a:lnSpc>
                <a:spcPct val="100000"/>
              </a:lnSpc>
              <a:spcAft>
                <a:spcPts val="100"/>
              </a:spcAft>
              <a:buNone/>
              <a:tabLst>
                <a:tab pos="1143000" algn="l"/>
              </a:tabLst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http://www.linkedin.com/in/bscholl</a:t>
            </a:r>
          </a:p>
        </p:txBody>
      </p:sp>
      <p:pic>
        <p:nvPicPr>
          <p:cNvPr id="14" name="Picture 22" descr="http://www.steveor.com/images/stories/linkedin-badg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744" y="5568301"/>
            <a:ext cx="47396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6" descr="http://t2.gstatic.com/images?q=tbn:ANd9GcQ9lxPrdR4gJjCmZrMC122VeCdeKejTHxvjYK4EeaB6Jb_CwNbeqQ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744" y="5023540"/>
            <a:ext cx="47396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381" y="1776455"/>
            <a:ext cx="2050903" cy="26205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4475" y="1760372"/>
            <a:ext cx="2050903" cy="26527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3860" y="2415540"/>
            <a:ext cx="6240939" cy="1446550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Passionate about 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Microservices</a:t>
            </a:r>
            <a:endParaRPr lang="en-US" sz="24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Looking after containerized workloads in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Azure</a:t>
            </a:r>
          </a:p>
        </p:txBody>
      </p:sp>
    </p:spTree>
    <p:extLst>
      <p:ext uri="{BB962C8B-B14F-4D97-AF65-F5344CB8AC3E}">
        <p14:creationId xmlns:p14="http://schemas.microsoft.com/office/powerpoint/2010/main" val="52240751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186146"/>
            <a:ext cx="11655840" cy="521522"/>
          </a:xfrm>
        </p:spPr>
        <p:txBody>
          <a:bodyPr/>
          <a:lstStyle/>
          <a:p>
            <a:r>
              <a:rPr lang="en-US" dirty="0"/>
              <a:t>Agenda	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576359"/>
              </p:ext>
            </p:extLst>
          </p:nvPr>
        </p:nvGraphicFramePr>
        <p:xfrm>
          <a:off x="533400" y="1079165"/>
          <a:ext cx="11012606" cy="55265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22716">
                  <a:extLst>
                    <a:ext uri="{9D8B030D-6E8A-4147-A177-3AD203B41FA5}">
                      <a16:colId xmlns:a16="http://schemas.microsoft.com/office/drawing/2014/main" xmlns="" val="600209978"/>
                    </a:ext>
                  </a:extLst>
                </a:gridCol>
                <a:gridCol w="8689890">
                  <a:extLst>
                    <a:ext uri="{9D8B030D-6E8A-4147-A177-3AD203B41FA5}">
                      <a16:colId xmlns:a16="http://schemas.microsoft.com/office/drawing/2014/main" xmlns="" val="1042464678"/>
                    </a:ext>
                  </a:extLst>
                </a:gridCol>
              </a:tblGrid>
              <a:tr h="556550">
                <a:tc>
                  <a:txBody>
                    <a:bodyPr/>
                    <a:lstStyle/>
                    <a:p>
                      <a:r>
                        <a:rPr lang="en-US" dirty="0"/>
                        <a:t>Timeslot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49973889"/>
                  </a:ext>
                </a:extLst>
              </a:tr>
              <a:tr h="382199">
                <a:tc>
                  <a:txBody>
                    <a:bodyPr/>
                    <a:lstStyle/>
                    <a:p>
                      <a:r>
                        <a:rPr lang="en-US" dirty="0"/>
                        <a:t>9:00 - 9:15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Welcome and logistics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32935523"/>
                  </a:ext>
                </a:extLst>
              </a:tr>
              <a:tr h="1013043">
                <a:tc>
                  <a:txBody>
                    <a:bodyPr/>
                    <a:lstStyle/>
                    <a:p>
                      <a:r>
                        <a:rPr lang="en-US" dirty="0"/>
                        <a:t>9:15</a:t>
                      </a:r>
                      <a:r>
                        <a:rPr lang="en-US" baseline="0" dirty="0"/>
                        <a:t> – 10:30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r>
                        <a:rPr lang="en-US" baseline="0" dirty="0"/>
                        <a:t> to Service Fabric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aseline="0" dirty="0"/>
                        <a:t>Azure Compute Stack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aseline="0" dirty="0"/>
                        <a:t>Service Fabric vs Cloud Services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aseline="0" dirty="0"/>
                        <a:t>Service Fabric Clusters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38491250"/>
                  </a:ext>
                </a:extLst>
              </a:tr>
              <a:tr h="1246467">
                <a:tc>
                  <a:txBody>
                    <a:bodyPr/>
                    <a:lstStyle/>
                    <a:p>
                      <a:r>
                        <a:rPr lang="en-US" dirty="0"/>
                        <a:t>10:45 – 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 Packaging,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Health and Lifecycle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Application and Service Types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Package format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Service</a:t>
                      </a:r>
                      <a:r>
                        <a:rPr lang="en-US" baseline="0" dirty="0"/>
                        <a:t> Fabric health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aseline="0" dirty="0"/>
                        <a:t>Upgrading Service Fabric Applications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72634745"/>
                  </a:ext>
                </a:extLst>
              </a:tr>
              <a:tr h="440634">
                <a:tc>
                  <a:txBody>
                    <a:bodyPr/>
                    <a:lstStyle/>
                    <a:p>
                      <a:r>
                        <a:rPr lang="en-US" dirty="0"/>
                        <a:t>12:00 – 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7546864"/>
                  </a:ext>
                </a:extLst>
              </a:tr>
              <a:tr h="440634">
                <a:tc>
                  <a:txBody>
                    <a:bodyPr/>
                    <a:lstStyle/>
                    <a:p>
                      <a:r>
                        <a:rPr lang="en-US" dirty="0"/>
                        <a:t>13:00 – 13:30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Container</a:t>
                      </a:r>
                      <a:r>
                        <a:rPr lang="en-US" baseline="0" dirty="0"/>
                        <a:t> integration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42497504"/>
                  </a:ext>
                </a:extLst>
              </a:tr>
              <a:tr h="546197">
                <a:tc>
                  <a:txBody>
                    <a:bodyPr/>
                    <a:lstStyle/>
                    <a:p>
                      <a:r>
                        <a:rPr lang="en-US" dirty="0"/>
                        <a:t>13:30 – 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Stateless &amp; Stateful Reliable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6648747"/>
                  </a:ext>
                </a:extLst>
              </a:tr>
              <a:tr h="556550">
                <a:tc>
                  <a:txBody>
                    <a:bodyPr/>
                    <a:lstStyle/>
                    <a:p>
                      <a:r>
                        <a:rPr lang="en-US" dirty="0"/>
                        <a:t>15:15 – 16:45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Patterns and</a:t>
                      </a:r>
                      <a:r>
                        <a:rPr lang="en-US" baseline="0" dirty="0"/>
                        <a:t> sample architectures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10413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17813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Stored Data 2"/>
          <p:cNvSpPr/>
          <p:nvPr/>
        </p:nvSpPr>
        <p:spPr bwMode="auto">
          <a:xfrm rot="5400000">
            <a:off x="5737233" y="-1374457"/>
            <a:ext cx="877755" cy="10484669"/>
          </a:xfrm>
          <a:prstGeom prst="flowChartOnlineStorage">
            <a:avLst/>
          </a:prstGeom>
          <a:solidFill>
            <a:srgbClr val="0078D7">
              <a:lumMod val="50000"/>
            </a:srgb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79057" tIns="143245" rIns="179057" bIns="14324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294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kern="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6" name="Rectangle 95"/>
          <p:cNvSpPr/>
          <p:nvPr/>
        </p:nvSpPr>
        <p:spPr bwMode="auto">
          <a:xfrm>
            <a:off x="935399" y="3055490"/>
            <a:ext cx="10483048" cy="931544"/>
          </a:xfrm>
          <a:prstGeom prst="rect">
            <a:avLst/>
          </a:prstGeom>
          <a:solidFill>
            <a:srgbClr val="0078D7">
              <a:lumMod val="50000"/>
            </a:srgb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79057" tIns="143245" rIns="179057" bIns="14324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294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2353" kern="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935399" y="2404131"/>
            <a:ext cx="10483048" cy="651359"/>
          </a:xfrm>
          <a:prstGeom prst="rect">
            <a:avLst/>
          </a:prstGeom>
          <a:solidFill>
            <a:srgbClr val="0078D7">
              <a:lumMod val="50000"/>
            </a:srgb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79057" tIns="143245" rIns="179057" bIns="143245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defTabSz="93128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2400" b="0" i="0" u="none" strike="noStrike" kern="0" cap="none" spc="0" normalizeH="0" baseline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sz="2353" dirty="0"/>
              <a:t>Service Fabric: </a:t>
            </a:r>
            <a:r>
              <a:rPr lang="en-US" sz="2353" dirty="0" err="1"/>
              <a:t>Microservices</a:t>
            </a:r>
            <a:r>
              <a:rPr lang="en-US" sz="2353" dirty="0"/>
              <a:t> Platform</a:t>
            </a:r>
          </a:p>
        </p:txBody>
      </p:sp>
      <p:sp>
        <p:nvSpPr>
          <p:cNvPr id="194" name="Rectangle 193"/>
          <p:cNvSpPr/>
          <p:nvPr/>
        </p:nvSpPr>
        <p:spPr bwMode="auto">
          <a:xfrm>
            <a:off x="949214" y="1486747"/>
            <a:ext cx="10483048" cy="893891"/>
          </a:xfrm>
          <a:prstGeom prst="rect">
            <a:avLst/>
          </a:prstGeom>
          <a:solidFill>
            <a:schemeClr val="accent5"/>
          </a:soli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tIns="89642" rIns="33620" bIns="33620" anchor="ctr"/>
          <a:lstStyle/>
          <a:p>
            <a:pPr algn="ctr" defTabSz="914038">
              <a:defRPr/>
            </a:pPr>
            <a:r>
              <a:rPr lang="en-US" sz="2353" kern="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Build Applications with many Languages, Frameworks, &amp; Runtimes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99948" y="5606733"/>
            <a:ext cx="2554460" cy="620877"/>
          </a:xfrm>
          <a:prstGeom prst="rect">
            <a:avLst/>
          </a:prstGeom>
          <a:noFill/>
        </p:spPr>
        <p:txBody>
          <a:bodyPr wrap="square" lIns="179057" tIns="143245" rIns="179057" bIns="143245" rtlCol="0">
            <a:spAutoFit/>
          </a:bodyPr>
          <a:lstStyle/>
          <a:p>
            <a:pPr defTabSz="913205">
              <a:lnSpc>
                <a:spcPct val="90000"/>
              </a:lnSpc>
              <a:spcAft>
                <a:spcPts val="587"/>
              </a:spcAft>
            </a:pPr>
            <a:r>
              <a:rPr lang="en-US" sz="2350" kern="0" dirty="0">
                <a:ea typeface="MS PGothic" panose="020B0600070205080204" pitchFamily="34" charset="-128"/>
              </a:rPr>
              <a:t>Public Clouds</a:t>
            </a:r>
          </a:p>
        </p:txBody>
      </p:sp>
      <p:sp>
        <p:nvSpPr>
          <p:cNvPr id="59" name="Freeform 58"/>
          <p:cNvSpPr>
            <a:spLocks/>
          </p:cNvSpPr>
          <p:nvPr/>
        </p:nvSpPr>
        <p:spPr bwMode="auto">
          <a:xfrm>
            <a:off x="2151951" y="4582613"/>
            <a:ext cx="1755623" cy="971794"/>
          </a:xfrm>
          <a:custGeom>
            <a:avLst/>
            <a:gdLst>
              <a:gd name="T0" fmla="*/ 1662 w 2136"/>
              <a:gd name="T1" fmla="*/ 1181 h 1181"/>
              <a:gd name="T2" fmla="*/ 239 w 2136"/>
              <a:gd name="T3" fmla="*/ 1181 h 1181"/>
              <a:gd name="T4" fmla="*/ 0 w 2136"/>
              <a:gd name="T5" fmla="*/ 937 h 1181"/>
              <a:gd name="T6" fmla="*/ 181 w 2136"/>
              <a:gd name="T7" fmla="*/ 706 h 1181"/>
              <a:gd name="T8" fmla="*/ 462 w 2136"/>
              <a:gd name="T9" fmla="*/ 487 h 1181"/>
              <a:gd name="T10" fmla="*/ 974 w 2136"/>
              <a:gd name="T11" fmla="*/ 0 h 1181"/>
              <a:gd name="T12" fmla="*/ 1440 w 2136"/>
              <a:gd name="T13" fmla="*/ 294 h 1181"/>
              <a:gd name="T14" fmla="*/ 1662 w 2136"/>
              <a:gd name="T15" fmla="*/ 235 h 1181"/>
              <a:gd name="T16" fmla="*/ 2136 w 2136"/>
              <a:gd name="T17" fmla="*/ 710 h 1181"/>
              <a:gd name="T18" fmla="*/ 1662 w 2136"/>
              <a:gd name="T19" fmla="*/ 1181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36" h="1181">
                <a:moveTo>
                  <a:pt x="1662" y="1181"/>
                </a:moveTo>
                <a:cubicBezTo>
                  <a:pt x="239" y="1181"/>
                  <a:pt x="239" y="1181"/>
                  <a:pt x="239" y="1181"/>
                </a:cubicBezTo>
                <a:cubicBezTo>
                  <a:pt x="109" y="1181"/>
                  <a:pt x="0" y="1071"/>
                  <a:pt x="0" y="937"/>
                </a:cubicBezTo>
                <a:cubicBezTo>
                  <a:pt x="0" y="823"/>
                  <a:pt x="76" y="731"/>
                  <a:pt x="181" y="706"/>
                </a:cubicBezTo>
                <a:cubicBezTo>
                  <a:pt x="231" y="588"/>
                  <a:pt x="336" y="504"/>
                  <a:pt x="462" y="487"/>
                </a:cubicBezTo>
                <a:cubicBezTo>
                  <a:pt x="474" y="218"/>
                  <a:pt x="701" y="0"/>
                  <a:pt x="974" y="0"/>
                </a:cubicBezTo>
                <a:cubicBezTo>
                  <a:pt x="1175" y="0"/>
                  <a:pt x="1356" y="118"/>
                  <a:pt x="1440" y="294"/>
                </a:cubicBezTo>
                <a:cubicBezTo>
                  <a:pt x="1507" y="256"/>
                  <a:pt x="1582" y="235"/>
                  <a:pt x="1662" y="235"/>
                </a:cubicBezTo>
                <a:cubicBezTo>
                  <a:pt x="1922" y="235"/>
                  <a:pt x="2136" y="449"/>
                  <a:pt x="2136" y="710"/>
                </a:cubicBezTo>
                <a:cubicBezTo>
                  <a:pt x="2136" y="966"/>
                  <a:pt x="1922" y="1181"/>
                  <a:pt x="1662" y="1181"/>
                </a:cubicBezTo>
                <a:close/>
              </a:path>
            </a:pathLst>
          </a:custGeom>
          <a:solidFill>
            <a:srgbClr val="0078D7">
              <a:lumMod val="20000"/>
              <a:lumOff val="80000"/>
            </a:srgbClr>
          </a:solidFill>
          <a:ln>
            <a:noFill/>
          </a:ln>
        </p:spPr>
        <p:txBody>
          <a:bodyPr vert="horz" wrap="square" lIns="89528" tIns="44763" rIns="89528" bIns="44763" numCol="1" anchor="t" anchorCtr="0" compatLnSpc="1">
            <a:prstTxWarp prst="textNoShape">
              <a:avLst/>
            </a:prstTxWarp>
          </a:bodyPr>
          <a:lstStyle/>
          <a:p>
            <a:pPr defTabSz="913205">
              <a:defRPr/>
            </a:pPr>
            <a:endParaRPr lang="en-US" sz="1763" kern="0">
              <a:solidFill>
                <a:srgbClr val="505050"/>
              </a:solidFill>
              <a:ea typeface="MS PGothic" panose="020B0600070205080204" pitchFamily="34" charset="-128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920511" y="5554407"/>
            <a:ext cx="2511197" cy="1015693"/>
          </a:xfrm>
          <a:prstGeom prst="rect">
            <a:avLst/>
          </a:prstGeom>
          <a:noFill/>
        </p:spPr>
        <p:txBody>
          <a:bodyPr wrap="square" lIns="179057" tIns="143245" rIns="179057" bIns="143245" rtlCol="0">
            <a:spAutoFit/>
          </a:bodyPr>
          <a:lstStyle/>
          <a:p>
            <a:pPr algn="ctr" defTabSz="913205">
              <a:lnSpc>
                <a:spcPct val="90000"/>
              </a:lnSpc>
              <a:spcAft>
                <a:spcPts val="587"/>
              </a:spcAft>
            </a:pPr>
            <a:r>
              <a:rPr lang="en-US" sz="2350" kern="0" dirty="0">
                <a:ea typeface="MS PGothic" panose="020B0600070205080204" pitchFamily="34" charset="-128"/>
              </a:rPr>
              <a:t>On Premises</a:t>
            </a:r>
          </a:p>
          <a:p>
            <a:pPr algn="ctr" defTabSz="913205">
              <a:lnSpc>
                <a:spcPct val="90000"/>
              </a:lnSpc>
              <a:spcAft>
                <a:spcPts val="587"/>
              </a:spcAft>
            </a:pPr>
            <a:r>
              <a:rPr lang="en-US" sz="2350" kern="0" dirty="0">
                <a:ea typeface="MS PGothic" panose="020B0600070205080204" pitchFamily="34" charset="-128"/>
              </a:rPr>
              <a:t>Private cloud</a:t>
            </a:r>
          </a:p>
        </p:txBody>
      </p:sp>
      <p:grpSp>
        <p:nvGrpSpPr>
          <p:cNvPr id="63" name="Group 8"/>
          <p:cNvGrpSpPr>
            <a:grpSpLocks noChangeAspect="1"/>
          </p:cNvGrpSpPr>
          <p:nvPr/>
        </p:nvGrpSpPr>
        <p:grpSpPr bwMode="auto">
          <a:xfrm>
            <a:off x="5294022" y="4131879"/>
            <a:ext cx="1771583" cy="1770485"/>
            <a:chOff x="4385" y="3099"/>
            <a:chExt cx="1613" cy="1612"/>
          </a:xfrm>
        </p:grpSpPr>
        <p:sp>
          <p:nvSpPr>
            <p:cNvPr id="64" name="AutoShape 7"/>
            <p:cNvSpPr>
              <a:spLocks noChangeAspect="1" noChangeArrowheads="1" noTextEdit="1"/>
            </p:cNvSpPr>
            <p:nvPr/>
          </p:nvSpPr>
          <p:spPr bwMode="auto">
            <a:xfrm>
              <a:off x="4385" y="3099"/>
              <a:ext cx="1613" cy="1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65" name="Rectangle 9"/>
            <p:cNvSpPr>
              <a:spLocks noChangeArrowheads="1"/>
            </p:cNvSpPr>
            <p:nvPr/>
          </p:nvSpPr>
          <p:spPr bwMode="auto">
            <a:xfrm>
              <a:off x="5494" y="3463"/>
              <a:ext cx="253" cy="891"/>
            </a:xfrm>
            <a:prstGeom prst="rect">
              <a:avLst/>
            </a:pr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66" name="Rectangle 10"/>
            <p:cNvSpPr>
              <a:spLocks noChangeArrowheads="1"/>
            </p:cNvSpPr>
            <p:nvPr/>
          </p:nvSpPr>
          <p:spPr bwMode="auto">
            <a:xfrm>
              <a:off x="4638" y="3463"/>
              <a:ext cx="254" cy="891"/>
            </a:xfrm>
            <a:prstGeom prst="rect">
              <a:avLst/>
            </a:pr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67" name="Rectangle 11"/>
            <p:cNvSpPr>
              <a:spLocks noChangeArrowheads="1"/>
            </p:cNvSpPr>
            <p:nvPr/>
          </p:nvSpPr>
          <p:spPr bwMode="auto">
            <a:xfrm>
              <a:off x="4704" y="3531"/>
              <a:ext cx="314" cy="823"/>
            </a:xfrm>
            <a:prstGeom prst="rect">
              <a:avLst/>
            </a:pr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5367" y="3653"/>
              <a:ext cx="313" cy="701"/>
            </a:xfrm>
            <a:prstGeom prst="rect">
              <a:avLst/>
            </a:pr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69" name="Rectangle 13"/>
            <p:cNvSpPr>
              <a:spLocks noChangeArrowheads="1"/>
            </p:cNvSpPr>
            <p:nvPr/>
          </p:nvSpPr>
          <p:spPr bwMode="auto">
            <a:xfrm>
              <a:off x="4968" y="3779"/>
              <a:ext cx="462" cy="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70" name="Rectangle 14"/>
            <p:cNvSpPr>
              <a:spLocks noChangeArrowheads="1"/>
            </p:cNvSpPr>
            <p:nvPr/>
          </p:nvSpPr>
          <p:spPr bwMode="auto">
            <a:xfrm>
              <a:off x="4945" y="3761"/>
              <a:ext cx="508" cy="18"/>
            </a:xfrm>
            <a:prstGeom prst="rect">
              <a:avLst/>
            </a:prstGeom>
            <a:solidFill>
              <a:srgbClr val="0078D7">
                <a:lumMod val="20000"/>
                <a:lumOff val="8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71" name="Rectangle 15"/>
            <p:cNvSpPr>
              <a:spLocks noChangeArrowheads="1"/>
            </p:cNvSpPr>
            <p:nvPr/>
          </p:nvSpPr>
          <p:spPr bwMode="auto">
            <a:xfrm>
              <a:off x="5222" y="4238"/>
              <a:ext cx="61" cy="116"/>
            </a:xfrm>
            <a:prstGeom prst="rect">
              <a:avLst/>
            </a:prstGeom>
            <a:solidFill>
              <a:srgbClr val="0078D7">
                <a:lumMod val="7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72" name="Rectangle 16"/>
            <p:cNvSpPr>
              <a:spLocks noChangeArrowheads="1"/>
            </p:cNvSpPr>
            <p:nvPr/>
          </p:nvSpPr>
          <p:spPr bwMode="auto">
            <a:xfrm>
              <a:off x="5117" y="4238"/>
              <a:ext cx="61" cy="116"/>
            </a:xfrm>
            <a:prstGeom prst="rect">
              <a:avLst/>
            </a:prstGeom>
            <a:solidFill>
              <a:srgbClr val="0078D7">
                <a:lumMod val="7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73" name="Rectangle 17"/>
            <p:cNvSpPr>
              <a:spLocks noChangeArrowheads="1"/>
            </p:cNvSpPr>
            <p:nvPr/>
          </p:nvSpPr>
          <p:spPr bwMode="auto">
            <a:xfrm>
              <a:off x="5014" y="3831"/>
              <a:ext cx="372" cy="59"/>
            </a:xfrm>
            <a:prstGeom prst="rect">
              <a:avLst/>
            </a:prstGeom>
            <a:solidFill>
              <a:srgbClr val="0078D7">
                <a:lumMod val="7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74" name="Rectangle 18"/>
            <p:cNvSpPr>
              <a:spLocks noChangeArrowheads="1"/>
            </p:cNvSpPr>
            <p:nvPr/>
          </p:nvSpPr>
          <p:spPr bwMode="auto">
            <a:xfrm>
              <a:off x="5014" y="3934"/>
              <a:ext cx="372" cy="59"/>
            </a:xfrm>
            <a:prstGeom prst="rect">
              <a:avLst/>
            </a:prstGeom>
            <a:solidFill>
              <a:srgbClr val="0078D7">
                <a:lumMod val="7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75" name="Rectangle 19"/>
            <p:cNvSpPr>
              <a:spLocks noChangeArrowheads="1"/>
            </p:cNvSpPr>
            <p:nvPr/>
          </p:nvSpPr>
          <p:spPr bwMode="auto">
            <a:xfrm>
              <a:off x="5014" y="4038"/>
              <a:ext cx="372" cy="60"/>
            </a:xfrm>
            <a:prstGeom prst="rect">
              <a:avLst/>
            </a:prstGeom>
            <a:solidFill>
              <a:srgbClr val="0078D7">
                <a:lumMod val="7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76" name="Rectangle 20"/>
            <p:cNvSpPr>
              <a:spLocks noChangeArrowheads="1"/>
            </p:cNvSpPr>
            <p:nvPr/>
          </p:nvSpPr>
          <p:spPr bwMode="auto">
            <a:xfrm>
              <a:off x="5014" y="4141"/>
              <a:ext cx="372" cy="61"/>
            </a:xfrm>
            <a:prstGeom prst="rect">
              <a:avLst/>
            </a:prstGeom>
            <a:solidFill>
              <a:srgbClr val="0078D7">
                <a:lumMod val="7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77" name="Rectangle 21"/>
            <p:cNvSpPr>
              <a:spLocks noChangeArrowheads="1"/>
            </p:cNvSpPr>
            <p:nvPr/>
          </p:nvSpPr>
          <p:spPr bwMode="auto">
            <a:xfrm>
              <a:off x="5043" y="3689"/>
              <a:ext cx="179" cy="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528" tIns="44763" rIns="89528" bIns="44763" numCol="1" anchor="t" anchorCtr="0" compatLnSpc="1">
              <a:prstTxWarp prst="textNoShape">
                <a:avLst/>
              </a:prstTxWarp>
            </a:bodyPr>
            <a:lstStyle/>
            <a:p>
              <a:pPr defTabSz="913205">
                <a:defRPr/>
              </a:pPr>
              <a:endParaRPr lang="en-US" sz="1763" b="1" kern="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1244663" y="3095578"/>
            <a:ext cx="1448247" cy="853081"/>
          </a:xfrm>
          <a:prstGeom prst="rect">
            <a:avLst/>
          </a:prstGeom>
          <a:noFill/>
        </p:spPr>
        <p:txBody>
          <a:bodyPr wrap="square" lIns="179057" tIns="143245" rIns="179057" bIns="143245" rtlCol="0">
            <a:spAutoFit/>
          </a:bodyPr>
          <a:lstStyle/>
          <a:p>
            <a:pPr algn="ctr" defTabSz="913205">
              <a:lnSpc>
                <a:spcPct val="90000"/>
              </a:lnSpc>
              <a:spcAft>
                <a:spcPts val="587"/>
              </a:spcAft>
            </a:pPr>
            <a:r>
              <a:rPr lang="en-US" sz="1961" kern="0" dirty="0" err="1">
                <a:gradFill>
                  <a:gsLst>
                    <a:gs pos="12097">
                      <a:srgbClr val="FFFFFF"/>
                    </a:gs>
                    <a:gs pos="34000">
                      <a:srgbClr val="FFFFFF"/>
                    </a:gs>
                  </a:gsLst>
                  <a:lin ang="5400000" scaled="0"/>
                </a:gradFill>
                <a:ea typeface="MS PGothic" panose="020B0600070205080204" pitchFamily="34" charset="-128"/>
              </a:rPr>
              <a:t>LifecycleMgmt</a:t>
            </a:r>
            <a:endParaRPr lang="en-US" sz="1961" kern="0" dirty="0">
              <a:gradFill>
                <a:gsLst>
                  <a:gs pos="12097">
                    <a:srgbClr val="FFFFFF"/>
                  </a:gs>
                  <a:gs pos="34000">
                    <a:srgbClr val="FFFFFF"/>
                  </a:gs>
                </a:gsLst>
                <a:lin ang="5400000" scaled="0"/>
              </a:gradFill>
              <a:ea typeface="MS PGothic" panose="020B0600070205080204" pitchFamily="34" charset="-128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714123" y="3116683"/>
            <a:ext cx="1915934" cy="853081"/>
          </a:xfrm>
          <a:prstGeom prst="rect">
            <a:avLst/>
          </a:prstGeom>
          <a:noFill/>
        </p:spPr>
        <p:txBody>
          <a:bodyPr wrap="square" lIns="179057" tIns="143245" rIns="179057" bIns="143245" rtlCol="0">
            <a:spAutoFit/>
          </a:bodyPr>
          <a:lstStyle/>
          <a:p>
            <a:pPr algn="ctr" defTabSz="913205">
              <a:lnSpc>
                <a:spcPct val="90000"/>
              </a:lnSpc>
              <a:spcAft>
                <a:spcPts val="587"/>
              </a:spcAft>
            </a:pPr>
            <a:r>
              <a:rPr lang="en-US" sz="1961" kern="0" dirty="0">
                <a:gradFill>
                  <a:gsLst>
                    <a:gs pos="12097">
                      <a:srgbClr val="FFFFFF"/>
                    </a:gs>
                    <a:gs pos="34000">
                      <a:srgbClr val="FFFFFF"/>
                    </a:gs>
                  </a:gsLst>
                  <a:lin ang="5400000" scaled="0"/>
                </a:gradFill>
                <a:ea typeface="MS PGothic" panose="020B0600070205080204" pitchFamily="34" charset="-128"/>
              </a:rPr>
              <a:t>Independent Scaling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32323" y="3101199"/>
            <a:ext cx="1915934" cy="832385"/>
          </a:xfrm>
          <a:prstGeom prst="rect">
            <a:avLst/>
          </a:prstGeom>
          <a:noFill/>
        </p:spPr>
        <p:txBody>
          <a:bodyPr wrap="square" lIns="179057" tIns="143245" rIns="179057" bIns="143245" rtlCol="0">
            <a:spAutoFit/>
          </a:bodyPr>
          <a:lstStyle/>
          <a:p>
            <a:pPr algn="ctr" defTabSz="913205">
              <a:lnSpc>
                <a:spcPct val="90000"/>
              </a:lnSpc>
              <a:spcAft>
                <a:spcPts val="587"/>
              </a:spcAft>
            </a:pPr>
            <a:r>
              <a:rPr lang="en-US" sz="1961" kern="0">
                <a:gradFill>
                  <a:gsLst>
                    <a:gs pos="12097">
                      <a:srgbClr val="FFFFFF"/>
                    </a:gs>
                    <a:gs pos="34000">
                      <a:srgbClr val="FFFFFF"/>
                    </a:gs>
                  </a:gsLst>
                  <a:lin ang="5400000" scaled="0"/>
                </a:gradFill>
                <a:ea typeface="MS PGothic" panose="020B0600070205080204" pitchFamily="34" charset="-128"/>
              </a:rPr>
              <a:t>Rolling Upgrades</a:t>
            </a:r>
            <a:endParaRPr lang="en-US" sz="1961" kern="0" dirty="0">
              <a:gradFill>
                <a:gsLst>
                  <a:gs pos="12097">
                    <a:srgbClr val="FFFFFF"/>
                  </a:gs>
                  <a:gs pos="34000">
                    <a:srgbClr val="FFFFFF"/>
                  </a:gs>
                </a:gsLst>
                <a:lin ang="5400000" scaled="0"/>
              </a:gradFill>
              <a:ea typeface="MS PGothic" panose="020B0600070205080204" pitchFamily="34" charset="-128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789069" y="3100766"/>
            <a:ext cx="1623593" cy="842703"/>
          </a:xfrm>
          <a:prstGeom prst="rect">
            <a:avLst/>
          </a:prstGeom>
          <a:noFill/>
        </p:spPr>
        <p:txBody>
          <a:bodyPr wrap="square" lIns="179057" tIns="143245" rIns="179057" bIns="143245" rtlCol="0">
            <a:spAutoFit/>
          </a:bodyPr>
          <a:lstStyle/>
          <a:p>
            <a:pPr algn="ctr" defTabSz="913205">
              <a:lnSpc>
                <a:spcPct val="90000"/>
              </a:lnSpc>
              <a:spcAft>
                <a:spcPts val="587"/>
              </a:spcAft>
            </a:pPr>
            <a:r>
              <a:rPr lang="en-US" sz="1961" kern="0" dirty="0">
                <a:gradFill>
                  <a:gsLst>
                    <a:gs pos="12097">
                      <a:srgbClr val="FFFFFF"/>
                    </a:gs>
                    <a:gs pos="34000">
                      <a:srgbClr val="FFFFFF"/>
                    </a:gs>
                  </a:gsLst>
                  <a:lin ang="5400000" scaled="0"/>
                </a:gradFill>
                <a:ea typeface="MS PGothic" panose="020B0600070205080204" pitchFamily="34" charset="-128"/>
              </a:rPr>
              <a:t>Always On</a:t>
            </a:r>
            <a:br>
              <a:rPr lang="en-US" sz="1961" kern="0" dirty="0">
                <a:gradFill>
                  <a:gsLst>
                    <a:gs pos="12097">
                      <a:srgbClr val="FFFFFF"/>
                    </a:gs>
                    <a:gs pos="34000">
                      <a:srgbClr val="FFFFFF"/>
                    </a:gs>
                  </a:gsLst>
                  <a:lin ang="5400000" scaled="0"/>
                </a:gradFill>
                <a:ea typeface="MS PGothic" panose="020B0600070205080204" pitchFamily="34" charset="-128"/>
              </a:rPr>
            </a:br>
            <a:r>
              <a:rPr lang="en-US" sz="1961" kern="0" dirty="0">
                <a:gradFill>
                  <a:gsLst>
                    <a:gs pos="12097">
                      <a:srgbClr val="FFFFFF"/>
                    </a:gs>
                    <a:gs pos="34000">
                      <a:srgbClr val="FFFFFF"/>
                    </a:gs>
                  </a:gsLst>
                  <a:lin ang="5400000" scaled="0"/>
                </a:gradFill>
                <a:ea typeface="MS PGothic" panose="020B0600070205080204" pitchFamily="34" charset="-128"/>
              </a:rPr>
              <a:t>Availability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66815" y="3149722"/>
            <a:ext cx="1623593" cy="832395"/>
          </a:xfrm>
          <a:prstGeom prst="rect">
            <a:avLst/>
          </a:prstGeom>
          <a:noFill/>
        </p:spPr>
        <p:txBody>
          <a:bodyPr wrap="square" lIns="179057" tIns="143245" rIns="179057" bIns="143245" rtlCol="0">
            <a:spAutoFit/>
          </a:bodyPr>
          <a:lstStyle/>
          <a:p>
            <a:pPr algn="ctr" defTabSz="913205">
              <a:lnSpc>
                <a:spcPct val="90000"/>
              </a:lnSpc>
              <a:spcAft>
                <a:spcPts val="587"/>
              </a:spcAft>
            </a:pPr>
            <a:r>
              <a:rPr lang="en-US" sz="1961" kern="0" dirty="0">
                <a:gradFill>
                  <a:gsLst>
                    <a:gs pos="12097">
                      <a:srgbClr val="FFFFFF"/>
                    </a:gs>
                    <a:gs pos="34000">
                      <a:srgbClr val="FFFFFF"/>
                    </a:gs>
                  </a:gsLst>
                  <a:lin ang="5400000" scaled="0"/>
                </a:gradFill>
                <a:ea typeface="MS PGothic" panose="020B0600070205080204" pitchFamily="34" charset="-128"/>
              </a:rPr>
              <a:t>Resource</a:t>
            </a:r>
            <a:br>
              <a:rPr lang="en-US" sz="1961" kern="0" dirty="0">
                <a:gradFill>
                  <a:gsLst>
                    <a:gs pos="12097">
                      <a:srgbClr val="FFFFFF"/>
                    </a:gs>
                    <a:gs pos="34000">
                      <a:srgbClr val="FFFFFF"/>
                    </a:gs>
                  </a:gsLst>
                  <a:lin ang="5400000" scaled="0"/>
                </a:gradFill>
                <a:ea typeface="MS PGothic" panose="020B0600070205080204" pitchFamily="34" charset="-128"/>
              </a:rPr>
            </a:br>
            <a:r>
              <a:rPr lang="en-US" sz="1961" kern="0" dirty="0">
                <a:gradFill>
                  <a:gsLst>
                    <a:gs pos="12097">
                      <a:srgbClr val="FFFFFF"/>
                    </a:gs>
                    <a:gs pos="34000">
                      <a:srgbClr val="FFFFFF"/>
                    </a:gs>
                  </a:gsLst>
                  <a:lin ang="5400000" scaled="0"/>
                </a:gradFill>
                <a:ea typeface="MS PGothic" panose="020B0600070205080204" pitchFamily="34" charset="-128"/>
              </a:rPr>
              <a:t>Efficient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35666" y="3099997"/>
            <a:ext cx="1623593" cy="907826"/>
          </a:xfrm>
          <a:prstGeom prst="rect">
            <a:avLst/>
          </a:prstGeom>
          <a:noFill/>
        </p:spPr>
        <p:txBody>
          <a:bodyPr wrap="square" lIns="179057" tIns="143245" rIns="179057" bIns="143245" rtlCol="0">
            <a:spAutoFit/>
          </a:bodyPr>
          <a:lstStyle/>
          <a:p>
            <a:pPr algn="ctr" defTabSz="913205">
              <a:lnSpc>
                <a:spcPct val="90000"/>
              </a:lnSpc>
              <a:spcAft>
                <a:spcPts val="587"/>
              </a:spcAft>
            </a:pPr>
            <a:r>
              <a:rPr lang="en-US" sz="1961" kern="0" dirty="0">
                <a:gradFill>
                  <a:gsLst>
                    <a:gs pos="12097">
                      <a:srgbClr val="FFFFFF"/>
                    </a:gs>
                    <a:gs pos="34000">
                      <a:srgbClr val="FFFFFF"/>
                    </a:gs>
                  </a:gsLst>
                  <a:lin ang="5400000" scaled="0"/>
                </a:gradFill>
                <a:ea typeface="MS PGothic" panose="020B0600070205080204" pitchFamily="34" charset="-128"/>
              </a:rPr>
              <a:t>Stateless/</a:t>
            </a:r>
          </a:p>
          <a:p>
            <a:pPr algn="ctr" defTabSz="913205">
              <a:lnSpc>
                <a:spcPct val="90000"/>
              </a:lnSpc>
              <a:spcAft>
                <a:spcPts val="587"/>
              </a:spcAft>
            </a:pPr>
            <a:r>
              <a:rPr lang="en-US" sz="1961" kern="0" dirty="0" err="1">
                <a:gradFill>
                  <a:gsLst>
                    <a:gs pos="12097">
                      <a:srgbClr val="FFFFFF"/>
                    </a:gs>
                    <a:gs pos="34000">
                      <a:srgbClr val="FFFFFF"/>
                    </a:gs>
                  </a:gsLst>
                  <a:lin ang="5400000" scaled="0"/>
                </a:gradFill>
                <a:ea typeface="MS PGothic" panose="020B0600070205080204" pitchFamily="34" charset="-128"/>
              </a:rPr>
              <a:t>Stateful</a:t>
            </a:r>
            <a:endParaRPr lang="en-US" sz="1961" kern="0" dirty="0">
              <a:gradFill>
                <a:gsLst>
                  <a:gs pos="12097">
                    <a:srgbClr val="FFFFFF"/>
                  </a:gs>
                  <a:gs pos="34000">
                    <a:srgbClr val="FFFFFF"/>
                  </a:gs>
                </a:gsLst>
                <a:lin ang="5400000" scaled="0"/>
              </a:gradFill>
              <a:ea typeface="MS PGothic" panose="020B0600070205080204" pitchFamily="34" charset="-128"/>
            </a:endParaRPr>
          </a:p>
        </p:txBody>
      </p:sp>
      <p:pic>
        <p:nvPicPr>
          <p:cNvPr id="2" name="Picture 1" descr="2073251155_0451f316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743" y="4575809"/>
            <a:ext cx="1289477" cy="1039922"/>
          </a:xfrm>
          <a:prstGeom prst="rect">
            <a:avLst/>
          </a:prstGeom>
          <a:noFill/>
        </p:spPr>
      </p:pic>
      <p:sp>
        <p:nvSpPr>
          <p:cNvPr id="36" name="TextBox 35"/>
          <p:cNvSpPr txBox="1"/>
          <p:nvPr/>
        </p:nvSpPr>
        <p:spPr>
          <a:xfrm>
            <a:off x="8523716" y="5595361"/>
            <a:ext cx="2168823" cy="620877"/>
          </a:xfrm>
          <a:prstGeom prst="rect">
            <a:avLst/>
          </a:prstGeom>
          <a:noFill/>
        </p:spPr>
        <p:txBody>
          <a:bodyPr wrap="square" lIns="179057" tIns="143245" rIns="179057" bIns="143245" rtlCol="0">
            <a:spAutoFit/>
          </a:bodyPr>
          <a:lstStyle/>
          <a:p>
            <a:pPr defTabSz="913205">
              <a:lnSpc>
                <a:spcPct val="90000"/>
              </a:lnSpc>
              <a:spcAft>
                <a:spcPts val="587"/>
              </a:spcAft>
            </a:pPr>
            <a:r>
              <a:rPr lang="en-US" sz="2350" kern="0" dirty="0">
                <a:ea typeface="MS PGothic" panose="020B0600070205080204" pitchFamily="34" charset="-128"/>
              </a:rPr>
              <a:t>Developer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Fabric: A </a:t>
            </a:r>
            <a:r>
              <a:rPr lang="en-US" dirty="0" err="1"/>
              <a:t>Microservices</a:t>
            </a:r>
            <a:r>
              <a:rPr lang="en-US" dirty="0"/>
              <a:t> Platform</a:t>
            </a:r>
          </a:p>
        </p:txBody>
      </p:sp>
    </p:spTree>
    <p:extLst>
      <p:ext uri="{BB962C8B-B14F-4D97-AF65-F5344CB8AC3E}">
        <p14:creationId xmlns:p14="http://schemas.microsoft.com/office/powerpoint/2010/main" val="201760860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152180"/>
          </a:xfrm>
        </p:spPr>
        <p:txBody>
          <a:bodyPr/>
          <a:lstStyle/>
          <a:p>
            <a:r>
              <a:rPr lang="en-US" dirty="0"/>
              <a:t>Platform for distributing/managing/scaling your services</a:t>
            </a:r>
          </a:p>
          <a:p>
            <a:pPr lvl="1"/>
            <a:r>
              <a:rPr lang="en-US" dirty="0"/>
              <a:t>Service Fabric components are free of charge</a:t>
            </a:r>
          </a:p>
          <a:p>
            <a:pPr lvl="1"/>
            <a:r>
              <a:rPr lang="en-US" dirty="0" err="1"/>
              <a:t>Egagement</a:t>
            </a:r>
            <a:r>
              <a:rPr lang="en-US"/>
              <a:t>: </a:t>
            </a:r>
            <a:r>
              <a:rPr lang="en-US">
                <a:hlinkClick r:id="rId2"/>
              </a:rPr>
              <a:t>https://github.com/azure/service-fabric-issues</a:t>
            </a:r>
            <a:r>
              <a:rPr lang="en-US"/>
              <a:t> </a:t>
            </a:r>
            <a:endParaRPr lang="en-US" dirty="0"/>
          </a:p>
          <a:p>
            <a:r>
              <a:rPr lang="en-US" dirty="0"/>
              <a:t>Supported clouds (Windows, soon Linux)</a:t>
            </a:r>
          </a:p>
          <a:p>
            <a:pPr lvl="1">
              <a:tabLst>
                <a:tab pos="2001838" algn="l"/>
              </a:tabLst>
            </a:pPr>
            <a:r>
              <a:rPr lang="en-US" dirty="0"/>
              <a:t>Microsoft:	Azure &amp; Azure Stack</a:t>
            </a:r>
          </a:p>
          <a:p>
            <a:pPr lvl="1">
              <a:tabLst>
                <a:tab pos="2001838" algn="l"/>
              </a:tabLst>
            </a:pPr>
            <a:r>
              <a:rPr lang="en-US" dirty="0"/>
              <a:t>Other:	On-premises &amp; other public clouds</a:t>
            </a:r>
          </a:p>
          <a:p>
            <a:pPr lvl="1">
              <a:tabLst>
                <a:tab pos="2001838" algn="l"/>
              </a:tabLst>
            </a:pPr>
            <a:r>
              <a:rPr lang="en-US" dirty="0" err="1"/>
              <a:t>OneBox</a:t>
            </a:r>
            <a:r>
              <a:rPr lang="en-US" dirty="0"/>
              <a:t>:	Development PC (via SF SDK)</a:t>
            </a:r>
          </a:p>
          <a:p>
            <a:r>
              <a:rPr lang="en-US" dirty="0"/>
              <a:t>Programming models</a:t>
            </a:r>
          </a:p>
          <a:p>
            <a:pPr lvl="1"/>
            <a:r>
              <a:rPr lang="en-US" dirty="0"/>
              <a:t>Guest executables: Any Windows app (any language &amp; frameworks)</a:t>
            </a:r>
          </a:p>
          <a:p>
            <a:pPr lvl="1"/>
            <a:r>
              <a:rPr lang="en-US" dirty="0"/>
              <a:t>Service host executables: Reliable Services (.NET)</a:t>
            </a:r>
          </a:p>
          <a:p>
            <a:pPr lvl="2"/>
            <a:r>
              <a:rPr lang="en-US" dirty="0"/>
              <a:t>Service Fabric SDK: </a:t>
            </a:r>
            <a:r>
              <a:rPr lang="en-US" dirty="0">
                <a:hlinkClick r:id="rId3"/>
              </a:rPr>
              <a:t>http://aka.ms/ServiceFabricSDK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Service Fabric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2702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6800427" y="2018453"/>
            <a:ext cx="4603604" cy="2382184"/>
          </a:xfrm>
          <a:prstGeom prst="rect">
            <a:avLst/>
          </a:prstGeom>
          <a:solidFill>
            <a:schemeClr val="tx1"/>
          </a:solidFill>
          <a:ln w="3175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88" y="2013214"/>
            <a:ext cx="4651133" cy="239266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16229" y="1262641"/>
            <a:ext cx="2463431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latin typeface="+mj-lt"/>
                <a:cs typeface="Segoe UI" panose="020B0502040204020203" pitchFamily="34" charset="0"/>
              </a:rPr>
              <a:t>Azure Cloud Services</a:t>
            </a:r>
            <a:br>
              <a:rPr lang="en-US" sz="2000" b="1" dirty="0">
                <a:latin typeface="+mj-lt"/>
                <a:cs typeface="Segoe UI" panose="020B0502040204020203" pitchFamily="34" charset="0"/>
              </a:rPr>
            </a:br>
            <a:r>
              <a:rPr lang="en-US" b="1" dirty="0">
                <a:latin typeface="+mj-lt"/>
                <a:cs typeface="Segoe UI" panose="020B0502040204020203" pitchFamily="34" charset="0"/>
              </a:rPr>
              <a:t>(Web &amp; Worker Roles)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473" y="2162197"/>
            <a:ext cx="4376610" cy="213457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34436" y="1262641"/>
            <a:ext cx="2352824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latin typeface="+mj-lt"/>
                <a:cs typeface="Segoe UI" panose="020B0502040204020203" pitchFamily="34" charset="0"/>
              </a:rPr>
              <a:t>Azure Service Fabric</a:t>
            </a:r>
          </a:p>
          <a:p>
            <a:pPr algn="ctr"/>
            <a:r>
              <a:rPr lang="en-US" b="1" dirty="0">
                <a:latin typeface="+mj-lt"/>
                <a:cs typeface="Segoe UI" panose="020B0502040204020203" pitchFamily="34" charset="0"/>
              </a:rPr>
              <a:t>(Services)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6110317" y="1451508"/>
            <a:ext cx="14343" cy="451798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3"/>
          <p:cNvSpPr txBox="1">
            <a:spLocks/>
          </p:cNvSpPr>
          <p:nvPr/>
        </p:nvSpPr>
        <p:spPr>
          <a:xfrm>
            <a:off x="501228" y="4717756"/>
            <a:ext cx="5213460" cy="1321624"/>
          </a:xfrm>
          <a:prstGeom prst="rect">
            <a:avLst/>
          </a:prstGeom>
        </p:spPr>
        <p:txBody>
          <a:bodyPr vert="horz" lIns="89642" tIns="44821" rIns="89642" bIns="44821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Each role/instance per VM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Slow deployment &amp; upgrades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Slow to scale role instances up/down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Emulator for development</a:t>
            </a:r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6476222" y="4723400"/>
            <a:ext cx="5275511" cy="1321624"/>
          </a:xfrm>
          <a:prstGeom prst="rect">
            <a:avLst/>
          </a:prstGeom>
        </p:spPr>
        <p:txBody>
          <a:bodyPr vert="horz" lIns="89642" tIns="44821" rIns="89642" bIns="44821" rtlCol="0" anchor="ctr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lvl="1" indent="-2286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j-lt"/>
              </a:defRPr>
            </a:lvl2pPr>
          </a:lstStyle>
          <a:p>
            <a:pPr lvl="1"/>
            <a:r>
              <a:rPr lang="en-US" dirty="0">
                <a:solidFill>
                  <a:schemeClr val="tx1"/>
                </a:solidFill>
              </a:rPr>
              <a:t>Many service instances share a PC/VM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Fast deployment &amp; upgrades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Fast to scale service instances up/down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OneBox</a:t>
            </a:r>
            <a:r>
              <a:rPr lang="en-US" dirty="0">
                <a:solidFill>
                  <a:schemeClr val="tx1"/>
                </a:solidFill>
              </a:rPr>
              <a:t> cluster for development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Cloud Services vs Service Fabric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9226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9652" y="5096169"/>
            <a:ext cx="9516561" cy="54292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2249" dirty="0">
                <a:solidFill>
                  <a:srgbClr val="FFFFFF"/>
                </a:solidFill>
              </a:rPr>
              <a:t>VMs and VM Scale 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8327" y="5714509"/>
            <a:ext cx="5197885" cy="5610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1688" dirty="0">
                <a:solidFill>
                  <a:schemeClr val="tx1"/>
                </a:solidFill>
              </a:rPr>
              <a:t>Azure Public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409652" y="5721096"/>
            <a:ext cx="4200627" cy="5610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1688">
                <a:solidFill>
                  <a:schemeClr val="tx1"/>
                </a:solidFill>
              </a:rPr>
              <a:t>Azure Stack</a:t>
            </a:r>
            <a:endParaRPr lang="en-US" sz="1688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01080" y="4496344"/>
            <a:ext cx="6525131" cy="49677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2249" dirty="0">
                <a:solidFill>
                  <a:schemeClr val="bg1"/>
                </a:solidFill>
              </a:rPr>
              <a:t>VM Extensions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96124" y="3242774"/>
            <a:ext cx="1518301" cy="11585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1875" dirty="0">
                <a:solidFill>
                  <a:prstClr val="white"/>
                </a:solidFill>
              </a:rPr>
              <a:t>ACS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60276" y="3250776"/>
            <a:ext cx="5143961" cy="1142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2249" dirty="0">
                <a:solidFill>
                  <a:prstClr val="white"/>
                </a:solidFill>
              </a:rPr>
              <a:t>Service Fabric </a:t>
            </a:r>
          </a:p>
          <a:p>
            <a:pPr algn="ctr" defTabSz="857035"/>
            <a:r>
              <a:rPr lang="en-US" sz="2249" dirty="0">
                <a:solidFill>
                  <a:prstClr val="white"/>
                </a:solidFill>
              </a:rPr>
              <a:t>(VMs and Containers)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4520" y="3248523"/>
            <a:ext cx="1495091" cy="115865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1875" dirty="0">
                <a:solidFill>
                  <a:prstClr val="white"/>
                </a:solidFill>
              </a:rPr>
              <a:t>Batch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60277" y="2629303"/>
            <a:ext cx="1923697" cy="5677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1875" dirty="0">
                <a:solidFill>
                  <a:prstClr val="white"/>
                </a:solidFill>
              </a:rPr>
              <a:t>App Service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0950" y="2629303"/>
            <a:ext cx="1508661" cy="5677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2249" dirty="0">
                <a:solidFill>
                  <a:prstClr val="white"/>
                </a:solidFill>
              </a:rPr>
              <a:t>Media</a:t>
            </a:r>
            <a:endParaRPr lang="en-US" sz="2625" dirty="0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560276" y="2047232"/>
            <a:ext cx="798815" cy="50688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1600" dirty="0">
                <a:solidFill>
                  <a:prstClr val="white"/>
                </a:solidFill>
              </a:rPr>
              <a:t>Web </a:t>
            </a:r>
            <a:br>
              <a:rPr lang="en-US" sz="16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Apps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56603" y="2047232"/>
            <a:ext cx="927372" cy="49734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1600" dirty="0">
                <a:solidFill>
                  <a:prstClr val="white"/>
                </a:solidFill>
              </a:rPr>
              <a:t>Mobile</a:t>
            </a:r>
          </a:p>
          <a:p>
            <a:pPr algn="ctr" defTabSz="857035"/>
            <a:r>
              <a:rPr lang="en-US" sz="1600" dirty="0">
                <a:solidFill>
                  <a:prstClr val="white"/>
                </a:solidFill>
              </a:rPr>
              <a:t>Apps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9652" y="3609680"/>
            <a:ext cx="1493771" cy="133654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1600" dirty="0" err="1">
                <a:solidFill>
                  <a:prstClr val="white"/>
                </a:solidFill>
              </a:rPr>
              <a:t>Apprenda</a:t>
            </a:r>
            <a:r>
              <a:rPr lang="en-US" sz="1600" dirty="0">
                <a:solidFill>
                  <a:srgbClr val="404040"/>
                </a:solidFill>
              </a:rPr>
              <a:t> </a:t>
            </a:r>
            <a:r>
              <a:rPr lang="en-US" sz="1600" dirty="0" err="1">
                <a:solidFill>
                  <a:prstClr val="white"/>
                </a:solidFill>
              </a:rPr>
              <a:t>CloudFoundry</a:t>
            </a:r>
            <a:endParaRPr lang="en-US" sz="1600" dirty="0">
              <a:solidFill>
                <a:prstClr val="white"/>
              </a:solidFill>
            </a:endParaRPr>
          </a:p>
          <a:p>
            <a:pPr algn="ctr" defTabSz="857035"/>
            <a:r>
              <a:rPr lang="en-US" sz="1600" dirty="0" err="1">
                <a:solidFill>
                  <a:prstClr val="white"/>
                </a:solidFill>
              </a:rPr>
              <a:t>Jelastic</a:t>
            </a:r>
            <a:endParaRPr lang="en-US" sz="1600" dirty="0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-1116395" y="229123"/>
            <a:ext cx="9803256" cy="910303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8055" tIns="134444" rIns="168055" bIns="13444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85675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5513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Azure’s Next Generation Cloud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54638" y="2629303"/>
            <a:ext cx="3149599" cy="5677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1875" dirty="0">
                <a:solidFill>
                  <a:prstClr val="white"/>
                </a:solidFill>
              </a:rPr>
              <a:t>Service Fabric Apps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32580" y="3621024"/>
            <a:ext cx="1292879" cy="132519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1600" dirty="0">
                <a:solidFill>
                  <a:prstClr val="white"/>
                </a:solidFill>
              </a:rPr>
              <a:t>SCALR </a:t>
            </a:r>
            <a:r>
              <a:rPr lang="en-US" sz="1600" dirty="0" err="1">
                <a:solidFill>
                  <a:prstClr val="white"/>
                </a:solidFill>
              </a:rPr>
              <a:t>RightScale</a:t>
            </a:r>
            <a:r>
              <a:rPr lang="en-US" sz="1600" dirty="0">
                <a:solidFill>
                  <a:prstClr val="white"/>
                </a:solidFill>
              </a:rPr>
              <a:t>,</a:t>
            </a:r>
          </a:p>
          <a:p>
            <a:pPr algn="ctr" defTabSz="857035"/>
            <a:r>
              <a:rPr lang="en-US" sz="1600" dirty="0" err="1">
                <a:solidFill>
                  <a:prstClr val="white"/>
                </a:solidFill>
              </a:rPr>
              <a:t>Mesos</a:t>
            </a:r>
            <a:r>
              <a:rPr lang="en-US" sz="1600" dirty="0">
                <a:solidFill>
                  <a:prstClr val="white"/>
                </a:solidFill>
              </a:rPr>
              <a:t/>
            </a:r>
            <a:br>
              <a:rPr lang="en-US" sz="16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Swarm</a:t>
            </a:r>
            <a:br>
              <a:rPr lang="en-US" sz="16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Kubernetes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44261" y="4447013"/>
            <a:ext cx="1659977" cy="18285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7035"/>
            <a:r>
              <a:rPr lang="en-US" sz="1688" dirty="0">
                <a:solidFill>
                  <a:schemeClr val="tx1"/>
                </a:solidFill>
              </a:rPr>
              <a:t>Physical Machines</a:t>
            </a:r>
            <a:br>
              <a:rPr lang="en-US" sz="1688" dirty="0">
                <a:solidFill>
                  <a:schemeClr val="tx1"/>
                </a:solidFill>
              </a:rPr>
            </a:br>
            <a:r>
              <a:rPr lang="en-US" sz="1688" dirty="0">
                <a:solidFill>
                  <a:schemeClr val="tx1"/>
                </a:solidFill>
              </a:rPr>
              <a:t>&amp; Other Clouds</a:t>
            </a:r>
          </a:p>
        </p:txBody>
      </p:sp>
    </p:spTree>
    <p:extLst>
      <p:ext uri="{BB962C8B-B14F-4D97-AF65-F5344CB8AC3E}">
        <p14:creationId xmlns:p14="http://schemas.microsoft.com/office/powerpoint/2010/main" val="423128179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393897"/>
            <a:ext cx="11653523" cy="5152180"/>
          </a:xfrm>
        </p:spPr>
        <p:txBody>
          <a:bodyPr/>
          <a:lstStyle/>
          <a:p>
            <a:r>
              <a:rPr lang="en-US" dirty="0"/>
              <a:t>Support for Docker, Windows and Hyper-V containers</a:t>
            </a:r>
          </a:p>
          <a:p>
            <a:r>
              <a:rPr lang="en-US" dirty="0"/>
              <a:t>Running guest containers in Service Fabric</a:t>
            </a:r>
          </a:p>
          <a:p>
            <a:pPr lvl="1"/>
            <a:r>
              <a:rPr lang="en-US" dirty="0"/>
              <a:t>Container does not contain SF runtime</a:t>
            </a:r>
          </a:p>
          <a:p>
            <a:pPr lvl="1"/>
            <a:r>
              <a:rPr lang="en-US" dirty="0"/>
              <a:t>Uses container host feature</a:t>
            </a:r>
          </a:p>
          <a:p>
            <a:pPr lvl="1"/>
            <a:r>
              <a:rPr lang="en-US" dirty="0"/>
              <a:t>Uses Service Fabric Cluster management and resource scheduling capabilities</a:t>
            </a:r>
          </a:p>
          <a:p>
            <a:r>
              <a:rPr lang="en-US" dirty="0"/>
              <a:t>Building containerized Service Fabric applications</a:t>
            </a:r>
          </a:p>
          <a:p>
            <a:pPr lvl="1"/>
            <a:r>
              <a:rPr lang="en-US" dirty="0"/>
              <a:t>Container contains SF runtime</a:t>
            </a:r>
          </a:p>
          <a:p>
            <a:pPr lvl="1"/>
            <a:r>
              <a:rPr lang="en-US" dirty="0"/>
              <a:t>Build stateless and </a:t>
            </a:r>
            <a:r>
              <a:rPr lang="en-US" dirty="0" err="1"/>
              <a:t>stateful</a:t>
            </a:r>
            <a:r>
              <a:rPr lang="en-US" dirty="0"/>
              <a:t> SF services</a:t>
            </a:r>
          </a:p>
          <a:p>
            <a:pPr lvl="1"/>
            <a:r>
              <a:rPr lang="en-US" dirty="0"/>
              <a:t>Uses Service Fabric Cluster management and resource scheduling capabilities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Fabric Container Integration</a:t>
            </a:r>
          </a:p>
        </p:txBody>
      </p:sp>
    </p:spTree>
    <p:extLst>
      <p:ext uri="{BB962C8B-B14F-4D97-AF65-F5344CB8AC3E}">
        <p14:creationId xmlns:p14="http://schemas.microsoft.com/office/powerpoint/2010/main" val="205628330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>
          <a:xfrm>
            <a:off x="6322832" y="1462714"/>
            <a:ext cx="5599930" cy="221496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400" dirty="0"/>
              <a:t>Application Lifecycle Container </a:t>
            </a:r>
          </a:p>
          <a:p>
            <a:r>
              <a:rPr lang="en-US" sz="2400" dirty="0"/>
              <a:t>Declarative Solution for Deployment and Configuration</a:t>
            </a:r>
          </a:p>
          <a:p>
            <a:r>
              <a:rPr lang="en-US" sz="2400" dirty="0"/>
              <a:t>Consistent Management Layer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Azure Resource Manager </a:t>
            </a:r>
          </a:p>
        </p:txBody>
      </p:sp>
      <p:sp>
        <p:nvSpPr>
          <p:cNvPr id="6" name="AutoShape 3"/>
          <p:cNvSpPr>
            <a:spLocks noChangeAspect="1" noChangeArrowheads="1" noTextEdit="1"/>
          </p:cNvSpPr>
          <p:nvPr/>
        </p:nvSpPr>
        <p:spPr bwMode="auto">
          <a:xfrm>
            <a:off x="612070" y="1666123"/>
            <a:ext cx="4945951" cy="4723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621595" y="1678820"/>
            <a:ext cx="4923728" cy="4701509"/>
          </a:xfrm>
          <a:custGeom>
            <a:avLst/>
            <a:gdLst>
              <a:gd name="T0" fmla="*/ 2649 w 2649"/>
              <a:gd name="T1" fmla="*/ 2496 h 2529"/>
              <a:gd name="T2" fmla="*/ 2616 w 2649"/>
              <a:gd name="T3" fmla="*/ 2529 h 2529"/>
              <a:gd name="T4" fmla="*/ 33 w 2649"/>
              <a:gd name="T5" fmla="*/ 2529 h 2529"/>
              <a:gd name="T6" fmla="*/ 0 w 2649"/>
              <a:gd name="T7" fmla="*/ 2496 h 2529"/>
              <a:gd name="T8" fmla="*/ 0 w 2649"/>
              <a:gd name="T9" fmla="*/ 33 h 2529"/>
              <a:gd name="T10" fmla="*/ 33 w 2649"/>
              <a:gd name="T11" fmla="*/ 0 h 2529"/>
              <a:gd name="T12" fmla="*/ 2616 w 2649"/>
              <a:gd name="T13" fmla="*/ 0 h 2529"/>
              <a:gd name="T14" fmla="*/ 2649 w 2649"/>
              <a:gd name="T15" fmla="*/ 33 h 2529"/>
              <a:gd name="T16" fmla="*/ 2649 w 2649"/>
              <a:gd name="T17" fmla="*/ 2496 h 2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649" h="2529">
                <a:moveTo>
                  <a:pt x="2649" y="2496"/>
                </a:moveTo>
                <a:cubicBezTo>
                  <a:pt x="2649" y="2514"/>
                  <a:pt x="2634" y="2529"/>
                  <a:pt x="2616" y="2529"/>
                </a:cubicBezTo>
                <a:cubicBezTo>
                  <a:pt x="33" y="2529"/>
                  <a:pt x="33" y="2529"/>
                  <a:pt x="33" y="2529"/>
                </a:cubicBezTo>
                <a:cubicBezTo>
                  <a:pt x="15" y="2529"/>
                  <a:pt x="0" y="2514"/>
                  <a:pt x="0" y="2496"/>
                </a:cubicBezTo>
                <a:cubicBezTo>
                  <a:pt x="0" y="33"/>
                  <a:pt x="0" y="33"/>
                  <a:pt x="0" y="33"/>
                </a:cubicBezTo>
                <a:cubicBezTo>
                  <a:pt x="0" y="14"/>
                  <a:pt x="15" y="0"/>
                  <a:pt x="33" y="0"/>
                </a:cubicBezTo>
                <a:cubicBezTo>
                  <a:pt x="2616" y="0"/>
                  <a:pt x="2616" y="0"/>
                  <a:pt x="2616" y="0"/>
                </a:cubicBezTo>
                <a:cubicBezTo>
                  <a:pt x="2634" y="0"/>
                  <a:pt x="2649" y="14"/>
                  <a:pt x="2649" y="33"/>
                </a:cubicBezTo>
                <a:cubicBezTo>
                  <a:pt x="2649" y="2496"/>
                  <a:pt x="2649" y="2496"/>
                  <a:pt x="2649" y="2496"/>
                </a:cubicBezTo>
              </a:path>
            </a:pathLst>
          </a:custGeom>
          <a:solidFill>
            <a:srgbClr val="022D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610483" y="1667709"/>
            <a:ext cx="4945951" cy="4723731"/>
          </a:xfrm>
          <a:custGeom>
            <a:avLst/>
            <a:gdLst>
              <a:gd name="T0" fmla="*/ 2655 w 2661"/>
              <a:gd name="T1" fmla="*/ 2502 h 2541"/>
              <a:gd name="T2" fmla="*/ 2649 w 2661"/>
              <a:gd name="T3" fmla="*/ 2502 h 2541"/>
              <a:gd name="T4" fmla="*/ 2641 w 2661"/>
              <a:gd name="T5" fmla="*/ 2521 h 2541"/>
              <a:gd name="T6" fmla="*/ 2622 w 2661"/>
              <a:gd name="T7" fmla="*/ 2529 h 2541"/>
              <a:gd name="T8" fmla="*/ 39 w 2661"/>
              <a:gd name="T9" fmla="*/ 2529 h 2541"/>
              <a:gd name="T10" fmla="*/ 20 w 2661"/>
              <a:gd name="T11" fmla="*/ 2521 h 2541"/>
              <a:gd name="T12" fmla="*/ 12 w 2661"/>
              <a:gd name="T13" fmla="*/ 2502 h 2541"/>
              <a:gd name="T14" fmla="*/ 12 w 2661"/>
              <a:gd name="T15" fmla="*/ 39 h 2541"/>
              <a:gd name="T16" fmla="*/ 20 w 2661"/>
              <a:gd name="T17" fmla="*/ 20 h 2541"/>
              <a:gd name="T18" fmla="*/ 39 w 2661"/>
              <a:gd name="T19" fmla="*/ 12 h 2541"/>
              <a:gd name="T20" fmla="*/ 2622 w 2661"/>
              <a:gd name="T21" fmla="*/ 12 h 2541"/>
              <a:gd name="T22" fmla="*/ 2641 w 2661"/>
              <a:gd name="T23" fmla="*/ 20 h 2541"/>
              <a:gd name="T24" fmla="*/ 2649 w 2661"/>
              <a:gd name="T25" fmla="*/ 39 h 2541"/>
              <a:gd name="T26" fmla="*/ 2649 w 2661"/>
              <a:gd name="T27" fmla="*/ 2502 h 2541"/>
              <a:gd name="T28" fmla="*/ 2655 w 2661"/>
              <a:gd name="T29" fmla="*/ 2502 h 2541"/>
              <a:gd name="T30" fmla="*/ 2661 w 2661"/>
              <a:gd name="T31" fmla="*/ 2502 h 2541"/>
              <a:gd name="T32" fmla="*/ 2661 w 2661"/>
              <a:gd name="T33" fmla="*/ 39 h 2541"/>
              <a:gd name="T34" fmla="*/ 2622 w 2661"/>
              <a:gd name="T35" fmla="*/ 0 h 2541"/>
              <a:gd name="T36" fmla="*/ 39 w 2661"/>
              <a:gd name="T37" fmla="*/ 0 h 2541"/>
              <a:gd name="T38" fmla="*/ 0 w 2661"/>
              <a:gd name="T39" fmla="*/ 39 h 2541"/>
              <a:gd name="T40" fmla="*/ 0 w 2661"/>
              <a:gd name="T41" fmla="*/ 2502 h 2541"/>
              <a:gd name="T42" fmla="*/ 39 w 2661"/>
              <a:gd name="T43" fmla="*/ 2541 h 2541"/>
              <a:gd name="T44" fmla="*/ 2622 w 2661"/>
              <a:gd name="T45" fmla="*/ 2541 h 2541"/>
              <a:gd name="T46" fmla="*/ 2661 w 2661"/>
              <a:gd name="T47" fmla="*/ 2502 h 2541"/>
              <a:gd name="T48" fmla="*/ 2655 w 2661"/>
              <a:gd name="T49" fmla="*/ 2502 h 2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661" h="2541">
                <a:moveTo>
                  <a:pt x="2655" y="2502"/>
                </a:moveTo>
                <a:cubicBezTo>
                  <a:pt x="2649" y="2502"/>
                  <a:pt x="2649" y="2502"/>
                  <a:pt x="2649" y="2502"/>
                </a:cubicBezTo>
                <a:cubicBezTo>
                  <a:pt x="2649" y="2509"/>
                  <a:pt x="2646" y="2516"/>
                  <a:pt x="2641" y="2521"/>
                </a:cubicBezTo>
                <a:cubicBezTo>
                  <a:pt x="2636" y="2526"/>
                  <a:pt x="2629" y="2529"/>
                  <a:pt x="2622" y="2529"/>
                </a:cubicBezTo>
                <a:cubicBezTo>
                  <a:pt x="39" y="2529"/>
                  <a:pt x="39" y="2529"/>
                  <a:pt x="39" y="2529"/>
                </a:cubicBezTo>
                <a:cubicBezTo>
                  <a:pt x="32" y="2529"/>
                  <a:pt x="25" y="2526"/>
                  <a:pt x="20" y="2521"/>
                </a:cubicBezTo>
                <a:cubicBezTo>
                  <a:pt x="15" y="2516"/>
                  <a:pt x="12" y="2509"/>
                  <a:pt x="12" y="2502"/>
                </a:cubicBezTo>
                <a:cubicBezTo>
                  <a:pt x="12" y="39"/>
                  <a:pt x="12" y="39"/>
                  <a:pt x="12" y="39"/>
                </a:cubicBezTo>
                <a:cubicBezTo>
                  <a:pt x="12" y="31"/>
                  <a:pt x="15" y="25"/>
                  <a:pt x="20" y="20"/>
                </a:cubicBezTo>
                <a:cubicBezTo>
                  <a:pt x="25" y="15"/>
                  <a:pt x="32" y="12"/>
                  <a:pt x="39" y="12"/>
                </a:cubicBezTo>
                <a:cubicBezTo>
                  <a:pt x="2622" y="12"/>
                  <a:pt x="2622" y="12"/>
                  <a:pt x="2622" y="12"/>
                </a:cubicBezTo>
                <a:cubicBezTo>
                  <a:pt x="2629" y="12"/>
                  <a:pt x="2636" y="15"/>
                  <a:pt x="2641" y="20"/>
                </a:cubicBezTo>
                <a:cubicBezTo>
                  <a:pt x="2646" y="25"/>
                  <a:pt x="2649" y="31"/>
                  <a:pt x="2649" y="39"/>
                </a:cubicBezTo>
                <a:cubicBezTo>
                  <a:pt x="2649" y="2502"/>
                  <a:pt x="2649" y="2502"/>
                  <a:pt x="2649" y="2502"/>
                </a:cubicBezTo>
                <a:cubicBezTo>
                  <a:pt x="2655" y="2502"/>
                  <a:pt x="2655" y="2502"/>
                  <a:pt x="2655" y="2502"/>
                </a:cubicBezTo>
                <a:cubicBezTo>
                  <a:pt x="2661" y="2502"/>
                  <a:pt x="2661" y="2502"/>
                  <a:pt x="2661" y="2502"/>
                </a:cubicBezTo>
                <a:cubicBezTo>
                  <a:pt x="2661" y="39"/>
                  <a:pt x="2661" y="39"/>
                  <a:pt x="2661" y="39"/>
                </a:cubicBezTo>
                <a:cubicBezTo>
                  <a:pt x="2661" y="17"/>
                  <a:pt x="2643" y="0"/>
                  <a:pt x="2622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18" y="0"/>
                  <a:pt x="0" y="17"/>
                  <a:pt x="0" y="39"/>
                </a:cubicBezTo>
                <a:cubicBezTo>
                  <a:pt x="0" y="2502"/>
                  <a:pt x="0" y="2502"/>
                  <a:pt x="0" y="2502"/>
                </a:cubicBezTo>
                <a:cubicBezTo>
                  <a:pt x="0" y="2523"/>
                  <a:pt x="18" y="2541"/>
                  <a:pt x="39" y="2541"/>
                </a:cubicBezTo>
                <a:cubicBezTo>
                  <a:pt x="2622" y="2541"/>
                  <a:pt x="2622" y="2541"/>
                  <a:pt x="2622" y="2541"/>
                </a:cubicBezTo>
                <a:cubicBezTo>
                  <a:pt x="2643" y="2541"/>
                  <a:pt x="2661" y="2523"/>
                  <a:pt x="2661" y="2502"/>
                </a:cubicBezTo>
                <a:lnTo>
                  <a:pt x="2655" y="25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1553325" y="2591505"/>
            <a:ext cx="3060267" cy="3058679"/>
          </a:xfrm>
          <a:custGeom>
            <a:avLst/>
            <a:gdLst>
              <a:gd name="T0" fmla="*/ 878 w 1647"/>
              <a:gd name="T1" fmla="*/ 19 h 1645"/>
              <a:gd name="T2" fmla="*/ 1628 w 1647"/>
              <a:gd name="T3" fmla="*/ 821 h 1645"/>
              <a:gd name="T4" fmla="*/ 1392 w 1647"/>
              <a:gd name="T5" fmla="*/ 1390 h 1645"/>
              <a:gd name="T6" fmla="*/ 823 w 1647"/>
              <a:gd name="T7" fmla="*/ 1626 h 1645"/>
              <a:gd name="T8" fmla="*/ 255 w 1647"/>
              <a:gd name="T9" fmla="*/ 1390 h 1645"/>
              <a:gd name="T10" fmla="*/ 19 w 1647"/>
              <a:gd name="T11" fmla="*/ 821 h 1645"/>
              <a:gd name="T12" fmla="*/ 54 w 1647"/>
              <a:gd name="T13" fmla="*/ 587 h 1645"/>
              <a:gd name="T14" fmla="*/ 35 w 1647"/>
              <a:gd name="T15" fmla="*/ 581 h 1645"/>
              <a:gd name="T16" fmla="*/ 0 w 1647"/>
              <a:gd name="T17" fmla="*/ 821 h 1645"/>
              <a:gd name="T18" fmla="*/ 823 w 1647"/>
              <a:gd name="T19" fmla="*/ 1645 h 1645"/>
              <a:gd name="T20" fmla="*/ 1647 w 1647"/>
              <a:gd name="T21" fmla="*/ 821 h 1645"/>
              <a:gd name="T22" fmla="*/ 879 w 1647"/>
              <a:gd name="T23" fmla="*/ 0 h 1645"/>
              <a:gd name="T24" fmla="*/ 878 w 1647"/>
              <a:gd name="T25" fmla="*/ 19 h 1645"/>
              <a:gd name="T26" fmla="*/ 878 w 1647"/>
              <a:gd name="T27" fmla="*/ 19 h 16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47" h="1645">
                <a:moveTo>
                  <a:pt x="878" y="19"/>
                </a:moveTo>
                <a:cubicBezTo>
                  <a:pt x="1297" y="46"/>
                  <a:pt x="1628" y="395"/>
                  <a:pt x="1628" y="821"/>
                </a:cubicBezTo>
                <a:cubicBezTo>
                  <a:pt x="1628" y="1043"/>
                  <a:pt x="1538" y="1245"/>
                  <a:pt x="1392" y="1390"/>
                </a:cubicBezTo>
                <a:cubicBezTo>
                  <a:pt x="1247" y="1536"/>
                  <a:pt x="1046" y="1626"/>
                  <a:pt x="823" y="1626"/>
                </a:cubicBezTo>
                <a:cubicBezTo>
                  <a:pt x="601" y="1626"/>
                  <a:pt x="400" y="1536"/>
                  <a:pt x="255" y="1390"/>
                </a:cubicBezTo>
                <a:cubicBezTo>
                  <a:pt x="109" y="1245"/>
                  <a:pt x="19" y="1043"/>
                  <a:pt x="19" y="821"/>
                </a:cubicBezTo>
                <a:cubicBezTo>
                  <a:pt x="19" y="740"/>
                  <a:pt x="31" y="661"/>
                  <a:pt x="54" y="587"/>
                </a:cubicBezTo>
                <a:cubicBezTo>
                  <a:pt x="35" y="581"/>
                  <a:pt x="35" y="581"/>
                  <a:pt x="35" y="581"/>
                </a:cubicBezTo>
                <a:cubicBezTo>
                  <a:pt x="12" y="657"/>
                  <a:pt x="0" y="738"/>
                  <a:pt x="0" y="821"/>
                </a:cubicBezTo>
                <a:cubicBezTo>
                  <a:pt x="0" y="1276"/>
                  <a:pt x="369" y="1645"/>
                  <a:pt x="823" y="1645"/>
                </a:cubicBezTo>
                <a:cubicBezTo>
                  <a:pt x="1278" y="1645"/>
                  <a:pt x="1647" y="1276"/>
                  <a:pt x="1647" y="821"/>
                </a:cubicBezTo>
                <a:cubicBezTo>
                  <a:pt x="1647" y="385"/>
                  <a:pt x="1308" y="28"/>
                  <a:pt x="879" y="0"/>
                </a:cubicBezTo>
                <a:cubicBezTo>
                  <a:pt x="878" y="19"/>
                  <a:pt x="878" y="19"/>
                  <a:pt x="878" y="19"/>
                </a:cubicBezTo>
                <a:cubicBezTo>
                  <a:pt x="878" y="19"/>
                  <a:pt x="878" y="19"/>
                  <a:pt x="878" y="19"/>
                </a:cubicBezTo>
              </a:path>
            </a:pathLst>
          </a:custGeom>
          <a:solidFill>
            <a:srgbClr val="7CCA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" name="Freeform 8"/>
          <p:cNvSpPr>
            <a:spLocks/>
          </p:cNvSpPr>
          <p:nvPr/>
        </p:nvSpPr>
        <p:spPr bwMode="auto">
          <a:xfrm>
            <a:off x="3081871" y="2540712"/>
            <a:ext cx="126983" cy="141267"/>
          </a:xfrm>
          <a:custGeom>
            <a:avLst/>
            <a:gdLst>
              <a:gd name="T0" fmla="*/ 76 w 80"/>
              <a:gd name="T1" fmla="*/ 89 h 89"/>
              <a:gd name="T2" fmla="*/ 0 w 80"/>
              <a:gd name="T3" fmla="*/ 41 h 89"/>
              <a:gd name="T4" fmla="*/ 80 w 80"/>
              <a:gd name="T5" fmla="*/ 0 h 89"/>
              <a:gd name="T6" fmla="*/ 76 w 80"/>
              <a:gd name="T7" fmla="*/ 8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0" h="89">
                <a:moveTo>
                  <a:pt x="76" y="89"/>
                </a:moveTo>
                <a:lnTo>
                  <a:pt x="0" y="41"/>
                </a:lnTo>
                <a:lnTo>
                  <a:pt x="80" y="0"/>
                </a:lnTo>
                <a:lnTo>
                  <a:pt x="76" y="89"/>
                </a:lnTo>
                <a:close/>
              </a:path>
            </a:pathLst>
          </a:custGeom>
          <a:solidFill>
            <a:srgbClr val="7CCA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>
            <a:off x="1559675" y="3607361"/>
            <a:ext cx="149204" cy="147617"/>
          </a:xfrm>
          <a:custGeom>
            <a:avLst/>
            <a:gdLst>
              <a:gd name="T0" fmla="*/ 74 w 80"/>
              <a:gd name="T1" fmla="*/ 51 h 80"/>
              <a:gd name="T2" fmla="*/ 51 w 80"/>
              <a:gd name="T3" fmla="*/ 6 h 80"/>
              <a:gd name="T4" fmla="*/ 6 w 80"/>
              <a:gd name="T5" fmla="*/ 29 h 80"/>
              <a:gd name="T6" fmla="*/ 29 w 80"/>
              <a:gd name="T7" fmla="*/ 74 h 80"/>
              <a:gd name="T8" fmla="*/ 74 w 80"/>
              <a:gd name="T9" fmla="*/ 51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" h="80">
                <a:moveTo>
                  <a:pt x="74" y="51"/>
                </a:moveTo>
                <a:cubicBezTo>
                  <a:pt x="80" y="32"/>
                  <a:pt x="70" y="12"/>
                  <a:pt x="51" y="6"/>
                </a:cubicBezTo>
                <a:cubicBezTo>
                  <a:pt x="32" y="0"/>
                  <a:pt x="12" y="10"/>
                  <a:pt x="6" y="29"/>
                </a:cubicBezTo>
                <a:cubicBezTo>
                  <a:pt x="0" y="47"/>
                  <a:pt x="10" y="68"/>
                  <a:pt x="29" y="74"/>
                </a:cubicBezTo>
                <a:cubicBezTo>
                  <a:pt x="48" y="80"/>
                  <a:pt x="68" y="70"/>
                  <a:pt x="74" y="51"/>
                </a:cubicBezTo>
                <a:close/>
              </a:path>
            </a:pathLst>
          </a:custGeom>
          <a:solidFill>
            <a:srgbClr val="7CCA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" name="Freeform 10"/>
          <p:cNvSpPr>
            <a:spLocks/>
          </p:cNvSpPr>
          <p:nvPr/>
        </p:nvSpPr>
        <p:spPr bwMode="auto">
          <a:xfrm>
            <a:off x="1169205" y="2391507"/>
            <a:ext cx="1307915" cy="1155536"/>
          </a:xfrm>
          <a:custGeom>
            <a:avLst/>
            <a:gdLst>
              <a:gd name="T0" fmla="*/ 540 w 703"/>
              <a:gd name="T1" fmla="*/ 558 h 622"/>
              <a:gd name="T2" fmla="*/ 352 w 703"/>
              <a:gd name="T3" fmla="*/ 622 h 622"/>
              <a:gd name="T4" fmla="*/ 104 w 703"/>
              <a:gd name="T5" fmla="*/ 500 h 622"/>
              <a:gd name="T6" fmla="*/ 162 w 703"/>
              <a:gd name="T7" fmla="*/ 64 h 622"/>
              <a:gd name="T8" fmla="*/ 351 w 703"/>
              <a:gd name="T9" fmla="*/ 0 h 622"/>
              <a:gd name="T10" fmla="*/ 598 w 703"/>
              <a:gd name="T11" fmla="*/ 122 h 622"/>
              <a:gd name="T12" fmla="*/ 540 w 703"/>
              <a:gd name="T13" fmla="*/ 558 h 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3" h="622">
                <a:moveTo>
                  <a:pt x="540" y="558"/>
                </a:moveTo>
                <a:cubicBezTo>
                  <a:pt x="484" y="601"/>
                  <a:pt x="418" y="622"/>
                  <a:pt x="352" y="622"/>
                </a:cubicBezTo>
                <a:cubicBezTo>
                  <a:pt x="258" y="622"/>
                  <a:pt x="166" y="580"/>
                  <a:pt x="104" y="500"/>
                </a:cubicBezTo>
                <a:cubicBezTo>
                  <a:pt x="0" y="364"/>
                  <a:pt x="26" y="169"/>
                  <a:pt x="162" y="64"/>
                </a:cubicBezTo>
                <a:cubicBezTo>
                  <a:pt x="219" y="21"/>
                  <a:pt x="285" y="0"/>
                  <a:pt x="351" y="0"/>
                </a:cubicBezTo>
                <a:cubicBezTo>
                  <a:pt x="445" y="0"/>
                  <a:pt x="537" y="42"/>
                  <a:pt x="598" y="122"/>
                </a:cubicBezTo>
                <a:cubicBezTo>
                  <a:pt x="703" y="259"/>
                  <a:pt x="677" y="454"/>
                  <a:pt x="540" y="558"/>
                </a:cubicBezTo>
                <a:close/>
              </a:path>
            </a:pathLst>
          </a:custGeom>
          <a:solidFill>
            <a:srgbClr val="59B4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Freeform 11"/>
          <p:cNvSpPr>
            <a:spLocks/>
          </p:cNvSpPr>
          <p:nvPr/>
        </p:nvSpPr>
        <p:spPr bwMode="auto">
          <a:xfrm>
            <a:off x="1169205" y="2391507"/>
            <a:ext cx="1307915" cy="1155536"/>
          </a:xfrm>
          <a:custGeom>
            <a:avLst/>
            <a:gdLst>
              <a:gd name="T0" fmla="*/ 540 w 703"/>
              <a:gd name="T1" fmla="*/ 558 h 622"/>
              <a:gd name="T2" fmla="*/ 352 w 703"/>
              <a:gd name="T3" fmla="*/ 622 h 622"/>
              <a:gd name="T4" fmla="*/ 104 w 703"/>
              <a:gd name="T5" fmla="*/ 500 h 622"/>
              <a:gd name="T6" fmla="*/ 162 w 703"/>
              <a:gd name="T7" fmla="*/ 64 h 622"/>
              <a:gd name="T8" fmla="*/ 351 w 703"/>
              <a:gd name="T9" fmla="*/ 0 h 622"/>
              <a:gd name="T10" fmla="*/ 598 w 703"/>
              <a:gd name="T11" fmla="*/ 122 h 622"/>
              <a:gd name="T12" fmla="*/ 540 w 703"/>
              <a:gd name="T13" fmla="*/ 558 h 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3" h="622">
                <a:moveTo>
                  <a:pt x="540" y="558"/>
                </a:moveTo>
                <a:cubicBezTo>
                  <a:pt x="484" y="601"/>
                  <a:pt x="418" y="622"/>
                  <a:pt x="352" y="622"/>
                </a:cubicBezTo>
                <a:cubicBezTo>
                  <a:pt x="258" y="622"/>
                  <a:pt x="166" y="580"/>
                  <a:pt x="104" y="500"/>
                </a:cubicBezTo>
                <a:cubicBezTo>
                  <a:pt x="0" y="364"/>
                  <a:pt x="26" y="169"/>
                  <a:pt x="162" y="64"/>
                </a:cubicBezTo>
                <a:cubicBezTo>
                  <a:pt x="219" y="21"/>
                  <a:pt x="285" y="0"/>
                  <a:pt x="351" y="0"/>
                </a:cubicBezTo>
                <a:cubicBezTo>
                  <a:pt x="445" y="0"/>
                  <a:pt x="537" y="42"/>
                  <a:pt x="598" y="122"/>
                </a:cubicBezTo>
                <a:cubicBezTo>
                  <a:pt x="703" y="259"/>
                  <a:pt x="677" y="454"/>
                  <a:pt x="540" y="558"/>
                </a:cubicBezTo>
                <a:close/>
              </a:path>
            </a:pathLst>
          </a:custGeom>
          <a:solidFill>
            <a:srgbClr val="59B4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Freeform 12"/>
          <p:cNvSpPr>
            <a:spLocks/>
          </p:cNvSpPr>
          <p:nvPr/>
        </p:nvSpPr>
        <p:spPr bwMode="auto">
          <a:xfrm>
            <a:off x="1327931" y="2564520"/>
            <a:ext cx="157140" cy="415867"/>
          </a:xfrm>
          <a:custGeom>
            <a:avLst/>
            <a:gdLst>
              <a:gd name="T0" fmla="*/ 54 w 85"/>
              <a:gd name="T1" fmla="*/ 224 h 224"/>
              <a:gd name="T2" fmla="*/ 85 w 85"/>
              <a:gd name="T3" fmla="*/ 172 h 224"/>
              <a:gd name="T4" fmla="*/ 44 w 85"/>
              <a:gd name="T5" fmla="*/ 0 h 224"/>
              <a:gd name="T6" fmla="*/ 10 w 85"/>
              <a:gd name="T7" fmla="*/ 41 h 224"/>
              <a:gd name="T8" fmla="*/ 54 w 85"/>
              <a:gd name="T9" fmla="*/ 224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" h="224">
                <a:moveTo>
                  <a:pt x="54" y="224"/>
                </a:moveTo>
                <a:cubicBezTo>
                  <a:pt x="63" y="207"/>
                  <a:pt x="73" y="189"/>
                  <a:pt x="85" y="172"/>
                </a:cubicBezTo>
                <a:cubicBezTo>
                  <a:pt x="36" y="94"/>
                  <a:pt x="38" y="30"/>
                  <a:pt x="44" y="0"/>
                </a:cubicBezTo>
                <a:cubicBezTo>
                  <a:pt x="31" y="13"/>
                  <a:pt x="20" y="27"/>
                  <a:pt x="10" y="41"/>
                </a:cubicBezTo>
                <a:cubicBezTo>
                  <a:pt x="0" y="81"/>
                  <a:pt x="0" y="146"/>
                  <a:pt x="54" y="2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Freeform 13"/>
          <p:cNvSpPr>
            <a:spLocks/>
          </p:cNvSpPr>
          <p:nvPr/>
        </p:nvSpPr>
        <p:spPr bwMode="auto">
          <a:xfrm>
            <a:off x="1523167" y="2999434"/>
            <a:ext cx="777765" cy="385708"/>
          </a:xfrm>
          <a:custGeom>
            <a:avLst/>
            <a:gdLst>
              <a:gd name="T0" fmla="*/ 88 w 419"/>
              <a:gd name="T1" fmla="*/ 54 h 208"/>
              <a:gd name="T2" fmla="*/ 29 w 419"/>
              <a:gd name="T3" fmla="*/ 0 h 208"/>
              <a:gd name="T4" fmla="*/ 0 w 419"/>
              <a:gd name="T5" fmla="*/ 49 h 208"/>
              <a:gd name="T6" fmla="*/ 54 w 419"/>
              <a:gd name="T7" fmla="*/ 97 h 208"/>
              <a:gd name="T8" fmla="*/ 379 w 419"/>
              <a:gd name="T9" fmla="*/ 208 h 208"/>
              <a:gd name="T10" fmla="*/ 419 w 419"/>
              <a:gd name="T11" fmla="*/ 159 h 208"/>
              <a:gd name="T12" fmla="*/ 88 w 419"/>
              <a:gd name="T13" fmla="*/ 54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9" h="208">
                <a:moveTo>
                  <a:pt x="88" y="54"/>
                </a:moveTo>
                <a:cubicBezTo>
                  <a:pt x="65" y="36"/>
                  <a:pt x="46" y="17"/>
                  <a:pt x="29" y="0"/>
                </a:cubicBezTo>
                <a:cubicBezTo>
                  <a:pt x="18" y="16"/>
                  <a:pt x="8" y="33"/>
                  <a:pt x="0" y="49"/>
                </a:cubicBezTo>
                <a:cubicBezTo>
                  <a:pt x="15" y="65"/>
                  <a:pt x="33" y="81"/>
                  <a:pt x="54" y="97"/>
                </a:cubicBezTo>
                <a:cubicBezTo>
                  <a:pt x="181" y="198"/>
                  <a:pt x="308" y="208"/>
                  <a:pt x="379" y="208"/>
                </a:cubicBezTo>
                <a:cubicBezTo>
                  <a:pt x="384" y="208"/>
                  <a:pt x="406" y="177"/>
                  <a:pt x="419" y="159"/>
                </a:cubicBezTo>
                <a:cubicBezTo>
                  <a:pt x="387" y="165"/>
                  <a:pt x="251" y="183"/>
                  <a:pt x="88" y="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Freeform 14"/>
          <p:cNvSpPr>
            <a:spLocks/>
          </p:cNvSpPr>
          <p:nvPr/>
        </p:nvSpPr>
        <p:spPr bwMode="auto">
          <a:xfrm>
            <a:off x="1832686" y="2707375"/>
            <a:ext cx="552372" cy="463484"/>
          </a:xfrm>
          <a:custGeom>
            <a:avLst/>
            <a:gdLst>
              <a:gd name="T0" fmla="*/ 0 w 297"/>
              <a:gd name="T1" fmla="*/ 26 h 249"/>
              <a:gd name="T2" fmla="*/ 289 w 297"/>
              <a:gd name="T3" fmla="*/ 249 h 249"/>
              <a:gd name="T4" fmla="*/ 297 w 297"/>
              <a:gd name="T5" fmla="*/ 223 h 249"/>
              <a:gd name="T6" fmla="*/ 43 w 297"/>
              <a:gd name="T7" fmla="*/ 0 h 249"/>
              <a:gd name="T8" fmla="*/ 0 w 297"/>
              <a:gd name="T9" fmla="*/ 26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7" h="249">
                <a:moveTo>
                  <a:pt x="0" y="26"/>
                </a:moveTo>
                <a:cubicBezTo>
                  <a:pt x="116" y="134"/>
                  <a:pt x="254" y="225"/>
                  <a:pt x="289" y="249"/>
                </a:cubicBezTo>
                <a:cubicBezTo>
                  <a:pt x="293" y="240"/>
                  <a:pt x="295" y="232"/>
                  <a:pt x="297" y="223"/>
                </a:cubicBezTo>
                <a:cubicBezTo>
                  <a:pt x="260" y="195"/>
                  <a:pt x="161" y="118"/>
                  <a:pt x="43" y="0"/>
                </a:cubicBezTo>
                <a:cubicBezTo>
                  <a:pt x="29" y="8"/>
                  <a:pt x="15" y="16"/>
                  <a:pt x="0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Freeform 15"/>
          <p:cNvSpPr>
            <a:spLocks/>
          </p:cNvSpPr>
          <p:nvPr/>
        </p:nvSpPr>
        <p:spPr bwMode="auto">
          <a:xfrm>
            <a:off x="1567611" y="2416904"/>
            <a:ext cx="238091" cy="230155"/>
          </a:xfrm>
          <a:custGeom>
            <a:avLst/>
            <a:gdLst>
              <a:gd name="T0" fmla="*/ 128 w 128"/>
              <a:gd name="T1" fmla="*/ 96 h 124"/>
              <a:gd name="T2" fmla="*/ 41 w 128"/>
              <a:gd name="T3" fmla="*/ 0 h 124"/>
              <a:gd name="T4" fmla="*/ 0 w 128"/>
              <a:gd name="T5" fmla="*/ 17 h 124"/>
              <a:gd name="T6" fmla="*/ 84 w 128"/>
              <a:gd name="T7" fmla="*/ 124 h 124"/>
              <a:gd name="T8" fmla="*/ 128 w 128"/>
              <a:gd name="T9" fmla="*/ 96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8" h="124">
                <a:moveTo>
                  <a:pt x="128" y="96"/>
                </a:moveTo>
                <a:cubicBezTo>
                  <a:pt x="100" y="67"/>
                  <a:pt x="71" y="35"/>
                  <a:pt x="41" y="0"/>
                </a:cubicBezTo>
                <a:cubicBezTo>
                  <a:pt x="27" y="5"/>
                  <a:pt x="13" y="11"/>
                  <a:pt x="0" y="17"/>
                </a:cubicBezTo>
                <a:cubicBezTo>
                  <a:pt x="22" y="53"/>
                  <a:pt x="51" y="89"/>
                  <a:pt x="84" y="124"/>
                </a:cubicBezTo>
                <a:cubicBezTo>
                  <a:pt x="99" y="113"/>
                  <a:pt x="113" y="104"/>
                  <a:pt x="128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" name="Freeform 16"/>
          <p:cNvSpPr>
            <a:spLocks/>
          </p:cNvSpPr>
          <p:nvPr/>
        </p:nvSpPr>
        <p:spPr bwMode="auto">
          <a:xfrm>
            <a:off x="1348567" y="2980387"/>
            <a:ext cx="174600" cy="439675"/>
          </a:xfrm>
          <a:custGeom>
            <a:avLst/>
            <a:gdLst>
              <a:gd name="T0" fmla="*/ 43 w 94"/>
              <a:gd name="T1" fmla="*/ 0 h 236"/>
              <a:gd name="T2" fmla="*/ 0 w 94"/>
              <a:gd name="T3" fmla="*/ 173 h 236"/>
              <a:gd name="T4" fmla="*/ 6 w 94"/>
              <a:gd name="T5" fmla="*/ 185 h 236"/>
              <a:gd name="T6" fmla="*/ 58 w 94"/>
              <a:gd name="T7" fmla="*/ 236 h 236"/>
              <a:gd name="T8" fmla="*/ 94 w 94"/>
              <a:gd name="T9" fmla="*/ 59 h 236"/>
              <a:gd name="T10" fmla="*/ 43 w 94"/>
              <a:gd name="T11" fmla="*/ 0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4" h="236">
                <a:moveTo>
                  <a:pt x="43" y="0"/>
                </a:moveTo>
                <a:cubicBezTo>
                  <a:pt x="13" y="61"/>
                  <a:pt x="3" y="123"/>
                  <a:pt x="0" y="173"/>
                </a:cubicBezTo>
                <a:cubicBezTo>
                  <a:pt x="3" y="177"/>
                  <a:pt x="3" y="181"/>
                  <a:pt x="6" y="185"/>
                </a:cubicBezTo>
                <a:cubicBezTo>
                  <a:pt x="21" y="204"/>
                  <a:pt x="40" y="222"/>
                  <a:pt x="58" y="236"/>
                </a:cubicBezTo>
                <a:cubicBezTo>
                  <a:pt x="55" y="195"/>
                  <a:pt x="59" y="129"/>
                  <a:pt x="94" y="59"/>
                </a:cubicBezTo>
                <a:cubicBezTo>
                  <a:pt x="73" y="39"/>
                  <a:pt x="57" y="19"/>
                  <a:pt x="4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Freeform 17"/>
          <p:cNvSpPr>
            <a:spLocks/>
          </p:cNvSpPr>
          <p:nvPr/>
        </p:nvSpPr>
        <p:spPr bwMode="auto">
          <a:xfrm>
            <a:off x="1427931" y="2647057"/>
            <a:ext cx="404755" cy="442851"/>
          </a:xfrm>
          <a:custGeom>
            <a:avLst/>
            <a:gdLst>
              <a:gd name="T0" fmla="*/ 159 w 218"/>
              <a:gd name="T1" fmla="*/ 0 h 238"/>
              <a:gd name="T2" fmla="*/ 73 w 218"/>
              <a:gd name="T3" fmla="*/ 75 h 238"/>
              <a:gd name="T4" fmla="*/ 31 w 218"/>
              <a:gd name="T5" fmla="*/ 127 h 238"/>
              <a:gd name="T6" fmla="*/ 31 w 218"/>
              <a:gd name="T7" fmla="*/ 127 h 238"/>
              <a:gd name="T8" fmla="*/ 0 w 218"/>
              <a:gd name="T9" fmla="*/ 179 h 238"/>
              <a:gd name="T10" fmla="*/ 51 w 218"/>
              <a:gd name="T11" fmla="*/ 238 h 238"/>
              <a:gd name="T12" fmla="*/ 80 w 218"/>
              <a:gd name="T13" fmla="*/ 189 h 238"/>
              <a:gd name="T14" fmla="*/ 80 w 218"/>
              <a:gd name="T15" fmla="*/ 189 h 238"/>
              <a:gd name="T16" fmla="*/ 137 w 218"/>
              <a:gd name="T17" fmla="*/ 124 h 238"/>
              <a:gd name="T18" fmla="*/ 218 w 218"/>
              <a:gd name="T19" fmla="*/ 58 h 238"/>
              <a:gd name="T20" fmla="*/ 159 w 218"/>
              <a:gd name="T21" fmla="*/ 0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18" h="238">
                <a:moveTo>
                  <a:pt x="159" y="0"/>
                </a:moveTo>
                <a:cubicBezTo>
                  <a:pt x="131" y="19"/>
                  <a:pt x="102" y="44"/>
                  <a:pt x="73" y="75"/>
                </a:cubicBezTo>
                <a:cubicBezTo>
                  <a:pt x="57" y="92"/>
                  <a:pt x="43" y="109"/>
                  <a:pt x="31" y="127"/>
                </a:cubicBezTo>
                <a:cubicBezTo>
                  <a:pt x="31" y="127"/>
                  <a:pt x="31" y="127"/>
                  <a:pt x="31" y="127"/>
                </a:cubicBezTo>
                <a:cubicBezTo>
                  <a:pt x="19" y="144"/>
                  <a:pt x="9" y="162"/>
                  <a:pt x="0" y="179"/>
                </a:cubicBezTo>
                <a:cubicBezTo>
                  <a:pt x="14" y="198"/>
                  <a:pt x="30" y="218"/>
                  <a:pt x="51" y="238"/>
                </a:cubicBezTo>
                <a:cubicBezTo>
                  <a:pt x="59" y="222"/>
                  <a:pt x="69" y="205"/>
                  <a:pt x="80" y="189"/>
                </a:cubicBezTo>
                <a:cubicBezTo>
                  <a:pt x="80" y="189"/>
                  <a:pt x="80" y="189"/>
                  <a:pt x="80" y="189"/>
                </a:cubicBezTo>
                <a:cubicBezTo>
                  <a:pt x="96" y="167"/>
                  <a:pt x="114" y="145"/>
                  <a:pt x="137" y="124"/>
                </a:cubicBezTo>
                <a:cubicBezTo>
                  <a:pt x="166" y="97"/>
                  <a:pt x="193" y="76"/>
                  <a:pt x="218" y="58"/>
                </a:cubicBezTo>
                <a:cubicBezTo>
                  <a:pt x="198" y="39"/>
                  <a:pt x="178" y="20"/>
                  <a:pt x="1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0" name="Freeform 18"/>
          <p:cNvSpPr>
            <a:spLocks/>
          </p:cNvSpPr>
          <p:nvPr/>
        </p:nvSpPr>
        <p:spPr bwMode="auto">
          <a:xfrm>
            <a:off x="1723163" y="2510552"/>
            <a:ext cx="552372" cy="244440"/>
          </a:xfrm>
          <a:custGeom>
            <a:avLst/>
            <a:gdLst>
              <a:gd name="T0" fmla="*/ 252 w 297"/>
              <a:gd name="T1" fmla="*/ 8 h 132"/>
              <a:gd name="T2" fmla="*/ 44 w 297"/>
              <a:gd name="T3" fmla="*/ 47 h 132"/>
              <a:gd name="T4" fmla="*/ 44 w 297"/>
              <a:gd name="T5" fmla="*/ 46 h 132"/>
              <a:gd name="T6" fmla="*/ 0 w 297"/>
              <a:gd name="T7" fmla="*/ 74 h 132"/>
              <a:gd name="T8" fmla="*/ 59 w 297"/>
              <a:gd name="T9" fmla="*/ 132 h 132"/>
              <a:gd name="T10" fmla="*/ 102 w 297"/>
              <a:gd name="T11" fmla="*/ 106 h 132"/>
              <a:gd name="T12" fmla="*/ 102 w 297"/>
              <a:gd name="T13" fmla="*/ 106 h 132"/>
              <a:gd name="T14" fmla="*/ 297 w 297"/>
              <a:gd name="T15" fmla="*/ 54 h 132"/>
              <a:gd name="T16" fmla="*/ 252 w 297"/>
              <a:gd name="T17" fmla="*/ 8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7" h="132">
                <a:moveTo>
                  <a:pt x="252" y="8"/>
                </a:moveTo>
                <a:cubicBezTo>
                  <a:pt x="204" y="0"/>
                  <a:pt x="130" y="1"/>
                  <a:pt x="44" y="47"/>
                </a:cubicBezTo>
                <a:cubicBezTo>
                  <a:pt x="44" y="46"/>
                  <a:pt x="44" y="46"/>
                  <a:pt x="44" y="46"/>
                </a:cubicBezTo>
                <a:cubicBezTo>
                  <a:pt x="30" y="54"/>
                  <a:pt x="15" y="63"/>
                  <a:pt x="0" y="74"/>
                </a:cubicBezTo>
                <a:cubicBezTo>
                  <a:pt x="19" y="94"/>
                  <a:pt x="39" y="113"/>
                  <a:pt x="59" y="132"/>
                </a:cubicBezTo>
                <a:cubicBezTo>
                  <a:pt x="74" y="122"/>
                  <a:pt x="88" y="114"/>
                  <a:pt x="102" y="106"/>
                </a:cubicBezTo>
                <a:cubicBezTo>
                  <a:pt x="102" y="106"/>
                  <a:pt x="102" y="106"/>
                  <a:pt x="102" y="106"/>
                </a:cubicBezTo>
                <a:cubicBezTo>
                  <a:pt x="216" y="45"/>
                  <a:pt x="297" y="54"/>
                  <a:pt x="297" y="54"/>
                </a:cubicBezTo>
                <a:cubicBezTo>
                  <a:pt x="284" y="36"/>
                  <a:pt x="268" y="21"/>
                  <a:pt x="252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Freeform 19"/>
          <p:cNvSpPr>
            <a:spLocks/>
          </p:cNvSpPr>
          <p:nvPr/>
        </p:nvSpPr>
        <p:spPr bwMode="auto">
          <a:xfrm>
            <a:off x="2073952" y="3068825"/>
            <a:ext cx="280948" cy="279360"/>
          </a:xfrm>
          <a:custGeom>
            <a:avLst/>
            <a:gdLst>
              <a:gd name="T0" fmla="*/ 35 w 151"/>
              <a:gd name="T1" fmla="*/ 22 h 151"/>
              <a:gd name="T2" fmla="*/ 22 w 151"/>
              <a:gd name="T3" fmla="*/ 116 h 151"/>
              <a:gd name="T4" fmla="*/ 116 w 151"/>
              <a:gd name="T5" fmla="*/ 128 h 151"/>
              <a:gd name="T6" fmla="*/ 129 w 151"/>
              <a:gd name="T7" fmla="*/ 35 h 151"/>
              <a:gd name="T8" fmla="*/ 35 w 151"/>
              <a:gd name="T9" fmla="*/ 22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1" h="151">
                <a:moveTo>
                  <a:pt x="35" y="22"/>
                </a:moveTo>
                <a:cubicBezTo>
                  <a:pt x="6" y="45"/>
                  <a:pt x="0" y="86"/>
                  <a:pt x="22" y="116"/>
                </a:cubicBezTo>
                <a:cubicBezTo>
                  <a:pt x="45" y="145"/>
                  <a:pt x="87" y="151"/>
                  <a:pt x="116" y="128"/>
                </a:cubicBezTo>
                <a:cubicBezTo>
                  <a:pt x="145" y="106"/>
                  <a:pt x="151" y="64"/>
                  <a:pt x="129" y="35"/>
                </a:cubicBezTo>
                <a:cubicBezTo>
                  <a:pt x="106" y="5"/>
                  <a:pt x="64" y="0"/>
                  <a:pt x="35" y="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Freeform 20"/>
          <p:cNvSpPr>
            <a:spLocks/>
          </p:cNvSpPr>
          <p:nvPr/>
        </p:nvSpPr>
        <p:spPr bwMode="auto">
          <a:xfrm>
            <a:off x="1775543" y="3167685"/>
            <a:ext cx="258727" cy="260313"/>
          </a:xfrm>
          <a:custGeom>
            <a:avLst/>
            <a:gdLst>
              <a:gd name="T0" fmla="*/ 32 w 139"/>
              <a:gd name="T1" fmla="*/ 21 h 140"/>
              <a:gd name="T2" fmla="*/ 20 w 139"/>
              <a:gd name="T3" fmla="*/ 108 h 140"/>
              <a:gd name="T4" fmla="*/ 107 w 139"/>
              <a:gd name="T5" fmla="*/ 119 h 140"/>
              <a:gd name="T6" fmla="*/ 119 w 139"/>
              <a:gd name="T7" fmla="*/ 33 h 140"/>
              <a:gd name="T8" fmla="*/ 32 w 139"/>
              <a:gd name="T9" fmla="*/ 21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9" h="140">
                <a:moveTo>
                  <a:pt x="32" y="21"/>
                </a:moveTo>
                <a:cubicBezTo>
                  <a:pt x="5" y="42"/>
                  <a:pt x="0" y="81"/>
                  <a:pt x="20" y="108"/>
                </a:cubicBezTo>
                <a:cubicBezTo>
                  <a:pt x="41" y="135"/>
                  <a:pt x="80" y="140"/>
                  <a:pt x="107" y="119"/>
                </a:cubicBezTo>
                <a:cubicBezTo>
                  <a:pt x="134" y="98"/>
                  <a:pt x="139" y="60"/>
                  <a:pt x="119" y="33"/>
                </a:cubicBezTo>
                <a:cubicBezTo>
                  <a:pt x="98" y="5"/>
                  <a:pt x="59" y="0"/>
                  <a:pt x="32" y="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3" name="Freeform 21"/>
          <p:cNvSpPr>
            <a:spLocks/>
          </p:cNvSpPr>
          <p:nvPr/>
        </p:nvSpPr>
        <p:spPr bwMode="auto">
          <a:xfrm>
            <a:off x="1310471" y="2781976"/>
            <a:ext cx="395232" cy="395232"/>
          </a:xfrm>
          <a:custGeom>
            <a:avLst/>
            <a:gdLst>
              <a:gd name="T0" fmla="*/ 49 w 212"/>
              <a:gd name="T1" fmla="*/ 32 h 213"/>
              <a:gd name="T2" fmla="*/ 31 w 212"/>
              <a:gd name="T3" fmla="*/ 163 h 213"/>
              <a:gd name="T4" fmla="*/ 163 w 212"/>
              <a:gd name="T5" fmla="*/ 181 h 213"/>
              <a:gd name="T6" fmla="*/ 181 w 212"/>
              <a:gd name="T7" fmla="*/ 49 h 213"/>
              <a:gd name="T8" fmla="*/ 49 w 212"/>
              <a:gd name="T9" fmla="*/ 32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2" h="213">
                <a:moveTo>
                  <a:pt x="49" y="32"/>
                </a:moveTo>
                <a:cubicBezTo>
                  <a:pt x="8" y="63"/>
                  <a:pt x="0" y="122"/>
                  <a:pt x="31" y="163"/>
                </a:cubicBezTo>
                <a:cubicBezTo>
                  <a:pt x="63" y="205"/>
                  <a:pt x="122" y="213"/>
                  <a:pt x="163" y="181"/>
                </a:cubicBezTo>
                <a:cubicBezTo>
                  <a:pt x="204" y="149"/>
                  <a:pt x="212" y="91"/>
                  <a:pt x="181" y="49"/>
                </a:cubicBezTo>
                <a:cubicBezTo>
                  <a:pt x="149" y="8"/>
                  <a:pt x="90" y="0"/>
                  <a:pt x="49" y="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Freeform 22"/>
          <p:cNvSpPr>
            <a:spLocks/>
          </p:cNvSpPr>
          <p:nvPr/>
        </p:nvSpPr>
        <p:spPr bwMode="auto">
          <a:xfrm>
            <a:off x="3821541" y="2554996"/>
            <a:ext cx="431739" cy="987285"/>
          </a:xfrm>
          <a:custGeom>
            <a:avLst/>
            <a:gdLst>
              <a:gd name="T0" fmla="*/ 0 w 232"/>
              <a:gd name="T1" fmla="*/ 0 h 531"/>
              <a:gd name="T2" fmla="*/ 0 w 232"/>
              <a:gd name="T3" fmla="*/ 447 h 531"/>
              <a:gd name="T4" fmla="*/ 232 w 232"/>
              <a:gd name="T5" fmla="*/ 531 h 531"/>
              <a:gd name="T6" fmla="*/ 232 w 232"/>
              <a:gd name="T7" fmla="*/ 0 h 531"/>
              <a:gd name="T8" fmla="*/ 0 w 232"/>
              <a:gd name="T9" fmla="*/ 0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2" h="531">
                <a:moveTo>
                  <a:pt x="0" y="0"/>
                </a:moveTo>
                <a:cubicBezTo>
                  <a:pt x="0" y="447"/>
                  <a:pt x="0" y="447"/>
                  <a:pt x="0" y="447"/>
                </a:cubicBezTo>
                <a:cubicBezTo>
                  <a:pt x="0" y="493"/>
                  <a:pt x="104" y="531"/>
                  <a:pt x="232" y="531"/>
                </a:cubicBezTo>
                <a:cubicBezTo>
                  <a:pt x="232" y="0"/>
                  <a:pt x="232" y="0"/>
                  <a:pt x="23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00BC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5" name="Freeform 23"/>
          <p:cNvSpPr>
            <a:spLocks/>
          </p:cNvSpPr>
          <p:nvPr/>
        </p:nvSpPr>
        <p:spPr bwMode="auto">
          <a:xfrm>
            <a:off x="4248519" y="2554996"/>
            <a:ext cx="436501" cy="987285"/>
          </a:xfrm>
          <a:custGeom>
            <a:avLst/>
            <a:gdLst>
              <a:gd name="T0" fmla="*/ 0 w 235"/>
              <a:gd name="T1" fmla="*/ 531 h 531"/>
              <a:gd name="T2" fmla="*/ 3 w 235"/>
              <a:gd name="T3" fmla="*/ 531 h 531"/>
              <a:gd name="T4" fmla="*/ 235 w 235"/>
              <a:gd name="T5" fmla="*/ 447 h 531"/>
              <a:gd name="T6" fmla="*/ 235 w 235"/>
              <a:gd name="T7" fmla="*/ 0 h 531"/>
              <a:gd name="T8" fmla="*/ 0 w 235"/>
              <a:gd name="T9" fmla="*/ 0 h 531"/>
              <a:gd name="T10" fmla="*/ 0 w 235"/>
              <a:gd name="T11" fmla="*/ 531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5" h="531">
                <a:moveTo>
                  <a:pt x="0" y="531"/>
                </a:moveTo>
                <a:cubicBezTo>
                  <a:pt x="3" y="531"/>
                  <a:pt x="3" y="531"/>
                  <a:pt x="3" y="531"/>
                </a:cubicBezTo>
                <a:cubicBezTo>
                  <a:pt x="131" y="531"/>
                  <a:pt x="235" y="493"/>
                  <a:pt x="235" y="447"/>
                </a:cubicBezTo>
                <a:cubicBezTo>
                  <a:pt x="235" y="0"/>
                  <a:pt x="235" y="0"/>
                  <a:pt x="235" y="0"/>
                </a:cubicBezTo>
                <a:cubicBezTo>
                  <a:pt x="0" y="0"/>
                  <a:pt x="0" y="0"/>
                  <a:pt x="0" y="0"/>
                </a:cubicBezTo>
                <a:lnTo>
                  <a:pt x="0" y="531"/>
                </a:lnTo>
                <a:close/>
              </a:path>
            </a:pathLst>
          </a:custGeom>
          <a:solidFill>
            <a:srgbClr val="29C7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3821542" y="2399443"/>
            <a:ext cx="863479" cy="31110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3908842" y="2440712"/>
            <a:ext cx="688877" cy="206347"/>
          </a:xfrm>
          <a:prstGeom prst="ellipse">
            <a:avLst/>
          </a:prstGeom>
          <a:solidFill>
            <a:srgbClr val="85B3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8" name="Freeform 26"/>
          <p:cNvSpPr>
            <a:spLocks/>
          </p:cNvSpPr>
          <p:nvPr/>
        </p:nvSpPr>
        <p:spPr bwMode="auto">
          <a:xfrm>
            <a:off x="3908842" y="2440713"/>
            <a:ext cx="688877" cy="168251"/>
          </a:xfrm>
          <a:custGeom>
            <a:avLst/>
            <a:gdLst>
              <a:gd name="T0" fmla="*/ 331 w 370"/>
              <a:gd name="T1" fmla="*/ 90 h 90"/>
              <a:gd name="T2" fmla="*/ 370 w 370"/>
              <a:gd name="T3" fmla="*/ 56 h 90"/>
              <a:gd name="T4" fmla="*/ 185 w 370"/>
              <a:gd name="T5" fmla="*/ 0 h 90"/>
              <a:gd name="T6" fmla="*/ 0 w 370"/>
              <a:gd name="T7" fmla="*/ 56 h 90"/>
              <a:gd name="T8" fmla="*/ 39 w 370"/>
              <a:gd name="T9" fmla="*/ 90 h 90"/>
              <a:gd name="T10" fmla="*/ 185 w 370"/>
              <a:gd name="T11" fmla="*/ 68 h 90"/>
              <a:gd name="T12" fmla="*/ 331 w 370"/>
              <a:gd name="T13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0" h="90">
                <a:moveTo>
                  <a:pt x="331" y="90"/>
                </a:moveTo>
                <a:cubicBezTo>
                  <a:pt x="355" y="80"/>
                  <a:pt x="370" y="69"/>
                  <a:pt x="370" y="56"/>
                </a:cubicBezTo>
                <a:cubicBezTo>
                  <a:pt x="370" y="25"/>
                  <a:pt x="287" y="0"/>
                  <a:pt x="185" y="0"/>
                </a:cubicBezTo>
                <a:cubicBezTo>
                  <a:pt x="83" y="0"/>
                  <a:pt x="0" y="25"/>
                  <a:pt x="0" y="56"/>
                </a:cubicBezTo>
                <a:cubicBezTo>
                  <a:pt x="0" y="69"/>
                  <a:pt x="15" y="80"/>
                  <a:pt x="39" y="90"/>
                </a:cubicBezTo>
                <a:cubicBezTo>
                  <a:pt x="73" y="77"/>
                  <a:pt x="125" y="68"/>
                  <a:pt x="185" y="68"/>
                </a:cubicBezTo>
                <a:cubicBezTo>
                  <a:pt x="244" y="68"/>
                  <a:pt x="297" y="77"/>
                  <a:pt x="331" y="90"/>
                </a:cubicBezTo>
                <a:close/>
              </a:path>
            </a:pathLst>
          </a:custGeom>
          <a:solidFill>
            <a:srgbClr val="BAC84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9" name="Freeform 27"/>
          <p:cNvSpPr>
            <a:spLocks noEditPoints="1"/>
          </p:cNvSpPr>
          <p:nvPr/>
        </p:nvSpPr>
        <p:spPr bwMode="auto">
          <a:xfrm>
            <a:off x="3939001" y="2904197"/>
            <a:ext cx="628561" cy="353963"/>
          </a:xfrm>
          <a:custGeom>
            <a:avLst/>
            <a:gdLst>
              <a:gd name="T0" fmla="*/ 319 w 338"/>
              <a:gd name="T1" fmla="*/ 174 h 190"/>
              <a:gd name="T2" fmla="*/ 268 w 338"/>
              <a:gd name="T3" fmla="*/ 190 h 190"/>
              <a:gd name="T4" fmla="*/ 195 w 338"/>
              <a:gd name="T5" fmla="*/ 190 h 190"/>
              <a:gd name="T6" fmla="*/ 195 w 338"/>
              <a:gd name="T7" fmla="*/ 0 h 190"/>
              <a:gd name="T8" fmla="*/ 264 w 338"/>
              <a:gd name="T9" fmla="*/ 0 h 190"/>
              <a:gd name="T10" fmla="*/ 314 w 338"/>
              <a:gd name="T11" fmla="*/ 12 h 190"/>
              <a:gd name="T12" fmla="*/ 330 w 338"/>
              <a:gd name="T13" fmla="*/ 44 h 190"/>
              <a:gd name="T14" fmla="*/ 318 w 338"/>
              <a:gd name="T15" fmla="*/ 73 h 190"/>
              <a:gd name="T16" fmla="*/ 293 w 338"/>
              <a:gd name="T17" fmla="*/ 87 h 190"/>
              <a:gd name="T18" fmla="*/ 293 w 338"/>
              <a:gd name="T19" fmla="*/ 87 h 190"/>
              <a:gd name="T20" fmla="*/ 326 w 338"/>
              <a:gd name="T21" fmla="*/ 103 h 190"/>
              <a:gd name="T22" fmla="*/ 338 w 338"/>
              <a:gd name="T23" fmla="*/ 133 h 190"/>
              <a:gd name="T24" fmla="*/ 319 w 338"/>
              <a:gd name="T25" fmla="*/ 174 h 190"/>
              <a:gd name="T26" fmla="*/ 141 w 338"/>
              <a:gd name="T27" fmla="*/ 163 h 190"/>
              <a:gd name="T28" fmla="*/ 68 w 338"/>
              <a:gd name="T29" fmla="*/ 190 h 190"/>
              <a:gd name="T30" fmla="*/ 0 w 338"/>
              <a:gd name="T31" fmla="*/ 190 h 190"/>
              <a:gd name="T32" fmla="*/ 0 w 338"/>
              <a:gd name="T33" fmla="*/ 0 h 190"/>
              <a:gd name="T34" fmla="*/ 68 w 338"/>
              <a:gd name="T35" fmla="*/ 0 h 190"/>
              <a:gd name="T36" fmla="*/ 169 w 338"/>
              <a:gd name="T37" fmla="*/ 92 h 190"/>
              <a:gd name="T38" fmla="*/ 141 w 338"/>
              <a:gd name="T39" fmla="*/ 163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38" h="190">
                <a:moveTo>
                  <a:pt x="319" y="174"/>
                </a:moveTo>
                <a:cubicBezTo>
                  <a:pt x="306" y="185"/>
                  <a:pt x="290" y="190"/>
                  <a:pt x="268" y="190"/>
                </a:cubicBezTo>
                <a:cubicBezTo>
                  <a:pt x="195" y="190"/>
                  <a:pt x="195" y="190"/>
                  <a:pt x="195" y="190"/>
                </a:cubicBezTo>
                <a:cubicBezTo>
                  <a:pt x="195" y="0"/>
                  <a:pt x="195" y="0"/>
                  <a:pt x="195" y="0"/>
                </a:cubicBezTo>
                <a:cubicBezTo>
                  <a:pt x="264" y="0"/>
                  <a:pt x="264" y="0"/>
                  <a:pt x="264" y="0"/>
                </a:cubicBezTo>
                <a:cubicBezTo>
                  <a:pt x="286" y="0"/>
                  <a:pt x="302" y="3"/>
                  <a:pt x="314" y="12"/>
                </a:cubicBezTo>
                <a:cubicBezTo>
                  <a:pt x="325" y="19"/>
                  <a:pt x="330" y="30"/>
                  <a:pt x="330" y="44"/>
                </a:cubicBezTo>
                <a:cubicBezTo>
                  <a:pt x="330" y="55"/>
                  <a:pt x="326" y="64"/>
                  <a:pt x="318" y="73"/>
                </a:cubicBezTo>
                <a:cubicBezTo>
                  <a:pt x="311" y="79"/>
                  <a:pt x="303" y="84"/>
                  <a:pt x="293" y="87"/>
                </a:cubicBezTo>
                <a:cubicBezTo>
                  <a:pt x="293" y="87"/>
                  <a:pt x="293" y="87"/>
                  <a:pt x="293" y="87"/>
                </a:cubicBezTo>
                <a:cubicBezTo>
                  <a:pt x="307" y="89"/>
                  <a:pt x="318" y="94"/>
                  <a:pt x="326" y="103"/>
                </a:cubicBezTo>
                <a:cubicBezTo>
                  <a:pt x="334" y="111"/>
                  <a:pt x="338" y="121"/>
                  <a:pt x="338" y="133"/>
                </a:cubicBezTo>
                <a:cubicBezTo>
                  <a:pt x="338" y="150"/>
                  <a:pt x="331" y="164"/>
                  <a:pt x="319" y="174"/>
                </a:cubicBezTo>
                <a:close/>
                <a:moveTo>
                  <a:pt x="141" y="163"/>
                </a:moveTo>
                <a:cubicBezTo>
                  <a:pt x="123" y="181"/>
                  <a:pt x="98" y="190"/>
                  <a:pt x="68" y="190"/>
                </a:cubicBezTo>
                <a:cubicBezTo>
                  <a:pt x="0" y="190"/>
                  <a:pt x="0" y="190"/>
                  <a:pt x="0" y="190"/>
                </a:cubicBezTo>
                <a:cubicBezTo>
                  <a:pt x="0" y="0"/>
                  <a:pt x="0" y="0"/>
                  <a:pt x="0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135" y="0"/>
                  <a:pt x="169" y="30"/>
                  <a:pt x="169" y="92"/>
                </a:cubicBezTo>
                <a:cubicBezTo>
                  <a:pt x="169" y="122"/>
                  <a:pt x="160" y="145"/>
                  <a:pt x="141" y="1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0" name="Freeform 28"/>
          <p:cNvSpPr>
            <a:spLocks/>
          </p:cNvSpPr>
          <p:nvPr/>
        </p:nvSpPr>
        <p:spPr bwMode="auto">
          <a:xfrm>
            <a:off x="4018365" y="2967689"/>
            <a:ext cx="150791" cy="225393"/>
          </a:xfrm>
          <a:custGeom>
            <a:avLst/>
            <a:gdLst>
              <a:gd name="T0" fmla="*/ 21 w 81"/>
              <a:gd name="T1" fmla="*/ 0 h 121"/>
              <a:gd name="T2" fmla="*/ 0 w 81"/>
              <a:gd name="T3" fmla="*/ 0 h 121"/>
              <a:gd name="T4" fmla="*/ 0 w 81"/>
              <a:gd name="T5" fmla="*/ 121 h 121"/>
              <a:gd name="T6" fmla="*/ 21 w 81"/>
              <a:gd name="T7" fmla="*/ 121 h 121"/>
              <a:gd name="T8" fmla="*/ 65 w 81"/>
              <a:gd name="T9" fmla="*/ 104 h 121"/>
              <a:gd name="T10" fmla="*/ 81 w 81"/>
              <a:gd name="T11" fmla="*/ 59 h 121"/>
              <a:gd name="T12" fmla="*/ 66 w 81"/>
              <a:gd name="T13" fmla="*/ 16 h 121"/>
              <a:gd name="T14" fmla="*/ 21 w 81"/>
              <a:gd name="T15" fmla="*/ 0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" h="121">
                <a:moveTo>
                  <a:pt x="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21"/>
                  <a:pt x="0" y="121"/>
                  <a:pt x="0" y="121"/>
                </a:cubicBezTo>
                <a:cubicBezTo>
                  <a:pt x="21" y="121"/>
                  <a:pt x="21" y="121"/>
                  <a:pt x="21" y="121"/>
                </a:cubicBezTo>
                <a:cubicBezTo>
                  <a:pt x="40" y="121"/>
                  <a:pt x="55" y="115"/>
                  <a:pt x="65" y="104"/>
                </a:cubicBezTo>
                <a:cubicBezTo>
                  <a:pt x="76" y="93"/>
                  <a:pt x="81" y="78"/>
                  <a:pt x="81" y="59"/>
                </a:cubicBezTo>
                <a:cubicBezTo>
                  <a:pt x="81" y="41"/>
                  <a:pt x="76" y="27"/>
                  <a:pt x="66" y="16"/>
                </a:cubicBezTo>
                <a:cubicBezTo>
                  <a:pt x="55" y="6"/>
                  <a:pt x="40" y="0"/>
                  <a:pt x="21" y="0"/>
                </a:cubicBezTo>
                <a:close/>
              </a:path>
            </a:pathLst>
          </a:custGeom>
          <a:solidFill>
            <a:srgbClr val="00BC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1" name="Freeform 29"/>
          <p:cNvSpPr>
            <a:spLocks/>
          </p:cNvSpPr>
          <p:nvPr/>
        </p:nvSpPr>
        <p:spPr bwMode="auto">
          <a:xfrm>
            <a:off x="4381850" y="2961338"/>
            <a:ext cx="87300" cy="84127"/>
          </a:xfrm>
          <a:custGeom>
            <a:avLst/>
            <a:gdLst>
              <a:gd name="T0" fmla="*/ 39 w 47"/>
              <a:gd name="T1" fmla="*/ 39 h 45"/>
              <a:gd name="T2" fmla="*/ 47 w 47"/>
              <a:gd name="T3" fmla="*/ 21 h 45"/>
              <a:gd name="T4" fmla="*/ 16 w 47"/>
              <a:gd name="T5" fmla="*/ 0 h 45"/>
              <a:gd name="T6" fmla="*/ 0 w 47"/>
              <a:gd name="T7" fmla="*/ 0 h 45"/>
              <a:gd name="T8" fmla="*/ 0 w 47"/>
              <a:gd name="T9" fmla="*/ 45 h 45"/>
              <a:gd name="T10" fmla="*/ 19 w 47"/>
              <a:gd name="T11" fmla="*/ 45 h 45"/>
              <a:gd name="T12" fmla="*/ 39 w 47"/>
              <a:gd name="T13" fmla="*/ 39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7" h="45">
                <a:moveTo>
                  <a:pt x="39" y="39"/>
                </a:moveTo>
                <a:cubicBezTo>
                  <a:pt x="44" y="34"/>
                  <a:pt x="47" y="28"/>
                  <a:pt x="47" y="21"/>
                </a:cubicBezTo>
                <a:cubicBezTo>
                  <a:pt x="47" y="7"/>
                  <a:pt x="37" y="0"/>
                  <a:pt x="1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5"/>
                  <a:pt x="0" y="45"/>
                  <a:pt x="0" y="45"/>
                </a:cubicBezTo>
                <a:cubicBezTo>
                  <a:pt x="19" y="45"/>
                  <a:pt x="19" y="45"/>
                  <a:pt x="19" y="45"/>
                </a:cubicBezTo>
                <a:cubicBezTo>
                  <a:pt x="27" y="45"/>
                  <a:pt x="34" y="43"/>
                  <a:pt x="39" y="39"/>
                </a:cubicBezTo>
                <a:close/>
              </a:path>
            </a:pathLst>
          </a:custGeom>
          <a:solidFill>
            <a:srgbClr val="29C7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Freeform 30"/>
          <p:cNvSpPr>
            <a:spLocks/>
          </p:cNvSpPr>
          <p:nvPr/>
        </p:nvSpPr>
        <p:spPr bwMode="auto">
          <a:xfrm>
            <a:off x="4380263" y="3105782"/>
            <a:ext cx="103173" cy="92063"/>
          </a:xfrm>
          <a:custGeom>
            <a:avLst/>
            <a:gdLst>
              <a:gd name="T0" fmla="*/ 47 w 56"/>
              <a:gd name="T1" fmla="*/ 6 h 50"/>
              <a:gd name="T2" fmla="*/ 24 w 56"/>
              <a:gd name="T3" fmla="*/ 0 h 50"/>
              <a:gd name="T4" fmla="*/ 0 w 56"/>
              <a:gd name="T5" fmla="*/ 0 h 50"/>
              <a:gd name="T6" fmla="*/ 0 w 56"/>
              <a:gd name="T7" fmla="*/ 50 h 50"/>
              <a:gd name="T8" fmla="*/ 24 w 56"/>
              <a:gd name="T9" fmla="*/ 50 h 50"/>
              <a:gd name="T10" fmla="*/ 47 w 56"/>
              <a:gd name="T11" fmla="*/ 43 h 50"/>
              <a:gd name="T12" fmla="*/ 56 w 56"/>
              <a:gd name="T13" fmla="*/ 24 h 50"/>
              <a:gd name="T14" fmla="*/ 47 w 56"/>
              <a:gd name="T15" fmla="*/ 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6" h="50">
                <a:moveTo>
                  <a:pt x="47" y="6"/>
                </a:moveTo>
                <a:cubicBezTo>
                  <a:pt x="42" y="2"/>
                  <a:pt x="34" y="0"/>
                  <a:pt x="2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0"/>
                  <a:pt x="0" y="50"/>
                  <a:pt x="0" y="50"/>
                </a:cubicBezTo>
                <a:cubicBezTo>
                  <a:pt x="24" y="50"/>
                  <a:pt x="24" y="50"/>
                  <a:pt x="24" y="50"/>
                </a:cubicBezTo>
                <a:cubicBezTo>
                  <a:pt x="34" y="50"/>
                  <a:pt x="42" y="48"/>
                  <a:pt x="47" y="43"/>
                </a:cubicBezTo>
                <a:cubicBezTo>
                  <a:pt x="53" y="38"/>
                  <a:pt x="56" y="32"/>
                  <a:pt x="56" y="24"/>
                </a:cubicBezTo>
                <a:cubicBezTo>
                  <a:pt x="56" y="17"/>
                  <a:pt x="53" y="11"/>
                  <a:pt x="47" y="6"/>
                </a:cubicBezTo>
                <a:close/>
              </a:path>
            </a:pathLst>
          </a:custGeom>
          <a:solidFill>
            <a:srgbClr val="29C7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Freeform 31"/>
          <p:cNvSpPr>
            <a:spLocks/>
          </p:cNvSpPr>
          <p:nvPr/>
        </p:nvSpPr>
        <p:spPr bwMode="auto">
          <a:xfrm>
            <a:off x="3872336" y="5072415"/>
            <a:ext cx="760305" cy="222219"/>
          </a:xfrm>
          <a:custGeom>
            <a:avLst/>
            <a:gdLst>
              <a:gd name="T0" fmla="*/ 298 w 409"/>
              <a:gd name="T1" fmla="*/ 0 h 120"/>
              <a:gd name="T2" fmla="*/ 283 w 409"/>
              <a:gd name="T3" fmla="*/ 0 h 120"/>
              <a:gd name="T4" fmla="*/ 135 w 409"/>
              <a:gd name="T5" fmla="*/ 0 h 120"/>
              <a:gd name="T6" fmla="*/ 128 w 409"/>
              <a:gd name="T7" fmla="*/ 0 h 120"/>
              <a:gd name="T8" fmla="*/ 0 w 409"/>
              <a:gd name="T9" fmla="*/ 82 h 120"/>
              <a:gd name="T10" fmla="*/ 0 w 409"/>
              <a:gd name="T11" fmla="*/ 120 h 120"/>
              <a:gd name="T12" fmla="*/ 153 w 409"/>
              <a:gd name="T13" fmla="*/ 120 h 120"/>
              <a:gd name="T14" fmla="*/ 265 w 409"/>
              <a:gd name="T15" fmla="*/ 120 h 120"/>
              <a:gd name="T16" fmla="*/ 409 w 409"/>
              <a:gd name="T17" fmla="*/ 120 h 120"/>
              <a:gd name="T18" fmla="*/ 409 w 409"/>
              <a:gd name="T19" fmla="*/ 82 h 120"/>
              <a:gd name="T20" fmla="*/ 298 w 409"/>
              <a:gd name="T21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09" h="120">
                <a:moveTo>
                  <a:pt x="298" y="0"/>
                </a:moveTo>
                <a:cubicBezTo>
                  <a:pt x="283" y="0"/>
                  <a:pt x="283" y="0"/>
                  <a:pt x="283" y="0"/>
                </a:cubicBezTo>
                <a:cubicBezTo>
                  <a:pt x="135" y="0"/>
                  <a:pt x="135" y="0"/>
                  <a:pt x="135" y="0"/>
                </a:cubicBezTo>
                <a:cubicBezTo>
                  <a:pt x="128" y="0"/>
                  <a:pt x="128" y="0"/>
                  <a:pt x="128" y="0"/>
                </a:cubicBezTo>
                <a:cubicBezTo>
                  <a:pt x="148" y="72"/>
                  <a:pt x="121" y="82"/>
                  <a:pt x="0" y="82"/>
                </a:cubicBezTo>
                <a:cubicBezTo>
                  <a:pt x="0" y="120"/>
                  <a:pt x="0" y="120"/>
                  <a:pt x="0" y="120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265" y="120"/>
                  <a:pt x="265" y="120"/>
                  <a:pt x="265" y="120"/>
                </a:cubicBezTo>
                <a:cubicBezTo>
                  <a:pt x="409" y="120"/>
                  <a:pt x="409" y="120"/>
                  <a:pt x="409" y="120"/>
                </a:cubicBezTo>
                <a:cubicBezTo>
                  <a:pt x="409" y="82"/>
                  <a:pt x="409" y="82"/>
                  <a:pt x="409" y="82"/>
                </a:cubicBezTo>
                <a:cubicBezTo>
                  <a:pt x="289" y="82"/>
                  <a:pt x="277" y="72"/>
                  <a:pt x="298" y="0"/>
                </a:cubicBezTo>
                <a:close/>
              </a:path>
            </a:pathLst>
          </a:custGeom>
          <a:solidFill>
            <a:srgbClr val="9191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4" name="Freeform 32"/>
          <p:cNvSpPr>
            <a:spLocks noEditPoints="1"/>
          </p:cNvSpPr>
          <p:nvPr/>
        </p:nvSpPr>
        <p:spPr bwMode="auto">
          <a:xfrm>
            <a:off x="3672338" y="4221636"/>
            <a:ext cx="1163473" cy="850779"/>
          </a:xfrm>
          <a:custGeom>
            <a:avLst/>
            <a:gdLst>
              <a:gd name="T0" fmla="*/ 588 w 626"/>
              <a:gd name="T1" fmla="*/ 0 h 457"/>
              <a:gd name="T2" fmla="*/ 34 w 626"/>
              <a:gd name="T3" fmla="*/ 0 h 457"/>
              <a:gd name="T4" fmla="*/ 0 w 626"/>
              <a:gd name="T5" fmla="*/ 35 h 457"/>
              <a:gd name="T6" fmla="*/ 0 w 626"/>
              <a:gd name="T7" fmla="*/ 422 h 457"/>
              <a:gd name="T8" fmla="*/ 34 w 626"/>
              <a:gd name="T9" fmla="*/ 457 h 457"/>
              <a:gd name="T10" fmla="*/ 588 w 626"/>
              <a:gd name="T11" fmla="*/ 457 h 457"/>
              <a:gd name="T12" fmla="*/ 626 w 626"/>
              <a:gd name="T13" fmla="*/ 422 h 457"/>
              <a:gd name="T14" fmla="*/ 626 w 626"/>
              <a:gd name="T15" fmla="*/ 35 h 457"/>
              <a:gd name="T16" fmla="*/ 588 w 626"/>
              <a:gd name="T17" fmla="*/ 0 h 457"/>
              <a:gd name="T18" fmla="*/ 578 w 626"/>
              <a:gd name="T19" fmla="*/ 48 h 457"/>
              <a:gd name="T20" fmla="*/ 578 w 626"/>
              <a:gd name="T21" fmla="*/ 409 h 457"/>
              <a:gd name="T22" fmla="*/ 48 w 626"/>
              <a:gd name="T23" fmla="*/ 409 h 457"/>
              <a:gd name="T24" fmla="*/ 48 w 626"/>
              <a:gd name="T25" fmla="*/ 48 h 457"/>
              <a:gd name="T26" fmla="*/ 579 w 626"/>
              <a:gd name="T27" fmla="*/ 47 h 457"/>
              <a:gd name="T28" fmla="*/ 578 w 626"/>
              <a:gd name="T29" fmla="*/ 48 h 4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26" h="457">
                <a:moveTo>
                  <a:pt x="588" y="0"/>
                </a:moveTo>
                <a:cubicBezTo>
                  <a:pt x="34" y="0"/>
                  <a:pt x="34" y="0"/>
                  <a:pt x="34" y="0"/>
                </a:cubicBezTo>
                <a:cubicBezTo>
                  <a:pt x="15" y="0"/>
                  <a:pt x="0" y="16"/>
                  <a:pt x="0" y="35"/>
                </a:cubicBezTo>
                <a:cubicBezTo>
                  <a:pt x="0" y="422"/>
                  <a:pt x="0" y="422"/>
                  <a:pt x="0" y="422"/>
                </a:cubicBezTo>
                <a:cubicBezTo>
                  <a:pt x="0" y="440"/>
                  <a:pt x="15" y="457"/>
                  <a:pt x="34" y="457"/>
                </a:cubicBezTo>
                <a:cubicBezTo>
                  <a:pt x="588" y="457"/>
                  <a:pt x="588" y="457"/>
                  <a:pt x="588" y="457"/>
                </a:cubicBezTo>
                <a:cubicBezTo>
                  <a:pt x="607" y="457"/>
                  <a:pt x="626" y="440"/>
                  <a:pt x="626" y="422"/>
                </a:cubicBezTo>
                <a:cubicBezTo>
                  <a:pt x="626" y="35"/>
                  <a:pt x="626" y="35"/>
                  <a:pt x="626" y="35"/>
                </a:cubicBezTo>
                <a:cubicBezTo>
                  <a:pt x="626" y="16"/>
                  <a:pt x="607" y="0"/>
                  <a:pt x="588" y="0"/>
                </a:cubicBezTo>
                <a:close/>
                <a:moveTo>
                  <a:pt x="578" y="48"/>
                </a:moveTo>
                <a:cubicBezTo>
                  <a:pt x="578" y="409"/>
                  <a:pt x="578" y="409"/>
                  <a:pt x="578" y="409"/>
                </a:cubicBezTo>
                <a:cubicBezTo>
                  <a:pt x="48" y="409"/>
                  <a:pt x="48" y="409"/>
                  <a:pt x="48" y="409"/>
                </a:cubicBezTo>
                <a:cubicBezTo>
                  <a:pt x="48" y="48"/>
                  <a:pt x="48" y="48"/>
                  <a:pt x="48" y="48"/>
                </a:cubicBezTo>
                <a:cubicBezTo>
                  <a:pt x="579" y="47"/>
                  <a:pt x="579" y="47"/>
                  <a:pt x="579" y="47"/>
                </a:cubicBezTo>
                <a:lnTo>
                  <a:pt x="578" y="48"/>
                </a:lnTo>
                <a:close/>
              </a:path>
            </a:pathLst>
          </a:custGeom>
          <a:solidFill>
            <a:srgbClr val="C5C5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5" name="Freeform 33"/>
          <p:cNvSpPr>
            <a:spLocks/>
          </p:cNvSpPr>
          <p:nvPr/>
        </p:nvSpPr>
        <p:spPr bwMode="auto">
          <a:xfrm>
            <a:off x="3759637" y="4310524"/>
            <a:ext cx="985699" cy="671417"/>
          </a:xfrm>
          <a:custGeom>
            <a:avLst/>
            <a:gdLst>
              <a:gd name="T0" fmla="*/ 620 w 621"/>
              <a:gd name="T1" fmla="*/ 1 h 423"/>
              <a:gd name="T2" fmla="*/ 620 w 621"/>
              <a:gd name="T3" fmla="*/ 423 h 423"/>
              <a:gd name="T4" fmla="*/ 0 w 621"/>
              <a:gd name="T5" fmla="*/ 423 h 423"/>
              <a:gd name="T6" fmla="*/ 0 w 621"/>
              <a:gd name="T7" fmla="*/ 1 h 423"/>
              <a:gd name="T8" fmla="*/ 621 w 621"/>
              <a:gd name="T9" fmla="*/ 0 h 423"/>
              <a:gd name="T10" fmla="*/ 620 w 621"/>
              <a:gd name="T11" fmla="*/ 1 h 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1" h="423">
                <a:moveTo>
                  <a:pt x="620" y="1"/>
                </a:moveTo>
                <a:lnTo>
                  <a:pt x="620" y="423"/>
                </a:lnTo>
                <a:lnTo>
                  <a:pt x="0" y="423"/>
                </a:lnTo>
                <a:lnTo>
                  <a:pt x="0" y="1"/>
                </a:lnTo>
                <a:lnTo>
                  <a:pt x="621" y="0"/>
                </a:lnTo>
                <a:lnTo>
                  <a:pt x="620" y="1"/>
                </a:lnTo>
                <a:close/>
              </a:path>
            </a:pathLst>
          </a:custGeom>
          <a:solidFill>
            <a:srgbClr val="00BB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6" name="Freeform 34"/>
          <p:cNvSpPr>
            <a:spLocks/>
          </p:cNvSpPr>
          <p:nvPr/>
        </p:nvSpPr>
        <p:spPr bwMode="auto">
          <a:xfrm>
            <a:off x="3759637" y="4310524"/>
            <a:ext cx="985699" cy="671417"/>
          </a:xfrm>
          <a:custGeom>
            <a:avLst/>
            <a:gdLst>
              <a:gd name="T0" fmla="*/ 620 w 621"/>
              <a:gd name="T1" fmla="*/ 1 h 423"/>
              <a:gd name="T2" fmla="*/ 620 w 621"/>
              <a:gd name="T3" fmla="*/ 423 h 423"/>
              <a:gd name="T4" fmla="*/ 0 w 621"/>
              <a:gd name="T5" fmla="*/ 423 h 423"/>
              <a:gd name="T6" fmla="*/ 0 w 621"/>
              <a:gd name="T7" fmla="*/ 1 h 423"/>
              <a:gd name="T8" fmla="*/ 621 w 621"/>
              <a:gd name="T9" fmla="*/ 0 h 423"/>
              <a:gd name="T10" fmla="*/ 620 w 621"/>
              <a:gd name="T11" fmla="*/ 1 h 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1" h="423">
                <a:moveTo>
                  <a:pt x="620" y="1"/>
                </a:moveTo>
                <a:lnTo>
                  <a:pt x="620" y="423"/>
                </a:lnTo>
                <a:lnTo>
                  <a:pt x="0" y="423"/>
                </a:lnTo>
                <a:lnTo>
                  <a:pt x="0" y="1"/>
                </a:lnTo>
                <a:lnTo>
                  <a:pt x="621" y="0"/>
                </a:lnTo>
                <a:lnTo>
                  <a:pt x="620" y="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7" name="Freeform 35"/>
          <p:cNvSpPr>
            <a:spLocks/>
          </p:cNvSpPr>
          <p:nvPr/>
        </p:nvSpPr>
        <p:spPr bwMode="auto">
          <a:xfrm>
            <a:off x="3672338" y="4221636"/>
            <a:ext cx="1092045" cy="850779"/>
          </a:xfrm>
          <a:custGeom>
            <a:avLst/>
            <a:gdLst>
              <a:gd name="T0" fmla="*/ 48 w 588"/>
              <a:gd name="T1" fmla="*/ 409 h 457"/>
              <a:gd name="T2" fmla="*/ 47 w 588"/>
              <a:gd name="T3" fmla="*/ 409 h 457"/>
              <a:gd name="T4" fmla="*/ 47 w 588"/>
              <a:gd name="T5" fmla="*/ 48 h 457"/>
              <a:gd name="T6" fmla="*/ 532 w 588"/>
              <a:gd name="T7" fmla="*/ 47 h 457"/>
              <a:gd name="T8" fmla="*/ 588 w 588"/>
              <a:gd name="T9" fmla="*/ 0 h 457"/>
              <a:gd name="T10" fmla="*/ 588 w 588"/>
              <a:gd name="T11" fmla="*/ 0 h 457"/>
              <a:gd name="T12" fmla="*/ 34 w 588"/>
              <a:gd name="T13" fmla="*/ 0 h 457"/>
              <a:gd name="T14" fmla="*/ 0 w 588"/>
              <a:gd name="T15" fmla="*/ 35 h 457"/>
              <a:gd name="T16" fmla="*/ 0 w 588"/>
              <a:gd name="T17" fmla="*/ 422 h 457"/>
              <a:gd name="T18" fmla="*/ 34 w 588"/>
              <a:gd name="T19" fmla="*/ 457 h 457"/>
              <a:gd name="T20" fmla="*/ 47 w 588"/>
              <a:gd name="T21" fmla="*/ 457 h 457"/>
              <a:gd name="T22" fmla="*/ 104 w 588"/>
              <a:gd name="T23" fmla="*/ 409 h 457"/>
              <a:gd name="T24" fmla="*/ 48 w 588"/>
              <a:gd name="T25" fmla="*/ 409 h 4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88" h="457">
                <a:moveTo>
                  <a:pt x="48" y="409"/>
                </a:moveTo>
                <a:cubicBezTo>
                  <a:pt x="47" y="409"/>
                  <a:pt x="47" y="409"/>
                  <a:pt x="47" y="409"/>
                </a:cubicBezTo>
                <a:cubicBezTo>
                  <a:pt x="47" y="48"/>
                  <a:pt x="47" y="48"/>
                  <a:pt x="47" y="48"/>
                </a:cubicBezTo>
                <a:cubicBezTo>
                  <a:pt x="532" y="47"/>
                  <a:pt x="532" y="47"/>
                  <a:pt x="532" y="47"/>
                </a:cubicBezTo>
                <a:cubicBezTo>
                  <a:pt x="588" y="0"/>
                  <a:pt x="588" y="0"/>
                  <a:pt x="588" y="0"/>
                </a:cubicBezTo>
                <a:cubicBezTo>
                  <a:pt x="588" y="0"/>
                  <a:pt x="588" y="0"/>
                  <a:pt x="588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15" y="0"/>
                  <a:pt x="0" y="16"/>
                  <a:pt x="0" y="35"/>
                </a:cubicBezTo>
                <a:cubicBezTo>
                  <a:pt x="0" y="422"/>
                  <a:pt x="0" y="422"/>
                  <a:pt x="0" y="422"/>
                </a:cubicBezTo>
                <a:cubicBezTo>
                  <a:pt x="0" y="440"/>
                  <a:pt x="15" y="457"/>
                  <a:pt x="34" y="457"/>
                </a:cubicBezTo>
                <a:cubicBezTo>
                  <a:pt x="47" y="457"/>
                  <a:pt x="47" y="457"/>
                  <a:pt x="47" y="457"/>
                </a:cubicBezTo>
                <a:cubicBezTo>
                  <a:pt x="104" y="409"/>
                  <a:pt x="104" y="409"/>
                  <a:pt x="104" y="409"/>
                </a:cubicBezTo>
                <a:lnTo>
                  <a:pt x="48" y="409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8" name="Freeform 36"/>
          <p:cNvSpPr>
            <a:spLocks/>
          </p:cNvSpPr>
          <p:nvPr/>
        </p:nvSpPr>
        <p:spPr bwMode="auto">
          <a:xfrm>
            <a:off x="3759638" y="4310524"/>
            <a:ext cx="901572" cy="671417"/>
          </a:xfrm>
          <a:custGeom>
            <a:avLst/>
            <a:gdLst>
              <a:gd name="T0" fmla="*/ 0 w 568"/>
              <a:gd name="T1" fmla="*/ 423 h 423"/>
              <a:gd name="T2" fmla="*/ 1 w 568"/>
              <a:gd name="T3" fmla="*/ 423 h 423"/>
              <a:gd name="T4" fmla="*/ 1 w 568"/>
              <a:gd name="T5" fmla="*/ 1 h 423"/>
              <a:gd name="T6" fmla="*/ 568 w 568"/>
              <a:gd name="T7" fmla="*/ 0 h 423"/>
              <a:gd name="T8" fmla="*/ 568 w 568"/>
              <a:gd name="T9" fmla="*/ 0 h 423"/>
              <a:gd name="T10" fmla="*/ 0 w 568"/>
              <a:gd name="T11" fmla="*/ 1 h 423"/>
              <a:gd name="T12" fmla="*/ 0 w 568"/>
              <a:gd name="T13" fmla="*/ 423 h 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8" h="423">
                <a:moveTo>
                  <a:pt x="0" y="423"/>
                </a:moveTo>
                <a:lnTo>
                  <a:pt x="1" y="423"/>
                </a:lnTo>
                <a:lnTo>
                  <a:pt x="1" y="1"/>
                </a:lnTo>
                <a:lnTo>
                  <a:pt x="568" y="0"/>
                </a:lnTo>
                <a:lnTo>
                  <a:pt x="568" y="0"/>
                </a:lnTo>
                <a:lnTo>
                  <a:pt x="0" y="1"/>
                </a:lnTo>
                <a:lnTo>
                  <a:pt x="0" y="423"/>
                </a:lnTo>
                <a:close/>
              </a:path>
            </a:pathLst>
          </a:custGeom>
          <a:solidFill>
            <a:srgbClr val="59B4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Rectangle 37"/>
          <p:cNvSpPr>
            <a:spLocks noChangeArrowheads="1"/>
          </p:cNvSpPr>
          <p:nvPr/>
        </p:nvSpPr>
        <p:spPr bwMode="auto">
          <a:xfrm>
            <a:off x="3872336" y="5224793"/>
            <a:ext cx="760305" cy="69840"/>
          </a:xfrm>
          <a:prstGeom prst="rect">
            <a:avLst/>
          </a:prstGeom>
          <a:solidFill>
            <a:srgbClr val="B0B0B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0" name="Oval 38"/>
          <p:cNvSpPr>
            <a:spLocks noChangeArrowheads="1"/>
          </p:cNvSpPr>
          <p:nvPr/>
        </p:nvSpPr>
        <p:spPr bwMode="auto">
          <a:xfrm>
            <a:off x="4232645" y="4253380"/>
            <a:ext cx="31747" cy="33333"/>
          </a:xfrm>
          <a:prstGeom prst="ellipse">
            <a:avLst/>
          </a:prstGeom>
          <a:solidFill>
            <a:srgbClr val="BAC84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1" name="Freeform 39"/>
          <p:cNvSpPr>
            <a:spLocks/>
          </p:cNvSpPr>
          <p:nvPr/>
        </p:nvSpPr>
        <p:spPr bwMode="auto">
          <a:xfrm>
            <a:off x="4042173" y="4388299"/>
            <a:ext cx="419041" cy="246028"/>
          </a:xfrm>
          <a:custGeom>
            <a:avLst/>
            <a:gdLst>
              <a:gd name="T0" fmla="*/ 113 w 226"/>
              <a:gd name="T1" fmla="*/ 0 h 133"/>
              <a:gd name="T2" fmla="*/ 111 w 226"/>
              <a:gd name="T3" fmla="*/ 0 h 133"/>
              <a:gd name="T4" fmla="*/ 2 w 226"/>
              <a:gd name="T5" fmla="*/ 63 h 133"/>
              <a:gd name="T6" fmla="*/ 0 w 226"/>
              <a:gd name="T7" fmla="*/ 66 h 133"/>
              <a:gd name="T8" fmla="*/ 2 w 226"/>
              <a:gd name="T9" fmla="*/ 69 h 133"/>
              <a:gd name="T10" fmla="*/ 112 w 226"/>
              <a:gd name="T11" fmla="*/ 133 h 133"/>
              <a:gd name="T12" fmla="*/ 114 w 226"/>
              <a:gd name="T13" fmla="*/ 133 h 133"/>
              <a:gd name="T14" fmla="*/ 115 w 226"/>
              <a:gd name="T15" fmla="*/ 133 h 133"/>
              <a:gd name="T16" fmla="*/ 225 w 226"/>
              <a:gd name="T17" fmla="*/ 69 h 133"/>
              <a:gd name="T18" fmla="*/ 226 w 226"/>
              <a:gd name="T19" fmla="*/ 67 h 133"/>
              <a:gd name="T20" fmla="*/ 225 w 226"/>
              <a:gd name="T21" fmla="*/ 64 h 133"/>
              <a:gd name="T22" fmla="*/ 115 w 226"/>
              <a:gd name="T23" fmla="*/ 0 h 133"/>
              <a:gd name="T24" fmla="*/ 113 w 226"/>
              <a:gd name="T25" fmla="*/ 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" h="133">
                <a:moveTo>
                  <a:pt x="113" y="0"/>
                </a:moveTo>
                <a:cubicBezTo>
                  <a:pt x="112" y="0"/>
                  <a:pt x="112" y="0"/>
                  <a:pt x="111" y="0"/>
                </a:cubicBezTo>
                <a:cubicBezTo>
                  <a:pt x="2" y="63"/>
                  <a:pt x="2" y="63"/>
                  <a:pt x="2" y="63"/>
                </a:cubicBezTo>
                <a:cubicBezTo>
                  <a:pt x="1" y="64"/>
                  <a:pt x="0" y="65"/>
                  <a:pt x="0" y="66"/>
                </a:cubicBezTo>
                <a:cubicBezTo>
                  <a:pt x="0" y="67"/>
                  <a:pt x="1" y="68"/>
                  <a:pt x="2" y="69"/>
                </a:cubicBezTo>
                <a:cubicBezTo>
                  <a:pt x="112" y="133"/>
                  <a:pt x="112" y="133"/>
                  <a:pt x="112" y="133"/>
                </a:cubicBezTo>
                <a:cubicBezTo>
                  <a:pt x="112" y="133"/>
                  <a:pt x="113" y="133"/>
                  <a:pt x="114" y="133"/>
                </a:cubicBezTo>
                <a:cubicBezTo>
                  <a:pt x="114" y="133"/>
                  <a:pt x="115" y="133"/>
                  <a:pt x="115" y="133"/>
                </a:cubicBezTo>
                <a:cubicBezTo>
                  <a:pt x="225" y="69"/>
                  <a:pt x="225" y="69"/>
                  <a:pt x="225" y="69"/>
                </a:cubicBezTo>
                <a:cubicBezTo>
                  <a:pt x="226" y="69"/>
                  <a:pt x="226" y="68"/>
                  <a:pt x="226" y="67"/>
                </a:cubicBezTo>
                <a:cubicBezTo>
                  <a:pt x="226" y="65"/>
                  <a:pt x="226" y="64"/>
                  <a:pt x="225" y="64"/>
                </a:cubicBezTo>
                <a:cubicBezTo>
                  <a:pt x="115" y="0"/>
                  <a:pt x="115" y="0"/>
                  <a:pt x="115" y="0"/>
                </a:cubicBezTo>
                <a:cubicBezTo>
                  <a:pt x="114" y="0"/>
                  <a:pt x="114" y="0"/>
                  <a:pt x="113" y="0"/>
                </a:cubicBezTo>
              </a:path>
            </a:pathLst>
          </a:custGeom>
          <a:solidFill>
            <a:srgbClr val="E5F8F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2" name="Freeform 40"/>
          <p:cNvSpPr>
            <a:spLocks/>
          </p:cNvSpPr>
          <p:nvPr/>
        </p:nvSpPr>
        <p:spPr bwMode="auto">
          <a:xfrm>
            <a:off x="4013602" y="4554963"/>
            <a:ext cx="215869" cy="368248"/>
          </a:xfrm>
          <a:custGeom>
            <a:avLst/>
            <a:gdLst>
              <a:gd name="T0" fmla="*/ 3 w 116"/>
              <a:gd name="T1" fmla="*/ 0 h 198"/>
              <a:gd name="T2" fmla="*/ 1 w 116"/>
              <a:gd name="T3" fmla="*/ 1 h 198"/>
              <a:gd name="T4" fmla="*/ 0 w 116"/>
              <a:gd name="T5" fmla="*/ 4 h 198"/>
              <a:gd name="T6" fmla="*/ 0 w 116"/>
              <a:gd name="T7" fmla="*/ 131 h 198"/>
              <a:gd name="T8" fmla="*/ 1 w 116"/>
              <a:gd name="T9" fmla="*/ 134 h 198"/>
              <a:gd name="T10" fmla="*/ 111 w 116"/>
              <a:gd name="T11" fmla="*/ 197 h 198"/>
              <a:gd name="T12" fmla="*/ 113 w 116"/>
              <a:gd name="T13" fmla="*/ 198 h 198"/>
              <a:gd name="T14" fmla="*/ 114 w 116"/>
              <a:gd name="T15" fmla="*/ 197 h 198"/>
              <a:gd name="T16" fmla="*/ 116 w 116"/>
              <a:gd name="T17" fmla="*/ 194 h 198"/>
              <a:gd name="T18" fmla="*/ 116 w 116"/>
              <a:gd name="T19" fmla="*/ 67 h 198"/>
              <a:gd name="T20" fmla="*/ 114 w 116"/>
              <a:gd name="T21" fmla="*/ 64 h 198"/>
              <a:gd name="T22" fmla="*/ 5 w 116"/>
              <a:gd name="T23" fmla="*/ 1 h 198"/>
              <a:gd name="T24" fmla="*/ 3 w 116"/>
              <a:gd name="T25" fmla="*/ 0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6" h="198">
                <a:moveTo>
                  <a:pt x="3" y="0"/>
                </a:moveTo>
                <a:cubicBezTo>
                  <a:pt x="2" y="0"/>
                  <a:pt x="2" y="0"/>
                  <a:pt x="1" y="1"/>
                </a:cubicBezTo>
                <a:cubicBezTo>
                  <a:pt x="0" y="1"/>
                  <a:pt x="0" y="2"/>
                  <a:pt x="0" y="4"/>
                </a:cubicBezTo>
                <a:cubicBezTo>
                  <a:pt x="0" y="131"/>
                  <a:pt x="0" y="131"/>
                  <a:pt x="0" y="131"/>
                </a:cubicBezTo>
                <a:cubicBezTo>
                  <a:pt x="0" y="132"/>
                  <a:pt x="0" y="133"/>
                  <a:pt x="1" y="134"/>
                </a:cubicBezTo>
                <a:cubicBezTo>
                  <a:pt x="111" y="197"/>
                  <a:pt x="111" y="197"/>
                  <a:pt x="111" y="197"/>
                </a:cubicBezTo>
                <a:cubicBezTo>
                  <a:pt x="112" y="197"/>
                  <a:pt x="112" y="198"/>
                  <a:pt x="113" y="198"/>
                </a:cubicBezTo>
                <a:cubicBezTo>
                  <a:pt x="113" y="198"/>
                  <a:pt x="114" y="197"/>
                  <a:pt x="114" y="197"/>
                </a:cubicBezTo>
                <a:cubicBezTo>
                  <a:pt x="115" y="197"/>
                  <a:pt x="116" y="196"/>
                  <a:pt x="116" y="194"/>
                </a:cubicBezTo>
                <a:cubicBezTo>
                  <a:pt x="116" y="67"/>
                  <a:pt x="116" y="67"/>
                  <a:pt x="116" y="67"/>
                </a:cubicBezTo>
                <a:cubicBezTo>
                  <a:pt x="116" y="66"/>
                  <a:pt x="115" y="65"/>
                  <a:pt x="114" y="64"/>
                </a:cubicBezTo>
                <a:cubicBezTo>
                  <a:pt x="5" y="1"/>
                  <a:pt x="5" y="1"/>
                  <a:pt x="5" y="1"/>
                </a:cubicBezTo>
                <a:cubicBezTo>
                  <a:pt x="4" y="0"/>
                  <a:pt x="3" y="0"/>
                  <a:pt x="3" y="0"/>
                </a:cubicBezTo>
              </a:path>
            </a:pathLst>
          </a:custGeom>
          <a:solidFill>
            <a:srgbClr val="CCF1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3" name="Freeform 41"/>
          <p:cNvSpPr>
            <a:spLocks/>
          </p:cNvSpPr>
          <p:nvPr/>
        </p:nvSpPr>
        <p:spPr bwMode="auto">
          <a:xfrm>
            <a:off x="4275503" y="4556551"/>
            <a:ext cx="215869" cy="366661"/>
          </a:xfrm>
          <a:custGeom>
            <a:avLst/>
            <a:gdLst>
              <a:gd name="T0" fmla="*/ 113 w 116"/>
              <a:gd name="T1" fmla="*/ 0 h 197"/>
              <a:gd name="T2" fmla="*/ 111 w 116"/>
              <a:gd name="T3" fmla="*/ 1 h 197"/>
              <a:gd name="T4" fmla="*/ 1 w 116"/>
              <a:gd name="T5" fmla="*/ 64 h 197"/>
              <a:gd name="T6" fmla="*/ 0 w 116"/>
              <a:gd name="T7" fmla="*/ 67 h 197"/>
              <a:gd name="T8" fmla="*/ 0 w 116"/>
              <a:gd name="T9" fmla="*/ 193 h 197"/>
              <a:gd name="T10" fmla="*/ 1 w 116"/>
              <a:gd name="T11" fmla="*/ 196 h 197"/>
              <a:gd name="T12" fmla="*/ 3 w 116"/>
              <a:gd name="T13" fmla="*/ 197 h 197"/>
              <a:gd name="T14" fmla="*/ 5 w 116"/>
              <a:gd name="T15" fmla="*/ 196 h 197"/>
              <a:gd name="T16" fmla="*/ 114 w 116"/>
              <a:gd name="T17" fmla="*/ 133 h 197"/>
              <a:gd name="T18" fmla="*/ 116 w 116"/>
              <a:gd name="T19" fmla="*/ 130 h 197"/>
              <a:gd name="T20" fmla="*/ 116 w 116"/>
              <a:gd name="T21" fmla="*/ 3 h 197"/>
              <a:gd name="T22" fmla="*/ 114 w 116"/>
              <a:gd name="T23" fmla="*/ 1 h 197"/>
              <a:gd name="T24" fmla="*/ 113 w 116"/>
              <a:gd name="T25" fmla="*/ 0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6" h="197">
                <a:moveTo>
                  <a:pt x="113" y="0"/>
                </a:moveTo>
                <a:cubicBezTo>
                  <a:pt x="112" y="0"/>
                  <a:pt x="112" y="0"/>
                  <a:pt x="111" y="1"/>
                </a:cubicBezTo>
                <a:cubicBezTo>
                  <a:pt x="1" y="64"/>
                  <a:pt x="1" y="64"/>
                  <a:pt x="1" y="64"/>
                </a:cubicBezTo>
                <a:cubicBezTo>
                  <a:pt x="0" y="65"/>
                  <a:pt x="0" y="66"/>
                  <a:pt x="0" y="67"/>
                </a:cubicBezTo>
                <a:cubicBezTo>
                  <a:pt x="0" y="193"/>
                  <a:pt x="0" y="193"/>
                  <a:pt x="0" y="193"/>
                </a:cubicBezTo>
                <a:cubicBezTo>
                  <a:pt x="0" y="195"/>
                  <a:pt x="0" y="196"/>
                  <a:pt x="1" y="196"/>
                </a:cubicBezTo>
                <a:cubicBezTo>
                  <a:pt x="2" y="196"/>
                  <a:pt x="2" y="197"/>
                  <a:pt x="3" y="197"/>
                </a:cubicBezTo>
                <a:cubicBezTo>
                  <a:pt x="3" y="197"/>
                  <a:pt x="4" y="196"/>
                  <a:pt x="5" y="196"/>
                </a:cubicBezTo>
                <a:cubicBezTo>
                  <a:pt x="114" y="133"/>
                  <a:pt x="114" y="133"/>
                  <a:pt x="114" y="133"/>
                </a:cubicBezTo>
                <a:cubicBezTo>
                  <a:pt x="115" y="132"/>
                  <a:pt x="116" y="131"/>
                  <a:pt x="116" y="130"/>
                </a:cubicBezTo>
                <a:cubicBezTo>
                  <a:pt x="116" y="3"/>
                  <a:pt x="116" y="3"/>
                  <a:pt x="116" y="3"/>
                </a:cubicBezTo>
                <a:cubicBezTo>
                  <a:pt x="116" y="2"/>
                  <a:pt x="115" y="1"/>
                  <a:pt x="114" y="1"/>
                </a:cubicBezTo>
                <a:cubicBezTo>
                  <a:pt x="114" y="0"/>
                  <a:pt x="113" y="0"/>
                  <a:pt x="113" y="0"/>
                </a:cubicBezTo>
              </a:path>
            </a:pathLst>
          </a:custGeom>
          <a:solidFill>
            <a:srgbClr val="80DD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4" name="Freeform 42"/>
          <p:cNvSpPr>
            <a:spLocks/>
          </p:cNvSpPr>
          <p:nvPr/>
        </p:nvSpPr>
        <p:spPr bwMode="auto">
          <a:xfrm>
            <a:off x="1266029" y="4453377"/>
            <a:ext cx="1114267" cy="780939"/>
          </a:xfrm>
          <a:custGeom>
            <a:avLst/>
            <a:gdLst>
              <a:gd name="T0" fmla="*/ 0 w 599"/>
              <a:gd name="T1" fmla="*/ 398 h 420"/>
              <a:gd name="T2" fmla="*/ 22 w 599"/>
              <a:gd name="T3" fmla="*/ 420 h 420"/>
              <a:gd name="T4" fmla="*/ 577 w 599"/>
              <a:gd name="T5" fmla="*/ 420 h 420"/>
              <a:gd name="T6" fmla="*/ 599 w 599"/>
              <a:gd name="T7" fmla="*/ 398 h 420"/>
              <a:gd name="T8" fmla="*/ 599 w 599"/>
              <a:gd name="T9" fmla="*/ 0 h 420"/>
              <a:gd name="T10" fmla="*/ 0 w 599"/>
              <a:gd name="T11" fmla="*/ 0 h 420"/>
              <a:gd name="T12" fmla="*/ 0 w 599"/>
              <a:gd name="T13" fmla="*/ 398 h 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9" h="420">
                <a:moveTo>
                  <a:pt x="0" y="398"/>
                </a:moveTo>
                <a:cubicBezTo>
                  <a:pt x="0" y="410"/>
                  <a:pt x="10" y="420"/>
                  <a:pt x="22" y="420"/>
                </a:cubicBezTo>
                <a:cubicBezTo>
                  <a:pt x="577" y="420"/>
                  <a:pt x="577" y="420"/>
                  <a:pt x="577" y="420"/>
                </a:cubicBezTo>
                <a:cubicBezTo>
                  <a:pt x="589" y="420"/>
                  <a:pt x="599" y="410"/>
                  <a:pt x="599" y="398"/>
                </a:cubicBezTo>
                <a:cubicBezTo>
                  <a:pt x="599" y="0"/>
                  <a:pt x="599" y="0"/>
                  <a:pt x="59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98"/>
                  <a:pt x="0" y="398"/>
                  <a:pt x="0" y="398"/>
                </a:cubicBezTo>
              </a:path>
            </a:pathLst>
          </a:cu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5" name="Freeform 43"/>
          <p:cNvSpPr>
            <a:spLocks/>
          </p:cNvSpPr>
          <p:nvPr/>
        </p:nvSpPr>
        <p:spPr bwMode="auto">
          <a:xfrm>
            <a:off x="1266029" y="4283539"/>
            <a:ext cx="1114267" cy="169839"/>
          </a:xfrm>
          <a:custGeom>
            <a:avLst/>
            <a:gdLst>
              <a:gd name="T0" fmla="*/ 577 w 599"/>
              <a:gd name="T1" fmla="*/ 0 h 91"/>
              <a:gd name="T2" fmla="*/ 22 w 599"/>
              <a:gd name="T3" fmla="*/ 0 h 91"/>
              <a:gd name="T4" fmla="*/ 0 w 599"/>
              <a:gd name="T5" fmla="*/ 22 h 91"/>
              <a:gd name="T6" fmla="*/ 0 w 599"/>
              <a:gd name="T7" fmla="*/ 91 h 91"/>
              <a:gd name="T8" fmla="*/ 599 w 599"/>
              <a:gd name="T9" fmla="*/ 91 h 91"/>
              <a:gd name="T10" fmla="*/ 599 w 599"/>
              <a:gd name="T11" fmla="*/ 22 h 91"/>
              <a:gd name="T12" fmla="*/ 577 w 599"/>
              <a:gd name="T13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9" h="91">
                <a:moveTo>
                  <a:pt x="577" y="0"/>
                </a:moveTo>
                <a:cubicBezTo>
                  <a:pt x="22" y="0"/>
                  <a:pt x="22" y="0"/>
                  <a:pt x="22" y="0"/>
                </a:cubicBezTo>
                <a:cubicBezTo>
                  <a:pt x="10" y="0"/>
                  <a:pt x="0" y="10"/>
                  <a:pt x="0" y="22"/>
                </a:cubicBezTo>
                <a:cubicBezTo>
                  <a:pt x="0" y="91"/>
                  <a:pt x="0" y="91"/>
                  <a:pt x="0" y="91"/>
                </a:cubicBezTo>
                <a:cubicBezTo>
                  <a:pt x="599" y="91"/>
                  <a:pt x="599" y="91"/>
                  <a:pt x="599" y="91"/>
                </a:cubicBezTo>
                <a:cubicBezTo>
                  <a:pt x="599" y="22"/>
                  <a:pt x="599" y="22"/>
                  <a:pt x="599" y="22"/>
                </a:cubicBezTo>
                <a:cubicBezTo>
                  <a:pt x="599" y="10"/>
                  <a:pt x="589" y="0"/>
                  <a:pt x="577" y="0"/>
                </a:cubicBezTo>
              </a:path>
            </a:pathLst>
          </a:custGeom>
          <a:solidFill>
            <a:srgbClr val="8DC6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6" name="Rectangle 44"/>
          <p:cNvSpPr>
            <a:spLocks noChangeArrowheads="1"/>
          </p:cNvSpPr>
          <p:nvPr/>
        </p:nvSpPr>
        <p:spPr bwMode="auto">
          <a:xfrm>
            <a:off x="1594593" y="4696231"/>
            <a:ext cx="206347" cy="12539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7" name="Rectangle 45"/>
          <p:cNvSpPr>
            <a:spLocks noChangeArrowheads="1"/>
          </p:cNvSpPr>
          <p:nvPr/>
        </p:nvSpPr>
        <p:spPr bwMode="auto">
          <a:xfrm>
            <a:off x="1594593" y="4696231"/>
            <a:ext cx="206347" cy="12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8" name="Rectangle 46"/>
          <p:cNvSpPr>
            <a:spLocks noChangeArrowheads="1"/>
          </p:cNvSpPr>
          <p:nvPr/>
        </p:nvSpPr>
        <p:spPr bwMode="auto">
          <a:xfrm>
            <a:off x="1594593" y="4531155"/>
            <a:ext cx="206347" cy="12380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9" name="Rectangle 47"/>
          <p:cNvSpPr>
            <a:spLocks noChangeArrowheads="1"/>
          </p:cNvSpPr>
          <p:nvPr/>
        </p:nvSpPr>
        <p:spPr bwMode="auto">
          <a:xfrm>
            <a:off x="1594593" y="4531155"/>
            <a:ext cx="206347" cy="123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0" name="Rectangle 48"/>
          <p:cNvSpPr>
            <a:spLocks noChangeArrowheads="1"/>
          </p:cNvSpPr>
          <p:nvPr/>
        </p:nvSpPr>
        <p:spPr bwMode="auto">
          <a:xfrm>
            <a:off x="1594593" y="4861308"/>
            <a:ext cx="206347" cy="125395"/>
          </a:xfrm>
          <a:prstGeom prst="rect">
            <a:avLst/>
          </a:prstGeom>
          <a:solidFill>
            <a:srgbClr val="8DC6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1" name="Rectangle 49"/>
          <p:cNvSpPr>
            <a:spLocks noChangeArrowheads="1"/>
          </p:cNvSpPr>
          <p:nvPr/>
        </p:nvSpPr>
        <p:spPr bwMode="auto">
          <a:xfrm>
            <a:off x="1594593" y="4861308"/>
            <a:ext cx="206347" cy="12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2" name="Rectangle 50"/>
          <p:cNvSpPr>
            <a:spLocks noChangeArrowheads="1"/>
          </p:cNvSpPr>
          <p:nvPr/>
        </p:nvSpPr>
        <p:spPr bwMode="auto">
          <a:xfrm>
            <a:off x="1842209" y="4861308"/>
            <a:ext cx="206347" cy="125395"/>
          </a:xfrm>
          <a:prstGeom prst="rect">
            <a:avLst/>
          </a:prstGeom>
          <a:solidFill>
            <a:srgbClr val="8DC6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3" name="Rectangle 51"/>
          <p:cNvSpPr>
            <a:spLocks noChangeArrowheads="1"/>
          </p:cNvSpPr>
          <p:nvPr/>
        </p:nvSpPr>
        <p:spPr bwMode="auto">
          <a:xfrm>
            <a:off x="1842209" y="4696231"/>
            <a:ext cx="206347" cy="12539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4" name="Rectangle 52"/>
          <p:cNvSpPr>
            <a:spLocks noChangeArrowheads="1"/>
          </p:cNvSpPr>
          <p:nvPr/>
        </p:nvSpPr>
        <p:spPr bwMode="auto">
          <a:xfrm>
            <a:off x="1842209" y="4696231"/>
            <a:ext cx="206347" cy="12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5" name="Rectangle 53"/>
          <p:cNvSpPr>
            <a:spLocks noChangeArrowheads="1"/>
          </p:cNvSpPr>
          <p:nvPr/>
        </p:nvSpPr>
        <p:spPr bwMode="auto">
          <a:xfrm>
            <a:off x="1842209" y="4531155"/>
            <a:ext cx="206347" cy="12380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6" name="Rectangle 54"/>
          <p:cNvSpPr>
            <a:spLocks noChangeArrowheads="1"/>
          </p:cNvSpPr>
          <p:nvPr/>
        </p:nvSpPr>
        <p:spPr bwMode="auto">
          <a:xfrm>
            <a:off x="1842209" y="4531155"/>
            <a:ext cx="206347" cy="123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7" name="Rectangle 55"/>
          <p:cNvSpPr>
            <a:spLocks noChangeArrowheads="1"/>
          </p:cNvSpPr>
          <p:nvPr/>
        </p:nvSpPr>
        <p:spPr bwMode="auto">
          <a:xfrm>
            <a:off x="1348565" y="4531155"/>
            <a:ext cx="206347" cy="12380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8" name="Rectangle 56"/>
          <p:cNvSpPr>
            <a:spLocks noChangeArrowheads="1"/>
          </p:cNvSpPr>
          <p:nvPr/>
        </p:nvSpPr>
        <p:spPr bwMode="auto">
          <a:xfrm>
            <a:off x="1348565" y="4531155"/>
            <a:ext cx="206347" cy="123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9" name="Rectangle 57"/>
          <p:cNvSpPr>
            <a:spLocks noChangeArrowheads="1"/>
          </p:cNvSpPr>
          <p:nvPr/>
        </p:nvSpPr>
        <p:spPr bwMode="auto">
          <a:xfrm>
            <a:off x="1348565" y="4696231"/>
            <a:ext cx="206347" cy="12539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0" name="Rectangle 58"/>
          <p:cNvSpPr>
            <a:spLocks noChangeArrowheads="1"/>
          </p:cNvSpPr>
          <p:nvPr/>
        </p:nvSpPr>
        <p:spPr bwMode="auto">
          <a:xfrm>
            <a:off x="1348565" y="4696231"/>
            <a:ext cx="206347" cy="12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1" name="Rectangle 59"/>
          <p:cNvSpPr>
            <a:spLocks noChangeArrowheads="1"/>
          </p:cNvSpPr>
          <p:nvPr/>
        </p:nvSpPr>
        <p:spPr bwMode="auto">
          <a:xfrm>
            <a:off x="1348565" y="4861308"/>
            <a:ext cx="206347" cy="125395"/>
          </a:xfrm>
          <a:prstGeom prst="rect">
            <a:avLst/>
          </a:prstGeom>
          <a:solidFill>
            <a:srgbClr val="8DC6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2" name="Rectangle 60"/>
          <p:cNvSpPr>
            <a:spLocks noChangeArrowheads="1"/>
          </p:cNvSpPr>
          <p:nvPr/>
        </p:nvSpPr>
        <p:spPr bwMode="auto">
          <a:xfrm>
            <a:off x="1348565" y="4861308"/>
            <a:ext cx="206347" cy="12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3" name="Rectangle 61"/>
          <p:cNvSpPr>
            <a:spLocks noChangeArrowheads="1"/>
          </p:cNvSpPr>
          <p:nvPr/>
        </p:nvSpPr>
        <p:spPr bwMode="auto">
          <a:xfrm>
            <a:off x="1348565" y="5027971"/>
            <a:ext cx="206347" cy="122220"/>
          </a:xfrm>
          <a:prstGeom prst="rect">
            <a:avLst/>
          </a:prstGeom>
          <a:solidFill>
            <a:srgbClr val="8DC6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4" name="Rectangle 62"/>
          <p:cNvSpPr>
            <a:spLocks noChangeArrowheads="1"/>
          </p:cNvSpPr>
          <p:nvPr/>
        </p:nvSpPr>
        <p:spPr bwMode="auto">
          <a:xfrm>
            <a:off x="1348565" y="5027971"/>
            <a:ext cx="206347" cy="122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5" name="Rectangle 63"/>
          <p:cNvSpPr>
            <a:spLocks noChangeArrowheads="1"/>
          </p:cNvSpPr>
          <p:nvPr/>
        </p:nvSpPr>
        <p:spPr bwMode="auto">
          <a:xfrm>
            <a:off x="1594593" y="5027971"/>
            <a:ext cx="206347" cy="122220"/>
          </a:xfrm>
          <a:prstGeom prst="rect">
            <a:avLst/>
          </a:prstGeom>
          <a:solidFill>
            <a:srgbClr val="8DC6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6" name="Rectangle 64"/>
          <p:cNvSpPr>
            <a:spLocks noChangeArrowheads="1"/>
          </p:cNvSpPr>
          <p:nvPr/>
        </p:nvSpPr>
        <p:spPr bwMode="auto">
          <a:xfrm>
            <a:off x="1842209" y="5027971"/>
            <a:ext cx="206347" cy="122220"/>
          </a:xfrm>
          <a:prstGeom prst="rect">
            <a:avLst/>
          </a:prstGeom>
          <a:solidFill>
            <a:srgbClr val="8DC6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7" name="Rectangle 65"/>
          <p:cNvSpPr>
            <a:spLocks noChangeArrowheads="1"/>
          </p:cNvSpPr>
          <p:nvPr/>
        </p:nvSpPr>
        <p:spPr bwMode="auto">
          <a:xfrm>
            <a:off x="2091411" y="4861308"/>
            <a:ext cx="206347" cy="125395"/>
          </a:xfrm>
          <a:prstGeom prst="rect">
            <a:avLst/>
          </a:prstGeom>
          <a:solidFill>
            <a:srgbClr val="8DC6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8" name="Rectangle 66"/>
          <p:cNvSpPr>
            <a:spLocks noChangeArrowheads="1"/>
          </p:cNvSpPr>
          <p:nvPr/>
        </p:nvSpPr>
        <p:spPr bwMode="auto">
          <a:xfrm>
            <a:off x="2091411" y="4696231"/>
            <a:ext cx="206347" cy="12539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9" name="Rectangle 67"/>
          <p:cNvSpPr>
            <a:spLocks noChangeArrowheads="1"/>
          </p:cNvSpPr>
          <p:nvPr/>
        </p:nvSpPr>
        <p:spPr bwMode="auto">
          <a:xfrm>
            <a:off x="2091411" y="4531155"/>
            <a:ext cx="206347" cy="12380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0" name="Rectangle 68"/>
          <p:cNvSpPr>
            <a:spLocks noChangeArrowheads="1"/>
          </p:cNvSpPr>
          <p:nvPr/>
        </p:nvSpPr>
        <p:spPr bwMode="auto">
          <a:xfrm>
            <a:off x="2091411" y="5027971"/>
            <a:ext cx="206347" cy="122220"/>
          </a:xfrm>
          <a:prstGeom prst="rect">
            <a:avLst/>
          </a:prstGeom>
          <a:solidFill>
            <a:srgbClr val="8DC6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1" name="Freeform 69"/>
          <p:cNvSpPr>
            <a:spLocks noEditPoints="1"/>
          </p:cNvSpPr>
          <p:nvPr/>
        </p:nvSpPr>
        <p:spPr bwMode="auto">
          <a:xfrm>
            <a:off x="1300948" y="4283539"/>
            <a:ext cx="938080" cy="0"/>
          </a:xfrm>
          <a:custGeom>
            <a:avLst/>
            <a:gdLst>
              <a:gd name="T0" fmla="*/ 140 w 504"/>
              <a:gd name="T1" fmla="*/ 5 w 504"/>
              <a:gd name="T2" fmla="*/ 0 w 504"/>
              <a:gd name="T3" fmla="*/ 3 w 504"/>
              <a:gd name="T4" fmla="*/ 140 w 504"/>
              <a:gd name="T5" fmla="*/ 140 w 504"/>
              <a:gd name="T6" fmla="*/ 504 w 504"/>
              <a:gd name="T7" fmla="*/ 159 w 504"/>
              <a:gd name="T8" fmla="*/ 159 w 504"/>
              <a:gd name="T9" fmla="*/ 503 w 504"/>
              <a:gd name="T10" fmla="*/ 504 w 504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  <a:cxn ang="0">
                <a:pos x="T7" y="0"/>
              </a:cxn>
              <a:cxn ang="0">
                <a:pos x="T8" y="0"/>
              </a:cxn>
              <a:cxn ang="0">
                <a:pos x="T9" y="0"/>
              </a:cxn>
              <a:cxn ang="0">
                <a:pos x="T10" y="0"/>
              </a:cxn>
            </a:cxnLst>
            <a:rect l="0" t="0" r="r" b="b"/>
            <a:pathLst>
              <a:path w="504">
                <a:moveTo>
                  <a:pt x="140" y="0"/>
                </a:moveTo>
                <a:cubicBezTo>
                  <a:pt x="5" y="0"/>
                  <a:pt x="5" y="0"/>
                  <a:pt x="5" y="0"/>
                </a:cubicBezTo>
                <a:cubicBezTo>
                  <a:pt x="3" y="0"/>
                  <a:pt x="1" y="0"/>
                  <a:pt x="0" y="0"/>
                </a:cubicBezTo>
                <a:cubicBezTo>
                  <a:pt x="1" y="0"/>
                  <a:pt x="2" y="0"/>
                  <a:pt x="3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moveTo>
                  <a:pt x="504" y="0"/>
                </a:moveTo>
                <a:cubicBezTo>
                  <a:pt x="159" y="0"/>
                  <a:pt x="159" y="0"/>
                  <a:pt x="159" y="0"/>
                </a:cubicBezTo>
                <a:cubicBezTo>
                  <a:pt x="159" y="0"/>
                  <a:pt x="159" y="0"/>
                  <a:pt x="159" y="0"/>
                </a:cubicBezTo>
                <a:cubicBezTo>
                  <a:pt x="503" y="0"/>
                  <a:pt x="503" y="0"/>
                  <a:pt x="503" y="0"/>
                </a:cubicBezTo>
                <a:cubicBezTo>
                  <a:pt x="504" y="0"/>
                  <a:pt x="504" y="0"/>
                  <a:pt x="504" y="0"/>
                </a:cubicBezTo>
              </a:path>
            </a:pathLst>
          </a:custGeom>
          <a:solidFill>
            <a:srgbClr val="1C42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2" name="Freeform 70"/>
          <p:cNvSpPr>
            <a:spLocks/>
          </p:cNvSpPr>
          <p:nvPr/>
        </p:nvSpPr>
        <p:spPr bwMode="auto">
          <a:xfrm>
            <a:off x="1561261" y="4283539"/>
            <a:ext cx="36507" cy="0"/>
          </a:xfrm>
          <a:custGeom>
            <a:avLst/>
            <a:gdLst>
              <a:gd name="T0" fmla="*/ 19 w 19"/>
              <a:gd name="T1" fmla="*/ 0 w 19"/>
              <a:gd name="T2" fmla="*/ 0 w 19"/>
              <a:gd name="T3" fmla="*/ 19 w 19"/>
              <a:gd name="T4" fmla="*/ 19 w 1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</a:cxnLst>
            <a:rect l="0" t="0" r="r" b="b"/>
            <a:pathLst>
              <a:path w="19">
                <a:moveTo>
                  <a:pt x="1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89CF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3" name="Freeform 71"/>
          <p:cNvSpPr>
            <a:spLocks/>
          </p:cNvSpPr>
          <p:nvPr/>
        </p:nvSpPr>
        <p:spPr bwMode="auto">
          <a:xfrm>
            <a:off x="1304123" y="5234316"/>
            <a:ext cx="55555" cy="0"/>
          </a:xfrm>
          <a:custGeom>
            <a:avLst/>
            <a:gdLst>
              <a:gd name="T0" fmla="*/ 0 w 30"/>
              <a:gd name="T1" fmla="*/ 4 w 30"/>
              <a:gd name="T2" fmla="*/ 30 w 30"/>
              <a:gd name="T3" fmla="*/ 30 w 30"/>
              <a:gd name="T4" fmla="*/ 2 w 30"/>
              <a:gd name="T5" fmla="*/ 0 w 30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</a:cxnLst>
            <a:rect l="0" t="0" r="r" b="b"/>
            <a:pathLst>
              <a:path w="30">
                <a:moveTo>
                  <a:pt x="0" y="0"/>
                </a:moveTo>
                <a:cubicBezTo>
                  <a:pt x="1" y="0"/>
                  <a:pt x="2" y="0"/>
                  <a:pt x="4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0"/>
                  <a:pt x="0" y="0"/>
                </a:cubicBezTo>
              </a:path>
            </a:pathLst>
          </a:custGeom>
          <a:solidFill>
            <a:srgbClr val="1C42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4" name="Freeform 72"/>
          <p:cNvSpPr>
            <a:spLocks noEditPoints="1"/>
          </p:cNvSpPr>
          <p:nvPr/>
        </p:nvSpPr>
        <p:spPr bwMode="auto">
          <a:xfrm>
            <a:off x="1266028" y="4453377"/>
            <a:ext cx="814272" cy="780939"/>
          </a:xfrm>
          <a:custGeom>
            <a:avLst/>
            <a:gdLst>
              <a:gd name="T0" fmla="*/ 44 w 438"/>
              <a:gd name="T1" fmla="*/ 287 h 420"/>
              <a:gd name="T2" fmla="*/ 44 w 438"/>
              <a:gd name="T3" fmla="*/ 220 h 420"/>
              <a:gd name="T4" fmla="*/ 155 w 438"/>
              <a:gd name="T5" fmla="*/ 220 h 420"/>
              <a:gd name="T6" fmla="*/ 155 w 438"/>
              <a:gd name="T7" fmla="*/ 287 h 420"/>
              <a:gd name="T8" fmla="*/ 44 w 438"/>
              <a:gd name="T9" fmla="*/ 287 h 420"/>
              <a:gd name="T10" fmla="*/ 44 w 438"/>
              <a:gd name="T11" fmla="*/ 198 h 420"/>
              <a:gd name="T12" fmla="*/ 44 w 438"/>
              <a:gd name="T13" fmla="*/ 131 h 420"/>
              <a:gd name="T14" fmla="*/ 155 w 438"/>
              <a:gd name="T15" fmla="*/ 131 h 420"/>
              <a:gd name="T16" fmla="*/ 155 w 438"/>
              <a:gd name="T17" fmla="*/ 198 h 420"/>
              <a:gd name="T18" fmla="*/ 44 w 438"/>
              <a:gd name="T19" fmla="*/ 198 h 420"/>
              <a:gd name="T20" fmla="*/ 44 w 438"/>
              <a:gd name="T21" fmla="*/ 109 h 420"/>
              <a:gd name="T22" fmla="*/ 44 w 438"/>
              <a:gd name="T23" fmla="*/ 42 h 420"/>
              <a:gd name="T24" fmla="*/ 155 w 438"/>
              <a:gd name="T25" fmla="*/ 42 h 420"/>
              <a:gd name="T26" fmla="*/ 155 w 438"/>
              <a:gd name="T27" fmla="*/ 109 h 420"/>
              <a:gd name="T28" fmla="*/ 44 w 438"/>
              <a:gd name="T29" fmla="*/ 109 h 420"/>
              <a:gd name="T30" fmla="*/ 177 w 438"/>
              <a:gd name="T31" fmla="*/ 109 h 420"/>
              <a:gd name="T32" fmla="*/ 177 w 438"/>
              <a:gd name="T33" fmla="*/ 42 h 420"/>
              <a:gd name="T34" fmla="*/ 288 w 438"/>
              <a:gd name="T35" fmla="*/ 42 h 420"/>
              <a:gd name="T36" fmla="*/ 288 w 438"/>
              <a:gd name="T37" fmla="*/ 109 h 420"/>
              <a:gd name="T38" fmla="*/ 177 w 438"/>
              <a:gd name="T39" fmla="*/ 109 h 420"/>
              <a:gd name="T40" fmla="*/ 438 w 438"/>
              <a:gd name="T41" fmla="*/ 0 h 420"/>
              <a:gd name="T42" fmla="*/ 0 w 438"/>
              <a:gd name="T43" fmla="*/ 0 h 420"/>
              <a:gd name="T44" fmla="*/ 0 w 438"/>
              <a:gd name="T45" fmla="*/ 20 h 420"/>
              <a:gd name="T46" fmla="*/ 0 w 438"/>
              <a:gd name="T47" fmla="*/ 60 h 420"/>
              <a:gd name="T48" fmla="*/ 0 w 438"/>
              <a:gd name="T49" fmla="*/ 396 h 420"/>
              <a:gd name="T50" fmla="*/ 20 w 438"/>
              <a:gd name="T51" fmla="*/ 420 h 420"/>
              <a:gd name="T52" fmla="*/ 22 w 438"/>
              <a:gd name="T53" fmla="*/ 420 h 420"/>
              <a:gd name="T54" fmla="*/ 50 w 438"/>
              <a:gd name="T55" fmla="*/ 420 h 420"/>
              <a:gd name="T56" fmla="*/ 91 w 438"/>
              <a:gd name="T57" fmla="*/ 375 h 420"/>
              <a:gd name="T58" fmla="*/ 44 w 438"/>
              <a:gd name="T59" fmla="*/ 375 h 420"/>
              <a:gd name="T60" fmla="*/ 44 w 438"/>
              <a:gd name="T61" fmla="*/ 309 h 420"/>
              <a:gd name="T62" fmla="*/ 153 w 438"/>
              <a:gd name="T63" fmla="*/ 309 h 420"/>
              <a:gd name="T64" fmla="*/ 177 w 438"/>
              <a:gd name="T65" fmla="*/ 282 h 420"/>
              <a:gd name="T66" fmla="*/ 177 w 438"/>
              <a:gd name="T67" fmla="*/ 220 h 420"/>
              <a:gd name="T68" fmla="*/ 235 w 438"/>
              <a:gd name="T69" fmla="*/ 220 h 420"/>
              <a:gd name="T70" fmla="*/ 255 w 438"/>
              <a:gd name="T71" fmla="*/ 198 h 420"/>
              <a:gd name="T72" fmla="*/ 177 w 438"/>
              <a:gd name="T73" fmla="*/ 198 h 420"/>
              <a:gd name="T74" fmla="*/ 177 w 438"/>
              <a:gd name="T75" fmla="*/ 131 h 420"/>
              <a:gd name="T76" fmla="*/ 288 w 438"/>
              <a:gd name="T77" fmla="*/ 131 h 420"/>
              <a:gd name="T78" fmla="*/ 288 w 438"/>
              <a:gd name="T79" fmla="*/ 162 h 420"/>
              <a:gd name="T80" fmla="*/ 310 w 438"/>
              <a:gd name="T81" fmla="*/ 138 h 420"/>
              <a:gd name="T82" fmla="*/ 310 w 438"/>
              <a:gd name="T83" fmla="*/ 131 h 420"/>
              <a:gd name="T84" fmla="*/ 317 w 438"/>
              <a:gd name="T85" fmla="*/ 131 h 420"/>
              <a:gd name="T86" fmla="*/ 338 w 438"/>
              <a:gd name="T87" fmla="*/ 109 h 420"/>
              <a:gd name="T88" fmla="*/ 310 w 438"/>
              <a:gd name="T89" fmla="*/ 109 h 420"/>
              <a:gd name="T90" fmla="*/ 310 w 438"/>
              <a:gd name="T91" fmla="*/ 42 h 420"/>
              <a:gd name="T92" fmla="*/ 399 w 438"/>
              <a:gd name="T93" fmla="*/ 42 h 420"/>
              <a:gd name="T94" fmla="*/ 438 w 438"/>
              <a:gd name="T95" fmla="*/ 0 h 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38" h="420">
                <a:moveTo>
                  <a:pt x="44" y="287"/>
                </a:moveTo>
                <a:cubicBezTo>
                  <a:pt x="44" y="220"/>
                  <a:pt x="44" y="220"/>
                  <a:pt x="44" y="220"/>
                </a:cubicBezTo>
                <a:cubicBezTo>
                  <a:pt x="155" y="220"/>
                  <a:pt x="155" y="220"/>
                  <a:pt x="155" y="220"/>
                </a:cubicBezTo>
                <a:cubicBezTo>
                  <a:pt x="155" y="287"/>
                  <a:pt x="155" y="287"/>
                  <a:pt x="155" y="287"/>
                </a:cubicBezTo>
                <a:cubicBezTo>
                  <a:pt x="44" y="287"/>
                  <a:pt x="44" y="287"/>
                  <a:pt x="44" y="287"/>
                </a:cubicBezTo>
                <a:moveTo>
                  <a:pt x="44" y="198"/>
                </a:moveTo>
                <a:cubicBezTo>
                  <a:pt x="44" y="131"/>
                  <a:pt x="44" y="131"/>
                  <a:pt x="44" y="131"/>
                </a:cubicBezTo>
                <a:cubicBezTo>
                  <a:pt x="155" y="131"/>
                  <a:pt x="155" y="131"/>
                  <a:pt x="155" y="131"/>
                </a:cubicBezTo>
                <a:cubicBezTo>
                  <a:pt x="155" y="198"/>
                  <a:pt x="155" y="198"/>
                  <a:pt x="155" y="198"/>
                </a:cubicBezTo>
                <a:cubicBezTo>
                  <a:pt x="44" y="198"/>
                  <a:pt x="44" y="198"/>
                  <a:pt x="44" y="198"/>
                </a:cubicBezTo>
                <a:moveTo>
                  <a:pt x="44" y="109"/>
                </a:moveTo>
                <a:cubicBezTo>
                  <a:pt x="44" y="42"/>
                  <a:pt x="44" y="42"/>
                  <a:pt x="44" y="42"/>
                </a:cubicBezTo>
                <a:cubicBezTo>
                  <a:pt x="155" y="42"/>
                  <a:pt x="155" y="42"/>
                  <a:pt x="155" y="42"/>
                </a:cubicBezTo>
                <a:cubicBezTo>
                  <a:pt x="155" y="109"/>
                  <a:pt x="155" y="109"/>
                  <a:pt x="155" y="109"/>
                </a:cubicBezTo>
                <a:cubicBezTo>
                  <a:pt x="44" y="109"/>
                  <a:pt x="44" y="109"/>
                  <a:pt x="44" y="109"/>
                </a:cubicBezTo>
                <a:moveTo>
                  <a:pt x="177" y="109"/>
                </a:moveTo>
                <a:cubicBezTo>
                  <a:pt x="177" y="42"/>
                  <a:pt x="177" y="42"/>
                  <a:pt x="177" y="42"/>
                </a:cubicBezTo>
                <a:cubicBezTo>
                  <a:pt x="288" y="42"/>
                  <a:pt x="288" y="42"/>
                  <a:pt x="288" y="42"/>
                </a:cubicBezTo>
                <a:cubicBezTo>
                  <a:pt x="288" y="109"/>
                  <a:pt x="288" y="109"/>
                  <a:pt x="288" y="109"/>
                </a:cubicBezTo>
                <a:cubicBezTo>
                  <a:pt x="177" y="109"/>
                  <a:pt x="177" y="109"/>
                  <a:pt x="177" y="109"/>
                </a:cubicBezTo>
                <a:moveTo>
                  <a:pt x="43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396"/>
                  <a:pt x="0" y="396"/>
                  <a:pt x="0" y="396"/>
                </a:cubicBezTo>
                <a:cubicBezTo>
                  <a:pt x="0" y="408"/>
                  <a:pt x="8" y="418"/>
                  <a:pt x="20" y="420"/>
                </a:cubicBezTo>
                <a:cubicBezTo>
                  <a:pt x="20" y="420"/>
                  <a:pt x="21" y="420"/>
                  <a:pt x="22" y="420"/>
                </a:cubicBezTo>
                <a:cubicBezTo>
                  <a:pt x="50" y="420"/>
                  <a:pt x="50" y="420"/>
                  <a:pt x="50" y="420"/>
                </a:cubicBezTo>
                <a:cubicBezTo>
                  <a:pt x="91" y="375"/>
                  <a:pt x="91" y="375"/>
                  <a:pt x="91" y="375"/>
                </a:cubicBezTo>
                <a:cubicBezTo>
                  <a:pt x="44" y="375"/>
                  <a:pt x="44" y="375"/>
                  <a:pt x="44" y="375"/>
                </a:cubicBezTo>
                <a:cubicBezTo>
                  <a:pt x="44" y="309"/>
                  <a:pt x="44" y="309"/>
                  <a:pt x="44" y="309"/>
                </a:cubicBezTo>
                <a:cubicBezTo>
                  <a:pt x="153" y="309"/>
                  <a:pt x="153" y="309"/>
                  <a:pt x="153" y="309"/>
                </a:cubicBezTo>
                <a:cubicBezTo>
                  <a:pt x="177" y="282"/>
                  <a:pt x="177" y="282"/>
                  <a:pt x="177" y="282"/>
                </a:cubicBezTo>
                <a:cubicBezTo>
                  <a:pt x="177" y="220"/>
                  <a:pt x="177" y="220"/>
                  <a:pt x="177" y="220"/>
                </a:cubicBezTo>
                <a:cubicBezTo>
                  <a:pt x="235" y="220"/>
                  <a:pt x="235" y="220"/>
                  <a:pt x="235" y="220"/>
                </a:cubicBezTo>
                <a:cubicBezTo>
                  <a:pt x="255" y="198"/>
                  <a:pt x="255" y="198"/>
                  <a:pt x="255" y="198"/>
                </a:cubicBezTo>
                <a:cubicBezTo>
                  <a:pt x="177" y="198"/>
                  <a:pt x="177" y="198"/>
                  <a:pt x="177" y="198"/>
                </a:cubicBezTo>
                <a:cubicBezTo>
                  <a:pt x="177" y="131"/>
                  <a:pt x="177" y="131"/>
                  <a:pt x="177" y="131"/>
                </a:cubicBezTo>
                <a:cubicBezTo>
                  <a:pt x="288" y="131"/>
                  <a:pt x="288" y="131"/>
                  <a:pt x="288" y="131"/>
                </a:cubicBezTo>
                <a:cubicBezTo>
                  <a:pt x="288" y="162"/>
                  <a:pt x="288" y="162"/>
                  <a:pt x="288" y="162"/>
                </a:cubicBezTo>
                <a:cubicBezTo>
                  <a:pt x="310" y="138"/>
                  <a:pt x="310" y="138"/>
                  <a:pt x="310" y="138"/>
                </a:cubicBezTo>
                <a:cubicBezTo>
                  <a:pt x="310" y="131"/>
                  <a:pt x="310" y="131"/>
                  <a:pt x="310" y="131"/>
                </a:cubicBezTo>
                <a:cubicBezTo>
                  <a:pt x="317" y="131"/>
                  <a:pt x="317" y="131"/>
                  <a:pt x="317" y="131"/>
                </a:cubicBezTo>
                <a:cubicBezTo>
                  <a:pt x="338" y="109"/>
                  <a:pt x="338" y="109"/>
                  <a:pt x="338" y="109"/>
                </a:cubicBezTo>
                <a:cubicBezTo>
                  <a:pt x="310" y="109"/>
                  <a:pt x="310" y="109"/>
                  <a:pt x="310" y="109"/>
                </a:cubicBezTo>
                <a:cubicBezTo>
                  <a:pt x="310" y="42"/>
                  <a:pt x="310" y="42"/>
                  <a:pt x="310" y="42"/>
                </a:cubicBezTo>
                <a:cubicBezTo>
                  <a:pt x="399" y="42"/>
                  <a:pt x="399" y="42"/>
                  <a:pt x="399" y="42"/>
                </a:cubicBezTo>
                <a:cubicBezTo>
                  <a:pt x="438" y="0"/>
                  <a:pt x="438" y="0"/>
                  <a:pt x="438" y="0"/>
                </a:cubicBezTo>
              </a:path>
            </a:pathLst>
          </a:custGeom>
          <a:solidFill>
            <a:srgbClr val="E3E3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5" name="Freeform 73"/>
          <p:cNvSpPr>
            <a:spLocks/>
          </p:cNvSpPr>
          <p:nvPr/>
        </p:nvSpPr>
        <p:spPr bwMode="auto">
          <a:xfrm>
            <a:off x="1266029" y="4283539"/>
            <a:ext cx="969825" cy="169839"/>
          </a:xfrm>
          <a:custGeom>
            <a:avLst/>
            <a:gdLst>
              <a:gd name="T0" fmla="*/ 522 w 522"/>
              <a:gd name="T1" fmla="*/ 0 h 91"/>
              <a:gd name="T2" fmla="*/ 178 w 522"/>
              <a:gd name="T3" fmla="*/ 0 h 91"/>
              <a:gd name="T4" fmla="*/ 159 w 522"/>
              <a:gd name="T5" fmla="*/ 0 h 91"/>
              <a:gd name="T6" fmla="*/ 22 w 522"/>
              <a:gd name="T7" fmla="*/ 0 h 91"/>
              <a:gd name="T8" fmla="*/ 19 w 522"/>
              <a:gd name="T9" fmla="*/ 0 h 91"/>
              <a:gd name="T10" fmla="*/ 0 w 522"/>
              <a:gd name="T11" fmla="*/ 24 h 91"/>
              <a:gd name="T12" fmla="*/ 0 w 522"/>
              <a:gd name="T13" fmla="*/ 91 h 91"/>
              <a:gd name="T14" fmla="*/ 438 w 522"/>
              <a:gd name="T15" fmla="*/ 91 h 91"/>
              <a:gd name="T16" fmla="*/ 522 w 522"/>
              <a:gd name="T17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2" h="91">
                <a:moveTo>
                  <a:pt x="522" y="0"/>
                </a:moveTo>
                <a:cubicBezTo>
                  <a:pt x="178" y="0"/>
                  <a:pt x="178" y="0"/>
                  <a:pt x="178" y="0"/>
                </a:cubicBezTo>
                <a:cubicBezTo>
                  <a:pt x="159" y="0"/>
                  <a:pt x="159" y="0"/>
                  <a:pt x="15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1" y="0"/>
                  <a:pt x="20" y="0"/>
                  <a:pt x="19" y="0"/>
                </a:cubicBezTo>
                <a:cubicBezTo>
                  <a:pt x="8" y="3"/>
                  <a:pt x="0" y="12"/>
                  <a:pt x="0" y="24"/>
                </a:cubicBezTo>
                <a:cubicBezTo>
                  <a:pt x="0" y="91"/>
                  <a:pt x="0" y="91"/>
                  <a:pt x="0" y="91"/>
                </a:cubicBezTo>
                <a:cubicBezTo>
                  <a:pt x="438" y="91"/>
                  <a:pt x="438" y="91"/>
                  <a:pt x="438" y="91"/>
                </a:cubicBezTo>
                <a:cubicBezTo>
                  <a:pt x="522" y="0"/>
                  <a:pt x="522" y="0"/>
                  <a:pt x="522" y="0"/>
                </a:cubicBezTo>
              </a:path>
            </a:pathLst>
          </a:custGeom>
          <a:solidFill>
            <a:srgbClr val="99CC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6" name="Freeform 74"/>
          <p:cNvSpPr>
            <a:spLocks/>
          </p:cNvSpPr>
          <p:nvPr/>
        </p:nvSpPr>
        <p:spPr bwMode="auto">
          <a:xfrm>
            <a:off x="1594593" y="4696231"/>
            <a:ext cx="206347" cy="125395"/>
          </a:xfrm>
          <a:custGeom>
            <a:avLst/>
            <a:gdLst>
              <a:gd name="T0" fmla="*/ 130 w 130"/>
              <a:gd name="T1" fmla="*/ 0 h 79"/>
              <a:gd name="T2" fmla="*/ 0 w 130"/>
              <a:gd name="T3" fmla="*/ 0 h 79"/>
              <a:gd name="T4" fmla="*/ 0 w 130"/>
              <a:gd name="T5" fmla="*/ 79 h 79"/>
              <a:gd name="T6" fmla="*/ 92 w 130"/>
              <a:gd name="T7" fmla="*/ 79 h 79"/>
              <a:gd name="T8" fmla="*/ 130 w 130"/>
              <a:gd name="T9" fmla="*/ 36 h 79"/>
              <a:gd name="T10" fmla="*/ 130 w 130"/>
              <a:gd name="T11" fmla="*/ 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0" h="79">
                <a:moveTo>
                  <a:pt x="130" y="0"/>
                </a:moveTo>
                <a:lnTo>
                  <a:pt x="0" y="0"/>
                </a:lnTo>
                <a:lnTo>
                  <a:pt x="0" y="79"/>
                </a:lnTo>
                <a:lnTo>
                  <a:pt x="92" y="79"/>
                </a:lnTo>
                <a:lnTo>
                  <a:pt x="130" y="36"/>
                </a:lnTo>
                <a:lnTo>
                  <a:pt x="13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7" name="Freeform 75"/>
          <p:cNvSpPr>
            <a:spLocks/>
          </p:cNvSpPr>
          <p:nvPr/>
        </p:nvSpPr>
        <p:spPr bwMode="auto">
          <a:xfrm>
            <a:off x="1594593" y="4696231"/>
            <a:ext cx="206347" cy="125395"/>
          </a:xfrm>
          <a:custGeom>
            <a:avLst/>
            <a:gdLst>
              <a:gd name="T0" fmla="*/ 130 w 130"/>
              <a:gd name="T1" fmla="*/ 0 h 79"/>
              <a:gd name="T2" fmla="*/ 0 w 130"/>
              <a:gd name="T3" fmla="*/ 0 h 79"/>
              <a:gd name="T4" fmla="*/ 0 w 130"/>
              <a:gd name="T5" fmla="*/ 79 h 79"/>
              <a:gd name="T6" fmla="*/ 92 w 130"/>
              <a:gd name="T7" fmla="*/ 79 h 79"/>
              <a:gd name="T8" fmla="*/ 130 w 130"/>
              <a:gd name="T9" fmla="*/ 36 h 79"/>
              <a:gd name="T10" fmla="*/ 130 w 130"/>
              <a:gd name="T11" fmla="*/ 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0" h="79">
                <a:moveTo>
                  <a:pt x="130" y="0"/>
                </a:moveTo>
                <a:lnTo>
                  <a:pt x="0" y="0"/>
                </a:lnTo>
                <a:lnTo>
                  <a:pt x="0" y="79"/>
                </a:lnTo>
                <a:lnTo>
                  <a:pt x="92" y="79"/>
                </a:lnTo>
                <a:lnTo>
                  <a:pt x="130" y="36"/>
                </a:lnTo>
                <a:lnTo>
                  <a:pt x="13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8" name="Rectangle 76"/>
          <p:cNvSpPr>
            <a:spLocks noChangeArrowheads="1"/>
          </p:cNvSpPr>
          <p:nvPr/>
        </p:nvSpPr>
        <p:spPr bwMode="auto">
          <a:xfrm>
            <a:off x="1594593" y="4531155"/>
            <a:ext cx="206347" cy="12380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9" name="Rectangle 77"/>
          <p:cNvSpPr>
            <a:spLocks noChangeArrowheads="1"/>
          </p:cNvSpPr>
          <p:nvPr/>
        </p:nvSpPr>
        <p:spPr bwMode="auto">
          <a:xfrm>
            <a:off x="1594593" y="4531155"/>
            <a:ext cx="206347" cy="123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0" name="Freeform 78"/>
          <p:cNvSpPr>
            <a:spLocks/>
          </p:cNvSpPr>
          <p:nvPr/>
        </p:nvSpPr>
        <p:spPr bwMode="auto">
          <a:xfrm>
            <a:off x="1594595" y="4861309"/>
            <a:ext cx="107935" cy="115871"/>
          </a:xfrm>
          <a:custGeom>
            <a:avLst/>
            <a:gdLst>
              <a:gd name="T0" fmla="*/ 68 w 68"/>
              <a:gd name="T1" fmla="*/ 0 h 73"/>
              <a:gd name="T2" fmla="*/ 0 w 68"/>
              <a:gd name="T3" fmla="*/ 0 h 73"/>
              <a:gd name="T4" fmla="*/ 0 w 68"/>
              <a:gd name="T5" fmla="*/ 73 h 73"/>
              <a:gd name="T6" fmla="*/ 68 w 68"/>
              <a:gd name="T7" fmla="*/ 0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73">
                <a:moveTo>
                  <a:pt x="68" y="0"/>
                </a:moveTo>
                <a:lnTo>
                  <a:pt x="0" y="0"/>
                </a:lnTo>
                <a:lnTo>
                  <a:pt x="0" y="73"/>
                </a:lnTo>
                <a:lnTo>
                  <a:pt x="68" y="0"/>
                </a:lnTo>
                <a:close/>
              </a:path>
            </a:pathLst>
          </a:custGeom>
          <a:solidFill>
            <a:srgbClr val="99CC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1" name="Freeform 79"/>
          <p:cNvSpPr>
            <a:spLocks/>
          </p:cNvSpPr>
          <p:nvPr/>
        </p:nvSpPr>
        <p:spPr bwMode="auto">
          <a:xfrm>
            <a:off x="1594595" y="4861309"/>
            <a:ext cx="107935" cy="115871"/>
          </a:xfrm>
          <a:custGeom>
            <a:avLst/>
            <a:gdLst>
              <a:gd name="T0" fmla="*/ 68 w 68"/>
              <a:gd name="T1" fmla="*/ 0 h 73"/>
              <a:gd name="T2" fmla="*/ 0 w 68"/>
              <a:gd name="T3" fmla="*/ 0 h 73"/>
              <a:gd name="T4" fmla="*/ 0 w 68"/>
              <a:gd name="T5" fmla="*/ 73 h 73"/>
              <a:gd name="T6" fmla="*/ 68 w 68"/>
              <a:gd name="T7" fmla="*/ 0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73">
                <a:moveTo>
                  <a:pt x="68" y="0"/>
                </a:moveTo>
                <a:lnTo>
                  <a:pt x="0" y="0"/>
                </a:lnTo>
                <a:lnTo>
                  <a:pt x="0" y="73"/>
                </a:lnTo>
                <a:lnTo>
                  <a:pt x="6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2" name="Freeform 80"/>
          <p:cNvSpPr>
            <a:spLocks/>
          </p:cNvSpPr>
          <p:nvPr/>
        </p:nvSpPr>
        <p:spPr bwMode="auto">
          <a:xfrm>
            <a:off x="1842209" y="4696229"/>
            <a:ext cx="12699" cy="12699"/>
          </a:xfrm>
          <a:custGeom>
            <a:avLst/>
            <a:gdLst>
              <a:gd name="T0" fmla="*/ 8 w 8"/>
              <a:gd name="T1" fmla="*/ 0 h 8"/>
              <a:gd name="T2" fmla="*/ 0 w 8"/>
              <a:gd name="T3" fmla="*/ 0 h 8"/>
              <a:gd name="T4" fmla="*/ 0 w 8"/>
              <a:gd name="T5" fmla="*/ 8 h 8"/>
              <a:gd name="T6" fmla="*/ 8 w 8"/>
              <a:gd name="T7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8">
                <a:moveTo>
                  <a:pt x="8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3" name="Freeform 81"/>
          <p:cNvSpPr>
            <a:spLocks/>
          </p:cNvSpPr>
          <p:nvPr/>
        </p:nvSpPr>
        <p:spPr bwMode="auto">
          <a:xfrm>
            <a:off x="1842209" y="4696229"/>
            <a:ext cx="12699" cy="12699"/>
          </a:xfrm>
          <a:custGeom>
            <a:avLst/>
            <a:gdLst>
              <a:gd name="T0" fmla="*/ 8 w 8"/>
              <a:gd name="T1" fmla="*/ 0 h 8"/>
              <a:gd name="T2" fmla="*/ 0 w 8"/>
              <a:gd name="T3" fmla="*/ 0 h 8"/>
              <a:gd name="T4" fmla="*/ 0 w 8"/>
              <a:gd name="T5" fmla="*/ 8 h 8"/>
              <a:gd name="T6" fmla="*/ 8 w 8"/>
              <a:gd name="T7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8">
                <a:moveTo>
                  <a:pt x="8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4" name="Freeform 82"/>
          <p:cNvSpPr>
            <a:spLocks/>
          </p:cNvSpPr>
          <p:nvPr/>
        </p:nvSpPr>
        <p:spPr bwMode="auto">
          <a:xfrm>
            <a:off x="1842210" y="4531155"/>
            <a:ext cx="165077" cy="123807"/>
          </a:xfrm>
          <a:custGeom>
            <a:avLst/>
            <a:gdLst>
              <a:gd name="T0" fmla="*/ 104 w 104"/>
              <a:gd name="T1" fmla="*/ 0 h 78"/>
              <a:gd name="T2" fmla="*/ 0 w 104"/>
              <a:gd name="T3" fmla="*/ 0 h 78"/>
              <a:gd name="T4" fmla="*/ 0 w 104"/>
              <a:gd name="T5" fmla="*/ 78 h 78"/>
              <a:gd name="T6" fmla="*/ 33 w 104"/>
              <a:gd name="T7" fmla="*/ 78 h 78"/>
              <a:gd name="T8" fmla="*/ 104 w 104"/>
              <a:gd name="T9" fmla="*/ 0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" h="78">
                <a:moveTo>
                  <a:pt x="104" y="0"/>
                </a:moveTo>
                <a:lnTo>
                  <a:pt x="0" y="0"/>
                </a:lnTo>
                <a:lnTo>
                  <a:pt x="0" y="78"/>
                </a:lnTo>
                <a:lnTo>
                  <a:pt x="33" y="78"/>
                </a:lnTo>
                <a:lnTo>
                  <a:pt x="10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5" name="Freeform 83"/>
          <p:cNvSpPr>
            <a:spLocks/>
          </p:cNvSpPr>
          <p:nvPr/>
        </p:nvSpPr>
        <p:spPr bwMode="auto">
          <a:xfrm>
            <a:off x="1842210" y="4531155"/>
            <a:ext cx="165077" cy="123807"/>
          </a:xfrm>
          <a:custGeom>
            <a:avLst/>
            <a:gdLst>
              <a:gd name="T0" fmla="*/ 104 w 104"/>
              <a:gd name="T1" fmla="*/ 0 h 78"/>
              <a:gd name="T2" fmla="*/ 0 w 104"/>
              <a:gd name="T3" fmla="*/ 0 h 78"/>
              <a:gd name="T4" fmla="*/ 0 w 104"/>
              <a:gd name="T5" fmla="*/ 78 h 78"/>
              <a:gd name="T6" fmla="*/ 33 w 104"/>
              <a:gd name="T7" fmla="*/ 78 h 78"/>
              <a:gd name="T8" fmla="*/ 104 w 104"/>
              <a:gd name="T9" fmla="*/ 0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" h="78">
                <a:moveTo>
                  <a:pt x="104" y="0"/>
                </a:moveTo>
                <a:lnTo>
                  <a:pt x="0" y="0"/>
                </a:lnTo>
                <a:lnTo>
                  <a:pt x="0" y="78"/>
                </a:lnTo>
                <a:lnTo>
                  <a:pt x="33" y="78"/>
                </a:lnTo>
                <a:lnTo>
                  <a:pt x="10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6" name="Rectangle 84"/>
          <p:cNvSpPr>
            <a:spLocks noChangeArrowheads="1"/>
          </p:cNvSpPr>
          <p:nvPr/>
        </p:nvSpPr>
        <p:spPr bwMode="auto">
          <a:xfrm>
            <a:off x="1348565" y="4531155"/>
            <a:ext cx="206347" cy="12380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7" name="Rectangle 85"/>
          <p:cNvSpPr>
            <a:spLocks noChangeArrowheads="1"/>
          </p:cNvSpPr>
          <p:nvPr/>
        </p:nvSpPr>
        <p:spPr bwMode="auto">
          <a:xfrm>
            <a:off x="1348565" y="4531155"/>
            <a:ext cx="206347" cy="123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8" name="Rectangle 86"/>
          <p:cNvSpPr>
            <a:spLocks noChangeArrowheads="1"/>
          </p:cNvSpPr>
          <p:nvPr/>
        </p:nvSpPr>
        <p:spPr bwMode="auto">
          <a:xfrm>
            <a:off x="1348565" y="4696231"/>
            <a:ext cx="206347" cy="12539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9" name="Rectangle 87"/>
          <p:cNvSpPr>
            <a:spLocks noChangeArrowheads="1"/>
          </p:cNvSpPr>
          <p:nvPr/>
        </p:nvSpPr>
        <p:spPr bwMode="auto">
          <a:xfrm>
            <a:off x="1348565" y="4696231"/>
            <a:ext cx="206347" cy="12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0" name="Rectangle 88"/>
          <p:cNvSpPr>
            <a:spLocks noChangeArrowheads="1"/>
          </p:cNvSpPr>
          <p:nvPr/>
        </p:nvSpPr>
        <p:spPr bwMode="auto">
          <a:xfrm>
            <a:off x="1348565" y="4861308"/>
            <a:ext cx="206347" cy="125395"/>
          </a:xfrm>
          <a:prstGeom prst="rect">
            <a:avLst/>
          </a:prstGeom>
          <a:solidFill>
            <a:srgbClr val="99CC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1" name="Rectangle 89"/>
          <p:cNvSpPr>
            <a:spLocks noChangeArrowheads="1"/>
          </p:cNvSpPr>
          <p:nvPr/>
        </p:nvSpPr>
        <p:spPr bwMode="auto">
          <a:xfrm>
            <a:off x="1348565" y="4861308"/>
            <a:ext cx="206347" cy="12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2" name="Freeform 90"/>
          <p:cNvSpPr>
            <a:spLocks/>
          </p:cNvSpPr>
          <p:nvPr/>
        </p:nvSpPr>
        <p:spPr bwMode="auto">
          <a:xfrm>
            <a:off x="1348567" y="5027971"/>
            <a:ext cx="201584" cy="122220"/>
          </a:xfrm>
          <a:custGeom>
            <a:avLst/>
            <a:gdLst>
              <a:gd name="T0" fmla="*/ 127 w 127"/>
              <a:gd name="T1" fmla="*/ 0 h 77"/>
              <a:gd name="T2" fmla="*/ 0 w 127"/>
              <a:gd name="T3" fmla="*/ 0 h 77"/>
              <a:gd name="T4" fmla="*/ 0 w 127"/>
              <a:gd name="T5" fmla="*/ 77 h 77"/>
              <a:gd name="T6" fmla="*/ 55 w 127"/>
              <a:gd name="T7" fmla="*/ 77 h 77"/>
              <a:gd name="T8" fmla="*/ 127 w 127"/>
              <a:gd name="T9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7" h="77">
                <a:moveTo>
                  <a:pt x="127" y="0"/>
                </a:moveTo>
                <a:lnTo>
                  <a:pt x="0" y="0"/>
                </a:lnTo>
                <a:lnTo>
                  <a:pt x="0" y="77"/>
                </a:lnTo>
                <a:lnTo>
                  <a:pt x="55" y="77"/>
                </a:lnTo>
                <a:lnTo>
                  <a:pt x="127" y="0"/>
                </a:lnTo>
                <a:close/>
              </a:path>
            </a:pathLst>
          </a:custGeom>
          <a:solidFill>
            <a:srgbClr val="99CC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3" name="Freeform 91"/>
          <p:cNvSpPr>
            <a:spLocks/>
          </p:cNvSpPr>
          <p:nvPr/>
        </p:nvSpPr>
        <p:spPr bwMode="auto">
          <a:xfrm>
            <a:off x="1348567" y="5027971"/>
            <a:ext cx="201584" cy="122220"/>
          </a:xfrm>
          <a:custGeom>
            <a:avLst/>
            <a:gdLst>
              <a:gd name="T0" fmla="*/ 127 w 127"/>
              <a:gd name="T1" fmla="*/ 0 h 77"/>
              <a:gd name="T2" fmla="*/ 0 w 127"/>
              <a:gd name="T3" fmla="*/ 0 h 77"/>
              <a:gd name="T4" fmla="*/ 0 w 127"/>
              <a:gd name="T5" fmla="*/ 77 h 77"/>
              <a:gd name="T6" fmla="*/ 55 w 127"/>
              <a:gd name="T7" fmla="*/ 77 h 77"/>
              <a:gd name="T8" fmla="*/ 127 w 127"/>
              <a:gd name="T9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7" h="77">
                <a:moveTo>
                  <a:pt x="127" y="0"/>
                </a:moveTo>
                <a:lnTo>
                  <a:pt x="0" y="0"/>
                </a:lnTo>
                <a:lnTo>
                  <a:pt x="0" y="77"/>
                </a:lnTo>
                <a:lnTo>
                  <a:pt x="55" y="77"/>
                </a:lnTo>
                <a:lnTo>
                  <a:pt x="127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4" name="Rectangle 92"/>
          <p:cNvSpPr>
            <a:spLocks noChangeArrowheads="1"/>
          </p:cNvSpPr>
          <p:nvPr/>
        </p:nvSpPr>
        <p:spPr bwMode="auto">
          <a:xfrm>
            <a:off x="2327916" y="3926403"/>
            <a:ext cx="56586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2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+mn-cs"/>
              </a:rPr>
              <a:t>RESOU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5" name="Rectangle 93"/>
          <p:cNvSpPr>
            <a:spLocks noChangeArrowheads="1"/>
          </p:cNvSpPr>
          <p:nvPr/>
        </p:nvSpPr>
        <p:spPr bwMode="auto">
          <a:xfrm>
            <a:off x="2885048" y="3926403"/>
            <a:ext cx="1122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2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+mn-cs"/>
              </a:rPr>
              <a:t>R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ectangle 94"/>
          <p:cNvSpPr>
            <a:spLocks noChangeArrowheads="1"/>
          </p:cNvSpPr>
          <p:nvPr/>
        </p:nvSpPr>
        <p:spPr bwMode="auto">
          <a:xfrm>
            <a:off x="2992983" y="3926403"/>
            <a:ext cx="3799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2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+mn-cs"/>
              </a:rPr>
              <a:t>CE G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7" name="Rectangle 95"/>
          <p:cNvSpPr>
            <a:spLocks noChangeArrowheads="1"/>
          </p:cNvSpPr>
          <p:nvPr/>
        </p:nvSpPr>
        <p:spPr bwMode="auto">
          <a:xfrm>
            <a:off x="3367580" y="3926403"/>
            <a:ext cx="1122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2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+mn-cs"/>
              </a:rPr>
              <a:t>R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8" name="Rectangle 96"/>
          <p:cNvSpPr>
            <a:spLocks noChangeArrowheads="1"/>
          </p:cNvSpPr>
          <p:nvPr/>
        </p:nvSpPr>
        <p:spPr bwMode="auto">
          <a:xfrm>
            <a:off x="3475515" y="3926403"/>
            <a:ext cx="36708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2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+mn-cs"/>
              </a:rPr>
              <a:t>OUP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9" name="Freeform 97"/>
          <p:cNvSpPr>
            <a:spLocks/>
          </p:cNvSpPr>
          <p:nvPr/>
        </p:nvSpPr>
        <p:spPr bwMode="auto">
          <a:xfrm>
            <a:off x="2721561" y="2631186"/>
            <a:ext cx="142855" cy="25396"/>
          </a:xfrm>
          <a:custGeom>
            <a:avLst/>
            <a:gdLst>
              <a:gd name="T0" fmla="*/ 7 w 77"/>
              <a:gd name="T1" fmla="*/ 14 h 14"/>
              <a:gd name="T2" fmla="*/ 0 w 77"/>
              <a:gd name="T3" fmla="*/ 7 h 14"/>
              <a:gd name="T4" fmla="*/ 7 w 77"/>
              <a:gd name="T5" fmla="*/ 0 h 14"/>
              <a:gd name="T6" fmla="*/ 70 w 77"/>
              <a:gd name="T7" fmla="*/ 0 h 14"/>
              <a:gd name="T8" fmla="*/ 77 w 77"/>
              <a:gd name="T9" fmla="*/ 7 h 14"/>
              <a:gd name="T10" fmla="*/ 70 w 77"/>
              <a:gd name="T11" fmla="*/ 14 h 14"/>
              <a:gd name="T12" fmla="*/ 7 w 77"/>
              <a:gd name="T13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" h="14">
                <a:moveTo>
                  <a:pt x="7" y="14"/>
                </a:moveTo>
                <a:cubicBezTo>
                  <a:pt x="3" y="14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74" y="0"/>
                  <a:pt x="77" y="3"/>
                  <a:pt x="77" y="7"/>
                </a:cubicBezTo>
                <a:cubicBezTo>
                  <a:pt x="77" y="11"/>
                  <a:pt x="74" y="14"/>
                  <a:pt x="70" y="14"/>
                </a:cubicBezTo>
                <a:lnTo>
                  <a:pt x="7" y="14"/>
                </a:lnTo>
                <a:close/>
              </a:path>
            </a:pathLst>
          </a:custGeom>
          <a:solidFill>
            <a:srgbClr val="7CCA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0" name="Freeform 98"/>
          <p:cNvSpPr>
            <a:spLocks/>
          </p:cNvSpPr>
          <p:nvPr/>
        </p:nvSpPr>
        <p:spPr bwMode="auto">
          <a:xfrm>
            <a:off x="2721559" y="2631186"/>
            <a:ext cx="44444" cy="25396"/>
          </a:xfrm>
          <a:custGeom>
            <a:avLst/>
            <a:gdLst>
              <a:gd name="T0" fmla="*/ 22 w 24"/>
              <a:gd name="T1" fmla="*/ 0 h 14"/>
              <a:gd name="T2" fmla="*/ 7 w 24"/>
              <a:gd name="T3" fmla="*/ 0 h 14"/>
              <a:gd name="T4" fmla="*/ 0 w 24"/>
              <a:gd name="T5" fmla="*/ 7 h 14"/>
              <a:gd name="T6" fmla="*/ 7 w 24"/>
              <a:gd name="T7" fmla="*/ 14 h 14"/>
              <a:gd name="T8" fmla="*/ 22 w 24"/>
              <a:gd name="T9" fmla="*/ 14 h 14"/>
              <a:gd name="T10" fmla="*/ 24 w 24"/>
              <a:gd name="T11" fmla="*/ 7 h 14"/>
              <a:gd name="T12" fmla="*/ 22 w 24"/>
              <a:gd name="T13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14">
                <a:moveTo>
                  <a:pt x="22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11"/>
                  <a:pt x="3" y="14"/>
                  <a:pt x="7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2"/>
                  <a:pt x="24" y="10"/>
                  <a:pt x="24" y="7"/>
                </a:cubicBezTo>
                <a:cubicBezTo>
                  <a:pt x="24" y="5"/>
                  <a:pt x="23" y="2"/>
                  <a:pt x="22" y="0"/>
                </a:cubicBezTo>
                <a:close/>
              </a:path>
            </a:pathLst>
          </a:custGeom>
          <a:solidFill>
            <a:srgbClr val="7CCA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1" name="Freeform 99"/>
          <p:cNvSpPr>
            <a:spLocks/>
          </p:cNvSpPr>
          <p:nvPr/>
        </p:nvSpPr>
        <p:spPr bwMode="auto">
          <a:xfrm>
            <a:off x="2786637" y="2631186"/>
            <a:ext cx="12699" cy="25396"/>
          </a:xfrm>
          <a:custGeom>
            <a:avLst/>
            <a:gdLst>
              <a:gd name="T0" fmla="*/ 7 w 7"/>
              <a:gd name="T1" fmla="*/ 0 h 14"/>
              <a:gd name="T2" fmla="*/ 0 w 7"/>
              <a:gd name="T3" fmla="*/ 0 h 14"/>
              <a:gd name="T4" fmla="*/ 1 w 7"/>
              <a:gd name="T5" fmla="*/ 7 h 14"/>
              <a:gd name="T6" fmla="*/ 0 w 7"/>
              <a:gd name="T7" fmla="*/ 14 h 14"/>
              <a:gd name="T8" fmla="*/ 7 w 7"/>
              <a:gd name="T9" fmla="*/ 14 h 14"/>
              <a:gd name="T10" fmla="*/ 6 w 7"/>
              <a:gd name="T11" fmla="*/ 7 h 14"/>
              <a:gd name="T12" fmla="*/ 7 w 7"/>
              <a:gd name="T13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14">
                <a:moveTo>
                  <a:pt x="7" y="0"/>
                </a:moveTo>
                <a:cubicBezTo>
                  <a:pt x="0" y="0"/>
                  <a:pt x="0" y="0"/>
                  <a:pt x="0" y="0"/>
                </a:cubicBezTo>
                <a:cubicBezTo>
                  <a:pt x="1" y="2"/>
                  <a:pt x="1" y="5"/>
                  <a:pt x="1" y="7"/>
                </a:cubicBezTo>
                <a:cubicBezTo>
                  <a:pt x="1" y="10"/>
                  <a:pt x="1" y="12"/>
                  <a:pt x="0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6" y="12"/>
                  <a:pt x="6" y="10"/>
                  <a:pt x="6" y="7"/>
                </a:cubicBezTo>
                <a:cubicBezTo>
                  <a:pt x="6" y="5"/>
                  <a:pt x="6" y="2"/>
                  <a:pt x="7" y="0"/>
                </a:cubicBezTo>
                <a:close/>
              </a:path>
            </a:pathLst>
          </a:custGeom>
          <a:solidFill>
            <a:srgbClr val="7CCA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2" name="Freeform 100"/>
          <p:cNvSpPr>
            <a:spLocks/>
          </p:cNvSpPr>
          <p:nvPr/>
        </p:nvSpPr>
        <p:spPr bwMode="auto">
          <a:xfrm>
            <a:off x="2819971" y="2631186"/>
            <a:ext cx="44444" cy="25396"/>
          </a:xfrm>
          <a:custGeom>
            <a:avLst/>
            <a:gdLst>
              <a:gd name="T0" fmla="*/ 24 w 24"/>
              <a:gd name="T1" fmla="*/ 7 h 14"/>
              <a:gd name="T2" fmla="*/ 17 w 24"/>
              <a:gd name="T3" fmla="*/ 0 h 14"/>
              <a:gd name="T4" fmla="*/ 2 w 24"/>
              <a:gd name="T5" fmla="*/ 0 h 14"/>
              <a:gd name="T6" fmla="*/ 0 w 24"/>
              <a:gd name="T7" fmla="*/ 7 h 14"/>
              <a:gd name="T8" fmla="*/ 2 w 24"/>
              <a:gd name="T9" fmla="*/ 14 h 14"/>
              <a:gd name="T10" fmla="*/ 17 w 24"/>
              <a:gd name="T11" fmla="*/ 14 h 14"/>
              <a:gd name="T12" fmla="*/ 24 w 24"/>
              <a:gd name="T13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14">
                <a:moveTo>
                  <a:pt x="24" y="7"/>
                </a:moveTo>
                <a:cubicBezTo>
                  <a:pt x="24" y="3"/>
                  <a:pt x="21" y="0"/>
                  <a:pt x="17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5"/>
                  <a:pt x="0" y="7"/>
                </a:cubicBezTo>
                <a:cubicBezTo>
                  <a:pt x="0" y="10"/>
                  <a:pt x="1" y="12"/>
                  <a:pt x="2" y="14"/>
                </a:cubicBezTo>
                <a:cubicBezTo>
                  <a:pt x="17" y="14"/>
                  <a:pt x="17" y="14"/>
                  <a:pt x="17" y="14"/>
                </a:cubicBezTo>
                <a:cubicBezTo>
                  <a:pt x="21" y="14"/>
                  <a:pt x="24" y="11"/>
                  <a:pt x="24" y="7"/>
                </a:cubicBezTo>
                <a:close/>
              </a:path>
            </a:pathLst>
          </a:custGeom>
          <a:solidFill>
            <a:srgbClr val="7CCA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3" name="Freeform 101"/>
          <p:cNvSpPr>
            <a:spLocks/>
          </p:cNvSpPr>
          <p:nvPr/>
        </p:nvSpPr>
        <p:spPr bwMode="auto">
          <a:xfrm>
            <a:off x="2762829" y="2631186"/>
            <a:ext cx="25396" cy="25396"/>
          </a:xfrm>
          <a:custGeom>
            <a:avLst/>
            <a:gdLst>
              <a:gd name="T0" fmla="*/ 13 w 14"/>
              <a:gd name="T1" fmla="*/ 0 h 14"/>
              <a:gd name="T2" fmla="*/ 0 w 14"/>
              <a:gd name="T3" fmla="*/ 0 h 14"/>
              <a:gd name="T4" fmla="*/ 2 w 14"/>
              <a:gd name="T5" fmla="*/ 7 h 14"/>
              <a:gd name="T6" fmla="*/ 0 w 14"/>
              <a:gd name="T7" fmla="*/ 14 h 14"/>
              <a:gd name="T8" fmla="*/ 13 w 14"/>
              <a:gd name="T9" fmla="*/ 14 h 14"/>
              <a:gd name="T10" fmla="*/ 14 w 14"/>
              <a:gd name="T11" fmla="*/ 7 h 14"/>
              <a:gd name="T12" fmla="*/ 13 w 14"/>
              <a:gd name="T13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" h="14">
                <a:moveTo>
                  <a:pt x="13" y="0"/>
                </a:moveTo>
                <a:cubicBezTo>
                  <a:pt x="0" y="0"/>
                  <a:pt x="0" y="0"/>
                  <a:pt x="0" y="0"/>
                </a:cubicBezTo>
                <a:cubicBezTo>
                  <a:pt x="1" y="2"/>
                  <a:pt x="2" y="5"/>
                  <a:pt x="2" y="7"/>
                </a:cubicBezTo>
                <a:cubicBezTo>
                  <a:pt x="2" y="10"/>
                  <a:pt x="1" y="12"/>
                  <a:pt x="0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4" y="12"/>
                  <a:pt x="14" y="10"/>
                  <a:pt x="14" y="7"/>
                </a:cubicBezTo>
                <a:cubicBezTo>
                  <a:pt x="14" y="5"/>
                  <a:pt x="14" y="2"/>
                  <a:pt x="13" y="0"/>
                </a:cubicBezTo>
                <a:close/>
              </a:path>
            </a:pathLst>
          </a:custGeom>
          <a:solidFill>
            <a:srgbClr val="7CCA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4" name="Freeform 102"/>
          <p:cNvSpPr>
            <a:spLocks/>
          </p:cNvSpPr>
          <p:nvPr/>
        </p:nvSpPr>
        <p:spPr bwMode="auto">
          <a:xfrm>
            <a:off x="2662832" y="2601027"/>
            <a:ext cx="120633" cy="87300"/>
          </a:xfrm>
          <a:custGeom>
            <a:avLst/>
            <a:gdLst>
              <a:gd name="T0" fmla="*/ 45 w 65"/>
              <a:gd name="T1" fmla="*/ 35 h 47"/>
              <a:gd name="T2" fmla="*/ 23 w 65"/>
              <a:gd name="T3" fmla="*/ 35 h 47"/>
              <a:gd name="T4" fmla="*/ 12 w 65"/>
              <a:gd name="T5" fmla="*/ 23 h 47"/>
              <a:gd name="T6" fmla="*/ 23 w 65"/>
              <a:gd name="T7" fmla="*/ 12 h 47"/>
              <a:gd name="T8" fmla="*/ 45 w 65"/>
              <a:gd name="T9" fmla="*/ 12 h 47"/>
              <a:gd name="T10" fmla="*/ 46 w 65"/>
              <a:gd name="T11" fmla="*/ 12 h 47"/>
              <a:gd name="T12" fmla="*/ 65 w 65"/>
              <a:gd name="T13" fmla="*/ 12 h 47"/>
              <a:gd name="T14" fmla="*/ 45 w 65"/>
              <a:gd name="T15" fmla="*/ 0 h 47"/>
              <a:gd name="T16" fmla="*/ 23 w 65"/>
              <a:gd name="T17" fmla="*/ 0 h 47"/>
              <a:gd name="T18" fmla="*/ 0 w 65"/>
              <a:gd name="T19" fmla="*/ 23 h 47"/>
              <a:gd name="T20" fmla="*/ 23 w 65"/>
              <a:gd name="T21" fmla="*/ 47 h 47"/>
              <a:gd name="T22" fmla="*/ 45 w 65"/>
              <a:gd name="T23" fmla="*/ 47 h 47"/>
              <a:gd name="T24" fmla="*/ 65 w 65"/>
              <a:gd name="T25" fmla="*/ 35 h 47"/>
              <a:gd name="T26" fmla="*/ 46 w 65"/>
              <a:gd name="T27" fmla="*/ 35 h 47"/>
              <a:gd name="T28" fmla="*/ 45 w 65"/>
              <a:gd name="T29" fmla="*/ 35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5" h="47">
                <a:moveTo>
                  <a:pt x="45" y="35"/>
                </a:moveTo>
                <a:cubicBezTo>
                  <a:pt x="23" y="35"/>
                  <a:pt x="23" y="35"/>
                  <a:pt x="23" y="35"/>
                </a:cubicBezTo>
                <a:cubicBezTo>
                  <a:pt x="17" y="35"/>
                  <a:pt x="12" y="30"/>
                  <a:pt x="12" y="23"/>
                </a:cubicBezTo>
                <a:cubicBezTo>
                  <a:pt x="12" y="17"/>
                  <a:pt x="17" y="12"/>
                  <a:pt x="23" y="12"/>
                </a:cubicBezTo>
                <a:cubicBezTo>
                  <a:pt x="45" y="12"/>
                  <a:pt x="45" y="12"/>
                  <a:pt x="45" y="12"/>
                </a:cubicBezTo>
                <a:cubicBezTo>
                  <a:pt x="45" y="12"/>
                  <a:pt x="46" y="12"/>
                  <a:pt x="46" y="12"/>
                </a:cubicBezTo>
                <a:cubicBezTo>
                  <a:pt x="65" y="12"/>
                  <a:pt x="65" y="12"/>
                  <a:pt x="65" y="12"/>
                </a:cubicBezTo>
                <a:cubicBezTo>
                  <a:pt x="61" y="5"/>
                  <a:pt x="54" y="0"/>
                  <a:pt x="45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10" y="0"/>
                  <a:pt x="0" y="10"/>
                  <a:pt x="0" y="23"/>
                </a:cubicBezTo>
                <a:cubicBezTo>
                  <a:pt x="0" y="36"/>
                  <a:pt x="10" y="47"/>
                  <a:pt x="23" y="47"/>
                </a:cubicBezTo>
                <a:cubicBezTo>
                  <a:pt x="45" y="47"/>
                  <a:pt x="45" y="47"/>
                  <a:pt x="45" y="47"/>
                </a:cubicBezTo>
                <a:cubicBezTo>
                  <a:pt x="54" y="47"/>
                  <a:pt x="61" y="42"/>
                  <a:pt x="65" y="35"/>
                </a:cubicBezTo>
                <a:cubicBezTo>
                  <a:pt x="46" y="35"/>
                  <a:pt x="46" y="35"/>
                  <a:pt x="46" y="35"/>
                </a:cubicBezTo>
                <a:cubicBezTo>
                  <a:pt x="46" y="35"/>
                  <a:pt x="45" y="35"/>
                  <a:pt x="45" y="35"/>
                </a:cubicBezTo>
                <a:close/>
              </a:path>
            </a:pathLst>
          </a:custGeom>
          <a:solidFill>
            <a:srgbClr val="7CCA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5" name="Freeform 103"/>
          <p:cNvSpPr>
            <a:spLocks/>
          </p:cNvSpPr>
          <p:nvPr/>
        </p:nvSpPr>
        <p:spPr bwMode="auto">
          <a:xfrm>
            <a:off x="2797748" y="2631186"/>
            <a:ext cx="26984" cy="25396"/>
          </a:xfrm>
          <a:custGeom>
            <a:avLst/>
            <a:gdLst>
              <a:gd name="T0" fmla="*/ 14 w 14"/>
              <a:gd name="T1" fmla="*/ 0 h 14"/>
              <a:gd name="T2" fmla="*/ 1 w 14"/>
              <a:gd name="T3" fmla="*/ 0 h 14"/>
              <a:gd name="T4" fmla="*/ 0 w 14"/>
              <a:gd name="T5" fmla="*/ 7 h 14"/>
              <a:gd name="T6" fmla="*/ 1 w 14"/>
              <a:gd name="T7" fmla="*/ 14 h 14"/>
              <a:gd name="T8" fmla="*/ 14 w 14"/>
              <a:gd name="T9" fmla="*/ 14 h 14"/>
              <a:gd name="T10" fmla="*/ 12 w 14"/>
              <a:gd name="T11" fmla="*/ 7 h 14"/>
              <a:gd name="T12" fmla="*/ 14 w 14"/>
              <a:gd name="T13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" h="14">
                <a:moveTo>
                  <a:pt x="14" y="0"/>
                </a:moveTo>
                <a:cubicBezTo>
                  <a:pt x="1" y="0"/>
                  <a:pt x="1" y="0"/>
                  <a:pt x="1" y="0"/>
                </a:cubicBezTo>
                <a:cubicBezTo>
                  <a:pt x="0" y="2"/>
                  <a:pt x="0" y="5"/>
                  <a:pt x="0" y="7"/>
                </a:cubicBezTo>
                <a:cubicBezTo>
                  <a:pt x="0" y="10"/>
                  <a:pt x="0" y="12"/>
                  <a:pt x="1" y="14"/>
                </a:cubicBezTo>
                <a:cubicBezTo>
                  <a:pt x="14" y="14"/>
                  <a:pt x="14" y="14"/>
                  <a:pt x="14" y="14"/>
                </a:cubicBezTo>
                <a:cubicBezTo>
                  <a:pt x="13" y="12"/>
                  <a:pt x="12" y="10"/>
                  <a:pt x="12" y="7"/>
                </a:cubicBezTo>
                <a:cubicBezTo>
                  <a:pt x="12" y="5"/>
                  <a:pt x="13" y="2"/>
                  <a:pt x="14" y="0"/>
                </a:cubicBezTo>
                <a:close/>
              </a:path>
            </a:pathLst>
          </a:custGeom>
          <a:solidFill>
            <a:srgbClr val="7CCA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6" name="Freeform 104"/>
          <p:cNvSpPr>
            <a:spLocks/>
          </p:cNvSpPr>
          <p:nvPr/>
        </p:nvSpPr>
        <p:spPr bwMode="auto">
          <a:xfrm>
            <a:off x="2804098" y="2601027"/>
            <a:ext cx="122220" cy="87300"/>
          </a:xfrm>
          <a:custGeom>
            <a:avLst/>
            <a:gdLst>
              <a:gd name="T0" fmla="*/ 42 w 66"/>
              <a:gd name="T1" fmla="*/ 0 h 47"/>
              <a:gd name="T2" fmla="*/ 20 w 66"/>
              <a:gd name="T3" fmla="*/ 0 h 47"/>
              <a:gd name="T4" fmla="*/ 0 w 66"/>
              <a:gd name="T5" fmla="*/ 12 h 47"/>
              <a:gd name="T6" fmla="*/ 19 w 66"/>
              <a:gd name="T7" fmla="*/ 12 h 47"/>
              <a:gd name="T8" fmla="*/ 20 w 66"/>
              <a:gd name="T9" fmla="*/ 12 h 47"/>
              <a:gd name="T10" fmla="*/ 42 w 66"/>
              <a:gd name="T11" fmla="*/ 12 h 47"/>
              <a:gd name="T12" fmla="*/ 54 w 66"/>
              <a:gd name="T13" fmla="*/ 23 h 47"/>
              <a:gd name="T14" fmla="*/ 42 w 66"/>
              <a:gd name="T15" fmla="*/ 35 h 47"/>
              <a:gd name="T16" fmla="*/ 20 w 66"/>
              <a:gd name="T17" fmla="*/ 35 h 47"/>
              <a:gd name="T18" fmla="*/ 19 w 66"/>
              <a:gd name="T19" fmla="*/ 35 h 47"/>
              <a:gd name="T20" fmla="*/ 0 w 66"/>
              <a:gd name="T21" fmla="*/ 35 h 47"/>
              <a:gd name="T22" fmla="*/ 20 w 66"/>
              <a:gd name="T23" fmla="*/ 47 h 47"/>
              <a:gd name="T24" fmla="*/ 42 w 66"/>
              <a:gd name="T25" fmla="*/ 47 h 47"/>
              <a:gd name="T26" fmla="*/ 66 w 66"/>
              <a:gd name="T27" fmla="*/ 23 h 47"/>
              <a:gd name="T28" fmla="*/ 42 w 66"/>
              <a:gd name="T29" fmla="*/ 0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6" h="47">
                <a:moveTo>
                  <a:pt x="42" y="0"/>
                </a:moveTo>
                <a:cubicBezTo>
                  <a:pt x="20" y="0"/>
                  <a:pt x="20" y="0"/>
                  <a:pt x="20" y="0"/>
                </a:cubicBezTo>
                <a:cubicBezTo>
                  <a:pt x="11" y="0"/>
                  <a:pt x="4" y="5"/>
                  <a:pt x="0" y="12"/>
                </a:cubicBezTo>
                <a:cubicBezTo>
                  <a:pt x="19" y="12"/>
                  <a:pt x="19" y="12"/>
                  <a:pt x="19" y="12"/>
                </a:cubicBezTo>
                <a:cubicBezTo>
                  <a:pt x="19" y="12"/>
                  <a:pt x="20" y="12"/>
                  <a:pt x="20" y="12"/>
                </a:cubicBezTo>
                <a:cubicBezTo>
                  <a:pt x="42" y="12"/>
                  <a:pt x="42" y="12"/>
                  <a:pt x="42" y="12"/>
                </a:cubicBezTo>
                <a:cubicBezTo>
                  <a:pt x="48" y="12"/>
                  <a:pt x="54" y="17"/>
                  <a:pt x="54" y="23"/>
                </a:cubicBezTo>
                <a:cubicBezTo>
                  <a:pt x="54" y="30"/>
                  <a:pt x="48" y="35"/>
                  <a:pt x="42" y="35"/>
                </a:cubicBezTo>
                <a:cubicBezTo>
                  <a:pt x="20" y="35"/>
                  <a:pt x="20" y="35"/>
                  <a:pt x="20" y="35"/>
                </a:cubicBezTo>
                <a:cubicBezTo>
                  <a:pt x="20" y="35"/>
                  <a:pt x="19" y="35"/>
                  <a:pt x="19" y="35"/>
                </a:cubicBezTo>
                <a:cubicBezTo>
                  <a:pt x="0" y="35"/>
                  <a:pt x="0" y="35"/>
                  <a:pt x="0" y="35"/>
                </a:cubicBezTo>
                <a:cubicBezTo>
                  <a:pt x="4" y="42"/>
                  <a:pt x="11" y="47"/>
                  <a:pt x="20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55" y="47"/>
                  <a:pt x="66" y="36"/>
                  <a:pt x="66" y="23"/>
                </a:cubicBezTo>
                <a:cubicBezTo>
                  <a:pt x="66" y="10"/>
                  <a:pt x="55" y="0"/>
                  <a:pt x="42" y="0"/>
                </a:cubicBezTo>
                <a:close/>
              </a:path>
            </a:pathLst>
          </a:custGeom>
          <a:solidFill>
            <a:srgbClr val="7CCA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7" name="Freeform 105"/>
          <p:cNvSpPr>
            <a:spLocks noEditPoints="1"/>
          </p:cNvSpPr>
          <p:nvPr/>
        </p:nvSpPr>
        <p:spPr bwMode="auto">
          <a:xfrm>
            <a:off x="2615213" y="2466110"/>
            <a:ext cx="357137" cy="357137"/>
          </a:xfrm>
          <a:custGeom>
            <a:avLst/>
            <a:gdLst>
              <a:gd name="T0" fmla="*/ 96 w 192"/>
              <a:gd name="T1" fmla="*/ 12 h 192"/>
              <a:gd name="T2" fmla="*/ 180 w 192"/>
              <a:gd name="T3" fmla="*/ 96 h 192"/>
              <a:gd name="T4" fmla="*/ 96 w 192"/>
              <a:gd name="T5" fmla="*/ 180 h 192"/>
              <a:gd name="T6" fmla="*/ 12 w 192"/>
              <a:gd name="T7" fmla="*/ 96 h 192"/>
              <a:gd name="T8" fmla="*/ 96 w 192"/>
              <a:gd name="T9" fmla="*/ 12 h 192"/>
              <a:gd name="T10" fmla="*/ 96 w 192"/>
              <a:gd name="T11" fmla="*/ 0 h 192"/>
              <a:gd name="T12" fmla="*/ 0 w 192"/>
              <a:gd name="T13" fmla="*/ 96 h 192"/>
              <a:gd name="T14" fmla="*/ 96 w 192"/>
              <a:gd name="T15" fmla="*/ 192 h 192"/>
              <a:gd name="T16" fmla="*/ 192 w 192"/>
              <a:gd name="T17" fmla="*/ 96 h 192"/>
              <a:gd name="T18" fmla="*/ 96 w 192"/>
              <a:gd name="T19" fmla="*/ 0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2" h="192">
                <a:moveTo>
                  <a:pt x="96" y="12"/>
                </a:moveTo>
                <a:cubicBezTo>
                  <a:pt x="142" y="12"/>
                  <a:pt x="180" y="50"/>
                  <a:pt x="180" y="96"/>
                </a:cubicBezTo>
                <a:cubicBezTo>
                  <a:pt x="180" y="143"/>
                  <a:pt x="142" y="180"/>
                  <a:pt x="96" y="180"/>
                </a:cubicBezTo>
                <a:cubicBezTo>
                  <a:pt x="49" y="180"/>
                  <a:pt x="12" y="143"/>
                  <a:pt x="12" y="96"/>
                </a:cubicBezTo>
                <a:cubicBezTo>
                  <a:pt x="12" y="50"/>
                  <a:pt x="49" y="12"/>
                  <a:pt x="96" y="12"/>
                </a:cubicBezTo>
                <a:moveTo>
                  <a:pt x="96" y="0"/>
                </a:moveTo>
                <a:cubicBezTo>
                  <a:pt x="43" y="0"/>
                  <a:pt x="0" y="43"/>
                  <a:pt x="0" y="96"/>
                </a:cubicBezTo>
                <a:cubicBezTo>
                  <a:pt x="0" y="149"/>
                  <a:pt x="43" y="192"/>
                  <a:pt x="96" y="192"/>
                </a:cubicBezTo>
                <a:cubicBezTo>
                  <a:pt x="149" y="192"/>
                  <a:pt x="192" y="149"/>
                  <a:pt x="192" y="96"/>
                </a:cubicBezTo>
                <a:cubicBezTo>
                  <a:pt x="192" y="43"/>
                  <a:pt x="149" y="0"/>
                  <a:pt x="96" y="0"/>
                </a:cubicBezTo>
                <a:close/>
              </a:path>
            </a:pathLst>
          </a:custGeom>
          <a:solidFill>
            <a:srgbClr val="7CCA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269242" y="4917994"/>
            <a:ext cx="3452135" cy="2823669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03" tIns="60952" rIns="60952" bIns="609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sz="2132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99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2" name="Rectangle 121"/>
          <p:cNvSpPr/>
          <p:nvPr/>
        </p:nvSpPr>
        <p:spPr bwMode="auto">
          <a:xfrm>
            <a:off x="798572" y="1639388"/>
            <a:ext cx="2575080" cy="2200253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0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961" b="0" i="0" u="none" strike="noStrike" kern="1200" cap="none" spc="0" normalizeH="0" baseline="0" noProof="0" dirty="0">
              <a:ln>
                <a:noFill/>
              </a:ln>
              <a:solidFill>
                <a:srgbClr val="F1F43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22832" y="970380"/>
            <a:ext cx="3434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Azure Resource Manager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41733" y="3286650"/>
            <a:ext cx="3210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Azure Resource Groups</a:t>
            </a:r>
          </a:p>
        </p:txBody>
      </p:sp>
      <p:sp>
        <p:nvSpPr>
          <p:cNvPr id="113" name="Subtitle 2"/>
          <p:cNvSpPr txBox="1">
            <a:spLocks/>
          </p:cNvSpPr>
          <p:nvPr/>
        </p:nvSpPr>
        <p:spPr>
          <a:xfrm>
            <a:off x="6354153" y="3760525"/>
            <a:ext cx="5251449" cy="265409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 baseline="0">
                <a:solidFill>
                  <a:srgbClr val="D9D9D9"/>
                </a:solidFill>
                <a:latin typeface="+mn-lt"/>
                <a:ea typeface="+mn-ea"/>
                <a:cs typeface="Core Sans NR 45 Regular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D9D9D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D9D9D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D9D9D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D9D9D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</a:rPr>
              <a:t>Tightly coupled containers of multiple resources of similar or different types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</a:rPr>
              <a:t>Resource Group is a unit of management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</a:rPr>
              <a:t>Deployment, Update, Delete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</a:rPr>
              <a:t>Identity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</a:rPr>
              <a:t>Metering, billing, quota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669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>
            <a:spLocks/>
          </p:cNvSpPr>
          <p:nvPr/>
        </p:nvSpPr>
        <p:spPr>
          <a:xfrm>
            <a:off x="404571" y="1156572"/>
            <a:ext cx="5035981" cy="264221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4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Templates can: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Ensure Idempotency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Simplify Orchestration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Simplify Roll-back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Provide Cross-Resource Configuration and Update Support </a:t>
            </a:r>
            <a:endParaRPr kumimoji="0" lang="en-US" sz="3137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4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Templates are: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Source file, checked-in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Specifies resources and dependencies</a:t>
            </a:r>
            <a:b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(VMs, </a:t>
            </a:r>
            <a:r>
              <a:rPr kumimoji="0" lang="en-US" sz="1765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WebSites</a:t>
            </a:r>
            <a: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, DBs) and connections</a:t>
            </a:r>
            <a:b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</a:t>
            </a:r>
            <a:r>
              <a:rPr kumimoji="0" lang="en-US" sz="1765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config</a:t>
            </a:r>
            <a: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, LB sets)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Parameterized input/output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8699065" y="996738"/>
            <a:ext cx="3349735" cy="1275327"/>
          </a:xfrm>
          <a:prstGeom prst="rect">
            <a:avLst/>
          </a:prstGeom>
          <a:noFill/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15" tIns="91415" rIns="34285" bIns="34285" rtlCol="0" anchor="t" anchorCtr="0"/>
          <a:lstStyle/>
          <a:p>
            <a:pPr marL="0" marR="0" lvl="0" indent="0" algn="l" defTabSz="932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Instantiation of repeatable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config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Configuration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  <a:sym typeface="Wingdings" panose="05000000000000000000" pitchFamily="2" charset="2"/>
              </a:rPr>
              <a:t>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Resource Group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 of Repeatability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4545453" y="505658"/>
            <a:ext cx="6910016" cy="5668941"/>
            <a:chOff x="2863" y="318"/>
            <a:chExt cx="4354" cy="3572"/>
          </a:xfrm>
        </p:grpSpPr>
        <p:sp>
          <p:nvSpPr>
            <p:cNvPr id="3" name="AutoShape 3"/>
            <p:cNvSpPr>
              <a:spLocks noChangeAspect="1" noChangeArrowheads="1" noTextEdit="1"/>
            </p:cNvSpPr>
            <p:nvPr/>
          </p:nvSpPr>
          <p:spPr bwMode="auto">
            <a:xfrm>
              <a:off x="2864" y="319"/>
              <a:ext cx="4353" cy="3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867" y="2623"/>
              <a:ext cx="1358" cy="655"/>
            </a:xfrm>
            <a:custGeom>
              <a:avLst/>
              <a:gdLst>
                <a:gd name="T0" fmla="*/ 935 w 935"/>
                <a:gd name="T1" fmla="*/ 390 h 451"/>
                <a:gd name="T2" fmla="*/ 875 w 935"/>
                <a:gd name="T3" fmla="*/ 451 h 451"/>
                <a:gd name="T4" fmla="*/ 60 w 935"/>
                <a:gd name="T5" fmla="*/ 451 h 451"/>
                <a:gd name="T6" fmla="*/ 0 w 935"/>
                <a:gd name="T7" fmla="*/ 390 h 451"/>
                <a:gd name="T8" fmla="*/ 0 w 935"/>
                <a:gd name="T9" fmla="*/ 60 h 451"/>
                <a:gd name="T10" fmla="*/ 60 w 935"/>
                <a:gd name="T11" fmla="*/ 0 h 451"/>
                <a:gd name="T12" fmla="*/ 875 w 935"/>
                <a:gd name="T13" fmla="*/ 0 h 451"/>
                <a:gd name="T14" fmla="*/ 935 w 935"/>
                <a:gd name="T15" fmla="*/ 60 h 451"/>
                <a:gd name="T16" fmla="*/ 935 w 935"/>
                <a:gd name="T17" fmla="*/ 39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5" h="451">
                  <a:moveTo>
                    <a:pt x="935" y="390"/>
                  </a:moveTo>
                  <a:cubicBezTo>
                    <a:pt x="935" y="424"/>
                    <a:pt x="908" y="451"/>
                    <a:pt x="875" y="451"/>
                  </a:cubicBezTo>
                  <a:cubicBezTo>
                    <a:pt x="60" y="451"/>
                    <a:pt x="60" y="451"/>
                    <a:pt x="60" y="451"/>
                  </a:cubicBezTo>
                  <a:cubicBezTo>
                    <a:pt x="27" y="451"/>
                    <a:pt x="0" y="424"/>
                    <a:pt x="0" y="39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875" y="0"/>
                    <a:pt x="875" y="0"/>
                    <a:pt x="875" y="0"/>
                  </a:cubicBezTo>
                  <a:cubicBezTo>
                    <a:pt x="908" y="0"/>
                    <a:pt x="935" y="27"/>
                    <a:pt x="935" y="60"/>
                  </a:cubicBezTo>
                  <a:lnTo>
                    <a:pt x="935" y="390"/>
                  </a:lnTo>
                  <a:close/>
                </a:path>
              </a:pathLst>
            </a:custGeom>
            <a:solidFill>
              <a:srgbClr val="022D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2863" y="2620"/>
              <a:ext cx="1366" cy="661"/>
            </a:xfrm>
            <a:custGeom>
              <a:avLst/>
              <a:gdLst>
                <a:gd name="T0" fmla="*/ 938 w 941"/>
                <a:gd name="T1" fmla="*/ 392 h 455"/>
                <a:gd name="T2" fmla="*/ 936 w 941"/>
                <a:gd name="T3" fmla="*/ 392 h 455"/>
                <a:gd name="T4" fmla="*/ 919 w 941"/>
                <a:gd name="T5" fmla="*/ 433 h 455"/>
                <a:gd name="T6" fmla="*/ 878 w 941"/>
                <a:gd name="T7" fmla="*/ 450 h 455"/>
                <a:gd name="T8" fmla="*/ 63 w 941"/>
                <a:gd name="T9" fmla="*/ 450 h 455"/>
                <a:gd name="T10" fmla="*/ 22 w 941"/>
                <a:gd name="T11" fmla="*/ 433 h 455"/>
                <a:gd name="T12" fmla="*/ 5 w 941"/>
                <a:gd name="T13" fmla="*/ 392 h 455"/>
                <a:gd name="T14" fmla="*/ 5 w 941"/>
                <a:gd name="T15" fmla="*/ 62 h 455"/>
                <a:gd name="T16" fmla="*/ 22 w 941"/>
                <a:gd name="T17" fmla="*/ 22 h 455"/>
                <a:gd name="T18" fmla="*/ 63 w 941"/>
                <a:gd name="T19" fmla="*/ 5 h 455"/>
                <a:gd name="T20" fmla="*/ 878 w 941"/>
                <a:gd name="T21" fmla="*/ 5 h 455"/>
                <a:gd name="T22" fmla="*/ 919 w 941"/>
                <a:gd name="T23" fmla="*/ 22 h 455"/>
                <a:gd name="T24" fmla="*/ 936 w 941"/>
                <a:gd name="T25" fmla="*/ 62 h 455"/>
                <a:gd name="T26" fmla="*/ 936 w 941"/>
                <a:gd name="T27" fmla="*/ 392 h 455"/>
                <a:gd name="T28" fmla="*/ 938 w 941"/>
                <a:gd name="T29" fmla="*/ 392 h 455"/>
                <a:gd name="T30" fmla="*/ 941 w 941"/>
                <a:gd name="T31" fmla="*/ 392 h 455"/>
                <a:gd name="T32" fmla="*/ 941 w 941"/>
                <a:gd name="T33" fmla="*/ 62 h 455"/>
                <a:gd name="T34" fmla="*/ 878 w 941"/>
                <a:gd name="T35" fmla="*/ 0 h 455"/>
                <a:gd name="T36" fmla="*/ 63 w 941"/>
                <a:gd name="T37" fmla="*/ 0 h 455"/>
                <a:gd name="T38" fmla="*/ 0 w 941"/>
                <a:gd name="T39" fmla="*/ 62 h 455"/>
                <a:gd name="T40" fmla="*/ 0 w 941"/>
                <a:gd name="T41" fmla="*/ 392 h 455"/>
                <a:gd name="T42" fmla="*/ 63 w 941"/>
                <a:gd name="T43" fmla="*/ 455 h 455"/>
                <a:gd name="T44" fmla="*/ 878 w 941"/>
                <a:gd name="T45" fmla="*/ 455 h 455"/>
                <a:gd name="T46" fmla="*/ 941 w 941"/>
                <a:gd name="T47" fmla="*/ 392 h 455"/>
                <a:gd name="T48" fmla="*/ 938 w 941"/>
                <a:gd name="T49" fmla="*/ 392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41" h="455">
                  <a:moveTo>
                    <a:pt x="938" y="392"/>
                  </a:moveTo>
                  <a:cubicBezTo>
                    <a:pt x="936" y="392"/>
                    <a:pt x="936" y="392"/>
                    <a:pt x="936" y="392"/>
                  </a:cubicBezTo>
                  <a:cubicBezTo>
                    <a:pt x="936" y="408"/>
                    <a:pt x="929" y="423"/>
                    <a:pt x="919" y="433"/>
                  </a:cubicBezTo>
                  <a:cubicBezTo>
                    <a:pt x="908" y="444"/>
                    <a:pt x="894" y="450"/>
                    <a:pt x="878" y="450"/>
                  </a:cubicBezTo>
                  <a:cubicBezTo>
                    <a:pt x="63" y="450"/>
                    <a:pt x="63" y="450"/>
                    <a:pt x="63" y="450"/>
                  </a:cubicBezTo>
                  <a:cubicBezTo>
                    <a:pt x="47" y="450"/>
                    <a:pt x="33" y="444"/>
                    <a:pt x="22" y="433"/>
                  </a:cubicBezTo>
                  <a:cubicBezTo>
                    <a:pt x="12" y="423"/>
                    <a:pt x="5" y="408"/>
                    <a:pt x="5" y="392"/>
                  </a:cubicBezTo>
                  <a:cubicBezTo>
                    <a:pt x="5" y="62"/>
                    <a:pt x="5" y="62"/>
                    <a:pt x="5" y="62"/>
                  </a:cubicBezTo>
                  <a:cubicBezTo>
                    <a:pt x="5" y="46"/>
                    <a:pt x="12" y="32"/>
                    <a:pt x="22" y="22"/>
                  </a:cubicBezTo>
                  <a:cubicBezTo>
                    <a:pt x="33" y="11"/>
                    <a:pt x="47" y="5"/>
                    <a:pt x="63" y="5"/>
                  </a:cubicBezTo>
                  <a:cubicBezTo>
                    <a:pt x="878" y="5"/>
                    <a:pt x="878" y="5"/>
                    <a:pt x="878" y="5"/>
                  </a:cubicBezTo>
                  <a:cubicBezTo>
                    <a:pt x="894" y="5"/>
                    <a:pt x="908" y="11"/>
                    <a:pt x="919" y="22"/>
                  </a:cubicBezTo>
                  <a:cubicBezTo>
                    <a:pt x="929" y="32"/>
                    <a:pt x="936" y="46"/>
                    <a:pt x="936" y="62"/>
                  </a:cubicBezTo>
                  <a:cubicBezTo>
                    <a:pt x="936" y="392"/>
                    <a:pt x="936" y="392"/>
                    <a:pt x="936" y="392"/>
                  </a:cubicBezTo>
                  <a:cubicBezTo>
                    <a:pt x="938" y="392"/>
                    <a:pt x="938" y="392"/>
                    <a:pt x="938" y="392"/>
                  </a:cubicBezTo>
                  <a:cubicBezTo>
                    <a:pt x="941" y="392"/>
                    <a:pt x="941" y="392"/>
                    <a:pt x="941" y="392"/>
                  </a:cubicBezTo>
                  <a:cubicBezTo>
                    <a:pt x="941" y="62"/>
                    <a:pt x="941" y="62"/>
                    <a:pt x="941" y="62"/>
                  </a:cubicBezTo>
                  <a:cubicBezTo>
                    <a:pt x="941" y="28"/>
                    <a:pt x="913" y="0"/>
                    <a:pt x="878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0" y="28"/>
                    <a:pt x="0" y="62"/>
                  </a:cubicBezTo>
                  <a:cubicBezTo>
                    <a:pt x="0" y="392"/>
                    <a:pt x="0" y="392"/>
                    <a:pt x="0" y="392"/>
                  </a:cubicBezTo>
                  <a:cubicBezTo>
                    <a:pt x="0" y="427"/>
                    <a:pt x="28" y="455"/>
                    <a:pt x="63" y="455"/>
                  </a:cubicBezTo>
                  <a:cubicBezTo>
                    <a:pt x="878" y="455"/>
                    <a:pt x="878" y="455"/>
                    <a:pt x="878" y="455"/>
                  </a:cubicBezTo>
                  <a:cubicBezTo>
                    <a:pt x="913" y="455"/>
                    <a:pt x="941" y="427"/>
                    <a:pt x="941" y="392"/>
                  </a:cubicBezTo>
                  <a:lnTo>
                    <a:pt x="938" y="3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003" y="2813"/>
              <a:ext cx="143" cy="326"/>
            </a:xfrm>
            <a:custGeom>
              <a:avLst/>
              <a:gdLst>
                <a:gd name="T0" fmla="*/ 0 w 98"/>
                <a:gd name="T1" fmla="*/ 0 h 224"/>
                <a:gd name="T2" fmla="*/ 0 w 98"/>
                <a:gd name="T3" fmla="*/ 189 h 224"/>
                <a:gd name="T4" fmla="*/ 98 w 98"/>
                <a:gd name="T5" fmla="*/ 224 h 224"/>
                <a:gd name="T6" fmla="*/ 98 w 98"/>
                <a:gd name="T7" fmla="*/ 0 h 224"/>
                <a:gd name="T8" fmla="*/ 0 w 98"/>
                <a:gd name="T9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24">
                  <a:moveTo>
                    <a:pt x="0" y="0"/>
                  </a:moveTo>
                  <a:cubicBezTo>
                    <a:pt x="0" y="189"/>
                    <a:pt x="0" y="189"/>
                    <a:pt x="0" y="189"/>
                  </a:cubicBezTo>
                  <a:cubicBezTo>
                    <a:pt x="0" y="208"/>
                    <a:pt x="44" y="224"/>
                    <a:pt x="98" y="224"/>
                  </a:cubicBezTo>
                  <a:cubicBezTo>
                    <a:pt x="98" y="0"/>
                    <a:pt x="98" y="0"/>
                    <a:pt x="9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C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3144" y="2813"/>
              <a:ext cx="144" cy="326"/>
            </a:xfrm>
            <a:custGeom>
              <a:avLst/>
              <a:gdLst>
                <a:gd name="T0" fmla="*/ 0 w 99"/>
                <a:gd name="T1" fmla="*/ 224 h 224"/>
                <a:gd name="T2" fmla="*/ 1 w 99"/>
                <a:gd name="T3" fmla="*/ 224 h 224"/>
                <a:gd name="T4" fmla="*/ 99 w 99"/>
                <a:gd name="T5" fmla="*/ 189 h 224"/>
                <a:gd name="T6" fmla="*/ 99 w 99"/>
                <a:gd name="T7" fmla="*/ 0 h 224"/>
                <a:gd name="T8" fmla="*/ 0 w 99"/>
                <a:gd name="T9" fmla="*/ 0 h 224"/>
                <a:gd name="T10" fmla="*/ 0 w 99"/>
                <a:gd name="T11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224">
                  <a:moveTo>
                    <a:pt x="0" y="224"/>
                  </a:moveTo>
                  <a:cubicBezTo>
                    <a:pt x="1" y="224"/>
                    <a:pt x="1" y="224"/>
                    <a:pt x="1" y="224"/>
                  </a:cubicBezTo>
                  <a:cubicBezTo>
                    <a:pt x="55" y="224"/>
                    <a:pt x="99" y="208"/>
                    <a:pt x="99" y="189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24"/>
                  </a:lnTo>
                  <a:close/>
                </a:path>
              </a:pathLst>
            </a:custGeom>
            <a:solidFill>
              <a:srgbClr val="29C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3003" y="2761"/>
              <a:ext cx="285" cy="10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3033" y="2775"/>
              <a:ext cx="226" cy="69"/>
            </a:xfrm>
            <a:prstGeom prst="ellipse">
              <a:avLst/>
            </a:prstGeom>
            <a:solidFill>
              <a:srgbClr val="85B3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3033" y="2775"/>
              <a:ext cx="226" cy="56"/>
            </a:xfrm>
            <a:custGeom>
              <a:avLst/>
              <a:gdLst>
                <a:gd name="T0" fmla="*/ 140 w 156"/>
                <a:gd name="T1" fmla="*/ 38 h 38"/>
                <a:gd name="T2" fmla="*/ 156 w 156"/>
                <a:gd name="T3" fmla="*/ 24 h 38"/>
                <a:gd name="T4" fmla="*/ 78 w 156"/>
                <a:gd name="T5" fmla="*/ 0 h 38"/>
                <a:gd name="T6" fmla="*/ 0 w 156"/>
                <a:gd name="T7" fmla="*/ 24 h 38"/>
                <a:gd name="T8" fmla="*/ 17 w 156"/>
                <a:gd name="T9" fmla="*/ 38 h 38"/>
                <a:gd name="T10" fmla="*/ 78 w 156"/>
                <a:gd name="T11" fmla="*/ 29 h 38"/>
                <a:gd name="T12" fmla="*/ 140 w 156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6" h="38">
                  <a:moveTo>
                    <a:pt x="140" y="38"/>
                  </a:moveTo>
                  <a:cubicBezTo>
                    <a:pt x="150" y="34"/>
                    <a:pt x="156" y="29"/>
                    <a:pt x="156" y="24"/>
                  </a:cubicBezTo>
                  <a:cubicBezTo>
                    <a:pt x="156" y="11"/>
                    <a:pt x="121" y="0"/>
                    <a:pt x="78" y="0"/>
                  </a:cubicBezTo>
                  <a:cubicBezTo>
                    <a:pt x="35" y="0"/>
                    <a:pt x="0" y="11"/>
                    <a:pt x="0" y="24"/>
                  </a:cubicBezTo>
                  <a:cubicBezTo>
                    <a:pt x="0" y="29"/>
                    <a:pt x="6" y="34"/>
                    <a:pt x="17" y="38"/>
                  </a:cubicBezTo>
                  <a:cubicBezTo>
                    <a:pt x="31" y="33"/>
                    <a:pt x="53" y="29"/>
                    <a:pt x="78" y="29"/>
                  </a:cubicBezTo>
                  <a:cubicBezTo>
                    <a:pt x="103" y="29"/>
                    <a:pt x="126" y="33"/>
                    <a:pt x="140" y="38"/>
                  </a:cubicBezTo>
                  <a:close/>
                </a:path>
              </a:pathLst>
            </a:custGeom>
            <a:solidFill>
              <a:srgbClr val="BAC8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3043" y="2928"/>
              <a:ext cx="207" cy="118"/>
            </a:xfrm>
            <a:custGeom>
              <a:avLst/>
              <a:gdLst>
                <a:gd name="T0" fmla="*/ 135 w 143"/>
                <a:gd name="T1" fmla="*/ 74 h 81"/>
                <a:gd name="T2" fmla="*/ 113 w 143"/>
                <a:gd name="T3" fmla="*/ 81 h 81"/>
                <a:gd name="T4" fmla="*/ 82 w 143"/>
                <a:gd name="T5" fmla="*/ 81 h 81"/>
                <a:gd name="T6" fmla="*/ 82 w 143"/>
                <a:gd name="T7" fmla="*/ 0 h 81"/>
                <a:gd name="T8" fmla="*/ 111 w 143"/>
                <a:gd name="T9" fmla="*/ 0 h 81"/>
                <a:gd name="T10" fmla="*/ 133 w 143"/>
                <a:gd name="T11" fmla="*/ 5 h 81"/>
                <a:gd name="T12" fmla="*/ 139 w 143"/>
                <a:gd name="T13" fmla="*/ 19 h 81"/>
                <a:gd name="T14" fmla="*/ 134 w 143"/>
                <a:gd name="T15" fmla="*/ 31 h 81"/>
                <a:gd name="T16" fmla="*/ 124 w 143"/>
                <a:gd name="T17" fmla="*/ 37 h 81"/>
                <a:gd name="T18" fmla="*/ 124 w 143"/>
                <a:gd name="T19" fmla="*/ 37 h 81"/>
                <a:gd name="T20" fmla="*/ 138 w 143"/>
                <a:gd name="T21" fmla="*/ 44 h 81"/>
                <a:gd name="T22" fmla="*/ 142 w 143"/>
                <a:gd name="T23" fmla="*/ 57 h 81"/>
                <a:gd name="T24" fmla="*/ 135 w 143"/>
                <a:gd name="T25" fmla="*/ 74 h 81"/>
                <a:gd name="T26" fmla="*/ 59 w 143"/>
                <a:gd name="T27" fmla="*/ 69 h 81"/>
                <a:gd name="T28" fmla="*/ 28 w 143"/>
                <a:gd name="T29" fmla="*/ 81 h 81"/>
                <a:gd name="T30" fmla="*/ 0 w 143"/>
                <a:gd name="T31" fmla="*/ 81 h 81"/>
                <a:gd name="T32" fmla="*/ 0 w 143"/>
                <a:gd name="T33" fmla="*/ 0 h 81"/>
                <a:gd name="T34" fmla="*/ 28 w 143"/>
                <a:gd name="T35" fmla="*/ 0 h 81"/>
                <a:gd name="T36" fmla="*/ 71 w 143"/>
                <a:gd name="T37" fmla="*/ 39 h 81"/>
                <a:gd name="T38" fmla="*/ 59 w 143"/>
                <a:gd name="T39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3" h="81">
                  <a:moveTo>
                    <a:pt x="135" y="74"/>
                  </a:moveTo>
                  <a:cubicBezTo>
                    <a:pt x="129" y="78"/>
                    <a:pt x="122" y="81"/>
                    <a:pt x="113" y="81"/>
                  </a:cubicBezTo>
                  <a:cubicBezTo>
                    <a:pt x="82" y="81"/>
                    <a:pt x="82" y="81"/>
                    <a:pt x="82" y="81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21" y="0"/>
                    <a:pt x="128" y="2"/>
                    <a:pt x="133" y="5"/>
                  </a:cubicBezTo>
                  <a:cubicBezTo>
                    <a:pt x="137" y="9"/>
                    <a:pt x="139" y="13"/>
                    <a:pt x="139" y="19"/>
                  </a:cubicBezTo>
                  <a:cubicBezTo>
                    <a:pt x="139" y="24"/>
                    <a:pt x="138" y="28"/>
                    <a:pt x="134" y="31"/>
                  </a:cubicBezTo>
                  <a:cubicBezTo>
                    <a:pt x="131" y="34"/>
                    <a:pt x="128" y="36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9" y="38"/>
                    <a:pt x="134" y="40"/>
                    <a:pt x="138" y="44"/>
                  </a:cubicBezTo>
                  <a:cubicBezTo>
                    <a:pt x="141" y="47"/>
                    <a:pt x="142" y="52"/>
                    <a:pt x="142" y="57"/>
                  </a:cubicBezTo>
                  <a:cubicBezTo>
                    <a:pt x="143" y="64"/>
                    <a:pt x="140" y="70"/>
                    <a:pt x="135" y="74"/>
                  </a:cubicBezTo>
                  <a:close/>
                  <a:moveTo>
                    <a:pt x="59" y="69"/>
                  </a:moveTo>
                  <a:cubicBezTo>
                    <a:pt x="52" y="77"/>
                    <a:pt x="41" y="81"/>
                    <a:pt x="28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57" y="0"/>
                    <a:pt x="71" y="13"/>
                    <a:pt x="71" y="39"/>
                  </a:cubicBezTo>
                  <a:cubicBezTo>
                    <a:pt x="71" y="52"/>
                    <a:pt x="67" y="62"/>
                    <a:pt x="59" y="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3069" y="2950"/>
              <a:ext cx="49" cy="74"/>
            </a:xfrm>
            <a:custGeom>
              <a:avLst/>
              <a:gdLst>
                <a:gd name="T0" fmla="*/ 9 w 34"/>
                <a:gd name="T1" fmla="*/ 0 h 51"/>
                <a:gd name="T2" fmla="*/ 0 w 34"/>
                <a:gd name="T3" fmla="*/ 0 h 51"/>
                <a:gd name="T4" fmla="*/ 0 w 34"/>
                <a:gd name="T5" fmla="*/ 51 h 51"/>
                <a:gd name="T6" fmla="*/ 9 w 34"/>
                <a:gd name="T7" fmla="*/ 51 h 51"/>
                <a:gd name="T8" fmla="*/ 28 w 34"/>
                <a:gd name="T9" fmla="*/ 44 h 51"/>
                <a:gd name="T10" fmla="*/ 34 w 34"/>
                <a:gd name="T11" fmla="*/ 25 h 51"/>
                <a:gd name="T12" fmla="*/ 28 w 34"/>
                <a:gd name="T13" fmla="*/ 7 h 51"/>
                <a:gd name="T14" fmla="*/ 9 w 34"/>
                <a:gd name="T15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51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17" y="51"/>
                    <a:pt x="23" y="49"/>
                    <a:pt x="28" y="44"/>
                  </a:cubicBezTo>
                  <a:cubicBezTo>
                    <a:pt x="32" y="39"/>
                    <a:pt x="34" y="33"/>
                    <a:pt x="34" y="25"/>
                  </a:cubicBezTo>
                  <a:cubicBezTo>
                    <a:pt x="34" y="17"/>
                    <a:pt x="32" y="11"/>
                    <a:pt x="28" y="7"/>
                  </a:cubicBezTo>
                  <a:cubicBezTo>
                    <a:pt x="23" y="2"/>
                    <a:pt x="17" y="0"/>
                    <a:pt x="9" y="0"/>
                  </a:cubicBezTo>
                  <a:close/>
                </a:path>
              </a:pathLst>
            </a:custGeom>
            <a:solidFill>
              <a:srgbClr val="00BC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3188" y="2948"/>
              <a:ext cx="29" cy="28"/>
            </a:xfrm>
            <a:custGeom>
              <a:avLst/>
              <a:gdLst>
                <a:gd name="T0" fmla="*/ 17 w 20"/>
                <a:gd name="T1" fmla="*/ 16 h 19"/>
                <a:gd name="T2" fmla="*/ 20 w 20"/>
                <a:gd name="T3" fmla="*/ 9 h 19"/>
                <a:gd name="T4" fmla="*/ 7 w 20"/>
                <a:gd name="T5" fmla="*/ 0 h 19"/>
                <a:gd name="T6" fmla="*/ 0 w 20"/>
                <a:gd name="T7" fmla="*/ 0 h 19"/>
                <a:gd name="T8" fmla="*/ 0 w 20"/>
                <a:gd name="T9" fmla="*/ 19 h 19"/>
                <a:gd name="T10" fmla="*/ 8 w 20"/>
                <a:gd name="T11" fmla="*/ 19 h 19"/>
                <a:gd name="T12" fmla="*/ 17 w 20"/>
                <a:gd name="T13" fmla="*/ 1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17" y="16"/>
                  </a:moveTo>
                  <a:cubicBezTo>
                    <a:pt x="19" y="14"/>
                    <a:pt x="20" y="12"/>
                    <a:pt x="20" y="9"/>
                  </a:cubicBezTo>
                  <a:cubicBezTo>
                    <a:pt x="20" y="3"/>
                    <a:pt x="16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12" y="19"/>
                    <a:pt x="15" y="18"/>
                    <a:pt x="17" y="16"/>
                  </a:cubicBezTo>
                  <a:close/>
                </a:path>
              </a:pathLst>
            </a:custGeom>
            <a:solidFill>
              <a:srgbClr val="29C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3188" y="2995"/>
              <a:ext cx="33" cy="30"/>
            </a:xfrm>
            <a:custGeom>
              <a:avLst/>
              <a:gdLst>
                <a:gd name="T0" fmla="*/ 20 w 23"/>
                <a:gd name="T1" fmla="*/ 3 h 21"/>
                <a:gd name="T2" fmla="*/ 10 w 23"/>
                <a:gd name="T3" fmla="*/ 0 h 21"/>
                <a:gd name="T4" fmla="*/ 0 w 23"/>
                <a:gd name="T5" fmla="*/ 0 h 21"/>
                <a:gd name="T6" fmla="*/ 0 w 23"/>
                <a:gd name="T7" fmla="*/ 21 h 21"/>
                <a:gd name="T8" fmla="*/ 10 w 23"/>
                <a:gd name="T9" fmla="*/ 21 h 21"/>
                <a:gd name="T10" fmla="*/ 20 w 23"/>
                <a:gd name="T11" fmla="*/ 18 h 21"/>
                <a:gd name="T12" fmla="*/ 23 w 23"/>
                <a:gd name="T13" fmla="*/ 10 h 21"/>
                <a:gd name="T14" fmla="*/ 20 w 23"/>
                <a:gd name="T15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21">
                  <a:moveTo>
                    <a:pt x="20" y="3"/>
                  </a:moveTo>
                  <a:cubicBezTo>
                    <a:pt x="18" y="1"/>
                    <a:pt x="14" y="0"/>
                    <a:pt x="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4" y="21"/>
                    <a:pt x="18" y="20"/>
                    <a:pt x="20" y="18"/>
                  </a:cubicBezTo>
                  <a:cubicBezTo>
                    <a:pt x="22" y="16"/>
                    <a:pt x="23" y="14"/>
                    <a:pt x="23" y="10"/>
                  </a:cubicBezTo>
                  <a:cubicBezTo>
                    <a:pt x="23" y="7"/>
                    <a:pt x="22" y="5"/>
                    <a:pt x="20" y="3"/>
                  </a:cubicBezTo>
                  <a:close/>
                </a:path>
              </a:pathLst>
            </a:custGeom>
            <a:solidFill>
              <a:srgbClr val="29C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3398" y="2838"/>
              <a:ext cx="5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0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Light" panose="020B0302040504020203" pitchFamily="34" charset="0"/>
                  <a:ea typeface="+mn-ea"/>
                  <a:cs typeface="+mn-cs"/>
                </a:rPr>
                <a:t>SQL - A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4327" y="2623"/>
              <a:ext cx="1358" cy="655"/>
            </a:xfrm>
            <a:custGeom>
              <a:avLst/>
              <a:gdLst>
                <a:gd name="T0" fmla="*/ 935 w 935"/>
                <a:gd name="T1" fmla="*/ 390 h 451"/>
                <a:gd name="T2" fmla="*/ 875 w 935"/>
                <a:gd name="T3" fmla="*/ 451 h 451"/>
                <a:gd name="T4" fmla="*/ 60 w 935"/>
                <a:gd name="T5" fmla="*/ 451 h 451"/>
                <a:gd name="T6" fmla="*/ 0 w 935"/>
                <a:gd name="T7" fmla="*/ 390 h 451"/>
                <a:gd name="T8" fmla="*/ 0 w 935"/>
                <a:gd name="T9" fmla="*/ 60 h 451"/>
                <a:gd name="T10" fmla="*/ 60 w 935"/>
                <a:gd name="T11" fmla="*/ 0 h 451"/>
                <a:gd name="T12" fmla="*/ 875 w 935"/>
                <a:gd name="T13" fmla="*/ 0 h 451"/>
                <a:gd name="T14" fmla="*/ 935 w 935"/>
                <a:gd name="T15" fmla="*/ 60 h 451"/>
                <a:gd name="T16" fmla="*/ 935 w 935"/>
                <a:gd name="T17" fmla="*/ 39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5" h="451">
                  <a:moveTo>
                    <a:pt x="935" y="390"/>
                  </a:moveTo>
                  <a:cubicBezTo>
                    <a:pt x="935" y="424"/>
                    <a:pt x="908" y="451"/>
                    <a:pt x="875" y="451"/>
                  </a:cubicBezTo>
                  <a:cubicBezTo>
                    <a:pt x="60" y="451"/>
                    <a:pt x="60" y="451"/>
                    <a:pt x="60" y="451"/>
                  </a:cubicBezTo>
                  <a:cubicBezTo>
                    <a:pt x="27" y="451"/>
                    <a:pt x="0" y="424"/>
                    <a:pt x="0" y="39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875" y="0"/>
                    <a:pt x="875" y="0"/>
                    <a:pt x="875" y="0"/>
                  </a:cubicBezTo>
                  <a:cubicBezTo>
                    <a:pt x="908" y="0"/>
                    <a:pt x="935" y="27"/>
                    <a:pt x="935" y="60"/>
                  </a:cubicBezTo>
                  <a:lnTo>
                    <a:pt x="935" y="390"/>
                  </a:lnTo>
                  <a:close/>
                </a:path>
              </a:pathLst>
            </a:custGeom>
            <a:solidFill>
              <a:srgbClr val="022D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4322" y="2620"/>
              <a:ext cx="1367" cy="661"/>
            </a:xfrm>
            <a:custGeom>
              <a:avLst/>
              <a:gdLst>
                <a:gd name="T0" fmla="*/ 938 w 941"/>
                <a:gd name="T1" fmla="*/ 392 h 455"/>
                <a:gd name="T2" fmla="*/ 936 w 941"/>
                <a:gd name="T3" fmla="*/ 392 h 455"/>
                <a:gd name="T4" fmla="*/ 919 w 941"/>
                <a:gd name="T5" fmla="*/ 433 h 455"/>
                <a:gd name="T6" fmla="*/ 878 w 941"/>
                <a:gd name="T7" fmla="*/ 450 h 455"/>
                <a:gd name="T8" fmla="*/ 63 w 941"/>
                <a:gd name="T9" fmla="*/ 450 h 455"/>
                <a:gd name="T10" fmla="*/ 22 w 941"/>
                <a:gd name="T11" fmla="*/ 433 h 455"/>
                <a:gd name="T12" fmla="*/ 5 w 941"/>
                <a:gd name="T13" fmla="*/ 392 h 455"/>
                <a:gd name="T14" fmla="*/ 5 w 941"/>
                <a:gd name="T15" fmla="*/ 62 h 455"/>
                <a:gd name="T16" fmla="*/ 22 w 941"/>
                <a:gd name="T17" fmla="*/ 22 h 455"/>
                <a:gd name="T18" fmla="*/ 63 w 941"/>
                <a:gd name="T19" fmla="*/ 5 h 455"/>
                <a:gd name="T20" fmla="*/ 878 w 941"/>
                <a:gd name="T21" fmla="*/ 5 h 455"/>
                <a:gd name="T22" fmla="*/ 878 w 941"/>
                <a:gd name="T23" fmla="*/ 5 h 455"/>
                <a:gd name="T24" fmla="*/ 919 w 941"/>
                <a:gd name="T25" fmla="*/ 22 h 455"/>
                <a:gd name="T26" fmla="*/ 936 w 941"/>
                <a:gd name="T27" fmla="*/ 62 h 455"/>
                <a:gd name="T28" fmla="*/ 936 w 941"/>
                <a:gd name="T29" fmla="*/ 392 h 455"/>
                <a:gd name="T30" fmla="*/ 938 w 941"/>
                <a:gd name="T31" fmla="*/ 392 h 455"/>
                <a:gd name="T32" fmla="*/ 941 w 941"/>
                <a:gd name="T33" fmla="*/ 392 h 455"/>
                <a:gd name="T34" fmla="*/ 941 w 941"/>
                <a:gd name="T35" fmla="*/ 62 h 455"/>
                <a:gd name="T36" fmla="*/ 878 w 941"/>
                <a:gd name="T37" fmla="*/ 0 h 455"/>
                <a:gd name="T38" fmla="*/ 63 w 941"/>
                <a:gd name="T39" fmla="*/ 0 h 455"/>
                <a:gd name="T40" fmla="*/ 0 w 941"/>
                <a:gd name="T41" fmla="*/ 62 h 455"/>
                <a:gd name="T42" fmla="*/ 0 w 941"/>
                <a:gd name="T43" fmla="*/ 392 h 455"/>
                <a:gd name="T44" fmla="*/ 63 w 941"/>
                <a:gd name="T45" fmla="*/ 455 h 455"/>
                <a:gd name="T46" fmla="*/ 878 w 941"/>
                <a:gd name="T47" fmla="*/ 455 h 455"/>
                <a:gd name="T48" fmla="*/ 878 w 941"/>
                <a:gd name="T49" fmla="*/ 455 h 455"/>
                <a:gd name="T50" fmla="*/ 941 w 941"/>
                <a:gd name="T51" fmla="*/ 392 h 455"/>
                <a:gd name="T52" fmla="*/ 938 w 941"/>
                <a:gd name="T53" fmla="*/ 392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41" h="455">
                  <a:moveTo>
                    <a:pt x="938" y="392"/>
                  </a:moveTo>
                  <a:cubicBezTo>
                    <a:pt x="936" y="392"/>
                    <a:pt x="936" y="392"/>
                    <a:pt x="936" y="392"/>
                  </a:cubicBezTo>
                  <a:cubicBezTo>
                    <a:pt x="936" y="408"/>
                    <a:pt x="929" y="423"/>
                    <a:pt x="919" y="433"/>
                  </a:cubicBezTo>
                  <a:cubicBezTo>
                    <a:pt x="908" y="444"/>
                    <a:pt x="894" y="450"/>
                    <a:pt x="878" y="450"/>
                  </a:cubicBezTo>
                  <a:cubicBezTo>
                    <a:pt x="63" y="450"/>
                    <a:pt x="63" y="450"/>
                    <a:pt x="63" y="450"/>
                  </a:cubicBezTo>
                  <a:cubicBezTo>
                    <a:pt x="47" y="450"/>
                    <a:pt x="32" y="444"/>
                    <a:pt x="22" y="433"/>
                  </a:cubicBezTo>
                  <a:cubicBezTo>
                    <a:pt x="11" y="423"/>
                    <a:pt x="5" y="408"/>
                    <a:pt x="5" y="392"/>
                  </a:cubicBezTo>
                  <a:cubicBezTo>
                    <a:pt x="5" y="62"/>
                    <a:pt x="5" y="62"/>
                    <a:pt x="5" y="62"/>
                  </a:cubicBezTo>
                  <a:cubicBezTo>
                    <a:pt x="5" y="46"/>
                    <a:pt x="11" y="32"/>
                    <a:pt x="22" y="22"/>
                  </a:cubicBezTo>
                  <a:cubicBezTo>
                    <a:pt x="32" y="11"/>
                    <a:pt x="47" y="5"/>
                    <a:pt x="63" y="5"/>
                  </a:cubicBezTo>
                  <a:cubicBezTo>
                    <a:pt x="878" y="5"/>
                    <a:pt x="878" y="5"/>
                    <a:pt x="878" y="5"/>
                  </a:cubicBezTo>
                  <a:cubicBezTo>
                    <a:pt x="878" y="5"/>
                    <a:pt x="878" y="5"/>
                    <a:pt x="878" y="5"/>
                  </a:cubicBezTo>
                  <a:cubicBezTo>
                    <a:pt x="894" y="5"/>
                    <a:pt x="908" y="11"/>
                    <a:pt x="919" y="22"/>
                  </a:cubicBezTo>
                  <a:cubicBezTo>
                    <a:pt x="929" y="32"/>
                    <a:pt x="936" y="46"/>
                    <a:pt x="936" y="62"/>
                  </a:cubicBezTo>
                  <a:cubicBezTo>
                    <a:pt x="936" y="392"/>
                    <a:pt x="936" y="392"/>
                    <a:pt x="936" y="392"/>
                  </a:cubicBezTo>
                  <a:cubicBezTo>
                    <a:pt x="938" y="392"/>
                    <a:pt x="938" y="392"/>
                    <a:pt x="938" y="392"/>
                  </a:cubicBezTo>
                  <a:cubicBezTo>
                    <a:pt x="941" y="392"/>
                    <a:pt x="941" y="392"/>
                    <a:pt x="941" y="392"/>
                  </a:cubicBezTo>
                  <a:cubicBezTo>
                    <a:pt x="941" y="62"/>
                    <a:pt x="941" y="62"/>
                    <a:pt x="941" y="62"/>
                  </a:cubicBezTo>
                  <a:cubicBezTo>
                    <a:pt x="941" y="28"/>
                    <a:pt x="912" y="0"/>
                    <a:pt x="878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0" y="28"/>
                    <a:pt x="0" y="62"/>
                  </a:cubicBezTo>
                  <a:cubicBezTo>
                    <a:pt x="0" y="392"/>
                    <a:pt x="0" y="392"/>
                    <a:pt x="0" y="392"/>
                  </a:cubicBezTo>
                  <a:cubicBezTo>
                    <a:pt x="0" y="427"/>
                    <a:pt x="28" y="455"/>
                    <a:pt x="63" y="455"/>
                  </a:cubicBezTo>
                  <a:cubicBezTo>
                    <a:pt x="878" y="455"/>
                    <a:pt x="878" y="455"/>
                    <a:pt x="878" y="455"/>
                  </a:cubicBezTo>
                  <a:cubicBezTo>
                    <a:pt x="878" y="455"/>
                    <a:pt x="878" y="455"/>
                    <a:pt x="878" y="455"/>
                  </a:cubicBezTo>
                  <a:cubicBezTo>
                    <a:pt x="912" y="455"/>
                    <a:pt x="941" y="427"/>
                    <a:pt x="941" y="392"/>
                  </a:cubicBezTo>
                  <a:lnTo>
                    <a:pt x="938" y="3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4431" y="2800"/>
              <a:ext cx="340" cy="301"/>
            </a:xfrm>
            <a:custGeom>
              <a:avLst/>
              <a:gdLst>
                <a:gd name="T0" fmla="*/ 180 w 234"/>
                <a:gd name="T1" fmla="*/ 186 h 207"/>
                <a:gd name="T2" fmla="*/ 117 w 234"/>
                <a:gd name="T3" fmla="*/ 207 h 207"/>
                <a:gd name="T4" fmla="*/ 35 w 234"/>
                <a:gd name="T5" fmla="*/ 166 h 207"/>
                <a:gd name="T6" fmla="*/ 54 w 234"/>
                <a:gd name="T7" fmla="*/ 21 h 207"/>
                <a:gd name="T8" fmla="*/ 117 w 234"/>
                <a:gd name="T9" fmla="*/ 0 h 207"/>
                <a:gd name="T10" fmla="*/ 199 w 234"/>
                <a:gd name="T11" fmla="*/ 41 h 207"/>
                <a:gd name="T12" fmla="*/ 180 w 234"/>
                <a:gd name="T13" fmla="*/ 186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4" h="207">
                  <a:moveTo>
                    <a:pt x="180" y="186"/>
                  </a:moveTo>
                  <a:cubicBezTo>
                    <a:pt x="161" y="200"/>
                    <a:pt x="139" y="207"/>
                    <a:pt x="117" y="207"/>
                  </a:cubicBezTo>
                  <a:cubicBezTo>
                    <a:pt x="86" y="207"/>
                    <a:pt x="55" y="193"/>
                    <a:pt x="35" y="166"/>
                  </a:cubicBezTo>
                  <a:cubicBezTo>
                    <a:pt x="0" y="121"/>
                    <a:pt x="9" y="56"/>
                    <a:pt x="54" y="21"/>
                  </a:cubicBezTo>
                  <a:cubicBezTo>
                    <a:pt x="73" y="7"/>
                    <a:pt x="95" y="0"/>
                    <a:pt x="117" y="0"/>
                  </a:cubicBezTo>
                  <a:cubicBezTo>
                    <a:pt x="148" y="0"/>
                    <a:pt x="179" y="14"/>
                    <a:pt x="199" y="41"/>
                  </a:cubicBezTo>
                  <a:cubicBezTo>
                    <a:pt x="234" y="86"/>
                    <a:pt x="225" y="151"/>
                    <a:pt x="180" y="186"/>
                  </a:cubicBezTo>
                  <a:close/>
                </a:path>
              </a:pathLst>
            </a:custGeom>
            <a:solidFill>
              <a:srgbClr val="59B4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4431" y="2800"/>
              <a:ext cx="340" cy="301"/>
            </a:xfrm>
            <a:custGeom>
              <a:avLst/>
              <a:gdLst>
                <a:gd name="T0" fmla="*/ 180 w 234"/>
                <a:gd name="T1" fmla="*/ 186 h 207"/>
                <a:gd name="T2" fmla="*/ 117 w 234"/>
                <a:gd name="T3" fmla="*/ 207 h 207"/>
                <a:gd name="T4" fmla="*/ 35 w 234"/>
                <a:gd name="T5" fmla="*/ 166 h 207"/>
                <a:gd name="T6" fmla="*/ 54 w 234"/>
                <a:gd name="T7" fmla="*/ 21 h 207"/>
                <a:gd name="T8" fmla="*/ 117 w 234"/>
                <a:gd name="T9" fmla="*/ 0 h 207"/>
                <a:gd name="T10" fmla="*/ 199 w 234"/>
                <a:gd name="T11" fmla="*/ 41 h 207"/>
                <a:gd name="T12" fmla="*/ 180 w 234"/>
                <a:gd name="T13" fmla="*/ 186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4" h="207">
                  <a:moveTo>
                    <a:pt x="180" y="186"/>
                  </a:moveTo>
                  <a:cubicBezTo>
                    <a:pt x="161" y="200"/>
                    <a:pt x="139" y="207"/>
                    <a:pt x="117" y="207"/>
                  </a:cubicBezTo>
                  <a:cubicBezTo>
                    <a:pt x="86" y="207"/>
                    <a:pt x="55" y="193"/>
                    <a:pt x="35" y="166"/>
                  </a:cubicBezTo>
                  <a:cubicBezTo>
                    <a:pt x="0" y="121"/>
                    <a:pt x="9" y="56"/>
                    <a:pt x="54" y="21"/>
                  </a:cubicBezTo>
                  <a:cubicBezTo>
                    <a:pt x="73" y="7"/>
                    <a:pt x="95" y="0"/>
                    <a:pt x="117" y="0"/>
                  </a:cubicBezTo>
                  <a:cubicBezTo>
                    <a:pt x="148" y="0"/>
                    <a:pt x="179" y="14"/>
                    <a:pt x="199" y="41"/>
                  </a:cubicBezTo>
                  <a:cubicBezTo>
                    <a:pt x="234" y="86"/>
                    <a:pt x="225" y="151"/>
                    <a:pt x="180" y="186"/>
                  </a:cubicBezTo>
                  <a:close/>
                </a:path>
              </a:pathLst>
            </a:custGeom>
            <a:solidFill>
              <a:srgbClr val="59B4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4472" y="2845"/>
              <a:ext cx="42" cy="108"/>
            </a:xfrm>
            <a:custGeom>
              <a:avLst/>
              <a:gdLst>
                <a:gd name="T0" fmla="*/ 19 w 29"/>
                <a:gd name="T1" fmla="*/ 74 h 74"/>
                <a:gd name="T2" fmla="*/ 29 w 29"/>
                <a:gd name="T3" fmla="*/ 57 h 74"/>
                <a:gd name="T4" fmla="*/ 15 w 29"/>
                <a:gd name="T5" fmla="*/ 0 h 74"/>
                <a:gd name="T6" fmla="*/ 4 w 29"/>
                <a:gd name="T7" fmla="*/ 13 h 74"/>
                <a:gd name="T8" fmla="*/ 19 w 29"/>
                <a:gd name="T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74">
                  <a:moveTo>
                    <a:pt x="19" y="74"/>
                  </a:moveTo>
                  <a:cubicBezTo>
                    <a:pt x="21" y="69"/>
                    <a:pt x="25" y="63"/>
                    <a:pt x="29" y="57"/>
                  </a:cubicBezTo>
                  <a:cubicBezTo>
                    <a:pt x="12" y="31"/>
                    <a:pt x="13" y="10"/>
                    <a:pt x="15" y="0"/>
                  </a:cubicBezTo>
                  <a:cubicBezTo>
                    <a:pt x="11" y="4"/>
                    <a:pt x="7" y="9"/>
                    <a:pt x="4" y="13"/>
                  </a:cubicBezTo>
                  <a:cubicBezTo>
                    <a:pt x="1" y="27"/>
                    <a:pt x="0" y="48"/>
                    <a:pt x="19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4523" y="2958"/>
              <a:ext cx="203" cy="101"/>
            </a:xfrm>
            <a:custGeom>
              <a:avLst/>
              <a:gdLst>
                <a:gd name="T0" fmla="*/ 30 w 140"/>
                <a:gd name="T1" fmla="*/ 17 h 69"/>
                <a:gd name="T2" fmla="*/ 10 w 140"/>
                <a:gd name="T3" fmla="*/ 0 h 69"/>
                <a:gd name="T4" fmla="*/ 0 w 140"/>
                <a:gd name="T5" fmla="*/ 16 h 69"/>
                <a:gd name="T6" fmla="*/ 18 w 140"/>
                <a:gd name="T7" fmla="*/ 32 h 69"/>
                <a:gd name="T8" fmla="*/ 126 w 140"/>
                <a:gd name="T9" fmla="*/ 69 h 69"/>
                <a:gd name="T10" fmla="*/ 140 w 140"/>
                <a:gd name="T11" fmla="*/ 52 h 69"/>
                <a:gd name="T12" fmla="*/ 30 w 140"/>
                <a:gd name="T13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69">
                  <a:moveTo>
                    <a:pt x="30" y="17"/>
                  </a:moveTo>
                  <a:cubicBezTo>
                    <a:pt x="22" y="11"/>
                    <a:pt x="16" y="5"/>
                    <a:pt x="10" y="0"/>
                  </a:cubicBezTo>
                  <a:cubicBezTo>
                    <a:pt x="6" y="5"/>
                    <a:pt x="3" y="11"/>
                    <a:pt x="0" y="16"/>
                  </a:cubicBezTo>
                  <a:cubicBezTo>
                    <a:pt x="6" y="21"/>
                    <a:pt x="11" y="26"/>
                    <a:pt x="18" y="32"/>
                  </a:cubicBezTo>
                  <a:cubicBezTo>
                    <a:pt x="61" y="66"/>
                    <a:pt x="103" y="69"/>
                    <a:pt x="126" y="69"/>
                  </a:cubicBezTo>
                  <a:cubicBezTo>
                    <a:pt x="128" y="69"/>
                    <a:pt x="135" y="59"/>
                    <a:pt x="140" y="52"/>
                  </a:cubicBezTo>
                  <a:cubicBezTo>
                    <a:pt x="129" y="55"/>
                    <a:pt x="84" y="60"/>
                    <a:pt x="3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4604" y="2881"/>
              <a:ext cx="144" cy="121"/>
            </a:xfrm>
            <a:custGeom>
              <a:avLst/>
              <a:gdLst>
                <a:gd name="T0" fmla="*/ 0 w 99"/>
                <a:gd name="T1" fmla="*/ 9 h 83"/>
                <a:gd name="T2" fmla="*/ 96 w 99"/>
                <a:gd name="T3" fmla="*/ 83 h 83"/>
                <a:gd name="T4" fmla="*/ 99 w 99"/>
                <a:gd name="T5" fmla="*/ 74 h 83"/>
                <a:gd name="T6" fmla="*/ 14 w 99"/>
                <a:gd name="T7" fmla="*/ 0 h 83"/>
                <a:gd name="T8" fmla="*/ 0 w 99"/>
                <a:gd name="T9" fmla="*/ 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3">
                  <a:moveTo>
                    <a:pt x="0" y="9"/>
                  </a:moveTo>
                  <a:cubicBezTo>
                    <a:pt x="39" y="45"/>
                    <a:pt x="84" y="75"/>
                    <a:pt x="96" y="83"/>
                  </a:cubicBezTo>
                  <a:cubicBezTo>
                    <a:pt x="97" y="80"/>
                    <a:pt x="98" y="77"/>
                    <a:pt x="99" y="74"/>
                  </a:cubicBezTo>
                  <a:cubicBezTo>
                    <a:pt x="86" y="65"/>
                    <a:pt x="54" y="40"/>
                    <a:pt x="14" y="0"/>
                  </a:cubicBezTo>
                  <a:cubicBezTo>
                    <a:pt x="10" y="3"/>
                    <a:pt x="5" y="6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4534" y="2807"/>
              <a:ext cx="63" cy="60"/>
            </a:xfrm>
            <a:custGeom>
              <a:avLst/>
              <a:gdLst>
                <a:gd name="T0" fmla="*/ 43 w 43"/>
                <a:gd name="T1" fmla="*/ 32 h 41"/>
                <a:gd name="T2" fmla="*/ 14 w 43"/>
                <a:gd name="T3" fmla="*/ 0 h 41"/>
                <a:gd name="T4" fmla="*/ 0 w 43"/>
                <a:gd name="T5" fmla="*/ 5 h 41"/>
                <a:gd name="T6" fmla="*/ 28 w 43"/>
                <a:gd name="T7" fmla="*/ 41 h 41"/>
                <a:gd name="T8" fmla="*/ 43 w 43"/>
                <a:gd name="T9" fmla="*/ 3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1">
                  <a:moveTo>
                    <a:pt x="43" y="32"/>
                  </a:moveTo>
                  <a:cubicBezTo>
                    <a:pt x="34" y="22"/>
                    <a:pt x="24" y="11"/>
                    <a:pt x="14" y="0"/>
                  </a:cubicBezTo>
                  <a:cubicBezTo>
                    <a:pt x="9" y="1"/>
                    <a:pt x="5" y="3"/>
                    <a:pt x="0" y="5"/>
                  </a:cubicBezTo>
                  <a:cubicBezTo>
                    <a:pt x="8" y="17"/>
                    <a:pt x="17" y="29"/>
                    <a:pt x="28" y="41"/>
                  </a:cubicBezTo>
                  <a:cubicBezTo>
                    <a:pt x="33" y="37"/>
                    <a:pt x="38" y="34"/>
                    <a:pt x="43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4478" y="2953"/>
              <a:ext cx="45" cy="114"/>
            </a:xfrm>
            <a:custGeom>
              <a:avLst/>
              <a:gdLst>
                <a:gd name="T0" fmla="*/ 15 w 31"/>
                <a:gd name="T1" fmla="*/ 0 h 79"/>
                <a:gd name="T2" fmla="*/ 0 w 31"/>
                <a:gd name="T3" fmla="*/ 58 h 79"/>
                <a:gd name="T4" fmla="*/ 2 w 31"/>
                <a:gd name="T5" fmla="*/ 62 h 79"/>
                <a:gd name="T6" fmla="*/ 19 w 31"/>
                <a:gd name="T7" fmla="*/ 79 h 79"/>
                <a:gd name="T8" fmla="*/ 31 w 31"/>
                <a:gd name="T9" fmla="*/ 20 h 79"/>
                <a:gd name="T10" fmla="*/ 15 w 31"/>
                <a:gd name="T11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79">
                  <a:moveTo>
                    <a:pt x="15" y="0"/>
                  </a:moveTo>
                  <a:cubicBezTo>
                    <a:pt x="5" y="21"/>
                    <a:pt x="1" y="41"/>
                    <a:pt x="0" y="58"/>
                  </a:cubicBezTo>
                  <a:cubicBezTo>
                    <a:pt x="1" y="59"/>
                    <a:pt x="1" y="60"/>
                    <a:pt x="2" y="62"/>
                  </a:cubicBezTo>
                  <a:cubicBezTo>
                    <a:pt x="7" y="68"/>
                    <a:pt x="13" y="74"/>
                    <a:pt x="19" y="79"/>
                  </a:cubicBezTo>
                  <a:cubicBezTo>
                    <a:pt x="18" y="65"/>
                    <a:pt x="20" y="43"/>
                    <a:pt x="31" y="20"/>
                  </a:cubicBezTo>
                  <a:cubicBezTo>
                    <a:pt x="24" y="13"/>
                    <a:pt x="19" y="7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9" name="Freeform 26"/>
            <p:cNvSpPr>
              <a:spLocks/>
            </p:cNvSpPr>
            <p:nvPr/>
          </p:nvSpPr>
          <p:spPr bwMode="auto">
            <a:xfrm>
              <a:off x="4499" y="2867"/>
              <a:ext cx="105" cy="115"/>
            </a:xfrm>
            <a:custGeom>
              <a:avLst/>
              <a:gdLst>
                <a:gd name="T0" fmla="*/ 52 w 72"/>
                <a:gd name="T1" fmla="*/ 0 h 79"/>
                <a:gd name="T2" fmla="*/ 24 w 72"/>
                <a:gd name="T3" fmla="*/ 25 h 79"/>
                <a:gd name="T4" fmla="*/ 10 w 72"/>
                <a:gd name="T5" fmla="*/ 42 h 79"/>
                <a:gd name="T6" fmla="*/ 10 w 72"/>
                <a:gd name="T7" fmla="*/ 42 h 79"/>
                <a:gd name="T8" fmla="*/ 0 w 72"/>
                <a:gd name="T9" fmla="*/ 59 h 79"/>
                <a:gd name="T10" fmla="*/ 16 w 72"/>
                <a:gd name="T11" fmla="*/ 79 h 79"/>
                <a:gd name="T12" fmla="*/ 26 w 72"/>
                <a:gd name="T13" fmla="*/ 63 h 79"/>
                <a:gd name="T14" fmla="*/ 26 w 72"/>
                <a:gd name="T15" fmla="*/ 63 h 79"/>
                <a:gd name="T16" fmla="*/ 45 w 72"/>
                <a:gd name="T17" fmla="*/ 41 h 79"/>
                <a:gd name="T18" fmla="*/ 72 w 72"/>
                <a:gd name="T19" fmla="*/ 19 h 79"/>
                <a:gd name="T20" fmla="*/ 52 w 72"/>
                <a:gd name="T21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9">
                  <a:moveTo>
                    <a:pt x="52" y="0"/>
                  </a:moveTo>
                  <a:cubicBezTo>
                    <a:pt x="43" y="6"/>
                    <a:pt x="33" y="14"/>
                    <a:pt x="24" y="25"/>
                  </a:cubicBezTo>
                  <a:cubicBezTo>
                    <a:pt x="18" y="30"/>
                    <a:pt x="14" y="36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6" y="48"/>
                    <a:pt x="2" y="54"/>
                    <a:pt x="0" y="59"/>
                  </a:cubicBezTo>
                  <a:cubicBezTo>
                    <a:pt x="4" y="66"/>
                    <a:pt x="9" y="72"/>
                    <a:pt x="16" y="79"/>
                  </a:cubicBezTo>
                  <a:cubicBezTo>
                    <a:pt x="19" y="74"/>
                    <a:pt x="22" y="68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31" y="55"/>
                    <a:pt x="37" y="48"/>
                    <a:pt x="45" y="41"/>
                  </a:cubicBezTo>
                  <a:cubicBezTo>
                    <a:pt x="55" y="32"/>
                    <a:pt x="64" y="25"/>
                    <a:pt x="72" y="19"/>
                  </a:cubicBezTo>
                  <a:cubicBezTo>
                    <a:pt x="65" y="13"/>
                    <a:pt x="58" y="6"/>
                    <a:pt x="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4575" y="2831"/>
              <a:ext cx="144" cy="63"/>
            </a:xfrm>
            <a:custGeom>
              <a:avLst/>
              <a:gdLst>
                <a:gd name="T0" fmla="*/ 84 w 99"/>
                <a:gd name="T1" fmla="*/ 3 h 44"/>
                <a:gd name="T2" fmla="*/ 15 w 99"/>
                <a:gd name="T3" fmla="*/ 16 h 44"/>
                <a:gd name="T4" fmla="*/ 15 w 99"/>
                <a:gd name="T5" fmla="*/ 16 h 44"/>
                <a:gd name="T6" fmla="*/ 0 w 99"/>
                <a:gd name="T7" fmla="*/ 25 h 44"/>
                <a:gd name="T8" fmla="*/ 20 w 99"/>
                <a:gd name="T9" fmla="*/ 44 h 44"/>
                <a:gd name="T10" fmla="*/ 34 w 99"/>
                <a:gd name="T11" fmla="*/ 35 h 44"/>
                <a:gd name="T12" fmla="*/ 34 w 99"/>
                <a:gd name="T13" fmla="*/ 35 h 44"/>
                <a:gd name="T14" fmla="*/ 99 w 99"/>
                <a:gd name="T15" fmla="*/ 18 h 44"/>
                <a:gd name="T16" fmla="*/ 84 w 99"/>
                <a:gd name="T17" fmla="*/ 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" h="44">
                  <a:moveTo>
                    <a:pt x="84" y="3"/>
                  </a:moveTo>
                  <a:cubicBezTo>
                    <a:pt x="68" y="0"/>
                    <a:pt x="43" y="1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0" y="18"/>
                    <a:pt x="5" y="21"/>
                    <a:pt x="0" y="25"/>
                  </a:cubicBezTo>
                  <a:cubicBezTo>
                    <a:pt x="6" y="31"/>
                    <a:pt x="13" y="38"/>
                    <a:pt x="20" y="44"/>
                  </a:cubicBezTo>
                  <a:cubicBezTo>
                    <a:pt x="25" y="41"/>
                    <a:pt x="30" y="38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72" y="15"/>
                    <a:pt x="99" y="18"/>
                    <a:pt x="99" y="18"/>
                  </a:cubicBezTo>
                  <a:cubicBezTo>
                    <a:pt x="95" y="12"/>
                    <a:pt x="90" y="7"/>
                    <a:pt x="84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4653" y="2921"/>
              <a:ext cx="75" cy="72"/>
            </a:xfrm>
            <a:custGeom>
              <a:avLst/>
              <a:gdLst>
                <a:gd name="T0" fmla="*/ 12 w 51"/>
                <a:gd name="T1" fmla="*/ 7 h 50"/>
                <a:gd name="T2" fmla="*/ 8 w 51"/>
                <a:gd name="T3" fmla="*/ 39 h 50"/>
                <a:gd name="T4" fmla="*/ 39 w 51"/>
                <a:gd name="T5" fmla="*/ 43 h 50"/>
                <a:gd name="T6" fmla="*/ 43 w 51"/>
                <a:gd name="T7" fmla="*/ 12 h 50"/>
                <a:gd name="T8" fmla="*/ 12 w 51"/>
                <a:gd name="T9" fmla="*/ 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12" y="7"/>
                  </a:moveTo>
                  <a:cubicBezTo>
                    <a:pt x="2" y="15"/>
                    <a:pt x="0" y="29"/>
                    <a:pt x="8" y="39"/>
                  </a:cubicBezTo>
                  <a:cubicBezTo>
                    <a:pt x="15" y="48"/>
                    <a:pt x="29" y="50"/>
                    <a:pt x="39" y="43"/>
                  </a:cubicBezTo>
                  <a:cubicBezTo>
                    <a:pt x="49" y="35"/>
                    <a:pt x="51" y="21"/>
                    <a:pt x="43" y="12"/>
                  </a:cubicBezTo>
                  <a:cubicBezTo>
                    <a:pt x="36" y="2"/>
                    <a:pt x="22" y="0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4590" y="3002"/>
              <a:ext cx="66" cy="67"/>
            </a:xfrm>
            <a:custGeom>
              <a:avLst/>
              <a:gdLst>
                <a:gd name="T0" fmla="*/ 10 w 46"/>
                <a:gd name="T1" fmla="*/ 7 h 46"/>
                <a:gd name="T2" fmla="*/ 6 w 46"/>
                <a:gd name="T3" fmla="*/ 36 h 46"/>
                <a:gd name="T4" fmla="*/ 35 w 46"/>
                <a:gd name="T5" fmla="*/ 40 h 46"/>
                <a:gd name="T6" fmla="*/ 39 w 46"/>
                <a:gd name="T7" fmla="*/ 11 h 46"/>
                <a:gd name="T8" fmla="*/ 10 w 46"/>
                <a:gd name="T9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6">
                  <a:moveTo>
                    <a:pt x="10" y="7"/>
                  </a:moveTo>
                  <a:cubicBezTo>
                    <a:pt x="1" y="14"/>
                    <a:pt x="0" y="27"/>
                    <a:pt x="6" y="36"/>
                  </a:cubicBezTo>
                  <a:cubicBezTo>
                    <a:pt x="13" y="45"/>
                    <a:pt x="26" y="46"/>
                    <a:pt x="35" y="40"/>
                  </a:cubicBezTo>
                  <a:cubicBezTo>
                    <a:pt x="44" y="33"/>
                    <a:pt x="46" y="20"/>
                    <a:pt x="39" y="11"/>
                  </a:cubicBezTo>
                  <a:cubicBezTo>
                    <a:pt x="32" y="2"/>
                    <a:pt x="19" y="0"/>
                    <a:pt x="1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3" name="Freeform 30"/>
            <p:cNvSpPr>
              <a:spLocks/>
            </p:cNvSpPr>
            <p:nvPr/>
          </p:nvSpPr>
          <p:spPr bwMode="auto">
            <a:xfrm>
              <a:off x="4468" y="2902"/>
              <a:ext cx="103" cy="101"/>
            </a:xfrm>
            <a:custGeom>
              <a:avLst/>
              <a:gdLst>
                <a:gd name="T0" fmla="*/ 17 w 71"/>
                <a:gd name="T1" fmla="*/ 10 h 70"/>
                <a:gd name="T2" fmla="*/ 11 w 71"/>
                <a:gd name="T3" fmla="*/ 54 h 70"/>
                <a:gd name="T4" fmla="*/ 55 w 71"/>
                <a:gd name="T5" fmla="*/ 60 h 70"/>
                <a:gd name="T6" fmla="*/ 61 w 71"/>
                <a:gd name="T7" fmla="*/ 16 h 70"/>
                <a:gd name="T8" fmla="*/ 17 w 71"/>
                <a:gd name="T9" fmla="*/ 1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70">
                  <a:moveTo>
                    <a:pt x="17" y="10"/>
                  </a:moveTo>
                  <a:cubicBezTo>
                    <a:pt x="3" y="21"/>
                    <a:pt x="0" y="40"/>
                    <a:pt x="11" y="54"/>
                  </a:cubicBezTo>
                  <a:cubicBezTo>
                    <a:pt x="21" y="68"/>
                    <a:pt x="41" y="70"/>
                    <a:pt x="55" y="60"/>
                  </a:cubicBezTo>
                  <a:cubicBezTo>
                    <a:pt x="68" y="49"/>
                    <a:pt x="71" y="30"/>
                    <a:pt x="61" y="16"/>
                  </a:cubicBezTo>
                  <a:cubicBezTo>
                    <a:pt x="50" y="2"/>
                    <a:pt x="30" y="0"/>
                    <a:pt x="17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4" name="Rectangle 31"/>
            <p:cNvSpPr>
              <a:spLocks noChangeArrowheads="1"/>
            </p:cNvSpPr>
            <p:nvPr/>
          </p:nvSpPr>
          <p:spPr bwMode="auto">
            <a:xfrm>
              <a:off x="4884" y="2838"/>
              <a:ext cx="61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0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Light" panose="020B0302040504020203" pitchFamily="34" charset="0"/>
                  <a:ea typeface="+mn-ea"/>
                  <a:cs typeface="+mn-cs"/>
                </a:rPr>
                <a:t>Website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32"/>
            <p:cNvSpPr>
              <a:spLocks/>
            </p:cNvSpPr>
            <p:nvPr/>
          </p:nvSpPr>
          <p:spPr bwMode="auto">
            <a:xfrm>
              <a:off x="5778" y="2584"/>
              <a:ext cx="1353" cy="647"/>
            </a:xfrm>
            <a:custGeom>
              <a:avLst/>
              <a:gdLst>
                <a:gd name="T0" fmla="*/ 874 w 932"/>
                <a:gd name="T1" fmla="*/ 0 h 446"/>
                <a:gd name="T2" fmla="*/ 59 w 932"/>
                <a:gd name="T3" fmla="*/ 0 h 446"/>
                <a:gd name="T4" fmla="*/ 18 w 932"/>
                <a:gd name="T5" fmla="*/ 17 h 446"/>
                <a:gd name="T6" fmla="*/ 0 w 932"/>
                <a:gd name="T7" fmla="*/ 58 h 446"/>
                <a:gd name="T8" fmla="*/ 0 w 932"/>
                <a:gd name="T9" fmla="*/ 388 h 446"/>
                <a:gd name="T10" fmla="*/ 18 w 932"/>
                <a:gd name="T11" fmla="*/ 430 h 446"/>
                <a:gd name="T12" fmla="*/ 53 w 932"/>
                <a:gd name="T13" fmla="*/ 446 h 446"/>
                <a:gd name="T14" fmla="*/ 53 w 932"/>
                <a:gd name="T15" fmla="*/ 442 h 446"/>
                <a:gd name="T16" fmla="*/ 53 w 932"/>
                <a:gd name="T17" fmla="*/ 113 h 446"/>
                <a:gd name="T18" fmla="*/ 113 w 932"/>
                <a:gd name="T19" fmla="*/ 52 h 446"/>
                <a:gd name="T20" fmla="*/ 928 w 932"/>
                <a:gd name="T21" fmla="*/ 52 h 446"/>
                <a:gd name="T22" fmla="*/ 932 w 932"/>
                <a:gd name="T23" fmla="*/ 52 h 446"/>
                <a:gd name="T24" fmla="*/ 915 w 932"/>
                <a:gd name="T25" fmla="*/ 17 h 446"/>
                <a:gd name="T26" fmla="*/ 874 w 932"/>
                <a:gd name="T27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32" h="446">
                  <a:moveTo>
                    <a:pt x="874" y="0"/>
                  </a:moveTo>
                  <a:cubicBezTo>
                    <a:pt x="59" y="0"/>
                    <a:pt x="59" y="0"/>
                    <a:pt x="59" y="0"/>
                  </a:cubicBezTo>
                  <a:cubicBezTo>
                    <a:pt x="43" y="0"/>
                    <a:pt x="28" y="7"/>
                    <a:pt x="18" y="17"/>
                  </a:cubicBezTo>
                  <a:cubicBezTo>
                    <a:pt x="7" y="28"/>
                    <a:pt x="0" y="42"/>
                    <a:pt x="0" y="58"/>
                  </a:cubicBezTo>
                  <a:cubicBezTo>
                    <a:pt x="0" y="388"/>
                    <a:pt x="0" y="388"/>
                    <a:pt x="0" y="388"/>
                  </a:cubicBezTo>
                  <a:cubicBezTo>
                    <a:pt x="0" y="404"/>
                    <a:pt x="7" y="419"/>
                    <a:pt x="18" y="430"/>
                  </a:cubicBezTo>
                  <a:cubicBezTo>
                    <a:pt x="27" y="439"/>
                    <a:pt x="39" y="445"/>
                    <a:pt x="53" y="446"/>
                  </a:cubicBezTo>
                  <a:cubicBezTo>
                    <a:pt x="53" y="445"/>
                    <a:pt x="53" y="444"/>
                    <a:pt x="53" y="442"/>
                  </a:cubicBezTo>
                  <a:cubicBezTo>
                    <a:pt x="53" y="113"/>
                    <a:pt x="53" y="113"/>
                    <a:pt x="53" y="113"/>
                  </a:cubicBezTo>
                  <a:cubicBezTo>
                    <a:pt x="53" y="79"/>
                    <a:pt x="80" y="52"/>
                    <a:pt x="113" y="52"/>
                  </a:cubicBezTo>
                  <a:cubicBezTo>
                    <a:pt x="928" y="52"/>
                    <a:pt x="928" y="52"/>
                    <a:pt x="928" y="52"/>
                  </a:cubicBezTo>
                  <a:cubicBezTo>
                    <a:pt x="929" y="52"/>
                    <a:pt x="930" y="52"/>
                    <a:pt x="932" y="52"/>
                  </a:cubicBezTo>
                  <a:cubicBezTo>
                    <a:pt x="930" y="39"/>
                    <a:pt x="924" y="26"/>
                    <a:pt x="915" y="17"/>
                  </a:cubicBezTo>
                  <a:cubicBezTo>
                    <a:pt x="904" y="7"/>
                    <a:pt x="890" y="0"/>
                    <a:pt x="874" y="0"/>
                  </a:cubicBezTo>
                </a:path>
              </a:pathLst>
            </a:custGeom>
            <a:solidFill>
              <a:srgbClr val="4E6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6" name="Freeform 33"/>
            <p:cNvSpPr>
              <a:spLocks/>
            </p:cNvSpPr>
            <p:nvPr/>
          </p:nvSpPr>
          <p:spPr bwMode="auto">
            <a:xfrm>
              <a:off x="5772" y="2578"/>
              <a:ext cx="1365" cy="659"/>
            </a:xfrm>
            <a:custGeom>
              <a:avLst/>
              <a:gdLst>
                <a:gd name="T0" fmla="*/ 878 w 940"/>
                <a:gd name="T1" fmla="*/ 0 h 454"/>
                <a:gd name="T2" fmla="*/ 63 w 940"/>
                <a:gd name="T3" fmla="*/ 0 h 454"/>
                <a:gd name="T4" fmla="*/ 0 w 940"/>
                <a:gd name="T5" fmla="*/ 62 h 454"/>
                <a:gd name="T6" fmla="*/ 0 w 940"/>
                <a:gd name="T7" fmla="*/ 392 h 454"/>
                <a:gd name="T8" fmla="*/ 57 w 940"/>
                <a:gd name="T9" fmla="*/ 454 h 454"/>
                <a:gd name="T10" fmla="*/ 57 w 940"/>
                <a:gd name="T11" fmla="*/ 450 h 454"/>
                <a:gd name="T12" fmla="*/ 22 w 940"/>
                <a:gd name="T13" fmla="*/ 434 h 454"/>
                <a:gd name="T14" fmla="*/ 4 w 940"/>
                <a:gd name="T15" fmla="*/ 392 h 454"/>
                <a:gd name="T16" fmla="*/ 4 w 940"/>
                <a:gd name="T17" fmla="*/ 62 h 454"/>
                <a:gd name="T18" fmla="*/ 22 w 940"/>
                <a:gd name="T19" fmla="*/ 21 h 454"/>
                <a:gd name="T20" fmla="*/ 63 w 940"/>
                <a:gd name="T21" fmla="*/ 4 h 454"/>
                <a:gd name="T22" fmla="*/ 878 w 940"/>
                <a:gd name="T23" fmla="*/ 4 h 454"/>
                <a:gd name="T24" fmla="*/ 919 w 940"/>
                <a:gd name="T25" fmla="*/ 21 h 454"/>
                <a:gd name="T26" fmla="*/ 936 w 940"/>
                <a:gd name="T27" fmla="*/ 56 h 454"/>
                <a:gd name="T28" fmla="*/ 940 w 940"/>
                <a:gd name="T29" fmla="*/ 57 h 454"/>
                <a:gd name="T30" fmla="*/ 878 w 940"/>
                <a:gd name="T3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40" h="454">
                  <a:moveTo>
                    <a:pt x="878" y="0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0" y="28"/>
                    <a:pt x="0" y="62"/>
                  </a:cubicBezTo>
                  <a:cubicBezTo>
                    <a:pt x="0" y="392"/>
                    <a:pt x="0" y="392"/>
                    <a:pt x="0" y="392"/>
                  </a:cubicBezTo>
                  <a:cubicBezTo>
                    <a:pt x="0" y="425"/>
                    <a:pt x="25" y="452"/>
                    <a:pt x="57" y="454"/>
                  </a:cubicBezTo>
                  <a:cubicBezTo>
                    <a:pt x="57" y="453"/>
                    <a:pt x="57" y="452"/>
                    <a:pt x="57" y="450"/>
                  </a:cubicBezTo>
                  <a:cubicBezTo>
                    <a:pt x="43" y="449"/>
                    <a:pt x="31" y="443"/>
                    <a:pt x="22" y="434"/>
                  </a:cubicBezTo>
                  <a:cubicBezTo>
                    <a:pt x="11" y="423"/>
                    <a:pt x="4" y="408"/>
                    <a:pt x="4" y="392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46"/>
                    <a:pt x="11" y="32"/>
                    <a:pt x="22" y="21"/>
                  </a:cubicBezTo>
                  <a:cubicBezTo>
                    <a:pt x="32" y="11"/>
                    <a:pt x="47" y="4"/>
                    <a:pt x="63" y="4"/>
                  </a:cubicBezTo>
                  <a:cubicBezTo>
                    <a:pt x="878" y="4"/>
                    <a:pt x="878" y="4"/>
                    <a:pt x="878" y="4"/>
                  </a:cubicBezTo>
                  <a:cubicBezTo>
                    <a:pt x="894" y="4"/>
                    <a:pt x="908" y="11"/>
                    <a:pt x="919" y="21"/>
                  </a:cubicBezTo>
                  <a:cubicBezTo>
                    <a:pt x="928" y="30"/>
                    <a:pt x="934" y="43"/>
                    <a:pt x="936" y="56"/>
                  </a:cubicBezTo>
                  <a:cubicBezTo>
                    <a:pt x="937" y="56"/>
                    <a:pt x="938" y="57"/>
                    <a:pt x="940" y="57"/>
                  </a:cubicBezTo>
                  <a:cubicBezTo>
                    <a:pt x="937" y="25"/>
                    <a:pt x="910" y="0"/>
                    <a:pt x="87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7" name="Freeform 34"/>
            <p:cNvSpPr>
              <a:spLocks/>
            </p:cNvSpPr>
            <p:nvPr/>
          </p:nvSpPr>
          <p:spPr bwMode="auto">
            <a:xfrm>
              <a:off x="5855" y="2659"/>
              <a:ext cx="1358" cy="655"/>
            </a:xfrm>
            <a:custGeom>
              <a:avLst/>
              <a:gdLst>
                <a:gd name="T0" fmla="*/ 935 w 935"/>
                <a:gd name="T1" fmla="*/ 390 h 451"/>
                <a:gd name="T2" fmla="*/ 875 w 935"/>
                <a:gd name="T3" fmla="*/ 451 h 451"/>
                <a:gd name="T4" fmla="*/ 60 w 935"/>
                <a:gd name="T5" fmla="*/ 451 h 451"/>
                <a:gd name="T6" fmla="*/ 0 w 935"/>
                <a:gd name="T7" fmla="*/ 390 h 451"/>
                <a:gd name="T8" fmla="*/ 0 w 935"/>
                <a:gd name="T9" fmla="*/ 61 h 451"/>
                <a:gd name="T10" fmla="*/ 60 w 935"/>
                <a:gd name="T11" fmla="*/ 0 h 451"/>
                <a:gd name="T12" fmla="*/ 875 w 935"/>
                <a:gd name="T13" fmla="*/ 0 h 451"/>
                <a:gd name="T14" fmla="*/ 935 w 935"/>
                <a:gd name="T15" fmla="*/ 61 h 451"/>
                <a:gd name="T16" fmla="*/ 935 w 935"/>
                <a:gd name="T17" fmla="*/ 39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5" h="451">
                  <a:moveTo>
                    <a:pt x="935" y="390"/>
                  </a:moveTo>
                  <a:cubicBezTo>
                    <a:pt x="935" y="424"/>
                    <a:pt x="908" y="451"/>
                    <a:pt x="875" y="451"/>
                  </a:cubicBezTo>
                  <a:cubicBezTo>
                    <a:pt x="60" y="451"/>
                    <a:pt x="60" y="451"/>
                    <a:pt x="60" y="451"/>
                  </a:cubicBezTo>
                  <a:cubicBezTo>
                    <a:pt x="27" y="451"/>
                    <a:pt x="0" y="424"/>
                    <a:pt x="0" y="390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875" y="0"/>
                    <a:pt x="875" y="0"/>
                    <a:pt x="875" y="0"/>
                  </a:cubicBezTo>
                  <a:cubicBezTo>
                    <a:pt x="908" y="0"/>
                    <a:pt x="935" y="27"/>
                    <a:pt x="935" y="61"/>
                  </a:cubicBezTo>
                  <a:cubicBezTo>
                    <a:pt x="935" y="390"/>
                    <a:pt x="935" y="390"/>
                    <a:pt x="935" y="390"/>
                  </a:cubicBezTo>
                </a:path>
              </a:pathLst>
            </a:custGeom>
            <a:solidFill>
              <a:srgbClr val="022D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8" name="Freeform 35"/>
            <p:cNvSpPr>
              <a:spLocks/>
            </p:cNvSpPr>
            <p:nvPr/>
          </p:nvSpPr>
          <p:spPr bwMode="auto">
            <a:xfrm>
              <a:off x="5850" y="2656"/>
              <a:ext cx="1367" cy="661"/>
            </a:xfrm>
            <a:custGeom>
              <a:avLst/>
              <a:gdLst>
                <a:gd name="T0" fmla="*/ 938 w 941"/>
                <a:gd name="T1" fmla="*/ 392 h 455"/>
                <a:gd name="T2" fmla="*/ 936 w 941"/>
                <a:gd name="T3" fmla="*/ 392 h 455"/>
                <a:gd name="T4" fmla="*/ 919 w 941"/>
                <a:gd name="T5" fmla="*/ 433 h 455"/>
                <a:gd name="T6" fmla="*/ 878 w 941"/>
                <a:gd name="T7" fmla="*/ 450 h 455"/>
                <a:gd name="T8" fmla="*/ 63 w 941"/>
                <a:gd name="T9" fmla="*/ 450 h 455"/>
                <a:gd name="T10" fmla="*/ 22 w 941"/>
                <a:gd name="T11" fmla="*/ 433 h 455"/>
                <a:gd name="T12" fmla="*/ 5 w 941"/>
                <a:gd name="T13" fmla="*/ 392 h 455"/>
                <a:gd name="T14" fmla="*/ 5 w 941"/>
                <a:gd name="T15" fmla="*/ 63 h 455"/>
                <a:gd name="T16" fmla="*/ 22 w 941"/>
                <a:gd name="T17" fmla="*/ 22 h 455"/>
                <a:gd name="T18" fmla="*/ 63 w 941"/>
                <a:gd name="T19" fmla="*/ 5 h 455"/>
                <a:gd name="T20" fmla="*/ 878 w 941"/>
                <a:gd name="T21" fmla="*/ 5 h 455"/>
                <a:gd name="T22" fmla="*/ 919 w 941"/>
                <a:gd name="T23" fmla="*/ 22 h 455"/>
                <a:gd name="T24" fmla="*/ 936 w 941"/>
                <a:gd name="T25" fmla="*/ 63 h 455"/>
                <a:gd name="T26" fmla="*/ 936 w 941"/>
                <a:gd name="T27" fmla="*/ 392 h 455"/>
                <a:gd name="T28" fmla="*/ 938 w 941"/>
                <a:gd name="T29" fmla="*/ 392 h 455"/>
                <a:gd name="T30" fmla="*/ 941 w 941"/>
                <a:gd name="T31" fmla="*/ 392 h 455"/>
                <a:gd name="T32" fmla="*/ 941 w 941"/>
                <a:gd name="T33" fmla="*/ 63 h 455"/>
                <a:gd name="T34" fmla="*/ 878 w 941"/>
                <a:gd name="T35" fmla="*/ 0 h 455"/>
                <a:gd name="T36" fmla="*/ 63 w 941"/>
                <a:gd name="T37" fmla="*/ 0 h 455"/>
                <a:gd name="T38" fmla="*/ 0 w 941"/>
                <a:gd name="T39" fmla="*/ 63 h 455"/>
                <a:gd name="T40" fmla="*/ 0 w 941"/>
                <a:gd name="T41" fmla="*/ 392 h 455"/>
                <a:gd name="T42" fmla="*/ 63 w 941"/>
                <a:gd name="T43" fmla="*/ 455 h 455"/>
                <a:gd name="T44" fmla="*/ 878 w 941"/>
                <a:gd name="T45" fmla="*/ 455 h 455"/>
                <a:gd name="T46" fmla="*/ 941 w 941"/>
                <a:gd name="T47" fmla="*/ 392 h 455"/>
                <a:gd name="T48" fmla="*/ 938 w 941"/>
                <a:gd name="T49" fmla="*/ 392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41" h="455">
                  <a:moveTo>
                    <a:pt x="938" y="392"/>
                  </a:moveTo>
                  <a:cubicBezTo>
                    <a:pt x="936" y="392"/>
                    <a:pt x="936" y="392"/>
                    <a:pt x="936" y="392"/>
                  </a:cubicBezTo>
                  <a:cubicBezTo>
                    <a:pt x="936" y="408"/>
                    <a:pt x="929" y="423"/>
                    <a:pt x="919" y="433"/>
                  </a:cubicBezTo>
                  <a:cubicBezTo>
                    <a:pt x="908" y="444"/>
                    <a:pt x="894" y="450"/>
                    <a:pt x="878" y="450"/>
                  </a:cubicBezTo>
                  <a:cubicBezTo>
                    <a:pt x="63" y="450"/>
                    <a:pt x="63" y="450"/>
                    <a:pt x="63" y="450"/>
                  </a:cubicBezTo>
                  <a:cubicBezTo>
                    <a:pt x="47" y="450"/>
                    <a:pt x="33" y="444"/>
                    <a:pt x="22" y="433"/>
                  </a:cubicBezTo>
                  <a:cubicBezTo>
                    <a:pt x="12" y="423"/>
                    <a:pt x="5" y="408"/>
                    <a:pt x="5" y="392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47"/>
                    <a:pt x="12" y="32"/>
                    <a:pt x="22" y="22"/>
                  </a:cubicBezTo>
                  <a:cubicBezTo>
                    <a:pt x="33" y="11"/>
                    <a:pt x="47" y="5"/>
                    <a:pt x="63" y="5"/>
                  </a:cubicBezTo>
                  <a:cubicBezTo>
                    <a:pt x="878" y="5"/>
                    <a:pt x="878" y="5"/>
                    <a:pt x="878" y="5"/>
                  </a:cubicBezTo>
                  <a:cubicBezTo>
                    <a:pt x="894" y="5"/>
                    <a:pt x="908" y="11"/>
                    <a:pt x="919" y="22"/>
                  </a:cubicBezTo>
                  <a:cubicBezTo>
                    <a:pt x="929" y="32"/>
                    <a:pt x="936" y="47"/>
                    <a:pt x="936" y="63"/>
                  </a:cubicBezTo>
                  <a:cubicBezTo>
                    <a:pt x="936" y="392"/>
                    <a:pt x="936" y="392"/>
                    <a:pt x="936" y="392"/>
                  </a:cubicBezTo>
                  <a:cubicBezTo>
                    <a:pt x="938" y="392"/>
                    <a:pt x="938" y="392"/>
                    <a:pt x="938" y="392"/>
                  </a:cubicBezTo>
                  <a:cubicBezTo>
                    <a:pt x="941" y="392"/>
                    <a:pt x="941" y="392"/>
                    <a:pt x="941" y="392"/>
                  </a:cubicBezTo>
                  <a:cubicBezTo>
                    <a:pt x="941" y="63"/>
                    <a:pt x="941" y="63"/>
                    <a:pt x="941" y="63"/>
                  </a:cubicBezTo>
                  <a:cubicBezTo>
                    <a:pt x="941" y="28"/>
                    <a:pt x="913" y="0"/>
                    <a:pt x="878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0" y="28"/>
                    <a:pt x="0" y="63"/>
                  </a:cubicBezTo>
                  <a:cubicBezTo>
                    <a:pt x="0" y="392"/>
                    <a:pt x="0" y="392"/>
                    <a:pt x="0" y="392"/>
                  </a:cubicBezTo>
                  <a:cubicBezTo>
                    <a:pt x="0" y="427"/>
                    <a:pt x="28" y="455"/>
                    <a:pt x="63" y="455"/>
                  </a:cubicBezTo>
                  <a:cubicBezTo>
                    <a:pt x="878" y="455"/>
                    <a:pt x="878" y="455"/>
                    <a:pt x="878" y="455"/>
                  </a:cubicBezTo>
                  <a:cubicBezTo>
                    <a:pt x="913" y="455"/>
                    <a:pt x="941" y="427"/>
                    <a:pt x="941" y="392"/>
                  </a:cubicBezTo>
                  <a:lnTo>
                    <a:pt x="938" y="3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9" name="Freeform 36"/>
            <p:cNvSpPr>
              <a:spLocks/>
            </p:cNvSpPr>
            <p:nvPr/>
          </p:nvSpPr>
          <p:spPr bwMode="auto">
            <a:xfrm>
              <a:off x="6068" y="3044"/>
              <a:ext cx="211" cy="63"/>
            </a:xfrm>
            <a:custGeom>
              <a:avLst/>
              <a:gdLst>
                <a:gd name="T0" fmla="*/ 105 w 145"/>
                <a:gd name="T1" fmla="*/ 0 h 43"/>
                <a:gd name="T2" fmla="*/ 100 w 145"/>
                <a:gd name="T3" fmla="*/ 0 h 43"/>
                <a:gd name="T4" fmla="*/ 48 w 145"/>
                <a:gd name="T5" fmla="*/ 0 h 43"/>
                <a:gd name="T6" fmla="*/ 45 w 145"/>
                <a:gd name="T7" fmla="*/ 0 h 43"/>
                <a:gd name="T8" fmla="*/ 0 w 145"/>
                <a:gd name="T9" fmla="*/ 29 h 43"/>
                <a:gd name="T10" fmla="*/ 0 w 145"/>
                <a:gd name="T11" fmla="*/ 43 h 43"/>
                <a:gd name="T12" fmla="*/ 54 w 145"/>
                <a:gd name="T13" fmla="*/ 43 h 43"/>
                <a:gd name="T14" fmla="*/ 94 w 145"/>
                <a:gd name="T15" fmla="*/ 43 h 43"/>
                <a:gd name="T16" fmla="*/ 145 w 145"/>
                <a:gd name="T17" fmla="*/ 43 h 43"/>
                <a:gd name="T18" fmla="*/ 145 w 145"/>
                <a:gd name="T19" fmla="*/ 29 h 43"/>
                <a:gd name="T20" fmla="*/ 105 w 145"/>
                <a:gd name="T2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5" h="43">
                  <a:moveTo>
                    <a:pt x="105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2" y="26"/>
                    <a:pt x="43" y="29"/>
                    <a:pt x="0" y="29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54" y="43"/>
                    <a:pt x="54" y="43"/>
                    <a:pt x="54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145" y="43"/>
                    <a:pt x="145" y="43"/>
                    <a:pt x="145" y="43"/>
                  </a:cubicBezTo>
                  <a:cubicBezTo>
                    <a:pt x="145" y="29"/>
                    <a:pt x="145" y="29"/>
                    <a:pt x="145" y="29"/>
                  </a:cubicBezTo>
                  <a:cubicBezTo>
                    <a:pt x="102" y="29"/>
                    <a:pt x="98" y="26"/>
                    <a:pt x="105" y="0"/>
                  </a:cubicBez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0" name="Freeform 37"/>
            <p:cNvSpPr>
              <a:spLocks noEditPoints="1"/>
            </p:cNvSpPr>
            <p:nvPr/>
          </p:nvSpPr>
          <p:spPr bwMode="auto">
            <a:xfrm>
              <a:off x="6013" y="2810"/>
              <a:ext cx="321" cy="234"/>
            </a:xfrm>
            <a:custGeom>
              <a:avLst/>
              <a:gdLst>
                <a:gd name="T0" fmla="*/ 207 w 221"/>
                <a:gd name="T1" fmla="*/ 0 h 161"/>
                <a:gd name="T2" fmla="*/ 12 w 221"/>
                <a:gd name="T3" fmla="*/ 0 h 161"/>
                <a:gd name="T4" fmla="*/ 0 w 221"/>
                <a:gd name="T5" fmla="*/ 13 h 161"/>
                <a:gd name="T6" fmla="*/ 0 w 221"/>
                <a:gd name="T7" fmla="*/ 149 h 161"/>
                <a:gd name="T8" fmla="*/ 12 w 221"/>
                <a:gd name="T9" fmla="*/ 161 h 161"/>
                <a:gd name="T10" fmla="*/ 207 w 221"/>
                <a:gd name="T11" fmla="*/ 161 h 161"/>
                <a:gd name="T12" fmla="*/ 221 w 221"/>
                <a:gd name="T13" fmla="*/ 149 h 161"/>
                <a:gd name="T14" fmla="*/ 221 w 221"/>
                <a:gd name="T15" fmla="*/ 13 h 161"/>
                <a:gd name="T16" fmla="*/ 207 w 221"/>
                <a:gd name="T17" fmla="*/ 0 h 161"/>
                <a:gd name="T18" fmla="*/ 204 w 221"/>
                <a:gd name="T19" fmla="*/ 17 h 161"/>
                <a:gd name="T20" fmla="*/ 204 w 221"/>
                <a:gd name="T21" fmla="*/ 144 h 161"/>
                <a:gd name="T22" fmla="*/ 17 w 221"/>
                <a:gd name="T23" fmla="*/ 144 h 161"/>
                <a:gd name="T24" fmla="*/ 17 w 221"/>
                <a:gd name="T25" fmla="*/ 17 h 161"/>
                <a:gd name="T26" fmla="*/ 204 w 221"/>
                <a:gd name="T27" fmla="*/ 17 h 161"/>
                <a:gd name="T28" fmla="*/ 204 w 221"/>
                <a:gd name="T29" fmla="*/ 17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1" h="161">
                  <a:moveTo>
                    <a:pt x="207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55"/>
                    <a:pt x="6" y="161"/>
                    <a:pt x="12" y="161"/>
                  </a:cubicBezTo>
                  <a:cubicBezTo>
                    <a:pt x="207" y="161"/>
                    <a:pt x="207" y="161"/>
                    <a:pt x="207" y="161"/>
                  </a:cubicBezTo>
                  <a:cubicBezTo>
                    <a:pt x="214" y="161"/>
                    <a:pt x="221" y="155"/>
                    <a:pt x="221" y="149"/>
                  </a:cubicBezTo>
                  <a:cubicBezTo>
                    <a:pt x="221" y="13"/>
                    <a:pt x="221" y="13"/>
                    <a:pt x="221" y="13"/>
                  </a:cubicBezTo>
                  <a:cubicBezTo>
                    <a:pt x="221" y="6"/>
                    <a:pt x="214" y="0"/>
                    <a:pt x="207" y="0"/>
                  </a:cubicBezTo>
                  <a:moveTo>
                    <a:pt x="204" y="17"/>
                  </a:moveTo>
                  <a:cubicBezTo>
                    <a:pt x="204" y="144"/>
                    <a:pt x="204" y="144"/>
                    <a:pt x="204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204" y="17"/>
                    <a:pt x="204" y="17"/>
                    <a:pt x="204" y="17"/>
                  </a:cubicBezTo>
                  <a:cubicBezTo>
                    <a:pt x="204" y="17"/>
                    <a:pt x="204" y="17"/>
                    <a:pt x="204" y="17"/>
                  </a:cubicBezTo>
                </a:path>
              </a:pathLst>
            </a:custGeom>
            <a:solidFill>
              <a:srgbClr val="C5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1" name="Freeform 38"/>
            <p:cNvSpPr>
              <a:spLocks/>
            </p:cNvSpPr>
            <p:nvPr/>
          </p:nvSpPr>
          <p:spPr bwMode="auto">
            <a:xfrm>
              <a:off x="6038" y="2835"/>
              <a:ext cx="271" cy="184"/>
            </a:xfrm>
            <a:custGeom>
              <a:avLst/>
              <a:gdLst>
                <a:gd name="T0" fmla="*/ 271 w 271"/>
                <a:gd name="T1" fmla="*/ 0 h 184"/>
                <a:gd name="T2" fmla="*/ 271 w 271"/>
                <a:gd name="T3" fmla="*/ 184 h 184"/>
                <a:gd name="T4" fmla="*/ 0 w 271"/>
                <a:gd name="T5" fmla="*/ 184 h 184"/>
                <a:gd name="T6" fmla="*/ 0 w 271"/>
                <a:gd name="T7" fmla="*/ 0 h 184"/>
                <a:gd name="T8" fmla="*/ 271 w 271"/>
                <a:gd name="T9" fmla="*/ 0 h 184"/>
                <a:gd name="T10" fmla="*/ 271 w 271"/>
                <a:gd name="T11" fmla="*/ 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1" h="184">
                  <a:moveTo>
                    <a:pt x="271" y="0"/>
                  </a:moveTo>
                  <a:lnTo>
                    <a:pt x="271" y="184"/>
                  </a:lnTo>
                  <a:lnTo>
                    <a:pt x="0" y="184"/>
                  </a:lnTo>
                  <a:lnTo>
                    <a:pt x="0" y="0"/>
                  </a:lnTo>
                  <a:lnTo>
                    <a:pt x="271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00BB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2" name="Freeform 39"/>
            <p:cNvSpPr>
              <a:spLocks/>
            </p:cNvSpPr>
            <p:nvPr/>
          </p:nvSpPr>
          <p:spPr bwMode="auto">
            <a:xfrm>
              <a:off x="6038" y="2835"/>
              <a:ext cx="271" cy="184"/>
            </a:xfrm>
            <a:custGeom>
              <a:avLst/>
              <a:gdLst>
                <a:gd name="T0" fmla="*/ 271 w 271"/>
                <a:gd name="T1" fmla="*/ 0 h 184"/>
                <a:gd name="T2" fmla="*/ 271 w 271"/>
                <a:gd name="T3" fmla="*/ 184 h 184"/>
                <a:gd name="T4" fmla="*/ 0 w 271"/>
                <a:gd name="T5" fmla="*/ 184 h 184"/>
                <a:gd name="T6" fmla="*/ 0 w 271"/>
                <a:gd name="T7" fmla="*/ 0 h 184"/>
                <a:gd name="T8" fmla="*/ 271 w 271"/>
                <a:gd name="T9" fmla="*/ 0 h 184"/>
                <a:gd name="T10" fmla="*/ 271 w 271"/>
                <a:gd name="T11" fmla="*/ 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1" h="184">
                  <a:moveTo>
                    <a:pt x="271" y="0"/>
                  </a:moveTo>
                  <a:lnTo>
                    <a:pt x="271" y="184"/>
                  </a:lnTo>
                  <a:lnTo>
                    <a:pt x="0" y="184"/>
                  </a:lnTo>
                  <a:lnTo>
                    <a:pt x="0" y="0"/>
                  </a:lnTo>
                  <a:lnTo>
                    <a:pt x="271" y="0"/>
                  </a:lnTo>
                  <a:lnTo>
                    <a:pt x="27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3" name="Freeform 40"/>
            <p:cNvSpPr>
              <a:spLocks/>
            </p:cNvSpPr>
            <p:nvPr/>
          </p:nvSpPr>
          <p:spPr bwMode="auto">
            <a:xfrm>
              <a:off x="6013" y="2810"/>
              <a:ext cx="302" cy="234"/>
            </a:xfrm>
            <a:custGeom>
              <a:avLst/>
              <a:gdLst>
                <a:gd name="T0" fmla="*/ 17 w 208"/>
                <a:gd name="T1" fmla="*/ 144 h 161"/>
                <a:gd name="T2" fmla="*/ 17 w 208"/>
                <a:gd name="T3" fmla="*/ 144 h 161"/>
                <a:gd name="T4" fmla="*/ 17 w 208"/>
                <a:gd name="T5" fmla="*/ 17 h 161"/>
                <a:gd name="T6" fmla="*/ 188 w 208"/>
                <a:gd name="T7" fmla="*/ 17 h 161"/>
                <a:gd name="T8" fmla="*/ 208 w 208"/>
                <a:gd name="T9" fmla="*/ 0 h 161"/>
                <a:gd name="T10" fmla="*/ 207 w 208"/>
                <a:gd name="T11" fmla="*/ 0 h 161"/>
                <a:gd name="T12" fmla="*/ 12 w 208"/>
                <a:gd name="T13" fmla="*/ 0 h 161"/>
                <a:gd name="T14" fmla="*/ 0 w 208"/>
                <a:gd name="T15" fmla="*/ 13 h 161"/>
                <a:gd name="T16" fmla="*/ 0 w 208"/>
                <a:gd name="T17" fmla="*/ 149 h 161"/>
                <a:gd name="T18" fmla="*/ 12 w 208"/>
                <a:gd name="T19" fmla="*/ 161 h 161"/>
                <a:gd name="T20" fmla="*/ 17 w 208"/>
                <a:gd name="T21" fmla="*/ 161 h 161"/>
                <a:gd name="T22" fmla="*/ 37 w 208"/>
                <a:gd name="T23" fmla="*/ 144 h 161"/>
                <a:gd name="T24" fmla="*/ 17 w 208"/>
                <a:gd name="T25" fmla="*/ 14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8" h="161">
                  <a:moveTo>
                    <a:pt x="17" y="144"/>
                  </a:moveTo>
                  <a:cubicBezTo>
                    <a:pt x="17" y="144"/>
                    <a:pt x="17" y="144"/>
                    <a:pt x="17" y="144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8" y="17"/>
                    <a:pt x="188" y="17"/>
                    <a:pt x="188" y="17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55"/>
                    <a:pt x="6" y="161"/>
                    <a:pt x="12" y="161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37" y="144"/>
                    <a:pt x="37" y="144"/>
                    <a:pt x="37" y="144"/>
                  </a:cubicBezTo>
                  <a:lnTo>
                    <a:pt x="17" y="144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4" name="Freeform 41"/>
            <p:cNvSpPr>
              <a:spLocks/>
            </p:cNvSpPr>
            <p:nvPr/>
          </p:nvSpPr>
          <p:spPr bwMode="auto">
            <a:xfrm>
              <a:off x="6038" y="2835"/>
              <a:ext cx="248" cy="184"/>
            </a:xfrm>
            <a:custGeom>
              <a:avLst/>
              <a:gdLst>
                <a:gd name="T0" fmla="*/ 0 w 248"/>
                <a:gd name="T1" fmla="*/ 184 h 184"/>
                <a:gd name="T2" fmla="*/ 0 w 248"/>
                <a:gd name="T3" fmla="*/ 184 h 184"/>
                <a:gd name="T4" fmla="*/ 0 w 248"/>
                <a:gd name="T5" fmla="*/ 0 h 184"/>
                <a:gd name="T6" fmla="*/ 248 w 248"/>
                <a:gd name="T7" fmla="*/ 0 h 184"/>
                <a:gd name="T8" fmla="*/ 248 w 248"/>
                <a:gd name="T9" fmla="*/ 0 h 184"/>
                <a:gd name="T10" fmla="*/ 0 w 248"/>
                <a:gd name="T11" fmla="*/ 0 h 184"/>
                <a:gd name="T12" fmla="*/ 0 w 248"/>
                <a:gd name="T1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8" h="184">
                  <a:moveTo>
                    <a:pt x="0" y="184"/>
                  </a:moveTo>
                  <a:lnTo>
                    <a:pt x="0" y="184"/>
                  </a:lnTo>
                  <a:lnTo>
                    <a:pt x="0" y="0"/>
                  </a:lnTo>
                  <a:lnTo>
                    <a:pt x="248" y="0"/>
                  </a:lnTo>
                  <a:lnTo>
                    <a:pt x="248" y="0"/>
                  </a:lnTo>
                  <a:lnTo>
                    <a:pt x="0" y="0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59B4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5" name="Rectangle 42"/>
            <p:cNvSpPr>
              <a:spLocks noChangeArrowheads="1"/>
            </p:cNvSpPr>
            <p:nvPr/>
          </p:nvSpPr>
          <p:spPr bwMode="auto">
            <a:xfrm>
              <a:off x="6068" y="3086"/>
              <a:ext cx="211" cy="21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6" name="Oval 43"/>
            <p:cNvSpPr>
              <a:spLocks noChangeArrowheads="1"/>
            </p:cNvSpPr>
            <p:nvPr/>
          </p:nvSpPr>
          <p:spPr bwMode="auto">
            <a:xfrm>
              <a:off x="6167" y="2819"/>
              <a:ext cx="10" cy="9"/>
            </a:xfrm>
            <a:prstGeom prst="ellipse">
              <a:avLst/>
            </a:prstGeom>
            <a:solidFill>
              <a:srgbClr val="BAC8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7" name="Freeform 44"/>
            <p:cNvSpPr>
              <a:spLocks/>
            </p:cNvSpPr>
            <p:nvPr/>
          </p:nvSpPr>
          <p:spPr bwMode="auto">
            <a:xfrm>
              <a:off x="6115" y="2855"/>
              <a:ext cx="116" cy="70"/>
            </a:xfrm>
            <a:custGeom>
              <a:avLst/>
              <a:gdLst>
                <a:gd name="T0" fmla="*/ 40 w 80"/>
                <a:gd name="T1" fmla="*/ 0 h 48"/>
                <a:gd name="T2" fmla="*/ 40 w 80"/>
                <a:gd name="T3" fmla="*/ 1 h 48"/>
                <a:gd name="T4" fmla="*/ 1 w 80"/>
                <a:gd name="T5" fmla="*/ 23 h 48"/>
                <a:gd name="T6" fmla="*/ 0 w 80"/>
                <a:gd name="T7" fmla="*/ 24 h 48"/>
                <a:gd name="T8" fmla="*/ 1 w 80"/>
                <a:gd name="T9" fmla="*/ 25 h 48"/>
                <a:gd name="T10" fmla="*/ 40 w 80"/>
                <a:gd name="T11" fmla="*/ 47 h 48"/>
                <a:gd name="T12" fmla="*/ 40 w 80"/>
                <a:gd name="T13" fmla="*/ 48 h 48"/>
                <a:gd name="T14" fmla="*/ 41 w 80"/>
                <a:gd name="T15" fmla="*/ 47 h 48"/>
                <a:gd name="T16" fmla="*/ 80 w 80"/>
                <a:gd name="T17" fmla="*/ 25 h 48"/>
                <a:gd name="T18" fmla="*/ 80 w 80"/>
                <a:gd name="T19" fmla="*/ 24 h 48"/>
                <a:gd name="T20" fmla="*/ 80 w 80"/>
                <a:gd name="T21" fmla="*/ 23 h 48"/>
                <a:gd name="T22" fmla="*/ 41 w 80"/>
                <a:gd name="T23" fmla="*/ 1 h 48"/>
                <a:gd name="T24" fmla="*/ 40 w 80"/>
                <a:gd name="T25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" h="48">
                  <a:moveTo>
                    <a:pt x="40" y="0"/>
                  </a:moveTo>
                  <a:cubicBezTo>
                    <a:pt x="40" y="0"/>
                    <a:pt x="40" y="1"/>
                    <a:pt x="40" y="1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0" y="23"/>
                    <a:pt x="0" y="24"/>
                  </a:cubicBezTo>
                  <a:cubicBezTo>
                    <a:pt x="0" y="24"/>
                    <a:pt x="1" y="25"/>
                    <a:pt x="1" y="2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4"/>
                    <a:pt x="80" y="24"/>
                  </a:cubicBezTo>
                  <a:cubicBezTo>
                    <a:pt x="80" y="24"/>
                    <a:pt x="80" y="23"/>
                    <a:pt x="80" y="23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0" y="0"/>
                    <a:pt x="40" y="0"/>
                  </a:cubicBezTo>
                </a:path>
              </a:pathLst>
            </a:custGeom>
            <a:solidFill>
              <a:srgbClr val="E5F8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8" name="Freeform 45"/>
            <p:cNvSpPr>
              <a:spLocks/>
            </p:cNvSpPr>
            <p:nvPr/>
          </p:nvSpPr>
          <p:spPr bwMode="auto">
            <a:xfrm>
              <a:off x="6107" y="2902"/>
              <a:ext cx="60" cy="101"/>
            </a:xfrm>
            <a:custGeom>
              <a:avLst/>
              <a:gdLst>
                <a:gd name="T0" fmla="*/ 1 w 41"/>
                <a:gd name="T1" fmla="*/ 0 h 70"/>
                <a:gd name="T2" fmla="*/ 0 w 41"/>
                <a:gd name="T3" fmla="*/ 1 h 70"/>
                <a:gd name="T4" fmla="*/ 0 w 41"/>
                <a:gd name="T5" fmla="*/ 2 h 70"/>
                <a:gd name="T6" fmla="*/ 0 w 41"/>
                <a:gd name="T7" fmla="*/ 46 h 70"/>
                <a:gd name="T8" fmla="*/ 0 w 41"/>
                <a:gd name="T9" fmla="*/ 47 h 70"/>
                <a:gd name="T10" fmla="*/ 39 w 41"/>
                <a:gd name="T11" fmla="*/ 70 h 70"/>
                <a:gd name="T12" fmla="*/ 40 w 41"/>
                <a:gd name="T13" fmla="*/ 70 h 70"/>
                <a:gd name="T14" fmla="*/ 40 w 41"/>
                <a:gd name="T15" fmla="*/ 70 h 70"/>
                <a:gd name="T16" fmla="*/ 41 w 41"/>
                <a:gd name="T17" fmla="*/ 69 h 70"/>
                <a:gd name="T18" fmla="*/ 41 w 41"/>
                <a:gd name="T19" fmla="*/ 24 h 70"/>
                <a:gd name="T20" fmla="*/ 40 w 41"/>
                <a:gd name="T21" fmla="*/ 23 h 70"/>
                <a:gd name="T22" fmla="*/ 2 w 41"/>
                <a:gd name="T23" fmla="*/ 1 h 70"/>
                <a:gd name="T24" fmla="*/ 1 w 41"/>
                <a:gd name="T25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70">
                  <a:moveTo>
                    <a:pt x="1" y="0"/>
                  </a:moveTo>
                  <a:cubicBezTo>
                    <a:pt x="1" y="0"/>
                    <a:pt x="1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9" y="70"/>
                    <a:pt x="39" y="70"/>
                    <a:pt x="39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1" y="70"/>
                    <a:pt x="41" y="69"/>
                    <a:pt x="41" y="69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3"/>
                    <a:pt x="40" y="2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1" y="0"/>
                    <a:pt x="1" y="0"/>
                  </a:cubicBezTo>
                </a:path>
              </a:pathLst>
            </a:custGeom>
            <a:solidFill>
              <a:srgbClr val="CCF1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9" name="Freeform 46"/>
            <p:cNvSpPr>
              <a:spLocks/>
            </p:cNvSpPr>
            <p:nvPr/>
          </p:nvSpPr>
          <p:spPr bwMode="auto">
            <a:xfrm>
              <a:off x="6180" y="2903"/>
              <a:ext cx="59" cy="100"/>
            </a:xfrm>
            <a:custGeom>
              <a:avLst/>
              <a:gdLst>
                <a:gd name="T0" fmla="*/ 39 w 41"/>
                <a:gd name="T1" fmla="*/ 0 h 69"/>
                <a:gd name="T2" fmla="*/ 39 w 41"/>
                <a:gd name="T3" fmla="*/ 0 h 69"/>
                <a:gd name="T4" fmla="*/ 0 w 41"/>
                <a:gd name="T5" fmla="*/ 22 h 69"/>
                <a:gd name="T6" fmla="*/ 0 w 41"/>
                <a:gd name="T7" fmla="*/ 23 h 69"/>
                <a:gd name="T8" fmla="*/ 0 w 41"/>
                <a:gd name="T9" fmla="*/ 68 h 69"/>
                <a:gd name="T10" fmla="*/ 0 w 41"/>
                <a:gd name="T11" fmla="*/ 69 h 69"/>
                <a:gd name="T12" fmla="*/ 1 w 41"/>
                <a:gd name="T13" fmla="*/ 69 h 69"/>
                <a:gd name="T14" fmla="*/ 1 w 41"/>
                <a:gd name="T15" fmla="*/ 69 h 69"/>
                <a:gd name="T16" fmla="*/ 40 w 41"/>
                <a:gd name="T17" fmla="*/ 46 h 69"/>
                <a:gd name="T18" fmla="*/ 41 w 41"/>
                <a:gd name="T19" fmla="*/ 45 h 69"/>
                <a:gd name="T20" fmla="*/ 41 w 41"/>
                <a:gd name="T21" fmla="*/ 1 h 69"/>
                <a:gd name="T22" fmla="*/ 40 w 41"/>
                <a:gd name="T23" fmla="*/ 0 h 69"/>
                <a:gd name="T24" fmla="*/ 39 w 41"/>
                <a:gd name="T2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69">
                  <a:moveTo>
                    <a:pt x="39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3"/>
                    <a:pt x="0" y="23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9"/>
                    <a:pt x="0" y="69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1" y="46"/>
                    <a:pt x="41" y="45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0"/>
                    <a:pt x="40" y="0"/>
                    <a:pt x="40" y="0"/>
                  </a:cubicBezTo>
                  <a:cubicBezTo>
                    <a:pt x="40" y="0"/>
                    <a:pt x="40" y="0"/>
                    <a:pt x="39" y="0"/>
                  </a:cubicBezTo>
                </a:path>
              </a:pathLst>
            </a:custGeom>
            <a:solidFill>
              <a:srgbClr val="80DD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0" name="Rectangle 47"/>
            <p:cNvSpPr>
              <a:spLocks noChangeArrowheads="1"/>
            </p:cNvSpPr>
            <p:nvPr/>
          </p:nvSpPr>
          <p:spPr bwMode="auto">
            <a:xfrm>
              <a:off x="6417" y="2788"/>
              <a:ext cx="38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0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Light" panose="020B0302040504020203" pitchFamily="34" charset="0"/>
                  <a:ea typeface="+mn-ea"/>
                  <a:cs typeface="+mn-cs"/>
                </a:rPr>
                <a:t>Virtual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6417" y="2933"/>
              <a:ext cx="5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0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Light" panose="020B0302040504020203" pitchFamily="34" charset="0"/>
                  <a:ea typeface="+mn-ea"/>
                  <a:cs typeface="+mn-cs"/>
                </a:rPr>
                <a:t>Machines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49"/>
            <p:cNvSpPr>
              <a:spLocks/>
            </p:cNvSpPr>
            <p:nvPr/>
          </p:nvSpPr>
          <p:spPr bwMode="auto">
            <a:xfrm>
              <a:off x="4531" y="318"/>
              <a:ext cx="945" cy="955"/>
            </a:xfrm>
            <a:custGeom>
              <a:avLst/>
              <a:gdLst>
                <a:gd name="T0" fmla="*/ 650 w 650"/>
                <a:gd name="T1" fmla="*/ 0 h 658"/>
                <a:gd name="T2" fmla="*/ 608 w 650"/>
                <a:gd name="T3" fmla="*/ 42 h 658"/>
                <a:gd name="T4" fmla="*/ 608 w 650"/>
                <a:gd name="T5" fmla="*/ 602 h 658"/>
                <a:gd name="T6" fmla="*/ 608 w 650"/>
                <a:gd name="T7" fmla="*/ 617 h 658"/>
                <a:gd name="T8" fmla="*/ 566 w 650"/>
                <a:gd name="T9" fmla="*/ 658 h 658"/>
                <a:gd name="T10" fmla="*/ 0 w 650"/>
                <a:gd name="T11" fmla="*/ 658 h 658"/>
                <a:gd name="T12" fmla="*/ 42 w 650"/>
                <a:gd name="T13" fmla="*/ 617 h 658"/>
                <a:gd name="T14" fmla="*/ 42 w 650"/>
                <a:gd name="T15" fmla="*/ 602 h 658"/>
                <a:gd name="T16" fmla="*/ 42 w 650"/>
                <a:gd name="T17" fmla="*/ 42 h 658"/>
                <a:gd name="T18" fmla="*/ 84 w 650"/>
                <a:gd name="T19" fmla="*/ 0 h 658"/>
                <a:gd name="T20" fmla="*/ 650 w 650"/>
                <a:gd name="T21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0" h="658">
                  <a:moveTo>
                    <a:pt x="650" y="0"/>
                  </a:moveTo>
                  <a:cubicBezTo>
                    <a:pt x="627" y="0"/>
                    <a:pt x="608" y="19"/>
                    <a:pt x="608" y="42"/>
                  </a:cubicBezTo>
                  <a:cubicBezTo>
                    <a:pt x="608" y="602"/>
                    <a:pt x="608" y="602"/>
                    <a:pt x="608" y="602"/>
                  </a:cubicBezTo>
                  <a:cubicBezTo>
                    <a:pt x="608" y="617"/>
                    <a:pt x="608" y="617"/>
                    <a:pt x="608" y="617"/>
                  </a:cubicBezTo>
                  <a:cubicBezTo>
                    <a:pt x="608" y="640"/>
                    <a:pt x="590" y="658"/>
                    <a:pt x="566" y="658"/>
                  </a:cubicBezTo>
                  <a:cubicBezTo>
                    <a:pt x="0" y="658"/>
                    <a:pt x="0" y="658"/>
                    <a:pt x="0" y="658"/>
                  </a:cubicBezTo>
                  <a:cubicBezTo>
                    <a:pt x="23" y="658"/>
                    <a:pt x="42" y="640"/>
                    <a:pt x="42" y="617"/>
                  </a:cubicBezTo>
                  <a:cubicBezTo>
                    <a:pt x="42" y="602"/>
                    <a:pt x="42" y="602"/>
                    <a:pt x="42" y="60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19"/>
                    <a:pt x="60" y="0"/>
                    <a:pt x="84" y="0"/>
                  </a:cubicBezTo>
                  <a:lnTo>
                    <a:pt x="650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3" name="Freeform 50"/>
            <p:cNvSpPr>
              <a:spLocks/>
            </p:cNvSpPr>
            <p:nvPr/>
          </p:nvSpPr>
          <p:spPr bwMode="auto">
            <a:xfrm>
              <a:off x="4653" y="318"/>
              <a:ext cx="884" cy="120"/>
            </a:xfrm>
            <a:custGeom>
              <a:avLst/>
              <a:gdLst>
                <a:gd name="T0" fmla="*/ 566 w 608"/>
                <a:gd name="T1" fmla="*/ 0 h 83"/>
                <a:gd name="T2" fmla="*/ 0 w 608"/>
                <a:gd name="T3" fmla="*/ 0 h 83"/>
                <a:gd name="T4" fmla="*/ 41 w 608"/>
                <a:gd name="T5" fmla="*/ 42 h 83"/>
                <a:gd name="T6" fmla="*/ 0 w 608"/>
                <a:gd name="T7" fmla="*/ 83 h 83"/>
                <a:gd name="T8" fmla="*/ 566 w 608"/>
                <a:gd name="T9" fmla="*/ 83 h 83"/>
                <a:gd name="T10" fmla="*/ 608 w 608"/>
                <a:gd name="T11" fmla="*/ 42 h 83"/>
                <a:gd name="T12" fmla="*/ 566 w 608"/>
                <a:gd name="T13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8" h="83">
                  <a:moveTo>
                    <a:pt x="56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3" y="0"/>
                    <a:pt x="41" y="19"/>
                    <a:pt x="41" y="42"/>
                  </a:cubicBezTo>
                  <a:cubicBezTo>
                    <a:pt x="41" y="65"/>
                    <a:pt x="23" y="83"/>
                    <a:pt x="0" y="83"/>
                  </a:cubicBezTo>
                  <a:cubicBezTo>
                    <a:pt x="566" y="83"/>
                    <a:pt x="566" y="83"/>
                    <a:pt x="566" y="83"/>
                  </a:cubicBezTo>
                  <a:cubicBezTo>
                    <a:pt x="589" y="83"/>
                    <a:pt x="608" y="65"/>
                    <a:pt x="608" y="42"/>
                  </a:cubicBezTo>
                  <a:cubicBezTo>
                    <a:pt x="608" y="19"/>
                    <a:pt x="589" y="0"/>
                    <a:pt x="5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4" name="Freeform 51"/>
            <p:cNvSpPr>
              <a:spLocks/>
            </p:cNvSpPr>
            <p:nvPr/>
          </p:nvSpPr>
          <p:spPr bwMode="auto">
            <a:xfrm>
              <a:off x="4611" y="379"/>
              <a:ext cx="102" cy="59"/>
            </a:xfrm>
            <a:custGeom>
              <a:avLst/>
              <a:gdLst>
                <a:gd name="T0" fmla="*/ 3 w 70"/>
                <a:gd name="T1" fmla="*/ 24 h 41"/>
                <a:gd name="T2" fmla="*/ 29 w 70"/>
                <a:gd name="T3" fmla="*/ 41 h 41"/>
                <a:gd name="T4" fmla="*/ 70 w 70"/>
                <a:gd name="T5" fmla="*/ 0 h 41"/>
                <a:gd name="T6" fmla="*/ 29 w 70"/>
                <a:gd name="T7" fmla="*/ 0 h 41"/>
                <a:gd name="T8" fmla="*/ 3 w 70"/>
                <a:gd name="T9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41">
                  <a:moveTo>
                    <a:pt x="3" y="24"/>
                  </a:moveTo>
                  <a:cubicBezTo>
                    <a:pt x="7" y="40"/>
                    <a:pt x="29" y="41"/>
                    <a:pt x="29" y="41"/>
                  </a:cubicBezTo>
                  <a:cubicBezTo>
                    <a:pt x="52" y="41"/>
                    <a:pt x="70" y="23"/>
                    <a:pt x="7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5" y="0"/>
                    <a:pt x="0" y="9"/>
                    <a:pt x="3" y="24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5" name="Freeform 52"/>
            <p:cNvSpPr>
              <a:spLocks/>
            </p:cNvSpPr>
            <p:nvPr/>
          </p:nvSpPr>
          <p:spPr bwMode="auto">
            <a:xfrm>
              <a:off x="4531" y="1153"/>
              <a:ext cx="61" cy="61"/>
            </a:xfrm>
            <a:custGeom>
              <a:avLst/>
              <a:gdLst>
                <a:gd name="T0" fmla="*/ 0 w 42"/>
                <a:gd name="T1" fmla="*/ 0 h 42"/>
                <a:gd name="T2" fmla="*/ 25 w 42"/>
                <a:gd name="T3" fmla="*/ 17 h 42"/>
                <a:gd name="T4" fmla="*/ 0 w 42"/>
                <a:gd name="T5" fmla="*/ 42 h 42"/>
                <a:gd name="T6" fmla="*/ 42 w 42"/>
                <a:gd name="T7" fmla="*/ 42 h 42"/>
                <a:gd name="T8" fmla="*/ 42 w 42"/>
                <a:gd name="T9" fmla="*/ 0 h 42"/>
                <a:gd name="T10" fmla="*/ 0 w 42"/>
                <a:gd name="T1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42">
                  <a:moveTo>
                    <a:pt x="0" y="0"/>
                  </a:moveTo>
                  <a:cubicBezTo>
                    <a:pt x="0" y="0"/>
                    <a:pt x="22" y="2"/>
                    <a:pt x="25" y="17"/>
                  </a:cubicBezTo>
                  <a:cubicBezTo>
                    <a:pt x="29" y="32"/>
                    <a:pt x="13" y="42"/>
                    <a:pt x="0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6" name="Freeform 53"/>
            <p:cNvSpPr>
              <a:spLocks/>
            </p:cNvSpPr>
            <p:nvPr/>
          </p:nvSpPr>
          <p:spPr bwMode="auto">
            <a:xfrm>
              <a:off x="4470" y="1153"/>
              <a:ext cx="122" cy="120"/>
            </a:xfrm>
            <a:custGeom>
              <a:avLst/>
              <a:gdLst>
                <a:gd name="T0" fmla="*/ 42 w 84"/>
                <a:gd name="T1" fmla="*/ 42 h 83"/>
                <a:gd name="T2" fmla="*/ 67 w 84"/>
                <a:gd name="T3" fmla="*/ 17 h 83"/>
                <a:gd name="T4" fmla="*/ 42 w 84"/>
                <a:gd name="T5" fmla="*/ 0 h 83"/>
                <a:gd name="T6" fmla="*/ 0 w 84"/>
                <a:gd name="T7" fmla="*/ 42 h 83"/>
                <a:gd name="T8" fmla="*/ 42 w 84"/>
                <a:gd name="T9" fmla="*/ 83 h 83"/>
                <a:gd name="T10" fmla="*/ 84 w 84"/>
                <a:gd name="T11" fmla="*/ 42 h 83"/>
                <a:gd name="T12" fmla="*/ 82 w 84"/>
                <a:gd name="T13" fmla="*/ 42 h 83"/>
                <a:gd name="T14" fmla="*/ 42 w 84"/>
                <a:gd name="T15" fmla="*/ 4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83">
                  <a:moveTo>
                    <a:pt x="42" y="42"/>
                  </a:moveTo>
                  <a:cubicBezTo>
                    <a:pt x="55" y="42"/>
                    <a:pt x="71" y="32"/>
                    <a:pt x="67" y="17"/>
                  </a:cubicBezTo>
                  <a:cubicBezTo>
                    <a:pt x="64" y="2"/>
                    <a:pt x="42" y="0"/>
                    <a:pt x="42" y="0"/>
                  </a:cubicBezTo>
                  <a:cubicBezTo>
                    <a:pt x="19" y="0"/>
                    <a:pt x="0" y="19"/>
                    <a:pt x="0" y="42"/>
                  </a:cubicBezTo>
                  <a:cubicBezTo>
                    <a:pt x="0" y="65"/>
                    <a:pt x="19" y="83"/>
                    <a:pt x="42" y="83"/>
                  </a:cubicBezTo>
                  <a:cubicBezTo>
                    <a:pt x="65" y="83"/>
                    <a:pt x="84" y="65"/>
                    <a:pt x="84" y="42"/>
                  </a:cubicBezTo>
                  <a:cubicBezTo>
                    <a:pt x="82" y="42"/>
                    <a:pt x="82" y="42"/>
                    <a:pt x="82" y="42"/>
                  </a:cubicBezTo>
                  <a:lnTo>
                    <a:pt x="42" y="42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7" name="Rectangle 54"/>
            <p:cNvSpPr>
              <a:spLocks noChangeArrowheads="1"/>
            </p:cNvSpPr>
            <p:nvPr/>
          </p:nvSpPr>
          <p:spPr bwMode="auto">
            <a:xfrm>
              <a:off x="4731" y="523"/>
              <a:ext cx="560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0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500" b="0" i="0" u="none" strike="noStrike" kern="1200" cap="none" spc="0" normalizeH="0" baseline="0" noProof="0">
                  <a:ln>
                    <a:noFill/>
                  </a:ln>
                  <a:solidFill>
                    <a:srgbClr val="414042"/>
                  </a:solidFill>
                  <a:effectLst/>
                  <a:uLnTx/>
                  <a:uFillTx/>
                  <a:latin typeface="Segoe Pro Display Light" panose="020B0302040504020203" pitchFamily="34" charset="0"/>
                  <a:ea typeface="+mn-ea"/>
                  <a:cs typeface="+mn-cs"/>
                </a:rPr>
                <a:t>SQL-A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 55"/>
            <p:cNvSpPr>
              <a:spLocks noChangeArrowheads="1"/>
            </p:cNvSpPr>
            <p:nvPr/>
          </p:nvSpPr>
          <p:spPr bwMode="auto">
            <a:xfrm>
              <a:off x="4671" y="738"/>
              <a:ext cx="695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0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500" b="0" i="0" u="none" strike="noStrike" kern="1200" cap="none" spc="0" normalizeH="0" baseline="0" noProof="0">
                  <a:ln>
                    <a:noFill/>
                  </a:ln>
                  <a:solidFill>
                    <a:srgbClr val="414042"/>
                  </a:solidFill>
                  <a:effectLst/>
                  <a:uLnTx/>
                  <a:uFillTx/>
                  <a:latin typeface="Segoe Pro Display Light" panose="020B0302040504020203" pitchFamily="34" charset="0"/>
                  <a:ea typeface="+mn-ea"/>
                  <a:cs typeface="+mn-cs"/>
                </a:rPr>
                <a:t>Website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Rectangle 56"/>
            <p:cNvSpPr>
              <a:spLocks noChangeArrowheads="1"/>
            </p:cNvSpPr>
            <p:nvPr/>
          </p:nvSpPr>
          <p:spPr bwMode="auto">
            <a:xfrm>
              <a:off x="4676" y="1020"/>
              <a:ext cx="660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0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414042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+mn-cs"/>
                </a:rPr>
                <a:t>[SQL CONFIG] VM (2x)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57"/>
            <p:cNvSpPr>
              <a:spLocks/>
            </p:cNvSpPr>
            <p:nvPr/>
          </p:nvSpPr>
          <p:spPr bwMode="auto">
            <a:xfrm>
              <a:off x="3534" y="1411"/>
              <a:ext cx="1332" cy="1058"/>
            </a:xfrm>
            <a:custGeom>
              <a:avLst/>
              <a:gdLst>
                <a:gd name="T0" fmla="*/ 1308 w 1332"/>
                <a:gd name="T1" fmla="*/ 0 h 1058"/>
                <a:gd name="T2" fmla="*/ 1308 w 1332"/>
                <a:gd name="T3" fmla="*/ 432 h 1058"/>
                <a:gd name="T4" fmla="*/ 0 w 1332"/>
                <a:gd name="T5" fmla="*/ 432 h 1058"/>
                <a:gd name="T6" fmla="*/ 0 w 1332"/>
                <a:gd name="T7" fmla="*/ 1058 h 1058"/>
                <a:gd name="T8" fmla="*/ 24 w 1332"/>
                <a:gd name="T9" fmla="*/ 1058 h 1058"/>
                <a:gd name="T10" fmla="*/ 24 w 1332"/>
                <a:gd name="T11" fmla="*/ 455 h 1058"/>
                <a:gd name="T12" fmla="*/ 1332 w 1332"/>
                <a:gd name="T13" fmla="*/ 455 h 1058"/>
                <a:gd name="T14" fmla="*/ 1332 w 1332"/>
                <a:gd name="T15" fmla="*/ 0 h 1058"/>
                <a:gd name="T16" fmla="*/ 1308 w 1332"/>
                <a:gd name="T17" fmla="*/ 0 h 1058"/>
                <a:gd name="T18" fmla="*/ 1308 w 1332"/>
                <a:gd name="T19" fmla="*/ 0 h 1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32" h="1058">
                  <a:moveTo>
                    <a:pt x="1308" y="0"/>
                  </a:moveTo>
                  <a:lnTo>
                    <a:pt x="1308" y="432"/>
                  </a:lnTo>
                  <a:lnTo>
                    <a:pt x="0" y="432"/>
                  </a:lnTo>
                  <a:lnTo>
                    <a:pt x="0" y="1058"/>
                  </a:lnTo>
                  <a:lnTo>
                    <a:pt x="24" y="1058"/>
                  </a:lnTo>
                  <a:lnTo>
                    <a:pt x="24" y="455"/>
                  </a:lnTo>
                  <a:lnTo>
                    <a:pt x="1332" y="455"/>
                  </a:lnTo>
                  <a:lnTo>
                    <a:pt x="1332" y="0"/>
                  </a:lnTo>
                  <a:lnTo>
                    <a:pt x="1308" y="0"/>
                  </a:lnTo>
                  <a:lnTo>
                    <a:pt x="1308" y="0"/>
                  </a:lnTo>
                  <a:close/>
                </a:path>
              </a:pathLst>
            </a:custGeom>
            <a:solidFill>
              <a:srgbClr val="7CC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1" name="Oval 58"/>
            <p:cNvSpPr>
              <a:spLocks noChangeArrowheads="1"/>
            </p:cNvSpPr>
            <p:nvPr/>
          </p:nvSpPr>
          <p:spPr bwMode="auto">
            <a:xfrm>
              <a:off x="4809" y="1368"/>
              <a:ext cx="90" cy="91"/>
            </a:xfrm>
            <a:prstGeom prst="ellipse">
              <a:avLst/>
            </a:prstGeom>
            <a:solidFill>
              <a:srgbClr val="7CC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2" name="Freeform 59"/>
            <p:cNvSpPr>
              <a:spLocks/>
            </p:cNvSpPr>
            <p:nvPr/>
          </p:nvSpPr>
          <p:spPr bwMode="auto">
            <a:xfrm>
              <a:off x="3497" y="2454"/>
              <a:ext cx="98" cy="83"/>
            </a:xfrm>
            <a:custGeom>
              <a:avLst/>
              <a:gdLst>
                <a:gd name="T0" fmla="*/ 0 w 98"/>
                <a:gd name="T1" fmla="*/ 0 h 83"/>
                <a:gd name="T2" fmla="*/ 48 w 98"/>
                <a:gd name="T3" fmla="*/ 83 h 83"/>
                <a:gd name="T4" fmla="*/ 98 w 98"/>
                <a:gd name="T5" fmla="*/ 0 h 83"/>
                <a:gd name="T6" fmla="*/ 0 w 98"/>
                <a:gd name="T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83">
                  <a:moveTo>
                    <a:pt x="0" y="0"/>
                  </a:moveTo>
                  <a:lnTo>
                    <a:pt x="48" y="83"/>
                  </a:lnTo>
                  <a:lnTo>
                    <a:pt x="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3" name="Rectangle 60"/>
            <p:cNvSpPr>
              <a:spLocks noChangeArrowheads="1"/>
            </p:cNvSpPr>
            <p:nvPr/>
          </p:nvSpPr>
          <p:spPr bwMode="auto">
            <a:xfrm>
              <a:off x="4995" y="1411"/>
              <a:ext cx="23" cy="1085"/>
            </a:xfrm>
            <a:prstGeom prst="rect">
              <a:avLst/>
            </a:prstGeom>
            <a:solidFill>
              <a:srgbClr val="7CC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4" name="Freeform 61"/>
            <p:cNvSpPr>
              <a:spLocks/>
            </p:cNvSpPr>
            <p:nvPr/>
          </p:nvSpPr>
          <p:spPr bwMode="auto">
            <a:xfrm>
              <a:off x="4995" y="1411"/>
              <a:ext cx="23" cy="1085"/>
            </a:xfrm>
            <a:custGeom>
              <a:avLst/>
              <a:gdLst>
                <a:gd name="T0" fmla="*/ 0 w 23"/>
                <a:gd name="T1" fmla="*/ 0 h 1085"/>
                <a:gd name="T2" fmla="*/ 0 w 23"/>
                <a:gd name="T3" fmla="*/ 1085 h 1085"/>
                <a:gd name="T4" fmla="*/ 23 w 23"/>
                <a:gd name="T5" fmla="*/ 1085 h 1085"/>
                <a:gd name="T6" fmla="*/ 23 w 23"/>
                <a:gd name="T7" fmla="*/ 0 h 1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085">
                  <a:moveTo>
                    <a:pt x="0" y="0"/>
                  </a:moveTo>
                  <a:lnTo>
                    <a:pt x="0" y="1085"/>
                  </a:lnTo>
                  <a:lnTo>
                    <a:pt x="23" y="1085"/>
                  </a:lnTo>
                  <a:lnTo>
                    <a:pt x="2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5" name="Oval 62"/>
            <p:cNvSpPr>
              <a:spLocks noChangeArrowheads="1"/>
            </p:cNvSpPr>
            <p:nvPr/>
          </p:nvSpPr>
          <p:spPr bwMode="auto">
            <a:xfrm>
              <a:off x="4961" y="1368"/>
              <a:ext cx="90" cy="91"/>
            </a:xfrm>
            <a:prstGeom prst="ellipse">
              <a:avLst/>
            </a:prstGeom>
            <a:solidFill>
              <a:srgbClr val="7CC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6" name="Freeform 63"/>
            <p:cNvSpPr>
              <a:spLocks/>
            </p:cNvSpPr>
            <p:nvPr/>
          </p:nvSpPr>
          <p:spPr bwMode="auto">
            <a:xfrm>
              <a:off x="4958" y="2483"/>
              <a:ext cx="96" cy="83"/>
            </a:xfrm>
            <a:custGeom>
              <a:avLst/>
              <a:gdLst>
                <a:gd name="T0" fmla="*/ 0 w 96"/>
                <a:gd name="T1" fmla="*/ 0 h 83"/>
                <a:gd name="T2" fmla="*/ 48 w 96"/>
                <a:gd name="T3" fmla="*/ 83 h 83"/>
                <a:gd name="T4" fmla="*/ 96 w 96"/>
                <a:gd name="T5" fmla="*/ 0 h 83"/>
                <a:gd name="T6" fmla="*/ 0 w 96"/>
                <a:gd name="T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3">
                  <a:moveTo>
                    <a:pt x="0" y="0"/>
                  </a:moveTo>
                  <a:lnTo>
                    <a:pt x="48" y="83"/>
                  </a:lnTo>
                  <a:lnTo>
                    <a:pt x="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7" name="Freeform 64"/>
            <p:cNvSpPr>
              <a:spLocks/>
            </p:cNvSpPr>
            <p:nvPr/>
          </p:nvSpPr>
          <p:spPr bwMode="auto">
            <a:xfrm>
              <a:off x="5147" y="1411"/>
              <a:ext cx="1416" cy="1085"/>
            </a:xfrm>
            <a:custGeom>
              <a:avLst/>
              <a:gdLst>
                <a:gd name="T0" fmla="*/ 0 w 1416"/>
                <a:gd name="T1" fmla="*/ 0 h 1085"/>
                <a:gd name="T2" fmla="*/ 0 w 1416"/>
                <a:gd name="T3" fmla="*/ 455 h 1085"/>
                <a:gd name="T4" fmla="*/ 1392 w 1416"/>
                <a:gd name="T5" fmla="*/ 455 h 1085"/>
                <a:gd name="T6" fmla="*/ 1392 w 1416"/>
                <a:gd name="T7" fmla="*/ 1085 h 1085"/>
                <a:gd name="T8" fmla="*/ 1416 w 1416"/>
                <a:gd name="T9" fmla="*/ 1085 h 1085"/>
                <a:gd name="T10" fmla="*/ 1416 w 1416"/>
                <a:gd name="T11" fmla="*/ 432 h 1085"/>
                <a:gd name="T12" fmla="*/ 25 w 1416"/>
                <a:gd name="T13" fmla="*/ 432 h 1085"/>
                <a:gd name="T14" fmla="*/ 25 w 1416"/>
                <a:gd name="T15" fmla="*/ 0 h 1085"/>
                <a:gd name="T16" fmla="*/ 0 w 1416"/>
                <a:gd name="T17" fmla="*/ 0 h 1085"/>
                <a:gd name="T18" fmla="*/ 0 w 1416"/>
                <a:gd name="T19" fmla="*/ 0 h 1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6" h="1085">
                  <a:moveTo>
                    <a:pt x="0" y="0"/>
                  </a:moveTo>
                  <a:lnTo>
                    <a:pt x="0" y="455"/>
                  </a:lnTo>
                  <a:lnTo>
                    <a:pt x="1392" y="455"/>
                  </a:lnTo>
                  <a:lnTo>
                    <a:pt x="1392" y="1085"/>
                  </a:lnTo>
                  <a:lnTo>
                    <a:pt x="1416" y="1085"/>
                  </a:lnTo>
                  <a:lnTo>
                    <a:pt x="1416" y="432"/>
                  </a:lnTo>
                  <a:lnTo>
                    <a:pt x="25" y="432"/>
                  </a:lnTo>
                  <a:lnTo>
                    <a:pt x="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8" name="Oval 65"/>
            <p:cNvSpPr>
              <a:spLocks noChangeArrowheads="1"/>
            </p:cNvSpPr>
            <p:nvPr/>
          </p:nvSpPr>
          <p:spPr bwMode="auto">
            <a:xfrm>
              <a:off x="5114" y="1368"/>
              <a:ext cx="91" cy="91"/>
            </a:xfrm>
            <a:prstGeom prst="ellipse">
              <a:avLst/>
            </a:prstGeom>
            <a:solidFill>
              <a:srgbClr val="7CC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9" name="Freeform 66"/>
            <p:cNvSpPr>
              <a:spLocks/>
            </p:cNvSpPr>
            <p:nvPr/>
          </p:nvSpPr>
          <p:spPr bwMode="auto">
            <a:xfrm>
              <a:off x="6502" y="2483"/>
              <a:ext cx="98" cy="83"/>
            </a:xfrm>
            <a:custGeom>
              <a:avLst/>
              <a:gdLst>
                <a:gd name="T0" fmla="*/ 0 w 98"/>
                <a:gd name="T1" fmla="*/ 0 h 83"/>
                <a:gd name="T2" fmla="*/ 48 w 98"/>
                <a:gd name="T3" fmla="*/ 83 h 83"/>
                <a:gd name="T4" fmla="*/ 98 w 98"/>
                <a:gd name="T5" fmla="*/ 0 h 83"/>
                <a:gd name="T6" fmla="*/ 0 w 98"/>
                <a:gd name="T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83">
                  <a:moveTo>
                    <a:pt x="0" y="0"/>
                  </a:moveTo>
                  <a:lnTo>
                    <a:pt x="48" y="83"/>
                  </a:lnTo>
                  <a:lnTo>
                    <a:pt x="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0" name="Freeform 67"/>
            <p:cNvSpPr>
              <a:spLocks/>
            </p:cNvSpPr>
            <p:nvPr/>
          </p:nvSpPr>
          <p:spPr bwMode="auto">
            <a:xfrm>
              <a:off x="6193" y="2059"/>
              <a:ext cx="681" cy="254"/>
            </a:xfrm>
            <a:custGeom>
              <a:avLst/>
              <a:gdLst>
                <a:gd name="T0" fmla="*/ 469 w 469"/>
                <a:gd name="T1" fmla="*/ 145 h 175"/>
                <a:gd name="T2" fmla="*/ 439 w 469"/>
                <a:gd name="T3" fmla="*/ 175 h 175"/>
                <a:gd name="T4" fmla="*/ 30 w 469"/>
                <a:gd name="T5" fmla="*/ 175 h 175"/>
                <a:gd name="T6" fmla="*/ 0 w 469"/>
                <a:gd name="T7" fmla="*/ 145 h 175"/>
                <a:gd name="T8" fmla="*/ 0 w 469"/>
                <a:gd name="T9" fmla="*/ 30 h 175"/>
                <a:gd name="T10" fmla="*/ 30 w 469"/>
                <a:gd name="T11" fmla="*/ 0 h 175"/>
                <a:gd name="T12" fmla="*/ 439 w 469"/>
                <a:gd name="T13" fmla="*/ 0 h 175"/>
                <a:gd name="T14" fmla="*/ 469 w 469"/>
                <a:gd name="T15" fmla="*/ 30 h 175"/>
                <a:gd name="T16" fmla="*/ 469 w 469"/>
                <a:gd name="T17" fmla="*/ 14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9" h="175">
                  <a:moveTo>
                    <a:pt x="469" y="145"/>
                  </a:moveTo>
                  <a:cubicBezTo>
                    <a:pt x="469" y="162"/>
                    <a:pt x="455" y="175"/>
                    <a:pt x="439" y="175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13" y="175"/>
                    <a:pt x="0" y="162"/>
                    <a:pt x="0" y="145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39" y="0"/>
                    <a:pt x="439" y="0"/>
                    <a:pt x="439" y="0"/>
                  </a:cubicBezTo>
                  <a:cubicBezTo>
                    <a:pt x="455" y="0"/>
                    <a:pt x="469" y="13"/>
                    <a:pt x="469" y="30"/>
                  </a:cubicBezTo>
                  <a:lnTo>
                    <a:pt x="469" y="145"/>
                  </a:lnTo>
                  <a:close/>
                </a:path>
              </a:pathLst>
            </a:custGeom>
            <a:solidFill>
              <a:srgbClr val="0075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1" name="Rectangle 68"/>
            <p:cNvSpPr>
              <a:spLocks noChangeArrowheads="1"/>
            </p:cNvSpPr>
            <p:nvPr/>
          </p:nvSpPr>
          <p:spPr bwMode="auto">
            <a:xfrm>
              <a:off x="6236" y="2141"/>
              <a:ext cx="597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0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+mn-cs"/>
                </a:rPr>
                <a:t>DEPENDS ON SQL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69"/>
            <p:cNvSpPr>
              <a:spLocks/>
            </p:cNvSpPr>
            <p:nvPr/>
          </p:nvSpPr>
          <p:spPr bwMode="auto">
            <a:xfrm>
              <a:off x="4669" y="2059"/>
              <a:ext cx="682" cy="254"/>
            </a:xfrm>
            <a:custGeom>
              <a:avLst/>
              <a:gdLst>
                <a:gd name="T0" fmla="*/ 469 w 469"/>
                <a:gd name="T1" fmla="*/ 145 h 175"/>
                <a:gd name="T2" fmla="*/ 439 w 469"/>
                <a:gd name="T3" fmla="*/ 175 h 175"/>
                <a:gd name="T4" fmla="*/ 31 w 469"/>
                <a:gd name="T5" fmla="*/ 175 h 175"/>
                <a:gd name="T6" fmla="*/ 0 w 469"/>
                <a:gd name="T7" fmla="*/ 145 h 175"/>
                <a:gd name="T8" fmla="*/ 0 w 469"/>
                <a:gd name="T9" fmla="*/ 30 h 175"/>
                <a:gd name="T10" fmla="*/ 31 w 469"/>
                <a:gd name="T11" fmla="*/ 0 h 175"/>
                <a:gd name="T12" fmla="*/ 439 w 469"/>
                <a:gd name="T13" fmla="*/ 0 h 175"/>
                <a:gd name="T14" fmla="*/ 469 w 469"/>
                <a:gd name="T15" fmla="*/ 30 h 175"/>
                <a:gd name="T16" fmla="*/ 469 w 469"/>
                <a:gd name="T17" fmla="*/ 14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9" h="175">
                  <a:moveTo>
                    <a:pt x="469" y="145"/>
                  </a:moveTo>
                  <a:cubicBezTo>
                    <a:pt x="469" y="162"/>
                    <a:pt x="456" y="175"/>
                    <a:pt x="439" y="175"/>
                  </a:cubicBezTo>
                  <a:cubicBezTo>
                    <a:pt x="31" y="175"/>
                    <a:pt x="31" y="175"/>
                    <a:pt x="31" y="175"/>
                  </a:cubicBezTo>
                  <a:cubicBezTo>
                    <a:pt x="14" y="175"/>
                    <a:pt x="0" y="162"/>
                    <a:pt x="0" y="145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4" y="0"/>
                    <a:pt x="31" y="0"/>
                  </a:cubicBezTo>
                  <a:cubicBezTo>
                    <a:pt x="439" y="0"/>
                    <a:pt x="439" y="0"/>
                    <a:pt x="439" y="0"/>
                  </a:cubicBezTo>
                  <a:cubicBezTo>
                    <a:pt x="456" y="0"/>
                    <a:pt x="469" y="13"/>
                    <a:pt x="469" y="30"/>
                  </a:cubicBezTo>
                  <a:lnTo>
                    <a:pt x="469" y="145"/>
                  </a:lnTo>
                  <a:close/>
                </a:path>
              </a:pathLst>
            </a:custGeom>
            <a:solidFill>
              <a:srgbClr val="0075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3" name="Rectangle 70"/>
            <p:cNvSpPr>
              <a:spLocks noChangeArrowheads="1"/>
            </p:cNvSpPr>
            <p:nvPr/>
          </p:nvSpPr>
          <p:spPr bwMode="auto">
            <a:xfrm>
              <a:off x="4713" y="2141"/>
              <a:ext cx="597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0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+mn-cs"/>
                </a:rPr>
                <a:t>DEPENDS ON SQL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71"/>
            <p:cNvSpPr>
              <a:spLocks/>
            </p:cNvSpPr>
            <p:nvPr/>
          </p:nvSpPr>
          <p:spPr bwMode="auto">
            <a:xfrm>
              <a:off x="3500" y="3277"/>
              <a:ext cx="1535" cy="499"/>
            </a:xfrm>
            <a:custGeom>
              <a:avLst/>
              <a:gdLst>
                <a:gd name="T0" fmla="*/ 0 w 1535"/>
                <a:gd name="T1" fmla="*/ 0 h 499"/>
                <a:gd name="T2" fmla="*/ 0 w 1535"/>
                <a:gd name="T3" fmla="*/ 499 h 499"/>
                <a:gd name="T4" fmla="*/ 1535 w 1535"/>
                <a:gd name="T5" fmla="*/ 499 h 499"/>
                <a:gd name="T6" fmla="*/ 1535 w 1535"/>
                <a:gd name="T7" fmla="*/ 113 h 499"/>
                <a:gd name="T8" fmla="*/ 1511 w 1535"/>
                <a:gd name="T9" fmla="*/ 113 h 499"/>
                <a:gd name="T10" fmla="*/ 1511 w 1535"/>
                <a:gd name="T11" fmla="*/ 475 h 499"/>
                <a:gd name="T12" fmla="*/ 25 w 1535"/>
                <a:gd name="T13" fmla="*/ 475 h 499"/>
                <a:gd name="T14" fmla="*/ 25 w 1535"/>
                <a:gd name="T15" fmla="*/ 0 h 499"/>
                <a:gd name="T16" fmla="*/ 0 w 1535"/>
                <a:gd name="T17" fmla="*/ 0 h 499"/>
                <a:gd name="T18" fmla="*/ 0 w 1535"/>
                <a:gd name="T1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5" h="499">
                  <a:moveTo>
                    <a:pt x="0" y="0"/>
                  </a:moveTo>
                  <a:lnTo>
                    <a:pt x="0" y="499"/>
                  </a:lnTo>
                  <a:lnTo>
                    <a:pt x="1535" y="499"/>
                  </a:lnTo>
                  <a:lnTo>
                    <a:pt x="1535" y="113"/>
                  </a:lnTo>
                  <a:lnTo>
                    <a:pt x="1511" y="113"/>
                  </a:lnTo>
                  <a:lnTo>
                    <a:pt x="1511" y="475"/>
                  </a:lnTo>
                  <a:lnTo>
                    <a:pt x="25" y="475"/>
                  </a:lnTo>
                  <a:lnTo>
                    <a:pt x="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5" name="Oval 72"/>
            <p:cNvSpPr>
              <a:spLocks noChangeArrowheads="1"/>
            </p:cNvSpPr>
            <p:nvPr/>
          </p:nvSpPr>
          <p:spPr bwMode="auto">
            <a:xfrm>
              <a:off x="3467" y="3233"/>
              <a:ext cx="90" cy="91"/>
            </a:xfrm>
            <a:prstGeom prst="ellipse">
              <a:avLst/>
            </a:prstGeom>
            <a:solidFill>
              <a:srgbClr val="7CC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6" name="Freeform 73"/>
            <p:cNvSpPr>
              <a:spLocks/>
            </p:cNvSpPr>
            <p:nvPr/>
          </p:nvSpPr>
          <p:spPr bwMode="auto">
            <a:xfrm>
              <a:off x="4976" y="3322"/>
              <a:ext cx="96" cy="82"/>
            </a:xfrm>
            <a:custGeom>
              <a:avLst/>
              <a:gdLst>
                <a:gd name="T0" fmla="*/ 96 w 96"/>
                <a:gd name="T1" fmla="*/ 82 h 82"/>
                <a:gd name="T2" fmla="*/ 48 w 96"/>
                <a:gd name="T3" fmla="*/ 0 h 82"/>
                <a:gd name="T4" fmla="*/ 0 w 96"/>
                <a:gd name="T5" fmla="*/ 82 h 82"/>
                <a:gd name="T6" fmla="*/ 96 w 96"/>
                <a:gd name="T7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2">
                  <a:moveTo>
                    <a:pt x="96" y="82"/>
                  </a:moveTo>
                  <a:lnTo>
                    <a:pt x="48" y="0"/>
                  </a:lnTo>
                  <a:lnTo>
                    <a:pt x="0" y="82"/>
                  </a:lnTo>
                  <a:lnTo>
                    <a:pt x="96" y="82"/>
                  </a:lnTo>
                  <a:close/>
                </a:path>
              </a:pathLst>
            </a:custGeom>
            <a:solidFill>
              <a:srgbClr val="7CC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7" name="Freeform 74"/>
            <p:cNvSpPr>
              <a:spLocks/>
            </p:cNvSpPr>
            <p:nvPr/>
          </p:nvSpPr>
          <p:spPr bwMode="auto">
            <a:xfrm>
              <a:off x="3929" y="3635"/>
              <a:ext cx="681" cy="255"/>
            </a:xfrm>
            <a:custGeom>
              <a:avLst/>
              <a:gdLst>
                <a:gd name="T0" fmla="*/ 469 w 469"/>
                <a:gd name="T1" fmla="*/ 145 h 175"/>
                <a:gd name="T2" fmla="*/ 438 w 469"/>
                <a:gd name="T3" fmla="*/ 175 h 175"/>
                <a:gd name="T4" fmla="*/ 30 w 469"/>
                <a:gd name="T5" fmla="*/ 175 h 175"/>
                <a:gd name="T6" fmla="*/ 0 w 469"/>
                <a:gd name="T7" fmla="*/ 145 h 175"/>
                <a:gd name="T8" fmla="*/ 0 w 469"/>
                <a:gd name="T9" fmla="*/ 30 h 175"/>
                <a:gd name="T10" fmla="*/ 30 w 469"/>
                <a:gd name="T11" fmla="*/ 0 h 175"/>
                <a:gd name="T12" fmla="*/ 438 w 469"/>
                <a:gd name="T13" fmla="*/ 0 h 175"/>
                <a:gd name="T14" fmla="*/ 469 w 469"/>
                <a:gd name="T15" fmla="*/ 30 h 175"/>
                <a:gd name="T16" fmla="*/ 469 w 469"/>
                <a:gd name="T17" fmla="*/ 14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9" h="175">
                  <a:moveTo>
                    <a:pt x="469" y="145"/>
                  </a:moveTo>
                  <a:cubicBezTo>
                    <a:pt x="469" y="162"/>
                    <a:pt x="455" y="175"/>
                    <a:pt x="438" y="175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13" y="175"/>
                    <a:pt x="0" y="162"/>
                    <a:pt x="0" y="145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455" y="0"/>
                    <a:pt x="469" y="13"/>
                    <a:pt x="469" y="30"/>
                  </a:cubicBezTo>
                  <a:lnTo>
                    <a:pt x="469" y="145"/>
                  </a:lnTo>
                  <a:close/>
                </a:path>
              </a:pathLst>
            </a:custGeom>
            <a:solidFill>
              <a:srgbClr val="0075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5" tIns="45707" rIns="91415" bIns="4570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0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8" name="Rectangle 75"/>
            <p:cNvSpPr>
              <a:spLocks noChangeArrowheads="1"/>
            </p:cNvSpPr>
            <p:nvPr/>
          </p:nvSpPr>
          <p:spPr bwMode="auto">
            <a:xfrm>
              <a:off x="4023" y="3702"/>
              <a:ext cx="16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0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+mn-cs"/>
                </a:rPr>
                <a:t>SQL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Rectangle 76"/>
            <p:cNvSpPr>
              <a:spLocks noChangeArrowheads="1"/>
            </p:cNvSpPr>
            <p:nvPr/>
          </p:nvSpPr>
          <p:spPr bwMode="auto">
            <a:xfrm>
              <a:off x="4204" y="3702"/>
              <a:ext cx="56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0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+mn-cs"/>
                </a:rPr>
                <a:t>C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Rectangle 77"/>
            <p:cNvSpPr>
              <a:spLocks noChangeArrowheads="1"/>
            </p:cNvSpPr>
            <p:nvPr/>
          </p:nvSpPr>
          <p:spPr bwMode="auto">
            <a:xfrm>
              <a:off x="4257" y="3702"/>
              <a:ext cx="26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0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+mn-cs"/>
                </a:rPr>
                <a:t>ONFIG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726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415145" y="1251669"/>
            <a:ext cx="8553818" cy="5414931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Datacenter (Azure, Amazon, On-Premises, …)</a:t>
            </a:r>
          </a:p>
          <a:p>
            <a:pPr algn="ctr"/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3618316" y="4399556"/>
            <a:ext cx="1047868" cy="64633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Load Balancer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5505881" y="3575845"/>
            <a:ext cx="2094213" cy="13031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PC/VM #1</a:t>
            </a:r>
            <a:b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675017" y="3995572"/>
            <a:ext cx="1770355" cy="34566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Service Fabric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8302" y="4446742"/>
            <a:ext cx="1777070" cy="34566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Your code, etc.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6845516" y="1863521"/>
            <a:ext cx="2094213" cy="13031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PC/VM #2</a:t>
            </a:r>
            <a:b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014652" y="2283248"/>
            <a:ext cx="1767821" cy="34566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Service Fabric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07937" y="2734418"/>
            <a:ext cx="1777070" cy="34566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Your code, etc.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9457342" y="2634906"/>
            <a:ext cx="2094213" cy="13031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PC/VM #3</a:t>
            </a:r>
            <a:b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642544" y="3065230"/>
            <a:ext cx="1754288" cy="34566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Service Fabric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19763" y="3505803"/>
            <a:ext cx="1777070" cy="34566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Your code, etc.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9473409" y="4203313"/>
            <a:ext cx="2094213" cy="13031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PC/VM #4</a:t>
            </a:r>
            <a:b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642545" y="4619575"/>
            <a:ext cx="1770355" cy="34566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Service Fabric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35830" y="5074210"/>
            <a:ext cx="1777070" cy="34566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Your code, etc.</a:t>
            </a:r>
          </a:p>
        </p:txBody>
      </p:sp>
      <p:sp>
        <p:nvSpPr>
          <p:cNvPr id="64" name="Rectangle 63"/>
          <p:cNvSpPr/>
          <p:nvPr/>
        </p:nvSpPr>
        <p:spPr bwMode="auto">
          <a:xfrm>
            <a:off x="6842984" y="5221763"/>
            <a:ext cx="2094213" cy="13031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PC/VM #5</a:t>
            </a:r>
            <a:b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012120" y="5641490"/>
            <a:ext cx="1770353" cy="34566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Service Fabric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05405" y="6092660"/>
            <a:ext cx="1777070" cy="34566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Your code, etc.</a:t>
            </a:r>
          </a:p>
        </p:txBody>
      </p:sp>
      <p:sp>
        <p:nvSpPr>
          <p:cNvPr id="34" name="Title 3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Fabric Cluster with 5 Nodes</a:t>
            </a:r>
            <a:br>
              <a:rPr lang="en-US" dirty="0"/>
            </a:br>
            <a:endParaRPr lang="en-US" dirty="0"/>
          </a:p>
        </p:txBody>
      </p:sp>
      <p:cxnSp>
        <p:nvCxnSpPr>
          <p:cNvPr id="97" name="Elbow Connector 96"/>
          <p:cNvCxnSpPr>
            <a:stCxn id="44" idx="3"/>
            <a:endCxn id="52" idx="1"/>
          </p:cNvCxnSpPr>
          <p:nvPr/>
        </p:nvCxnSpPr>
        <p:spPr>
          <a:xfrm>
            <a:off x="8782473" y="2456082"/>
            <a:ext cx="860071" cy="781982"/>
          </a:xfrm>
          <a:prstGeom prst="bentConnector3">
            <a:avLst/>
          </a:prstGeom>
          <a:ln w="57150" cap="sq" cmpd="sng">
            <a:solidFill>
              <a:schemeClr val="tx2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/>
          <p:cNvCxnSpPr>
            <a:stCxn id="52" idx="3"/>
            <a:endCxn id="58" idx="3"/>
          </p:cNvCxnSpPr>
          <p:nvPr/>
        </p:nvCxnSpPr>
        <p:spPr>
          <a:xfrm>
            <a:off x="11396832" y="3238064"/>
            <a:ext cx="16068" cy="1554345"/>
          </a:xfrm>
          <a:prstGeom prst="bentConnector3">
            <a:avLst>
              <a:gd name="adj1" fmla="val 2139208"/>
            </a:avLst>
          </a:prstGeom>
          <a:ln w="57150" cap="sq" cmpd="sng">
            <a:solidFill>
              <a:schemeClr val="tx2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/>
          <p:cNvCxnSpPr>
            <a:stCxn id="65" idx="3"/>
            <a:endCxn id="58" idx="1"/>
          </p:cNvCxnSpPr>
          <p:nvPr/>
        </p:nvCxnSpPr>
        <p:spPr>
          <a:xfrm flipV="1">
            <a:off x="8782473" y="4792409"/>
            <a:ext cx="860072" cy="1021915"/>
          </a:xfrm>
          <a:prstGeom prst="bentConnector3">
            <a:avLst>
              <a:gd name="adj1" fmla="val 50000"/>
            </a:avLst>
          </a:prstGeom>
          <a:ln w="57150" cap="sq" cmpd="sng">
            <a:solidFill>
              <a:schemeClr val="tx2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/>
          <p:cNvCxnSpPr>
            <a:stCxn id="26" idx="3"/>
            <a:endCxn id="65" idx="1"/>
          </p:cNvCxnSpPr>
          <p:nvPr/>
        </p:nvCxnSpPr>
        <p:spPr>
          <a:xfrm flipH="1">
            <a:off x="7012120" y="4168406"/>
            <a:ext cx="433252" cy="1645918"/>
          </a:xfrm>
          <a:prstGeom prst="bentConnector5">
            <a:avLst>
              <a:gd name="adj1" fmla="val -86265"/>
              <a:gd name="adj2" fmla="val 52778"/>
              <a:gd name="adj3" fmla="val 179146"/>
            </a:avLst>
          </a:prstGeom>
          <a:ln w="57150" cap="sq" cmpd="sng">
            <a:solidFill>
              <a:schemeClr val="tx2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/>
          <p:cNvCxnSpPr>
            <a:stCxn id="26" idx="3"/>
            <a:endCxn id="44" idx="1"/>
          </p:cNvCxnSpPr>
          <p:nvPr/>
        </p:nvCxnSpPr>
        <p:spPr>
          <a:xfrm flipH="1" flipV="1">
            <a:off x="7014652" y="2456082"/>
            <a:ext cx="430720" cy="1712324"/>
          </a:xfrm>
          <a:prstGeom prst="bentConnector5">
            <a:avLst>
              <a:gd name="adj1" fmla="val -86772"/>
              <a:gd name="adj2" fmla="val 50000"/>
              <a:gd name="adj3" fmla="val 199071"/>
            </a:avLst>
          </a:prstGeom>
          <a:ln w="57150" cap="sq" cmpd="sng">
            <a:solidFill>
              <a:schemeClr val="tx2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5" idx="3"/>
            <a:endCxn id="26" idx="1"/>
          </p:cNvCxnSpPr>
          <p:nvPr/>
        </p:nvCxnSpPr>
        <p:spPr>
          <a:xfrm flipV="1">
            <a:off x="4666184" y="4168406"/>
            <a:ext cx="1008833" cy="554316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Picture 2" descr="C:\Users\Jeffrey\AppData\Local\Microsoft\Windows\Temporary Internet Files\Content.IE5\Z5GQZJYD\MC90043256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11" y="3835576"/>
            <a:ext cx="1774290" cy="177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8" name="Straight Arrow Connector 127"/>
          <p:cNvCxnSpPr>
            <a:stCxn id="127" idx="3"/>
            <a:endCxn id="25" idx="1"/>
          </p:cNvCxnSpPr>
          <p:nvPr/>
        </p:nvCxnSpPr>
        <p:spPr>
          <a:xfrm>
            <a:off x="1958501" y="4722721"/>
            <a:ext cx="1659815" cy="1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1498114" y="3458286"/>
            <a:ext cx="1777070" cy="56601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Your code, etc.</a:t>
            </a:r>
            <a:b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700" dirty="0">
                <a:latin typeface="Segoe UI" panose="020B0502040204020203" pitchFamily="34" charset="0"/>
                <a:cs typeface="Segoe UI" panose="020B0502040204020203" pitchFamily="34" charset="0"/>
              </a:rPr>
              <a:t>(Port: 19080)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498114" y="5415878"/>
            <a:ext cx="1777070" cy="57127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Web Request</a:t>
            </a:r>
            <a:b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700" dirty="0">
                <a:latin typeface="Segoe UI" panose="020B0502040204020203" pitchFamily="34" charset="0"/>
                <a:cs typeface="Segoe UI" panose="020B0502040204020203" pitchFamily="34" charset="0"/>
              </a:rPr>
              <a:t>(Port: 80/443/?)</a:t>
            </a:r>
          </a:p>
        </p:txBody>
      </p:sp>
      <p:cxnSp>
        <p:nvCxnSpPr>
          <p:cNvPr id="135" name="Straight Arrow Connector 134"/>
          <p:cNvCxnSpPr>
            <a:stCxn id="25" idx="3"/>
            <a:endCxn id="67" idx="1"/>
          </p:cNvCxnSpPr>
          <p:nvPr/>
        </p:nvCxnSpPr>
        <p:spPr>
          <a:xfrm>
            <a:off x="4666184" y="4722722"/>
            <a:ext cx="2339221" cy="1542772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47254" y="6333971"/>
            <a:ext cx="2867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*SF supports 1,000s of nodes</a:t>
            </a:r>
          </a:p>
        </p:txBody>
      </p:sp>
    </p:spTree>
    <p:extLst>
      <p:ext uri="{BB962C8B-B14F-4D97-AF65-F5344CB8AC3E}">
        <p14:creationId xmlns:p14="http://schemas.microsoft.com/office/powerpoint/2010/main" val="4808287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0" grpId="0" animBg="1"/>
      <p:bldP spid="26" grpId="0" animBg="1"/>
      <p:bldP spid="28" grpId="0" animBg="1"/>
      <p:bldP spid="42" grpId="0" animBg="1"/>
      <p:bldP spid="44" grpId="0" animBg="1"/>
      <p:bldP spid="46" grpId="0" animBg="1"/>
      <p:bldP spid="50" grpId="0" animBg="1"/>
      <p:bldP spid="52" grpId="0" animBg="1"/>
      <p:bldP spid="53" grpId="0" animBg="1"/>
      <p:bldP spid="57" grpId="0" animBg="1"/>
      <p:bldP spid="58" grpId="0" animBg="1"/>
      <p:bldP spid="60" grpId="0" animBg="1"/>
      <p:bldP spid="64" grpId="0" animBg="1"/>
      <p:bldP spid="65" grpId="0" animBg="1"/>
      <p:bldP spid="67" grpId="0" animBg="1"/>
      <p:bldP spid="131" grpId="0" animBg="1"/>
      <p:bldP spid="131" grpId="1" animBg="1"/>
      <p:bldP spid="1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355312"/>
          </a:xfrm>
        </p:spPr>
        <p:txBody>
          <a:bodyPr/>
          <a:lstStyle/>
          <a:p>
            <a:r>
              <a:rPr lang="en-US" dirty="0"/>
              <a:t>Securing</a:t>
            </a:r>
          </a:p>
          <a:p>
            <a:pPr lvl="1"/>
            <a:r>
              <a:rPr lang="en-US" dirty="0"/>
              <a:t>SF Node ↔ SF Node communication</a:t>
            </a:r>
          </a:p>
          <a:p>
            <a:pPr lvl="2"/>
            <a:r>
              <a:rPr lang="en-US" dirty="0"/>
              <a:t>Azure: Key Vault, Virtual Network</a:t>
            </a:r>
          </a:p>
          <a:p>
            <a:pPr lvl="2"/>
            <a:r>
              <a:rPr lang="en-US" dirty="0"/>
              <a:t>Other: Certificate</a:t>
            </a:r>
          </a:p>
          <a:p>
            <a:pPr lvl="1"/>
            <a:r>
              <a:rPr lang="en-US" dirty="0"/>
              <a:t>Outside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Cluster management node endpoint</a:t>
            </a:r>
          </a:p>
          <a:p>
            <a:pPr lvl="2"/>
            <a:r>
              <a:rPr lang="en-US" dirty="0"/>
              <a:t>Azure: Key Vault</a:t>
            </a:r>
          </a:p>
          <a:p>
            <a:pPr lvl="1"/>
            <a:r>
              <a:rPr lang="en-US" dirty="0"/>
              <a:t>Outside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your code’s node endpoint</a:t>
            </a:r>
          </a:p>
          <a:p>
            <a:pPr lvl="2"/>
            <a:r>
              <a:rPr lang="en-US" dirty="0"/>
              <a:t>Up to you</a:t>
            </a:r>
          </a:p>
          <a:p>
            <a:pPr lvl="1"/>
            <a:r>
              <a:rPr lang="en-US" dirty="0"/>
              <a:t>Service Accounts and </a:t>
            </a:r>
            <a:r>
              <a:rPr lang="en-US" dirty="0" err="1"/>
              <a:t>RunAs</a:t>
            </a:r>
            <a:endParaRPr lang="en-US" dirty="0"/>
          </a:p>
          <a:p>
            <a:pPr lvl="2"/>
            <a:r>
              <a:rPr lang="en-US" dirty="0"/>
              <a:t>Up to you (defined in the application manifest)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Node Endpoints</a:t>
            </a:r>
          </a:p>
        </p:txBody>
      </p:sp>
    </p:spTree>
    <p:extLst>
      <p:ext uri="{BB962C8B-B14F-4D97-AF65-F5344CB8AC3E}">
        <p14:creationId xmlns:p14="http://schemas.microsoft.com/office/powerpoint/2010/main" val="152983707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4672048"/>
          </a:xfrm>
        </p:spPr>
        <p:txBody>
          <a:bodyPr/>
          <a:lstStyle/>
          <a:p>
            <a:r>
              <a:rPr lang="en-US" dirty="0"/>
              <a:t>Service Fabric clusters should always be secured</a:t>
            </a:r>
          </a:p>
          <a:p>
            <a:pPr lvl="1"/>
            <a:r>
              <a:rPr lang="en-US" dirty="0"/>
              <a:t>Default setting when creating a cluster through the portal</a:t>
            </a:r>
          </a:p>
          <a:p>
            <a:r>
              <a:rPr lang="en-US" dirty="0"/>
              <a:t>Use certificates to secure access</a:t>
            </a:r>
          </a:p>
          <a:p>
            <a:pPr lvl="1"/>
            <a:r>
              <a:rPr lang="en-US" dirty="0"/>
              <a:t>X509 Server certificates</a:t>
            </a:r>
          </a:p>
          <a:p>
            <a:r>
              <a:rPr lang="en-US" dirty="0"/>
              <a:t>Use Azure Key Vault</a:t>
            </a:r>
          </a:p>
          <a:p>
            <a:pPr lvl="1"/>
            <a:r>
              <a:rPr lang="en-US" dirty="0"/>
              <a:t>Create a Key Vault with </a:t>
            </a:r>
            <a:r>
              <a:rPr lang="en-US" dirty="0" err="1"/>
              <a:t>EnabledForDeployment</a:t>
            </a:r>
            <a:r>
              <a:rPr lang="en-US" dirty="0"/>
              <a:t>  enabled</a:t>
            </a:r>
          </a:p>
          <a:p>
            <a:pPr lvl="1"/>
            <a:r>
              <a:rPr lang="en-US" b="1" i="1" dirty="0"/>
              <a:t>DELETE?: Key Vault needs to be in the same region as the SF cluster</a:t>
            </a:r>
          </a:p>
          <a:p>
            <a:pPr lvl="1"/>
            <a:r>
              <a:rPr lang="en-US" dirty="0"/>
              <a:t>Upload cert to key vault as a secret</a:t>
            </a:r>
          </a:p>
          <a:p>
            <a:pPr lvl="1"/>
            <a:r>
              <a:rPr lang="en-US" dirty="0"/>
              <a:t>Microsoft Compute Resource Provider gets the secret stored in the Key Vault</a:t>
            </a:r>
            <a:br>
              <a:rPr lang="en-US" dirty="0"/>
            </a:br>
            <a:r>
              <a:rPr lang="en-US" dirty="0"/>
              <a:t>and places it in the node’s specified Certificate Store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a Service Fabric Cluster</a:t>
            </a:r>
          </a:p>
        </p:txBody>
      </p:sp>
    </p:spTree>
    <p:extLst>
      <p:ext uri="{BB962C8B-B14F-4D97-AF65-F5344CB8AC3E}">
        <p14:creationId xmlns:p14="http://schemas.microsoft.com/office/powerpoint/2010/main" val="18198234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Setting-up a</a:t>
            </a:r>
            <a:br>
              <a:rPr lang="en-US"/>
            </a:br>
            <a:r>
              <a:rPr lang="en-US"/>
              <a:t>Cluster </a:t>
            </a:r>
            <a:r>
              <a:rPr lang="en-US" dirty="0"/>
              <a:t>in Azure</a:t>
            </a:r>
          </a:p>
        </p:txBody>
      </p:sp>
    </p:spTree>
    <p:extLst>
      <p:ext uri="{BB962C8B-B14F-4D97-AF65-F5344CB8AC3E}">
        <p14:creationId xmlns:p14="http://schemas.microsoft.com/office/powerpoint/2010/main" val="321858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 Fabric’s Infrastructure Services</a:t>
            </a:r>
            <a:endParaRPr lang="en-US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783167"/>
              </p:ext>
            </p:extLst>
          </p:nvPr>
        </p:nvGraphicFramePr>
        <p:xfrm>
          <a:off x="193288" y="1672494"/>
          <a:ext cx="11729474" cy="3992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01329">
                  <a:extLst>
                    <a:ext uri="{9D8B030D-6E8A-4147-A177-3AD203B41FA5}">
                      <a16:colId xmlns:a16="http://schemas.microsoft.com/office/drawing/2014/main" xmlns="" val="3651334521"/>
                    </a:ext>
                  </a:extLst>
                </a:gridCol>
                <a:gridCol w="8528145">
                  <a:extLst>
                    <a:ext uri="{9D8B030D-6E8A-4147-A177-3AD203B41FA5}">
                      <a16:colId xmlns:a16="http://schemas.microsoft.com/office/drawing/2014/main" xmlns="" val="3934052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97147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Cluster</a:t>
                      </a:r>
                      <a:r>
                        <a:rPr lang="en-US" sz="2800" baseline="0" dirty="0"/>
                        <a:t> Manager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Cluster management </a:t>
                      </a:r>
                      <a:br>
                        <a:rPr lang="en-US" sz="2800" dirty="0"/>
                      </a:br>
                      <a:r>
                        <a:rPr lang="en-US" sz="2400" dirty="0"/>
                        <a:t>(REST</a:t>
                      </a:r>
                      <a:r>
                        <a:rPr lang="en-US" sz="2400" baseline="0" dirty="0"/>
                        <a:t> [HTTP=19080], PowerShell/</a:t>
                      </a:r>
                      <a:r>
                        <a:rPr lang="en-US" sz="2400" baseline="0" dirty="0" err="1"/>
                        <a:t>FabricClient</a:t>
                      </a:r>
                      <a:r>
                        <a:rPr lang="en-US" sz="2400" baseline="0" dirty="0"/>
                        <a:t> [TCP=19000]</a:t>
                      </a:r>
                      <a:r>
                        <a:rPr lang="en-US" sz="2400" dirty="0"/>
                        <a:t>)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81557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Failover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Rebalances service instances as nodes</a:t>
                      </a:r>
                      <a:r>
                        <a:rPr lang="en-US" sz="2800" baseline="0" dirty="0"/>
                        <a:t> come/go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76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Naming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Registry mapping service instances </a:t>
                      </a:r>
                      <a:r>
                        <a:rPr lang="en-US" sz="28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800" dirty="0"/>
                        <a:t> endpoints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57786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Fault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Let’s you inject faults to test your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85055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Image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Contains</a:t>
                      </a:r>
                      <a:r>
                        <a:rPr lang="en-US" sz="2800" baseline="0" dirty="0"/>
                        <a:t> your app packages (not on </a:t>
                      </a:r>
                      <a:r>
                        <a:rPr lang="en-US" sz="2800" baseline="0" dirty="0" err="1"/>
                        <a:t>OneBox</a:t>
                      </a:r>
                      <a:r>
                        <a:rPr lang="en-US" sz="2800" baseline="0" dirty="0"/>
                        <a:t>)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3919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Upgrade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Upgrades SF on nodes (Azure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36992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02745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613845"/>
          </a:xfrm>
        </p:spPr>
        <p:txBody>
          <a:bodyPr/>
          <a:lstStyle/>
          <a:p>
            <a:pPr>
              <a:spcBef>
                <a:spcPts val="624"/>
              </a:spcBef>
              <a:tabLst>
                <a:tab pos="627063" algn="l"/>
              </a:tabLst>
            </a:pPr>
            <a:r>
              <a:rPr lang="en-US" dirty="0"/>
              <a:t>  Cluster Manager (ports 19080 [REST] &amp; 19000 [TCP])</a:t>
            </a:r>
            <a:br>
              <a:rPr lang="en-US" dirty="0"/>
            </a:br>
            <a:r>
              <a:rPr lang="en-US" dirty="0"/>
              <a:t>	</a:t>
            </a:r>
            <a:r>
              <a:rPr lang="en-US" sz="2600" dirty="0"/>
              <a:t>Performs cluster REST &amp; PowerShell/</a:t>
            </a:r>
            <a:r>
              <a:rPr lang="en-US" sz="2600" dirty="0" err="1"/>
              <a:t>FabricClient</a:t>
            </a:r>
            <a:r>
              <a:rPr lang="en-US" sz="2600" dirty="0"/>
              <a:t> operations</a:t>
            </a:r>
          </a:p>
          <a:p>
            <a:pPr>
              <a:tabLst>
                <a:tab pos="627063" algn="l"/>
              </a:tabLst>
            </a:pPr>
            <a:r>
              <a:rPr lang="en-US" dirty="0"/>
              <a:t>  Failover Manager</a:t>
            </a:r>
            <a:br>
              <a:rPr lang="en-US" dirty="0"/>
            </a:br>
            <a:r>
              <a:rPr lang="en-US" dirty="0"/>
              <a:t>	</a:t>
            </a:r>
            <a:r>
              <a:rPr lang="en-US" sz="2600" dirty="0"/>
              <a:t>Rebalances resources as nodes come/go</a:t>
            </a:r>
          </a:p>
          <a:p>
            <a:pPr>
              <a:tabLst>
                <a:tab pos="627063" algn="l"/>
              </a:tabLst>
            </a:pPr>
            <a:r>
              <a:rPr lang="en-US" dirty="0"/>
              <a:t>  Naming</a:t>
            </a:r>
            <a:br>
              <a:rPr lang="en-US" dirty="0"/>
            </a:br>
            <a:r>
              <a:rPr lang="en-US" dirty="0"/>
              <a:t>	</a:t>
            </a:r>
            <a:r>
              <a:rPr lang="en-US" sz="2600" dirty="0"/>
              <a:t>Maps service instances to endpoints</a:t>
            </a:r>
          </a:p>
          <a:p>
            <a:pPr>
              <a:tabLst>
                <a:tab pos="574675" algn="l"/>
              </a:tabLst>
            </a:pPr>
            <a:r>
              <a:rPr lang="en-US" dirty="0"/>
              <a:t>  Image store (not on </a:t>
            </a:r>
            <a:r>
              <a:rPr lang="en-US" dirty="0" err="1"/>
              <a:t>OneBox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	</a:t>
            </a:r>
            <a:r>
              <a:rPr lang="en-US" sz="2600" dirty="0"/>
              <a:t>Contains your Application packages</a:t>
            </a:r>
          </a:p>
          <a:p>
            <a:pPr>
              <a:tabLst>
                <a:tab pos="627063" algn="l"/>
              </a:tabLst>
            </a:pPr>
            <a:r>
              <a:rPr lang="en-US" dirty="0"/>
              <a:t>  Upgrade Service (Azure only)</a:t>
            </a:r>
            <a:br>
              <a:rPr lang="en-US" dirty="0"/>
            </a:br>
            <a:r>
              <a:rPr lang="en-US" dirty="0"/>
              <a:t>	</a:t>
            </a:r>
            <a:r>
              <a:rPr lang="en-US" sz="2600" dirty="0"/>
              <a:t>Coordinates upgrading SF itself with Azure’s SFRP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 Fabric’s Infrastructure Services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 bwMode="auto">
          <a:xfrm>
            <a:off x="7080076" y="2873827"/>
            <a:ext cx="2137282" cy="119116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Node #1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Regular Pentagon 30"/>
          <p:cNvSpPr/>
          <p:nvPr/>
        </p:nvSpPr>
        <p:spPr>
          <a:xfrm>
            <a:off x="8561485" y="3372350"/>
            <a:ext cx="513070" cy="482568"/>
          </a:xfrm>
          <a:prstGeom prst="pentagon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9596903" y="2113427"/>
            <a:ext cx="2136075" cy="119116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Node #2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Regular Pentagon 33"/>
          <p:cNvSpPr/>
          <p:nvPr/>
        </p:nvSpPr>
        <p:spPr>
          <a:xfrm>
            <a:off x="9799319" y="2680852"/>
            <a:ext cx="513070" cy="506692"/>
          </a:xfrm>
          <a:prstGeom prst="pentagon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</a:p>
        </p:txBody>
      </p:sp>
      <p:sp>
        <p:nvSpPr>
          <p:cNvPr id="35" name="Regular Pentagon 34"/>
          <p:cNvSpPr/>
          <p:nvPr/>
        </p:nvSpPr>
        <p:spPr>
          <a:xfrm>
            <a:off x="10408405" y="2684474"/>
            <a:ext cx="513070" cy="482568"/>
          </a:xfrm>
          <a:prstGeom prst="pentagon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</a:p>
        </p:txBody>
      </p:sp>
      <p:sp>
        <p:nvSpPr>
          <p:cNvPr id="36" name="Regular Pentagon 35"/>
          <p:cNvSpPr/>
          <p:nvPr/>
        </p:nvSpPr>
        <p:spPr>
          <a:xfrm>
            <a:off x="11045378" y="2680852"/>
            <a:ext cx="513070" cy="482568"/>
          </a:xfrm>
          <a:prstGeom prst="pentag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9596604" y="3770179"/>
            <a:ext cx="2137280" cy="119116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Node #3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Regular Pentagon 38"/>
          <p:cNvSpPr/>
          <p:nvPr/>
        </p:nvSpPr>
        <p:spPr>
          <a:xfrm>
            <a:off x="9747721" y="4287488"/>
            <a:ext cx="519830" cy="482568"/>
          </a:xfrm>
          <a:prstGeom prst="pentagon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</a:p>
        </p:txBody>
      </p:sp>
      <p:sp>
        <p:nvSpPr>
          <p:cNvPr id="40" name="Regular Pentagon 39"/>
          <p:cNvSpPr/>
          <p:nvPr/>
        </p:nvSpPr>
        <p:spPr>
          <a:xfrm>
            <a:off x="10418668" y="4283358"/>
            <a:ext cx="488386" cy="482568"/>
          </a:xfrm>
          <a:prstGeom prst="pentagon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9596604" y="5352174"/>
            <a:ext cx="2137281" cy="119116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Node #4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Regular Pentagon 42"/>
          <p:cNvSpPr/>
          <p:nvPr/>
        </p:nvSpPr>
        <p:spPr>
          <a:xfrm>
            <a:off x="9754481" y="5858789"/>
            <a:ext cx="513070" cy="482568"/>
          </a:xfrm>
          <a:prstGeom prst="pentagon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</a:p>
        </p:txBody>
      </p:sp>
      <p:sp>
        <p:nvSpPr>
          <p:cNvPr id="44" name="Regular Pentagon 43"/>
          <p:cNvSpPr/>
          <p:nvPr/>
        </p:nvSpPr>
        <p:spPr>
          <a:xfrm>
            <a:off x="10433071" y="5858789"/>
            <a:ext cx="513070" cy="482568"/>
          </a:xfrm>
          <a:prstGeom prst="pentag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46" name="Rectangle 45"/>
          <p:cNvSpPr/>
          <p:nvPr/>
        </p:nvSpPr>
        <p:spPr bwMode="auto">
          <a:xfrm>
            <a:off x="7061632" y="4509984"/>
            <a:ext cx="2137281" cy="119116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Node #5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Elbow Connector 54"/>
          <p:cNvCxnSpPr>
            <a:stCxn id="46" idx="2"/>
            <a:endCxn id="42" idx="1"/>
          </p:cNvCxnSpPr>
          <p:nvPr/>
        </p:nvCxnSpPr>
        <p:spPr>
          <a:xfrm rot="16200000" flipH="1">
            <a:off x="8740134" y="5091285"/>
            <a:ext cx="246609" cy="1466331"/>
          </a:xfrm>
          <a:prstGeom prst="bentConnector2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>
            <a:stCxn id="33" idx="1"/>
            <a:endCxn id="28" idx="0"/>
          </p:cNvCxnSpPr>
          <p:nvPr/>
        </p:nvCxnSpPr>
        <p:spPr>
          <a:xfrm rot="10800000" flipV="1">
            <a:off x="8148715" y="2709009"/>
            <a:ext cx="1448188" cy="164820"/>
          </a:xfrm>
          <a:prstGeom prst="bentConnector2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33" idx="2"/>
            <a:endCxn id="38" idx="0"/>
          </p:cNvCxnSpPr>
          <p:nvPr/>
        </p:nvCxnSpPr>
        <p:spPr>
          <a:xfrm>
            <a:off x="10664941" y="3304590"/>
            <a:ext cx="303" cy="465589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38" idx="2"/>
            <a:endCxn id="42" idx="0"/>
          </p:cNvCxnSpPr>
          <p:nvPr/>
        </p:nvCxnSpPr>
        <p:spPr>
          <a:xfrm>
            <a:off x="10665244" y="4961342"/>
            <a:ext cx="1" cy="390832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28" idx="2"/>
            <a:endCxn id="46" idx="0"/>
          </p:cNvCxnSpPr>
          <p:nvPr/>
        </p:nvCxnSpPr>
        <p:spPr>
          <a:xfrm flipH="1">
            <a:off x="8130273" y="4064992"/>
            <a:ext cx="18442" cy="444992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gular Pentagon 74"/>
          <p:cNvSpPr/>
          <p:nvPr/>
        </p:nvSpPr>
        <p:spPr>
          <a:xfrm>
            <a:off x="327881" y="1206165"/>
            <a:ext cx="508142" cy="487351"/>
          </a:xfrm>
          <a:prstGeom prst="pentagon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</a:p>
        </p:txBody>
      </p:sp>
      <p:sp>
        <p:nvSpPr>
          <p:cNvPr id="76" name="Regular Pentagon 75"/>
          <p:cNvSpPr/>
          <p:nvPr/>
        </p:nvSpPr>
        <p:spPr>
          <a:xfrm>
            <a:off x="327881" y="4548089"/>
            <a:ext cx="508142" cy="470756"/>
          </a:xfrm>
          <a:prstGeom prst="pentag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</a:t>
            </a:r>
          </a:p>
        </p:txBody>
      </p:sp>
      <p:sp>
        <p:nvSpPr>
          <p:cNvPr id="77" name="Regular Pentagon 76"/>
          <p:cNvSpPr/>
          <p:nvPr/>
        </p:nvSpPr>
        <p:spPr>
          <a:xfrm>
            <a:off x="327881" y="2333631"/>
            <a:ext cx="508142" cy="487351"/>
          </a:xfrm>
          <a:prstGeom prst="pentagon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78" name="Regular Pentagon 77"/>
          <p:cNvSpPr/>
          <p:nvPr/>
        </p:nvSpPr>
        <p:spPr>
          <a:xfrm>
            <a:off x="327881" y="3425539"/>
            <a:ext cx="508142" cy="517993"/>
          </a:xfrm>
          <a:prstGeom prst="pentagon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</a:p>
        </p:txBody>
      </p:sp>
      <p:sp>
        <p:nvSpPr>
          <p:cNvPr id="49" name="Regular Pentagon 48"/>
          <p:cNvSpPr/>
          <p:nvPr/>
        </p:nvSpPr>
        <p:spPr>
          <a:xfrm>
            <a:off x="327881" y="5586741"/>
            <a:ext cx="508142" cy="513332"/>
          </a:xfrm>
          <a:prstGeom prst="pentagon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</a:t>
            </a:r>
          </a:p>
        </p:txBody>
      </p:sp>
      <p:sp>
        <p:nvSpPr>
          <p:cNvPr id="51" name="Regular Pentagon 50"/>
          <p:cNvSpPr/>
          <p:nvPr/>
        </p:nvSpPr>
        <p:spPr>
          <a:xfrm>
            <a:off x="11053063" y="5858789"/>
            <a:ext cx="513070" cy="482568"/>
          </a:xfrm>
          <a:prstGeom prst="pentagon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</a:t>
            </a:r>
          </a:p>
        </p:txBody>
      </p:sp>
      <p:sp>
        <p:nvSpPr>
          <p:cNvPr id="52" name="Regular Pentagon 51"/>
          <p:cNvSpPr/>
          <p:nvPr/>
        </p:nvSpPr>
        <p:spPr>
          <a:xfrm>
            <a:off x="11089615" y="4283358"/>
            <a:ext cx="513070" cy="482568"/>
          </a:xfrm>
          <a:prstGeom prst="pentagon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</a:t>
            </a:r>
          </a:p>
        </p:txBody>
      </p:sp>
      <p:sp>
        <p:nvSpPr>
          <p:cNvPr id="45" name="Regular Pentagon 44"/>
          <p:cNvSpPr/>
          <p:nvPr/>
        </p:nvSpPr>
        <p:spPr>
          <a:xfrm>
            <a:off x="7209654" y="5013419"/>
            <a:ext cx="508142" cy="517993"/>
          </a:xfrm>
          <a:prstGeom prst="pentagon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</a:p>
        </p:txBody>
      </p:sp>
      <p:sp>
        <p:nvSpPr>
          <p:cNvPr id="53" name="Regular Pentagon 52"/>
          <p:cNvSpPr/>
          <p:nvPr/>
        </p:nvSpPr>
        <p:spPr>
          <a:xfrm>
            <a:off x="7876201" y="5028739"/>
            <a:ext cx="508142" cy="487351"/>
          </a:xfrm>
          <a:prstGeom prst="pentagon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54" name="Regular Pentagon 53"/>
          <p:cNvSpPr/>
          <p:nvPr/>
        </p:nvSpPr>
        <p:spPr>
          <a:xfrm>
            <a:off x="8537557" y="5002200"/>
            <a:ext cx="508142" cy="513332"/>
          </a:xfrm>
          <a:prstGeom prst="pentagon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</a:t>
            </a:r>
          </a:p>
        </p:txBody>
      </p:sp>
      <p:sp>
        <p:nvSpPr>
          <p:cNvPr id="56" name="Regular Pentagon 55"/>
          <p:cNvSpPr/>
          <p:nvPr/>
        </p:nvSpPr>
        <p:spPr>
          <a:xfrm>
            <a:off x="7893957" y="3371936"/>
            <a:ext cx="508142" cy="489045"/>
          </a:xfrm>
          <a:prstGeom prst="pentag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</a:t>
            </a:r>
          </a:p>
        </p:txBody>
      </p:sp>
      <p:sp>
        <p:nvSpPr>
          <p:cNvPr id="57" name="Regular Pentagon 56"/>
          <p:cNvSpPr/>
          <p:nvPr/>
        </p:nvSpPr>
        <p:spPr>
          <a:xfrm>
            <a:off x="7232946" y="3366624"/>
            <a:ext cx="508142" cy="487351"/>
          </a:xfrm>
          <a:prstGeom prst="pentagon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15436485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 bwMode="auto">
          <a:xfrm>
            <a:off x="269240" y="1402080"/>
            <a:ext cx="10616474" cy="530352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lin ang="13500000" scaled="1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PC/VM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1332408" y="1983148"/>
            <a:ext cx="8337376" cy="887021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FabricHost.exe </a:t>
            </a:r>
            <a:b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[Auto-starts at boot]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18308" y="3069308"/>
            <a:ext cx="4967185" cy="3357618"/>
            <a:chOff x="1179806" y="2962540"/>
            <a:chExt cx="3711611" cy="3357618"/>
          </a:xfrm>
        </p:grpSpPr>
        <p:sp>
          <p:nvSpPr>
            <p:cNvPr id="17" name="Rectangle 16"/>
            <p:cNvSpPr/>
            <p:nvPr/>
          </p:nvSpPr>
          <p:spPr bwMode="auto">
            <a:xfrm>
              <a:off x="1179807" y="2962540"/>
              <a:ext cx="3109850" cy="815315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square" lIns="45720" tIns="45720" rIns="4572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Fabric.exe</a:t>
              </a:r>
              <a:b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2400" dirty="0">
                  <a:latin typeface="Segoe UI" panose="020B0502040204020203" pitchFamily="34" charset="0"/>
                  <a:cs typeface="Segoe UI" panose="020B0502040204020203" pitchFamily="34" charset="0"/>
                </a:rPr>
                <a:t>[Inter-node communication]</a:t>
              </a: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1179806" y="5010039"/>
              <a:ext cx="3109851" cy="1310119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89000"/>
                  </a:schemeClr>
                </a:gs>
                <a:gs pos="23000">
                  <a:schemeClr val="accent4">
                    <a:lumMod val="89000"/>
                  </a:schemeClr>
                </a:gs>
                <a:gs pos="69000">
                  <a:schemeClr val="accent4">
                    <a:lumMod val="75000"/>
                  </a:schemeClr>
                </a:gs>
                <a:gs pos="97000">
                  <a:schemeClr val="accent4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square" lIns="45720" tIns="45720" rIns="4572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Your App’s Services</a:t>
              </a:r>
              <a:b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2400" dirty="0">
                  <a:latin typeface="Segoe UI" panose="020B0502040204020203" pitchFamily="34" charset="0"/>
                  <a:cs typeface="Segoe UI" panose="020B0502040204020203" pitchFamily="34" charset="0"/>
                </a:rPr>
                <a:t>Ex: ASP.NET or other .exe</a:t>
              </a:r>
              <a:br>
                <a:rPr lang="en-US" sz="2400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2400" dirty="0">
                  <a:latin typeface="Segoe UI" panose="020B0502040204020203" pitchFamily="34" charset="0"/>
                  <a:cs typeface="Segoe UI" panose="020B0502040204020203" pitchFamily="34" charset="0"/>
                </a:rPr>
                <a:t>[Exposes public endpoint(s)]</a:t>
              </a: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1179806" y="3947214"/>
              <a:ext cx="3109849" cy="849921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square" lIns="45720" tIns="45720" rIns="4572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FabricGateway.exe</a:t>
              </a:r>
              <a:b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2400" dirty="0">
                  <a:latin typeface="Segoe UI" panose="020B0502040204020203" pitchFamily="34" charset="0"/>
                  <a:cs typeface="Segoe UI" panose="020B0502040204020203" pitchFamily="34" charset="0"/>
                </a:rPr>
                <a:t>[Cluster communication]</a:t>
              </a:r>
            </a:p>
          </p:txBody>
        </p:sp>
        <p:cxnSp>
          <p:nvCxnSpPr>
            <p:cNvPr id="20" name="Elbow Connector 19"/>
            <p:cNvCxnSpPr>
              <a:stCxn id="17" idx="3"/>
              <a:endCxn id="18" idx="3"/>
            </p:cNvCxnSpPr>
            <p:nvPr/>
          </p:nvCxnSpPr>
          <p:spPr>
            <a:xfrm>
              <a:off x="4289660" y="3370198"/>
              <a:ext cx="9490" cy="2294901"/>
            </a:xfrm>
            <a:prstGeom prst="bentConnector3">
              <a:avLst>
                <a:gd name="adj1" fmla="val 180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4396531" y="3196027"/>
              <a:ext cx="494886" cy="2428611"/>
            </a:xfrm>
            <a:prstGeom prst="rect">
              <a:avLst/>
            </a:prstGeom>
            <a:noFill/>
          </p:spPr>
          <p:txBody>
            <a:bodyPr vert="wordArtVert" wrap="square" rtlCol="0" anchor="ctr" anchorCtr="1">
              <a:spAutoFit/>
            </a:bodyPr>
            <a:lstStyle/>
            <a:p>
              <a: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Node</a:t>
              </a:r>
            </a:p>
          </p:txBody>
        </p:sp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Processes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2241" y="1842823"/>
            <a:ext cx="1564926" cy="954107"/>
          </a:xfrm>
          <a:prstGeom prst="rect">
            <a:avLst/>
          </a:prstGeom>
          <a:pattFill prst="pct5">
            <a:fgClr>
              <a:srgbClr val="00B050"/>
            </a:fgClr>
            <a:bgClr>
              <a:schemeClr val="bg1"/>
            </a:bgClr>
          </a:pattFill>
        </p:spPr>
        <p:txBody>
          <a:bodyPr wrap="square" rtlCol="0" anchor="ctr" anchorCtr="1">
            <a:spAutoFit/>
          </a:bodyPr>
          <a:lstStyle/>
          <a:p>
            <a:r>
              <a:rPr lang="en-US" sz="2800" dirty="0" err="1"/>
              <a:t>OneBox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[testing]</a:t>
            </a:r>
          </a:p>
        </p:txBody>
      </p:sp>
      <p:cxnSp>
        <p:nvCxnSpPr>
          <p:cNvPr id="5" name="Straight Arrow Connector 4"/>
          <p:cNvCxnSpPr>
            <a:stCxn id="3" idx="2"/>
            <a:endCxn id="42" idx="0"/>
          </p:cNvCxnSpPr>
          <p:nvPr/>
        </p:nvCxnSpPr>
        <p:spPr>
          <a:xfrm flipH="1">
            <a:off x="10497664" y="2796930"/>
            <a:ext cx="587040" cy="50150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5861633" y="3064946"/>
            <a:ext cx="4967179" cy="3357618"/>
            <a:chOff x="1179807" y="2962540"/>
            <a:chExt cx="3711610" cy="3357618"/>
          </a:xfrm>
        </p:grpSpPr>
        <p:sp>
          <p:nvSpPr>
            <p:cNvPr id="38" name="Rectangle 37"/>
            <p:cNvSpPr/>
            <p:nvPr/>
          </p:nvSpPr>
          <p:spPr bwMode="auto">
            <a:xfrm>
              <a:off x="1179808" y="2962540"/>
              <a:ext cx="3109853" cy="815315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square" lIns="45720" tIns="45720" rIns="4572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Fabric.exe</a:t>
              </a:r>
              <a:b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2400" dirty="0">
                  <a:latin typeface="Segoe UI" panose="020B0502040204020203" pitchFamily="34" charset="0"/>
                  <a:cs typeface="Segoe UI" panose="020B0502040204020203" pitchFamily="34" charset="0"/>
                </a:rPr>
                <a:t>[Inter-node communication]</a:t>
              </a: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1179807" y="5010039"/>
              <a:ext cx="3109854" cy="1310119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89000"/>
                  </a:schemeClr>
                </a:gs>
                <a:gs pos="23000">
                  <a:schemeClr val="accent4">
                    <a:lumMod val="89000"/>
                  </a:schemeClr>
                </a:gs>
                <a:gs pos="69000">
                  <a:schemeClr val="accent4">
                    <a:lumMod val="75000"/>
                  </a:schemeClr>
                </a:gs>
                <a:gs pos="97000">
                  <a:schemeClr val="accent4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square" lIns="45720" tIns="45720" rIns="4572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Your App’s Services</a:t>
              </a:r>
              <a:b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2400" dirty="0">
                  <a:latin typeface="Segoe UI" panose="020B0502040204020203" pitchFamily="34" charset="0"/>
                  <a:cs typeface="Segoe UI" panose="020B0502040204020203" pitchFamily="34" charset="0"/>
                </a:rPr>
                <a:t>Ex: ASP.NET or other .exe</a:t>
              </a:r>
              <a:br>
                <a:rPr lang="en-US" sz="2400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2400" dirty="0">
                  <a:latin typeface="Segoe UI" panose="020B0502040204020203" pitchFamily="34" charset="0"/>
                  <a:cs typeface="Segoe UI" panose="020B0502040204020203" pitchFamily="34" charset="0"/>
                </a:rPr>
                <a:t>[Exposes public endpoint(s)]</a:t>
              </a: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179807" y="3947214"/>
              <a:ext cx="3109852" cy="849921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square" lIns="45720" tIns="45720" rIns="4572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FabricGateway.exe</a:t>
              </a:r>
              <a:b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2400" dirty="0">
                  <a:latin typeface="Segoe UI" panose="020B0502040204020203" pitchFamily="34" charset="0"/>
                  <a:cs typeface="Segoe UI" panose="020B0502040204020203" pitchFamily="34" charset="0"/>
                </a:rPr>
                <a:t>[Cluster communication]</a:t>
              </a:r>
            </a:p>
          </p:txBody>
        </p:sp>
        <p:cxnSp>
          <p:nvCxnSpPr>
            <p:cNvPr id="41" name="Elbow Connector 40"/>
            <p:cNvCxnSpPr>
              <a:stCxn id="38" idx="3"/>
              <a:endCxn id="39" idx="3"/>
            </p:cNvCxnSpPr>
            <p:nvPr/>
          </p:nvCxnSpPr>
          <p:spPr>
            <a:xfrm>
              <a:off x="4289661" y="3370198"/>
              <a:ext cx="9490" cy="2294901"/>
            </a:xfrm>
            <a:prstGeom prst="bentConnector3">
              <a:avLst>
                <a:gd name="adj1" fmla="val 180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4396531" y="3196027"/>
              <a:ext cx="494886" cy="2428611"/>
            </a:xfrm>
            <a:prstGeom prst="rect">
              <a:avLst/>
            </a:prstGeom>
            <a:noFill/>
          </p:spPr>
          <p:txBody>
            <a:bodyPr vert="wordArtVert" wrap="square" rtlCol="0" anchor="ctr" anchorCtr="1">
              <a:spAutoFit/>
            </a:bodyPr>
            <a:lstStyle/>
            <a:p>
              <a: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84754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240" y="1186356"/>
            <a:ext cx="7170265" cy="2179058"/>
          </a:xfrm>
        </p:spPr>
        <p:txBody>
          <a:bodyPr/>
          <a:lstStyle/>
          <a:p>
            <a:r>
              <a:rPr lang="en-US" dirty="0"/>
              <a:t>Service Fabric Explorer</a:t>
            </a:r>
          </a:p>
        </p:txBody>
      </p:sp>
    </p:spTree>
    <p:extLst>
      <p:ext uri="{BB962C8B-B14F-4D97-AF65-F5344CB8AC3E}">
        <p14:creationId xmlns:p14="http://schemas.microsoft.com/office/powerpoint/2010/main" val="75738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539978"/>
          </a:xfrm>
        </p:spPr>
        <p:txBody>
          <a:bodyPr/>
          <a:lstStyle/>
          <a:p>
            <a:r>
              <a:rPr lang="en-US" sz="2000"/>
              <a:t>Fabric_NodeId</a:t>
            </a:r>
            <a:r>
              <a:rPr lang="en-US" sz="2000" dirty="0"/>
              <a:t>=a4022a6606950d760bba3d9d4937c970</a:t>
            </a:r>
          </a:p>
          <a:p>
            <a:r>
              <a:rPr lang="en-US" sz="2000" dirty="0" err="1"/>
              <a:t>FabricActivatorAddress</a:t>
            </a:r>
            <a:r>
              <a:rPr lang="en-US" sz="2000" dirty="0"/>
              <a:t>=localhost:24792</a:t>
            </a:r>
          </a:p>
          <a:p>
            <a:r>
              <a:rPr lang="en-US" sz="2000" dirty="0" err="1"/>
              <a:t>Fabric_RuntimeConnectionAddress</a:t>
            </a:r>
            <a:r>
              <a:rPr lang="en-US" sz="2000" dirty="0"/>
              <a:t>=localhost:19016</a:t>
            </a:r>
          </a:p>
          <a:p>
            <a:r>
              <a:rPr lang="en-US" sz="2000" dirty="0" err="1"/>
              <a:t>Fabric_ApplicationId</a:t>
            </a:r>
            <a:r>
              <a:rPr lang="en-US" sz="2000" dirty="0"/>
              <a:t>=Type-SFAuction_App0</a:t>
            </a:r>
          </a:p>
          <a:p>
            <a:r>
              <a:rPr lang="en-US" sz="2000" dirty="0" err="1"/>
              <a:t>Fabric_ApplicationName</a:t>
            </a:r>
            <a:r>
              <a:rPr lang="en-US" sz="2000" dirty="0"/>
              <a:t>=fabric:/</a:t>
            </a:r>
            <a:r>
              <a:rPr lang="en-US" sz="2000" dirty="0" err="1"/>
              <a:t>SFAuction</a:t>
            </a:r>
            <a:endParaRPr lang="en-US" sz="2000" dirty="0"/>
          </a:p>
          <a:p>
            <a:r>
              <a:rPr lang="en-US" sz="2000" dirty="0" err="1"/>
              <a:t>Fabric_ServicePackageName</a:t>
            </a:r>
            <a:r>
              <a:rPr lang="en-US" sz="2000" dirty="0"/>
              <a:t>=</a:t>
            </a:r>
            <a:r>
              <a:rPr lang="en-US" sz="2000" dirty="0" err="1"/>
              <a:t>Pkg-SFAuction.Svc.RestApi</a:t>
            </a:r>
            <a:endParaRPr lang="en-US" sz="2000" dirty="0"/>
          </a:p>
          <a:p>
            <a:r>
              <a:rPr lang="en-US" sz="2000" dirty="0" err="1"/>
              <a:t>Fabric_ServicePackageInstanceId</a:t>
            </a:r>
            <a:r>
              <a:rPr lang="en-US" sz="2000" dirty="0"/>
              <a:t>=130930156141866701</a:t>
            </a:r>
          </a:p>
          <a:p>
            <a:r>
              <a:rPr lang="en-US" sz="2000" dirty="0" err="1"/>
              <a:t>Fabric_ServicePackageVersionInstance</a:t>
            </a:r>
            <a:r>
              <a:rPr lang="en-US" sz="2000" dirty="0"/>
              <a:t>=1.0:1.0:130930156116829394</a:t>
            </a:r>
          </a:p>
          <a:p>
            <a:r>
              <a:rPr lang="en-US" sz="2000" dirty="0" err="1"/>
              <a:t>Fabric_CodePackageName</a:t>
            </a:r>
            <a:r>
              <a:rPr lang="en-US" sz="2000" dirty="0"/>
              <a:t>=Code</a:t>
            </a:r>
          </a:p>
          <a:p>
            <a:r>
              <a:rPr lang="en-US" sz="2000" dirty="0" err="1"/>
              <a:t>Fabric_CodePackageInstanceId</a:t>
            </a:r>
            <a:r>
              <a:rPr lang="en-US" sz="2000" dirty="0"/>
              <a:t>=130930156141866701</a:t>
            </a:r>
          </a:p>
          <a:p>
            <a:r>
              <a:rPr lang="en-US" sz="2000" dirty="0" err="1"/>
              <a:t>Fabric_ApplicationHostType</a:t>
            </a:r>
            <a:r>
              <a:rPr lang="en-US" sz="2000" dirty="0"/>
              <a:t>=</a:t>
            </a:r>
            <a:r>
              <a:rPr lang="en-US" sz="2000" dirty="0" err="1"/>
              <a:t>Activated_SingleCodePackage</a:t>
            </a:r>
            <a:endParaRPr lang="en-US" sz="2000" dirty="0"/>
          </a:p>
          <a:p>
            <a:r>
              <a:rPr lang="en-US" sz="2000" dirty="0" err="1"/>
              <a:t>FabricPackageFileName</a:t>
            </a:r>
            <a:r>
              <a:rPr lang="en-US" sz="2000" dirty="0"/>
              <a:t>=C:\SfDevCluster\Data\Node.2\Fabric\Fabric.Package.current.xml</a:t>
            </a:r>
          </a:p>
          <a:p>
            <a:r>
              <a:rPr lang="en-US" sz="2000" dirty="0"/>
              <a:t>TMP=C:\SfDevCluster\Data\_App\Node.2\Type-SFAuction_App0\temp</a:t>
            </a:r>
          </a:p>
          <a:p>
            <a:r>
              <a:rPr lang="en-US" sz="2000" dirty="0"/>
              <a:t>TEMP=C:\SfDevCluster\Data\_App\Node.2\Type-SFAuction_App0\temp</a:t>
            </a:r>
          </a:p>
          <a:p>
            <a:r>
              <a:rPr lang="en-US" sz="2000" dirty="0" err="1"/>
              <a:t>HostedServiceName</a:t>
            </a:r>
            <a:r>
              <a:rPr lang="en-US" sz="2000" dirty="0"/>
              <a:t>=</a:t>
            </a:r>
            <a:r>
              <a:rPr lang="en-US" sz="2000" dirty="0" err="1"/>
              <a:t>HostedService</a:t>
            </a:r>
            <a:r>
              <a:rPr lang="en-US" sz="2000" dirty="0"/>
              <a:t>/Node.2_Fabric</a:t>
            </a:r>
          </a:p>
          <a:p>
            <a:r>
              <a:rPr lang="en-US" sz="2000" dirty="0" err="1"/>
              <a:t>Fabric_ApplicationHostId</a:t>
            </a:r>
            <a:r>
              <a:rPr lang="en-US" sz="2000" dirty="0"/>
              <a:t>=cab5b00a-8b54-4eb8-aaf7-e462e83682ff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 Instance Environment Variables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004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2622256"/>
          </a:xfrm>
        </p:spPr>
        <p:txBody>
          <a:bodyPr/>
          <a:lstStyle/>
          <a:p>
            <a:r>
              <a:rPr lang="en-US" dirty="0"/>
              <a:t>Application Packaging</a:t>
            </a:r>
            <a:br>
              <a:rPr lang="en-US" dirty="0"/>
            </a:br>
            <a:r>
              <a:rPr lang="en-US" dirty="0"/>
              <a:t>&amp; Deployment</a:t>
            </a:r>
          </a:p>
        </p:txBody>
      </p:sp>
    </p:spTree>
    <p:extLst>
      <p:ext uri="{BB962C8B-B14F-4D97-AF65-F5344CB8AC3E}">
        <p14:creationId xmlns:p14="http://schemas.microsoft.com/office/powerpoint/2010/main" val="225666667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495794"/>
          </a:xfrm>
        </p:spPr>
        <p:txBody>
          <a:bodyPr/>
          <a:lstStyle/>
          <a:p>
            <a:r>
              <a:rPr lang="en-US" dirty="0"/>
              <a:t>An application is a collection of services</a:t>
            </a:r>
          </a:p>
          <a:p>
            <a:pPr lvl="1"/>
            <a:r>
              <a:rPr lang="en-US" dirty="0"/>
              <a:t>In Service Fabric terms, we call these </a:t>
            </a:r>
            <a:r>
              <a:rPr lang="en-US" b="1" i="1" dirty="0"/>
              <a:t>application types</a:t>
            </a:r>
            <a:r>
              <a:rPr lang="en-US" dirty="0"/>
              <a:t> &amp; </a:t>
            </a:r>
            <a:r>
              <a:rPr lang="en-US" b="1" i="1" dirty="0"/>
              <a:t>service types</a:t>
            </a:r>
          </a:p>
          <a:p>
            <a:pPr lvl="1"/>
            <a:r>
              <a:rPr lang="en-US" dirty="0"/>
              <a:t>So, an </a:t>
            </a:r>
            <a:r>
              <a:rPr lang="en-US" b="1" i="1" dirty="0"/>
              <a:t>application type </a:t>
            </a:r>
            <a:r>
              <a:rPr lang="en-US" dirty="0"/>
              <a:t>is a collection of </a:t>
            </a:r>
            <a:r>
              <a:rPr lang="en-US" b="1" i="1" dirty="0"/>
              <a:t>service types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Application Types &amp; Service Types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702205" y="3099973"/>
            <a:ext cx="8212614" cy="219869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noFill/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Cluster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8094110" y="3552013"/>
            <a:ext cx="3641482" cy="161242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“</a:t>
            </a:r>
            <a:r>
              <a:rPr lang="en-US" sz="2400" b="1" dirty="0" err="1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Fabrikam</a:t>
            </a:r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en-US" sz="2400" b="1" dirty="0" err="1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eStore</a:t>
            </a:r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App</a:t>
            </a:r>
            <a:endParaRPr lang="en-US" sz="24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460436" y="4063095"/>
            <a:ext cx="2797473" cy="44071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“G” Gallery Svc</a:t>
            </a:r>
            <a:endParaRPr lang="en-US" sz="24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8460442" y="4627533"/>
            <a:ext cx="2797473" cy="44071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“P” Payment Svc</a:t>
            </a:r>
            <a:endParaRPr lang="en-US" sz="24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93600" y="3552013"/>
            <a:ext cx="2986495" cy="161242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 err="1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eStore</a:t>
            </a:r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App Type</a:t>
            </a:r>
            <a:endParaRPr lang="en-US" sz="24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411611" y="4063030"/>
            <a:ext cx="2767817" cy="44071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Gallery Svc Type</a:t>
            </a:r>
            <a:endParaRPr lang="en-US" sz="24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11612" y="4591694"/>
            <a:ext cx="2767817" cy="44071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Payment Svc Type</a:t>
            </a:r>
            <a:endParaRPr lang="en-US" sz="24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483034" y="3552013"/>
            <a:ext cx="3453673" cy="161242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“Contoso” </a:t>
            </a:r>
            <a:r>
              <a:rPr lang="en-US" sz="2400" b="1" dirty="0" err="1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eStore</a:t>
            </a:r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App</a:t>
            </a:r>
            <a:endParaRPr lang="en-US" sz="24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4840651" y="4063095"/>
            <a:ext cx="2797473" cy="44071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“G” Gallery Svc</a:t>
            </a:r>
            <a:endParaRPr lang="en-US" sz="24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4840657" y="4627533"/>
            <a:ext cx="2797473" cy="44071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“P” Payment Svc</a:t>
            </a:r>
            <a:endParaRPr lang="en-US" sz="24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 rot="5400000">
            <a:off x="2889072" y="3913106"/>
            <a:ext cx="2198690" cy="5724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Image Store</a:t>
            </a:r>
            <a:endParaRPr lang="en-US" sz="24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ight Arrow 4"/>
          <p:cNvSpPr/>
          <p:nvPr/>
        </p:nvSpPr>
        <p:spPr bwMode="auto">
          <a:xfrm>
            <a:off x="3304456" y="4063030"/>
            <a:ext cx="397748" cy="564503"/>
          </a:xfrm>
          <a:prstGeom prst="rightArrow">
            <a:avLst/>
          </a:prstGeom>
          <a:solidFill>
            <a:schemeClr val="bg1"/>
          </a:solidFill>
          <a:ln w="3175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7838149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1" grpId="0" animBg="1"/>
      <p:bldP spid="22" grpId="0" animBg="1"/>
      <p:bldP spid="23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/>
          <p:cNvCxnSpPr/>
          <p:nvPr/>
        </p:nvCxnSpPr>
        <p:spPr>
          <a:xfrm>
            <a:off x="4085629" y="1893920"/>
            <a:ext cx="782781" cy="1308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</a:t>
            </a:r>
            <a:r>
              <a:rPr lang="en-US" dirty="0" err="1"/>
              <a:t>Pkg</a:t>
            </a:r>
            <a:r>
              <a:rPr lang="en-US" dirty="0"/>
              <a:t> Dir &amp; its ApplicationManifest.xml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8410" y="1447324"/>
            <a:ext cx="6982691" cy="452431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ApplicationManifest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ApplicationTypeName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eStoreAppType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ApplicationTypeVersion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="1.0" ...&gt;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ServiceManifestImport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ServiceManifestRef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ServiceManifestName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GalleryServicePkg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ServiceManifestVersion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="1.0" ... /&gt;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ServiceManifestRef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ServiceManifestName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PaymentServicePkg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ServiceManifestVersion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="1.0" ... /&gt;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&lt;/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ServiceManifestImport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ApplicationManifest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5854" y="1447325"/>
            <a:ext cx="3879137" cy="452431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C:\eStoreAppTypePkg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ApplicationManifest.xml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├───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GalleryServicePkg</a:t>
            </a:r>
            <a:r>
              <a:rPr lang="en-US" b="1" i="1" dirty="0">
                <a:solidFill>
                  <a:schemeClr val="bg1"/>
                </a:solidFill>
                <a:latin typeface="Consolas" panose="020B0609020204030204" pitchFamily="49" charset="0"/>
              </a:rPr>
              <a:t/>
            </a:r>
            <a:br>
              <a:rPr lang="en-US" b="1" i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│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ServiceManifest.xml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│ 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└───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CodePkg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       Gallery.exe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       GalleryLib.dll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       Setup.bat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└───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PaymentServicePkg</a:t>
            </a:r>
            <a:endParaRPr 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│   ServiceManifest.xml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│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└───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CodePkg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       Payment.exe</a:t>
            </a:r>
          </a:p>
        </p:txBody>
      </p:sp>
    </p:spTree>
    <p:extLst>
      <p:ext uri="{BB962C8B-B14F-4D97-AF65-F5344CB8AC3E}">
        <p14:creationId xmlns:p14="http://schemas.microsoft.com/office/powerpoint/2010/main" val="190088862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</a:t>
            </a:r>
            <a:r>
              <a:rPr lang="en-US" dirty="0" err="1"/>
              <a:t>Pkg</a:t>
            </a:r>
            <a:r>
              <a:rPr lang="en-US" dirty="0"/>
              <a:t> Dir &amp; its ServiceManifest.xml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1457" y="1455715"/>
            <a:ext cx="6970735" cy="5078313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Name="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GalleryServicePkg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Version="1.0"&gt;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ServiceTypes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StatelessServiceType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ServiceTypeName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GalleryServiceType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... &gt;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StatelessServiceType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ServiceTypes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CodePackage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Name="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CodePkg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Version="1.0"&gt;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EntryPoint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&lt;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ExeHost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&lt;Program&gt;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Gallery.exe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&lt;/Program&gt;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ExeHost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&lt;/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EntryPoint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CodePackage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&lt;Resources&gt; &lt;Endpoints&gt;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&lt;Endpoint Name="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GalleryEndpoint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Type="Input" Protocol="http" Port="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8080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&lt;/Endpoints&gt; &lt;/Resources&gt;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164213" y="2743200"/>
            <a:ext cx="857244" cy="335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7465" y="1455715"/>
            <a:ext cx="3879137" cy="4247317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C:\eStoreAppTypePkg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ApplicationManifest.xml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├───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GalleryServicePkg</a:t>
            </a:r>
            <a:r>
              <a:rPr lang="en-US" b="1" i="1" dirty="0">
                <a:solidFill>
                  <a:schemeClr val="bg1"/>
                </a:solidFill>
                <a:latin typeface="Consolas" panose="020B0609020204030204" pitchFamily="49" charset="0"/>
              </a:rPr>
              <a:t/>
            </a:r>
            <a:br>
              <a:rPr lang="en-US" b="1" i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│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ServiceManifest.xml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│ 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└───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CodePkg</a:t>
            </a:r>
            <a:endParaRPr 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Gallery.exe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         GalleryLib.dll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│ 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└───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PaymentServicePkg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│   ServiceManifest.xml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│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└───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CodePkg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       Payment.exe</a:t>
            </a:r>
          </a:p>
        </p:txBody>
      </p:sp>
      <p:sp>
        <p:nvSpPr>
          <p:cNvPr id="6" name="Rectangle 5"/>
          <p:cNvSpPr/>
          <p:nvPr/>
        </p:nvSpPr>
        <p:spPr>
          <a:xfrm>
            <a:off x="8955263" y="4645292"/>
            <a:ext cx="2821324" cy="65735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836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 &lt;</a:t>
            </a:r>
            <a:r>
              <a:rPr lang="en-US" sz="1836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ContainerHost</a:t>
            </a:r>
            <a:r>
              <a:rPr lang="en-US" sz="1836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container support</a:t>
            </a:r>
          </a:p>
        </p:txBody>
      </p:sp>
    </p:spTree>
    <p:extLst>
      <p:ext uri="{BB962C8B-B14F-4D97-AF65-F5344CB8AC3E}">
        <p14:creationId xmlns:p14="http://schemas.microsoft.com/office/powerpoint/2010/main" val="30665041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5601392"/>
            <a:ext cx="11653523" cy="132959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Segoe UI" panose="020B0502040204020203" pitchFamily="34" charset="0"/>
                <a:cs typeface="Segoe UI" panose="020B0502040204020203" pitchFamily="34" charset="0"/>
              </a:rPr>
              <a:t>You can dynamically start/remove named apps/services &amp; instances/replicas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Segoe UI" panose="020B0502040204020203" pitchFamily="34" charset="0"/>
                <a:cs typeface="Segoe UI" panose="020B0502040204020203" pitchFamily="34" charset="0"/>
              </a:rPr>
              <a:t>A named service’s partition count is fixed over its lifetime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Segoe UI" panose="020B0502040204020203" pitchFamily="34" charset="0"/>
                <a:cs typeface="Segoe UI" panose="020B0502040204020203" pitchFamily="34" charset="0"/>
              </a:rPr>
              <a:t>A named service’s instance/replica count applies to all of its partitions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Runtime Relationships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 bwMode="auto">
          <a:xfrm>
            <a:off x="1564329" y="1120010"/>
            <a:ext cx="9162582" cy="446986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Cluster</a:t>
            </a:r>
            <a:b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Management, Billing (VMs), Geolocation, Multitenancy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1697865" y="1921199"/>
            <a:ext cx="8895512" cy="351628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1+ Named Applications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Isolation, Multitenancy, Unit of versioning/</a:t>
            </a:r>
            <a:r>
              <a:rPr lang="en-US" sz="20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</a:t>
            </a:r>
            <a:endParaRPr lang="en-US" sz="2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872488" y="2696262"/>
            <a:ext cx="8577081" cy="259574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1+ Named Services</a:t>
            </a:r>
            <a:br>
              <a:rPr lang="en-US" sz="2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Code package(s), Multitenancy (w/o isolation)</a:t>
            </a:r>
          </a:p>
        </p:txBody>
      </p:sp>
      <p:sp>
        <p:nvSpPr>
          <p:cNvPr id="46" name="Rectangle 45"/>
          <p:cNvSpPr/>
          <p:nvPr/>
        </p:nvSpPr>
        <p:spPr bwMode="auto">
          <a:xfrm>
            <a:off x="2092398" y="3549702"/>
            <a:ext cx="3947797" cy="161734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Stateless: 1 Partition</a:t>
            </a:r>
            <a:br>
              <a:rPr lang="en-US" sz="2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value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2622337" y="4323790"/>
            <a:ext cx="2887920" cy="69112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1+ Instances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Scale,</a:t>
            </a:r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Availability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6246842" y="3551569"/>
            <a:ext cx="3947797" cy="161574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Stateful</a:t>
            </a:r>
            <a:r>
              <a:rPr lang="en-US" sz="2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1+ Partitions</a:t>
            </a:r>
            <a:br>
              <a:rPr lang="en-US" sz="2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Addressability, Scale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6816183" y="4323790"/>
            <a:ext cx="2887920" cy="69112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1+ Replicas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Availability</a:t>
            </a:r>
          </a:p>
        </p:txBody>
      </p:sp>
    </p:spTree>
    <p:extLst>
      <p:ext uri="{BB962C8B-B14F-4D97-AF65-F5344CB8AC3E}">
        <p14:creationId xmlns:p14="http://schemas.microsoft.com/office/powerpoint/2010/main" val="220230723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3305520"/>
          </a:xfrm>
        </p:spPr>
        <p:txBody>
          <a:bodyPr/>
          <a:lstStyle/>
          <a:p>
            <a:r>
              <a:rPr lang="en-US" dirty="0"/>
              <a:t>Registered &amp; provisioned</a:t>
            </a:r>
          </a:p>
          <a:p>
            <a:pPr lvl="1"/>
            <a:r>
              <a:rPr lang="en-US" dirty="0"/>
              <a:t>App type=“A” with Service type=“S”</a:t>
            </a:r>
          </a:p>
          <a:p>
            <a:r>
              <a:rPr lang="en-US" dirty="0"/>
              <a:t>Create 1 named app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Creates 2 named services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Apps, Services, Partitions, &amp; Instances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7284163" y="2146648"/>
            <a:ext cx="1894724" cy="122804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Node #1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9559637" y="1310319"/>
            <a:ext cx="1947369" cy="122232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Node #2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9559637" y="2991321"/>
            <a:ext cx="1947369" cy="122804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Node #3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9559637" y="4714024"/>
            <a:ext cx="1947370" cy="122804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Node #4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7256679" y="3856774"/>
            <a:ext cx="1922208" cy="122804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Node #5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Elbow Connector 54"/>
          <p:cNvCxnSpPr>
            <a:stCxn id="46" idx="2"/>
            <a:endCxn id="42" idx="1"/>
          </p:cNvCxnSpPr>
          <p:nvPr/>
        </p:nvCxnSpPr>
        <p:spPr>
          <a:xfrm rot="16200000" flipH="1">
            <a:off x="8767096" y="4535506"/>
            <a:ext cx="243228" cy="1341854"/>
          </a:xfrm>
          <a:prstGeom prst="bentConnector2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>
            <a:stCxn id="33" idx="1"/>
            <a:endCxn id="28" idx="0"/>
          </p:cNvCxnSpPr>
          <p:nvPr/>
        </p:nvCxnSpPr>
        <p:spPr>
          <a:xfrm rot="10800000" flipV="1">
            <a:off x="8231525" y="1921484"/>
            <a:ext cx="1328112" cy="225164"/>
          </a:xfrm>
          <a:prstGeom prst="bentConnector2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33" idx="2"/>
            <a:endCxn id="38" idx="0"/>
          </p:cNvCxnSpPr>
          <p:nvPr/>
        </p:nvCxnSpPr>
        <p:spPr>
          <a:xfrm>
            <a:off x="10533322" y="2532648"/>
            <a:ext cx="0" cy="458673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38" idx="2"/>
            <a:endCxn id="42" idx="0"/>
          </p:cNvCxnSpPr>
          <p:nvPr/>
        </p:nvCxnSpPr>
        <p:spPr>
          <a:xfrm>
            <a:off x="10533322" y="4219367"/>
            <a:ext cx="0" cy="494657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28" idx="2"/>
            <a:endCxn id="46" idx="0"/>
          </p:cNvCxnSpPr>
          <p:nvPr/>
        </p:nvCxnSpPr>
        <p:spPr>
          <a:xfrm flipH="1">
            <a:off x="8217783" y="3374696"/>
            <a:ext cx="13742" cy="482078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83512" y="2571634"/>
            <a:ext cx="1693918" cy="34278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f:/A1/S1, P</a:t>
            </a:r>
            <a:r>
              <a:rPr lang="en-US" baseline="-25000" dirty="0"/>
              <a:t>1</a:t>
            </a:r>
            <a:r>
              <a:rPr lang="en-US" dirty="0"/>
              <a:t>, I</a:t>
            </a:r>
            <a:r>
              <a:rPr lang="en-US" baseline="-25000" dirty="0"/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24292" y="3813275"/>
            <a:ext cx="1812822" cy="34278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f:/A1/S2, P</a:t>
            </a:r>
            <a:r>
              <a:rPr lang="en-US" baseline="-25000" dirty="0"/>
              <a:t>1</a:t>
            </a:r>
            <a:r>
              <a:rPr lang="en-US" dirty="0"/>
              <a:t>, I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69" name="Rounded Rectangle 68"/>
          <p:cNvSpPr/>
          <p:nvPr/>
        </p:nvSpPr>
        <p:spPr>
          <a:xfrm>
            <a:off x="9624291" y="1708219"/>
            <a:ext cx="1812823" cy="34278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f:/A1/S1, P</a:t>
            </a:r>
            <a:r>
              <a:rPr lang="en-US" baseline="-25000" dirty="0"/>
              <a:t>1</a:t>
            </a:r>
            <a:r>
              <a:rPr lang="en-US" dirty="0"/>
              <a:t>, I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70" name="Rounded Rectangle 69"/>
          <p:cNvSpPr/>
          <p:nvPr/>
        </p:nvSpPr>
        <p:spPr>
          <a:xfrm>
            <a:off x="9624291" y="3374696"/>
            <a:ext cx="1812823" cy="34278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f:/A1/S1, P</a:t>
            </a:r>
            <a:r>
              <a:rPr lang="en-US" baseline="-25000" dirty="0"/>
              <a:t>1</a:t>
            </a:r>
            <a:r>
              <a:rPr lang="en-US" dirty="0"/>
              <a:t>, I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73" name="Rounded Rectangle 72"/>
          <p:cNvSpPr/>
          <p:nvPr/>
        </p:nvSpPr>
        <p:spPr>
          <a:xfrm>
            <a:off x="9624291" y="5100023"/>
            <a:ext cx="1812823" cy="34278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f:/A1/S2, P</a:t>
            </a:r>
            <a:r>
              <a:rPr lang="en-US" baseline="-25000" dirty="0"/>
              <a:t>1</a:t>
            </a:r>
            <a:r>
              <a:rPr lang="en-US" dirty="0"/>
              <a:t>, I</a:t>
            </a:r>
            <a:r>
              <a:rPr lang="en-US" baseline="-25000" dirty="0"/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3512" y="4249244"/>
            <a:ext cx="1693919" cy="34278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f:/A1/S2, P</a:t>
            </a:r>
            <a:r>
              <a:rPr lang="en-US" baseline="-25000" dirty="0"/>
              <a:t>2</a:t>
            </a:r>
            <a:r>
              <a:rPr lang="en-US" dirty="0"/>
              <a:t>, I</a:t>
            </a:r>
            <a:r>
              <a:rPr lang="en-US" baseline="-25000" dirty="0"/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24292" y="5509086"/>
            <a:ext cx="1812822" cy="3197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f:/A1/S2, P</a:t>
            </a:r>
            <a:r>
              <a:rPr lang="en-US" baseline="-25000" dirty="0"/>
              <a:t>2</a:t>
            </a:r>
            <a:r>
              <a:rPr lang="en-US" dirty="0"/>
              <a:t>, I</a:t>
            </a:r>
            <a:r>
              <a:rPr lang="en-US" baseline="-25000" dirty="0"/>
              <a:t>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570558"/>
              </p:ext>
            </p:extLst>
          </p:nvPr>
        </p:nvGraphicFramePr>
        <p:xfrm>
          <a:off x="284224" y="4490153"/>
          <a:ext cx="6708711" cy="143256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332230">
                  <a:extLst>
                    <a:ext uri="{9D8B030D-6E8A-4147-A177-3AD203B41FA5}">
                      <a16:colId xmlns:a16="http://schemas.microsoft.com/office/drawing/2014/main" xmlns="" val="1671467533"/>
                    </a:ext>
                  </a:extLst>
                </a:gridCol>
                <a:gridCol w="1020699">
                  <a:extLst>
                    <a:ext uri="{9D8B030D-6E8A-4147-A177-3AD203B41FA5}">
                      <a16:colId xmlns:a16="http://schemas.microsoft.com/office/drawing/2014/main" xmlns="" val="3621229999"/>
                    </a:ext>
                  </a:extLst>
                </a:gridCol>
                <a:gridCol w="1830133">
                  <a:extLst>
                    <a:ext uri="{9D8B030D-6E8A-4147-A177-3AD203B41FA5}">
                      <a16:colId xmlns:a16="http://schemas.microsoft.com/office/drawing/2014/main" xmlns="" val="3566119410"/>
                    </a:ext>
                  </a:extLst>
                </a:gridCol>
                <a:gridCol w="1285494">
                  <a:extLst>
                    <a:ext uri="{9D8B030D-6E8A-4147-A177-3AD203B41FA5}">
                      <a16:colId xmlns:a16="http://schemas.microsoft.com/office/drawing/2014/main" xmlns="" val="4241681091"/>
                    </a:ext>
                  </a:extLst>
                </a:gridCol>
                <a:gridCol w="1240155">
                  <a:extLst>
                    <a:ext uri="{9D8B030D-6E8A-4147-A177-3AD203B41FA5}">
                      <a16:colId xmlns:a16="http://schemas.microsoft.com/office/drawing/2014/main" xmlns="" val="2226614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App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Service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Service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#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Partitions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#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Instances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3271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fabric:/A1</a:t>
                      </a:r>
                      <a:endParaRPr 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“S”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fabric:/A1/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S1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5388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fabric:/A1</a:t>
                      </a:r>
                      <a:endParaRPr 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“S”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fabric:/A1/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S2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57621011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815103"/>
              </p:ext>
            </p:extLst>
          </p:nvPr>
        </p:nvGraphicFramePr>
        <p:xfrm>
          <a:off x="320431" y="2838264"/>
          <a:ext cx="4199784" cy="76708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269411">
                  <a:extLst>
                    <a:ext uri="{9D8B030D-6E8A-4147-A177-3AD203B41FA5}">
                      <a16:colId xmlns:a16="http://schemas.microsoft.com/office/drawing/2014/main" xmlns="" val="1671467533"/>
                    </a:ext>
                  </a:extLst>
                </a:gridCol>
                <a:gridCol w="1556501">
                  <a:extLst>
                    <a:ext uri="{9D8B030D-6E8A-4147-A177-3AD203B41FA5}">
                      <a16:colId xmlns:a16="http://schemas.microsoft.com/office/drawing/2014/main" xmlns="" val="3621229999"/>
                    </a:ext>
                  </a:extLst>
                </a:gridCol>
                <a:gridCol w="1373872">
                  <a:extLst>
                    <a:ext uri="{9D8B030D-6E8A-4147-A177-3AD203B41FA5}">
                      <a16:colId xmlns:a16="http://schemas.microsoft.com/office/drawing/2014/main" xmlns="" val="3566119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App Type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App Version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App Name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3271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“A”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1.0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fabric:/</a:t>
                      </a:r>
                      <a:r>
                        <a:rPr lang="en-US" sz="2000" dirty="0"/>
                        <a:t>A1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538837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4450" y="6071535"/>
            <a:ext cx="5665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When using SF programming models, instances from same named app/service are in the same process</a:t>
            </a:r>
          </a:p>
        </p:txBody>
      </p:sp>
    </p:spTree>
    <p:extLst>
      <p:ext uri="{BB962C8B-B14F-4D97-AF65-F5344CB8AC3E}">
        <p14:creationId xmlns:p14="http://schemas.microsoft.com/office/powerpoint/2010/main" val="4051351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0" grpId="0" animBg="1"/>
      <p:bldP spid="69" grpId="0" animBg="1"/>
      <p:bldP spid="70" grpId="0" animBg="1"/>
      <p:bldP spid="73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Alternate Process 4"/>
          <p:cNvSpPr/>
          <p:nvPr/>
        </p:nvSpPr>
        <p:spPr>
          <a:xfrm>
            <a:off x="4247775" y="1195976"/>
            <a:ext cx="2578443" cy="715089"/>
          </a:xfrm>
          <a:prstGeom prst="flowChartAlternateProces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spAutoFit/>
          </a:bodyPr>
          <a:lstStyle/>
          <a:p>
            <a:pPr algn="ctr"/>
            <a:r>
              <a:rPr lang="en-US" dirty="0"/>
              <a:t>“fabric:/Contoso”</a:t>
            </a:r>
            <a:br>
              <a:rPr lang="en-US" dirty="0"/>
            </a:br>
            <a:r>
              <a:rPr lang="en-US" dirty="0"/>
              <a:t>Named App</a:t>
            </a:r>
          </a:p>
        </p:txBody>
      </p:sp>
      <p:sp>
        <p:nvSpPr>
          <p:cNvPr id="6" name="Flowchart: Alternate Process 5"/>
          <p:cNvSpPr/>
          <p:nvPr/>
        </p:nvSpPr>
        <p:spPr>
          <a:xfrm>
            <a:off x="5744741" y="2407150"/>
            <a:ext cx="3009515" cy="715089"/>
          </a:xfrm>
          <a:prstGeom prst="flowChartAlternate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pPr algn="ctr"/>
            <a:r>
              <a:rPr lang="en-US" dirty="0"/>
              <a:t>“fabric:/Contoso/Payment”</a:t>
            </a:r>
            <a:br>
              <a:rPr lang="en-US" dirty="0"/>
            </a:br>
            <a:r>
              <a:rPr lang="en-US" dirty="0"/>
              <a:t>Named Svc (Stateful)</a:t>
            </a:r>
          </a:p>
        </p:txBody>
      </p:sp>
      <p:sp>
        <p:nvSpPr>
          <p:cNvPr id="7" name="Flowchart: Alternate Process 6"/>
          <p:cNvSpPr/>
          <p:nvPr/>
        </p:nvSpPr>
        <p:spPr>
          <a:xfrm>
            <a:off x="2307120" y="2407150"/>
            <a:ext cx="2955129" cy="715089"/>
          </a:xfrm>
          <a:prstGeom prst="flowChartAlternate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spAutoFit/>
          </a:bodyPr>
          <a:lstStyle/>
          <a:p>
            <a:pPr algn="ctr"/>
            <a:r>
              <a:rPr lang="en-US" dirty="0"/>
              <a:t>“fabric:/Contoso/Gallery”</a:t>
            </a:r>
            <a:br>
              <a:rPr lang="en-US" dirty="0"/>
            </a:br>
            <a:r>
              <a:rPr lang="en-US" dirty="0"/>
              <a:t>Named Svc (Stateless)</a:t>
            </a:r>
          </a:p>
        </p:txBody>
      </p:sp>
      <p:sp>
        <p:nvSpPr>
          <p:cNvPr id="8" name="Flowchart: Alternate Process 7"/>
          <p:cNvSpPr/>
          <p:nvPr/>
        </p:nvSpPr>
        <p:spPr>
          <a:xfrm>
            <a:off x="5626310" y="3584518"/>
            <a:ext cx="1375243" cy="408623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pPr algn="ctr"/>
            <a:r>
              <a:rPr lang="en-US" dirty="0"/>
              <a:t>Partition-1</a:t>
            </a:r>
          </a:p>
        </p:txBody>
      </p:sp>
      <p:sp>
        <p:nvSpPr>
          <p:cNvPr id="9" name="Flowchart: Alternate Process 8"/>
          <p:cNvSpPr/>
          <p:nvPr/>
        </p:nvSpPr>
        <p:spPr>
          <a:xfrm>
            <a:off x="7890914" y="3592268"/>
            <a:ext cx="1375243" cy="408623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pPr algn="ctr"/>
            <a:r>
              <a:rPr lang="en-US" dirty="0"/>
              <a:t>Partition-2</a:t>
            </a:r>
          </a:p>
        </p:txBody>
      </p:sp>
      <p:sp>
        <p:nvSpPr>
          <p:cNvPr id="10" name="Flowchart: Alternate Process 9"/>
          <p:cNvSpPr/>
          <p:nvPr/>
        </p:nvSpPr>
        <p:spPr>
          <a:xfrm>
            <a:off x="6701023" y="4204740"/>
            <a:ext cx="1277299" cy="408623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spAutoFit/>
          </a:bodyPr>
          <a:lstStyle/>
          <a:p>
            <a:pPr algn="ctr"/>
            <a:r>
              <a:rPr lang="en-US" dirty="0"/>
              <a:t>Replica-1</a:t>
            </a:r>
          </a:p>
        </p:txBody>
      </p:sp>
      <p:cxnSp>
        <p:nvCxnSpPr>
          <p:cNvPr id="12" name="Elbow Connector 11"/>
          <p:cNvCxnSpPr>
            <a:stCxn id="5" idx="2"/>
            <a:endCxn id="6" idx="0"/>
          </p:cNvCxnSpPr>
          <p:nvPr/>
        </p:nvCxnSpPr>
        <p:spPr>
          <a:xfrm rot="16200000" flipH="1">
            <a:off x="6113518" y="1334543"/>
            <a:ext cx="496085" cy="164912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5" idx="2"/>
            <a:endCxn id="7" idx="0"/>
          </p:cNvCxnSpPr>
          <p:nvPr/>
        </p:nvCxnSpPr>
        <p:spPr>
          <a:xfrm rot="5400000">
            <a:off x="4412799" y="1282951"/>
            <a:ext cx="496085" cy="175231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6" idx="2"/>
            <a:endCxn id="8" idx="0"/>
          </p:cNvCxnSpPr>
          <p:nvPr/>
        </p:nvCxnSpPr>
        <p:spPr>
          <a:xfrm rot="5400000">
            <a:off x="6543375" y="2941768"/>
            <a:ext cx="462279" cy="82322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6" idx="2"/>
            <a:endCxn id="9" idx="0"/>
          </p:cNvCxnSpPr>
          <p:nvPr/>
        </p:nvCxnSpPr>
        <p:spPr>
          <a:xfrm rot="16200000" flipH="1">
            <a:off x="7671802" y="2636561"/>
            <a:ext cx="470029" cy="144138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Alternate Process 25"/>
          <p:cNvSpPr/>
          <p:nvPr/>
        </p:nvSpPr>
        <p:spPr>
          <a:xfrm>
            <a:off x="6701022" y="4670883"/>
            <a:ext cx="1277299" cy="408623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spAutoFit/>
          </a:bodyPr>
          <a:lstStyle/>
          <a:p>
            <a:pPr algn="ctr"/>
            <a:r>
              <a:rPr lang="en-US" dirty="0"/>
              <a:t>Replica-2</a:t>
            </a:r>
          </a:p>
        </p:txBody>
      </p:sp>
      <p:sp>
        <p:nvSpPr>
          <p:cNvPr id="27" name="Flowchart: Alternate Process 26"/>
          <p:cNvSpPr/>
          <p:nvPr/>
        </p:nvSpPr>
        <p:spPr>
          <a:xfrm>
            <a:off x="6701023" y="5137026"/>
            <a:ext cx="1277299" cy="408623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spAutoFit/>
          </a:bodyPr>
          <a:lstStyle/>
          <a:p>
            <a:pPr algn="ctr"/>
            <a:r>
              <a:rPr lang="en-US" dirty="0"/>
              <a:t>Replica-3</a:t>
            </a:r>
          </a:p>
        </p:txBody>
      </p:sp>
      <p:cxnSp>
        <p:nvCxnSpPr>
          <p:cNvPr id="28" name="Elbow Connector 27"/>
          <p:cNvCxnSpPr>
            <a:stCxn id="8" idx="2"/>
            <a:endCxn id="27" idx="1"/>
          </p:cNvCxnSpPr>
          <p:nvPr/>
        </p:nvCxnSpPr>
        <p:spPr>
          <a:xfrm rot="16200000" flipH="1">
            <a:off x="5857865" y="4498179"/>
            <a:ext cx="1348197" cy="33811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8" idx="2"/>
            <a:endCxn id="26" idx="1"/>
          </p:cNvCxnSpPr>
          <p:nvPr/>
        </p:nvCxnSpPr>
        <p:spPr>
          <a:xfrm rot="16200000" flipH="1">
            <a:off x="6090936" y="4265109"/>
            <a:ext cx="882054" cy="33811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8" idx="2"/>
            <a:endCxn id="10" idx="1"/>
          </p:cNvCxnSpPr>
          <p:nvPr/>
        </p:nvCxnSpPr>
        <p:spPr>
          <a:xfrm rot="16200000" flipH="1">
            <a:off x="6324008" y="4032036"/>
            <a:ext cx="415911" cy="33811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Alternate Process 40"/>
          <p:cNvSpPr/>
          <p:nvPr/>
        </p:nvSpPr>
        <p:spPr>
          <a:xfrm>
            <a:off x="8948524" y="4204740"/>
            <a:ext cx="1277299" cy="408623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spAutoFit/>
          </a:bodyPr>
          <a:lstStyle/>
          <a:p>
            <a:pPr algn="ctr"/>
            <a:r>
              <a:rPr lang="en-US" dirty="0"/>
              <a:t>Replica-1</a:t>
            </a:r>
          </a:p>
        </p:txBody>
      </p:sp>
      <p:sp>
        <p:nvSpPr>
          <p:cNvPr id="42" name="Flowchart: Alternate Process 41"/>
          <p:cNvSpPr/>
          <p:nvPr/>
        </p:nvSpPr>
        <p:spPr>
          <a:xfrm>
            <a:off x="8948523" y="4670883"/>
            <a:ext cx="1277299" cy="408623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spAutoFit/>
          </a:bodyPr>
          <a:lstStyle/>
          <a:p>
            <a:pPr algn="ctr"/>
            <a:r>
              <a:rPr lang="en-US" dirty="0"/>
              <a:t>Replica-2</a:t>
            </a:r>
          </a:p>
        </p:txBody>
      </p:sp>
      <p:sp>
        <p:nvSpPr>
          <p:cNvPr id="43" name="Flowchart: Alternate Process 42"/>
          <p:cNvSpPr/>
          <p:nvPr/>
        </p:nvSpPr>
        <p:spPr>
          <a:xfrm>
            <a:off x="8948524" y="5137026"/>
            <a:ext cx="1277299" cy="408623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spAutoFit/>
          </a:bodyPr>
          <a:lstStyle/>
          <a:p>
            <a:pPr algn="ctr"/>
            <a:r>
              <a:rPr lang="en-US" dirty="0"/>
              <a:t>Replica-3</a:t>
            </a:r>
          </a:p>
        </p:txBody>
      </p:sp>
      <p:cxnSp>
        <p:nvCxnSpPr>
          <p:cNvPr id="44" name="Elbow Connector 43"/>
          <p:cNvCxnSpPr>
            <a:stCxn id="9" idx="2"/>
            <a:endCxn id="43" idx="1"/>
          </p:cNvCxnSpPr>
          <p:nvPr/>
        </p:nvCxnSpPr>
        <p:spPr>
          <a:xfrm rot="16200000" flipH="1">
            <a:off x="8117793" y="4510606"/>
            <a:ext cx="1340447" cy="32101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9" idx="2"/>
            <a:endCxn id="42" idx="1"/>
          </p:cNvCxnSpPr>
          <p:nvPr/>
        </p:nvCxnSpPr>
        <p:spPr>
          <a:xfrm rot="16200000" flipH="1">
            <a:off x="8350863" y="4277535"/>
            <a:ext cx="874304" cy="32101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9" idx="2"/>
            <a:endCxn id="41" idx="1"/>
          </p:cNvCxnSpPr>
          <p:nvPr/>
        </p:nvCxnSpPr>
        <p:spPr>
          <a:xfrm rot="16200000" flipH="1">
            <a:off x="8583936" y="4044463"/>
            <a:ext cx="408161" cy="32101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lowchart: Alternate Process 66"/>
          <p:cNvSpPr/>
          <p:nvPr/>
        </p:nvSpPr>
        <p:spPr>
          <a:xfrm>
            <a:off x="3043003" y="3592268"/>
            <a:ext cx="1375243" cy="408623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pPr algn="ctr"/>
            <a:r>
              <a:rPr lang="en-US" dirty="0"/>
              <a:t>Partition-1</a:t>
            </a:r>
          </a:p>
        </p:txBody>
      </p:sp>
      <p:sp>
        <p:nvSpPr>
          <p:cNvPr id="68" name="Flowchart: Alternate Process 67"/>
          <p:cNvSpPr/>
          <p:nvPr/>
        </p:nvSpPr>
        <p:spPr>
          <a:xfrm>
            <a:off x="4117716" y="4212490"/>
            <a:ext cx="1277299" cy="408623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spAutoFit/>
          </a:bodyPr>
          <a:lstStyle/>
          <a:p>
            <a:pPr algn="ctr"/>
            <a:r>
              <a:rPr lang="en-US" dirty="0"/>
              <a:t>Instance-1</a:t>
            </a:r>
          </a:p>
        </p:txBody>
      </p:sp>
      <p:sp>
        <p:nvSpPr>
          <p:cNvPr id="69" name="Flowchart: Alternate Process 68"/>
          <p:cNvSpPr/>
          <p:nvPr/>
        </p:nvSpPr>
        <p:spPr>
          <a:xfrm>
            <a:off x="4117715" y="4678633"/>
            <a:ext cx="1277299" cy="408623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spAutoFit/>
          </a:bodyPr>
          <a:lstStyle/>
          <a:p>
            <a:pPr algn="ctr"/>
            <a:r>
              <a:rPr lang="en-US" dirty="0"/>
              <a:t>Instance-2</a:t>
            </a:r>
          </a:p>
        </p:txBody>
      </p:sp>
      <p:cxnSp>
        <p:nvCxnSpPr>
          <p:cNvPr id="72" name="Elbow Connector 71"/>
          <p:cNvCxnSpPr>
            <a:stCxn id="67" idx="2"/>
            <a:endCxn id="69" idx="1"/>
          </p:cNvCxnSpPr>
          <p:nvPr/>
        </p:nvCxnSpPr>
        <p:spPr>
          <a:xfrm rot="16200000" flipH="1">
            <a:off x="3507629" y="4272859"/>
            <a:ext cx="882054" cy="33811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67" idx="2"/>
            <a:endCxn id="68" idx="1"/>
          </p:cNvCxnSpPr>
          <p:nvPr/>
        </p:nvCxnSpPr>
        <p:spPr>
          <a:xfrm rot="16200000" flipH="1">
            <a:off x="3740701" y="4039786"/>
            <a:ext cx="415911" cy="33811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7" idx="2"/>
            <a:endCxn id="67" idx="0"/>
          </p:cNvCxnSpPr>
          <p:nvPr/>
        </p:nvCxnSpPr>
        <p:spPr>
          <a:xfrm flipH="1">
            <a:off x="3779597" y="3122239"/>
            <a:ext cx="5088" cy="4700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09275"/>
      </p:ext>
    </p:extLst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240" y="1186356"/>
            <a:ext cx="7170265" cy="4173450"/>
          </a:xfrm>
        </p:spPr>
        <p:txBody>
          <a:bodyPr/>
          <a:lstStyle/>
          <a:p>
            <a:r>
              <a:rPr lang="en-US" dirty="0"/>
              <a:t>Deploy Application Type</a:t>
            </a:r>
            <a:br>
              <a:rPr lang="en-US" dirty="0"/>
            </a:br>
            <a:r>
              <a:rPr lang="en-US" dirty="0"/>
              <a:t>&amp; Create App Instance</a:t>
            </a:r>
          </a:p>
        </p:txBody>
      </p:sp>
    </p:spTree>
    <p:extLst>
      <p:ext uri="{BB962C8B-B14F-4D97-AF65-F5344CB8AC3E}">
        <p14:creationId xmlns:p14="http://schemas.microsoft.com/office/powerpoint/2010/main" val="99648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245539"/>
          </a:xfrm>
        </p:spPr>
        <p:txBody>
          <a:bodyPr/>
          <a:lstStyle/>
          <a:p>
            <a:r>
              <a:rPr lang="en-US" sz="3400" dirty="0">
                <a:hlinkClick r:id="rId2"/>
              </a:rPr>
              <a:t>Copy-</a:t>
            </a:r>
            <a:r>
              <a:rPr lang="en-US" sz="3400" dirty="0" err="1">
                <a:hlinkClick r:id="rId2"/>
              </a:rPr>
              <a:t>ServiceFabricApplicationPackage</a:t>
            </a:r>
            <a:r>
              <a:rPr lang="en-US" sz="3400" dirty="0"/>
              <a:t> (to image store)</a:t>
            </a:r>
          </a:p>
          <a:p>
            <a:r>
              <a:rPr lang="en-US" sz="3400" dirty="0">
                <a:hlinkClick r:id="rId3"/>
              </a:rPr>
              <a:t>Register-</a:t>
            </a:r>
            <a:r>
              <a:rPr lang="en-US" sz="3400" dirty="0" err="1">
                <a:hlinkClick r:id="rId3"/>
              </a:rPr>
              <a:t>ServiceFabricApplicationType</a:t>
            </a:r>
            <a:r>
              <a:rPr lang="en-US" sz="3400" dirty="0"/>
              <a:t> (in image store)</a:t>
            </a:r>
          </a:p>
          <a:p>
            <a:pPr>
              <a:spcAft>
                <a:spcPts val="1000"/>
              </a:spcAft>
            </a:pPr>
            <a:r>
              <a:rPr lang="en-US" sz="3400" dirty="0">
                <a:hlinkClick r:id="rId4"/>
              </a:rPr>
              <a:t>Remove-</a:t>
            </a:r>
            <a:r>
              <a:rPr lang="en-US" sz="3400" dirty="0" err="1">
                <a:hlinkClick r:id="rId4"/>
              </a:rPr>
              <a:t>ServiceFabricApplicationPackage</a:t>
            </a:r>
            <a:r>
              <a:rPr lang="en-US" sz="3400" dirty="0"/>
              <a:t> (from image store)</a:t>
            </a:r>
          </a:p>
          <a:p>
            <a:r>
              <a:rPr lang="en-US" sz="3400" dirty="0">
                <a:hlinkClick r:id="rId5"/>
              </a:rPr>
              <a:t>New-</a:t>
            </a:r>
            <a:r>
              <a:rPr lang="en-US" sz="3400" dirty="0" err="1">
                <a:hlinkClick r:id="rId5"/>
              </a:rPr>
              <a:t>ServiceFabricApplication</a:t>
            </a:r>
            <a:r>
              <a:rPr lang="en-US" sz="3400" dirty="0"/>
              <a:t> (named app)</a:t>
            </a:r>
          </a:p>
          <a:p>
            <a:pPr>
              <a:spcAft>
                <a:spcPts val="1000"/>
              </a:spcAft>
            </a:pPr>
            <a:r>
              <a:rPr lang="en-US" sz="3400" dirty="0">
                <a:hlinkClick r:id="rId6"/>
              </a:rPr>
              <a:t>New-</a:t>
            </a:r>
            <a:r>
              <a:rPr lang="en-US" sz="3400" dirty="0" err="1">
                <a:hlinkClick r:id="rId6"/>
              </a:rPr>
              <a:t>ServiceFabricService</a:t>
            </a:r>
            <a:r>
              <a:rPr lang="en-US" sz="3400" dirty="0"/>
              <a:t> (named svc)</a:t>
            </a:r>
          </a:p>
          <a:p>
            <a:r>
              <a:rPr lang="en-US" sz="3200" dirty="0">
                <a:hlinkClick r:id="rId7"/>
              </a:rPr>
              <a:t>Remove-</a:t>
            </a:r>
            <a:r>
              <a:rPr lang="en-US" sz="3200" dirty="0" err="1">
                <a:hlinkClick r:id="rId7"/>
              </a:rPr>
              <a:t>ServiceFabricService</a:t>
            </a:r>
            <a:r>
              <a:rPr lang="en-US" sz="3200" dirty="0"/>
              <a:t> (named svc)</a:t>
            </a:r>
          </a:p>
          <a:p>
            <a:r>
              <a:rPr lang="en-US" sz="3200" dirty="0">
                <a:hlinkClick r:id="rId8"/>
              </a:rPr>
              <a:t>Remove-</a:t>
            </a:r>
            <a:r>
              <a:rPr lang="en-US" sz="3200" dirty="0" err="1">
                <a:hlinkClick r:id="rId8"/>
              </a:rPr>
              <a:t>ServiceFabricApplication</a:t>
            </a:r>
            <a:r>
              <a:rPr lang="en-US" sz="3200" dirty="0"/>
              <a:t> (named app &amp; its named </a:t>
            </a:r>
            <a:r>
              <a:rPr lang="en-US" sz="3200" dirty="0" err="1"/>
              <a:t>svcs</a:t>
            </a:r>
            <a:r>
              <a:rPr lang="en-US" sz="3200" dirty="0"/>
              <a:t>)</a:t>
            </a:r>
          </a:p>
          <a:p>
            <a:r>
              <a:rPr lang="en-US" sz="3200" dirty="0">
                <a:hlinkClick r:id="rId9"/>
              </a:rPr>
              <a:t>Unregister-</a:t>
            </a:r>
            <a:r>
              <a:rPr lang="en-US" sz="3200" dirty="0" err="1">
                <a:hlinkClick r:id="rId9"/>
              </a:rPr>
              <a:t>ServiceFabricApplicationType</a:t>
            </a:r>
            <a:r>
              <a:rPr lang="en-US" sz="3200" dirty="0"/>
              <a:t> (from image store)</a:t>
            </a:r>
          </a:p>
          <a:p>
            <a:pPr lvl="1"/>
            <a:r>
              <a:rPr lang="en-US" dirty="0"/>
              <a:t>No named app can be running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PowerShell App </a:t>
            </a:r>
            <a:r>
              <a:rPr lang="en-US" dirty="0" err="1"/>
              <a:t>Pkg</a:t>
            </a:r>
            <a:r>
              <a:rPr lang="en-US" dirty="0"/>
              <a:t> &amp; Named App/Service Ops</a:t>
            </a:r>
          </a:p>
        </p:txBody>
      </p:sp>
    </p:spTree>
    <p:extLst>
      <p:ext uri="{BB962C8B-B14F-4D97-AF65-F5344CB8AC3E}">
        <p14:creationId xmlns:p14="http://schemas.microsoft.com/office/powerpoint/2010/main" val="175874594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Health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89755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 bwMode="auto">
          <a:xfrm>
            <a:off x="8559220" y="1358130"/>
            <a:ext cx="1873827" cy="461665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Cluster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69115" y="4692925"/>
            <a:ext cx="2091958" cy="461665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Partitions</a:t>
            </a:r>
          </a:p>
        </p:txBody>
      </p:sp>
      <p:sp>
        <p:nvSpPr>
          <p:cNvPr id="83" name="Content Placeholder 8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004447"/>
          </a:xfrm>
        </p:spPr>
        <p:txBody>
          <a:bodyPr/>
          <a:lstStyle/>
          <a:p>
            <a:r>
              <a:rPr lang="en-US" dirty="0"/>
              <a:t>Each entity has set of health events</a:t>
            </a:r>
          </a:p>
          <a:p>
            <a:r>
              <a:rPr lang="en-US" dirty="0"/>
              <a:t>Each event has a health state:</a:t>
            </a:r>
          </a:p>
          <a:p>
            <a:pPr lvl="1"/>
            <a:r>
              <a:rPr lang="en-US" dirty="0"/>
              <a:t>OK: No issues</a:t>
            </a:r>
          </a:p>
          <a:p>
            <a:pPr lvl="1"/>
            <a:r>
              <a:rPr lang="en-US" dirty="0"/>
              <a:t>Warning: An issue that may fix itself</a:t>
            </a:r>
            <a:br>
              <a:rPr lang="en-US" dirty="0"/>
            </a:br>
            <a:r>
              <a:rPr lang="en-US" dirty="0"/>
              <a:t>(ex: unexpected delay)</a:t>
            </a:r>
          </a:p>
          <a:p>
            <a:pPr lvl="1"/>
            <a:r>
              <a:rPr lang="en-US" dirty="0"/>
              <a:t>Error: Issue requiring action</a:t>
            </a:r>
          </a:p>
          <a:p>
            <a:r>
              <a:rPr lang="en-US" dirty="0"/>
              <a:t>When evaluating an entity</a:t>
            </a:r>
          </a:p>
          <a:p>
            <a:pPr lvl="1"/>
            <a:r>
              <a:rPr lang="en-US" dirty="0"/>
              <a:t>SF aggregates entity’s &amp; descendants’ </a:t>
            </a:r>
            <a:br>
              <a:rPr lang="en-US" dirty="0"/>
            </a:br>
            <a:r>
              <a:rPr lang="en-US" dirty="0"/>
              <a:t>events against policy</a:t>
            </a:r>
          </a:p>
          <a:p>
            <a:pPr lvl="1"/>
            <a:r>
              <a:rPr lang="en-US" dirty="0"/>
              <a:t>Deployed Apps 	</a:t>
            </a:r>
            <a:r>
              <a:rPr lang="en-US" dirty="0">
                <a:sym typeface="Wingdings" panose="05000000000000000000" pitchFamily="2" charset="2"/>
              </a:rPr>
              <a:t> Warning</a:t>
            </a:r>
          </a:p>
          <a:p>
            <a:pPr lvl="1"/>
            <a:r>
              <a:rPr lang="en-US" dirty="0"/>
              <a:t>Applications 	</a:t>
            </a:r>
            <a:r>
              <a:rPr lang="en-US" dirty="0">
                <a:sym typeface="Wingdings" panose="05000000000000000000" pitchFamily="2" charset="2"/>
              </a:rPr>
              <a:t> Error</a:t>
            </a:r>
          </a:p>
        </p:txBody>
      </p:sp>
      <p:sp>
        <p:nvSpPr>
          <p:cNvPr id="34" name="Title 3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Health Entities, Events, &amp; States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 bwMode="auto">
          <a:xfrm>
            <a:off x="6783979" y="2492059"/>
            <a:ext cx="2595202" cy="461665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Nodes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9769113" y="2492059"/>
            <a:ext cx="2091961" cy="461665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Applications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6783979" y="3477844"/>
            <a:ext cx="2595202" cy="83099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Deployed</a:t>
            </a:r>
            <a:b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Applications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69113" y="5714528"/>
            <a:ext cx="2091959" cy="83099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Instances/</a:t>
            </a:r>
            <a:b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Replicas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9769114" y="3662510"/>
            <a:ext cx="2091959" cy="461665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Services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6783979" y="4823825"/>
            <a:ext cx="2612333" cy="83099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ctr" anchorCtr="1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Deployed Service</a:t>
            </a:r>
            <a:b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Packages</a:t>
            </a:r>
          </a:p>
        </p:txBody>
      </p:sp>
      <p:cxnSp>
        <p:nvCxnSpPr>
          <p:cNvPr id="68" name="Straight Connector 67"/>
          <p:cNvCxnSpPr>
            <a:stCxn id="33" idx="2"/>
            <a:endCxn id="49" idx="0"/>
          </p:cNvCxnSpPr>
          <p:nvPr/>
        </p:nvCxnSpPr>
        <p:spPr>
          <a:xfrm>
            <a:off x="8081580" y="4308841"/>
            <a:ext cx="8566" cy="514984"/>
          </a:xfrm>
          <a:prstGeom prst="line">
            <a:avLst/>
          </a:prstGeom>
          <a:ln w="50800">
            <a:solidFill>
              <a:schemeClr val="bg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0" idx="2"/>
            <a:endCxn id="32" idx="0"/>
          </p:cNvCxnSpPr>
          <p:nvPr/>
        </p:nvCxnSpPr>
        <p:spPr>
          <a:xfrm>
            <a:off x="9496134" y="1819795"/>
            <a:ext cx="1318960" cy="672264"/>
          </a:xfrm>
          <a:prstGeom prst="line">
            <a:avLst/>
          </a:prstGeom>
          <a:ln w="50800">
            <a:solidFill>
              <a:schemeClr val="bg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20" idx="2"/>
            <a:endCxn id="31" idx="0"/>
          </p:cNvCxnSpPr>
          <p:nvPr/>
        </p:nvCxnSpPr>
        <p:spPr>
          <a:xfrm flipH="1">
            <a:off x="8081580" y="1819795"/>
            <a:ext cx="1414554" cy="672264"/>
          </a:xfrm>
          <a:prstGeom prst="line">
            <a:avLst/>
          </a:prstGeom>
          <a:ln w="50800">
            <a:solidFill>
              <a:schemeClr val="bg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2" idx="2"/>
            <a:endCxn id="43" idx="0"/>
          </p:cNvCxnSpPr>
          <p:nvPr/>
        </p:nvCxnSpPr>
        <p:spPr>
          <a:xfrm>
            <a:off x="10815094" y="2953724"/>
            <a:ext cx="0" cy="708786"/>
          </a:xfrm>
          <a:prstGeom prst="line">
            <a:avLst/>
          </a:prstGeom>
          <a:ln w="50800">
            <a:solidFill>
              <a:schemeClr val="bg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33" idx="0"/>
            <a:endCxn id="32" idx="2"/>
          </p:cNvCxnSpPr>
          <p:nvPr/>
        </p:nvCxnSpPr>
        <p:spPr>
          <a:xfrm flipV="1">
            <a:off x="8081580" y="2953724"/>
            <a:ext cx="2733514" cy="524120"/>
          </a:xfrm>
          <a:prstGeom prst="line">
            <a:avLst/>
          </a:prstGeom>
          <a:ln w="5080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43" idx="2"/>
            <a:endCxn id="26" idx="0"/>
          </p:cNvCxnSpPr>
          <p:nvPr/>
        </p:nvCxnSpPr>
        <p:spPr>
          <a:xfrm>
            <a:off x="10815094" y="4124175"/>
            <a:ext cx="0" cy="568750"/>
          </a:xfrm>
          <a:prstGeom prst="line">
            <a:avLst/>
          </a:prstGeom>
          <a:ln w="50800">
            <a:solidFill>
              <a:schemeClr val="bg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26" idx="2"/>
            <a:endCxn id="35" idx="0"/>
          </p:cNvCxnSpPr>
          <p:nvPr/>
        </p:nvCxnSpPr>
        <p:spPr>
          <a:xfrm flipH="1">
            <a:off x="10815093" y="5154590"/>
            <a:ext cx="1" cy="559938"/>
          </a:xfrm>
          <a:prstGeom prst="line">
            <a:avLst/>
          </a:prstGeom>
          <a:ln w="50800">
            <a:solidFill>
              <a:schemeClr val="bg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60195" y="2907557"/>
            <a:ext cx="238125" cy="25717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60194" y="3612410"/>
            <a:ext cx="238125" cy="2571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447138" y="1222972"/>
            <a:ext cx="292643" cy="3029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660196" y="2480161"/>
            <a:ext cx="238125" cy="25717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9629182" y="2350730"/>
            <a:ext cx="292643" cy="3029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9629420" y="3525335"/>
            <a:ext cx="292643" cy="3029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9629419" y="5553070"/>
            <a:ext cx="292643" cy="3029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9620709" y="4529212"/>
            <a:ext cx="292643" cy="3029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6649608" y="2323264"/>
            <a:ext cx="292643" cy="3029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6649607" y="3327707"/>
            <a:ext cx="292643" cy="3029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6646223" y="4672345"/>
            <a:ext cx="292643" cy="30295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261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40" y="1189177"/>
            <a:ext cx="4259218" cy="5238357"/>
          </a:xfrm>
        </p:spPr>
        <p:txBody>
          <a:bodyPr/>
          <a:lstStyle/>
          <a:p>
            <a:r>
              <a:rPr lang="en-US" sz="3200" dirty="0"/>
              <a:t>Default: entity is healthy if it &amp; children are healthy</a:t>
            </a:r>
          </a:p>
          <a:p>
            <a:pPr lvl="1"/>
            <a:r>
              <a:rPr lang="en-US" sz="2000" dirty="0"/>
              <a:t>In a world with regular failures, 20% Error might be considered Warning</a:t>
            </a:r>
          </a:p>
          <a:p>
            <a:r>
              <a:rPr lang="en-US" sz="3200" dirty="0"/>
              <a:t>Health policies define</a:t>
            </a:r>
            <a:br>
              <a:rPr lang="en-US" sz="3200" dirty="0"/>
            </a:br>
            <a:r>
              <a:rPr lang="en-US" sz="3200" dirty="0"/>
              <a:t>what healthy means</a:t>
            </a:r>
          </a:p>
          <a:p>
            <a:pPr lvl="1"/>
            <a:r>
              <a:rPr lang="en-US" sz="2000" dirty="0"/>
              <a:t>Cluster policy can be in</a:t>
            </a:r>
            <a:br>
              <a:rPr lang="en-US" sz="2000" dirty="0"/>
            </a:br>
            <a:r>
              <a:rPr lang="en-US" sz="2000" dirty="0"/>
              <a:t>cluster manifest</a:t>
            </a:r>
          </a:p>
          <a:p>
            <a:pPr lvl="1"/>
            <a:r>
              <a:rPr lang="en-US" sz="2000" dirty="0"/>
              <a:t>App policy can be in</a:t>
            </a:r>
            <a:br>
              <a:rPr lang="en-US" sz="2000" dirty="0"/>
            </a:br>
            <a:r>
              <a:rPr lang="en-US" sz="2000" dirty="0"/>
              <a:t>application manifest</a:t>
            </a:r>
          </a:p>
          <a:p>
            <a:pPr lvl="1"/>
            <a:r>
              <a:rPr lang="en-US" sz="2000" dirty="0"/>
              <a:t>Or, you can pass custom policy when querying health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Health Policies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28458" y="1189176"/>
            <a:ext cx="7462160" cy="1569660"/>
          </a:xfrm>
          <a:prstGeom prst="rect">
            <a:avLst/>
          </a:prstGeom>
          <a:solidFill>
            <a:schemeClr val="tx1">
              <a:lumMod val="95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FabricSettings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&lt;Section Name="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HealthManager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ClusterHealthPolicy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&lt;Parameter Name="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MaxPercentUnhealthyApplications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Value="0"/&gt;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&lt;Parameter Name="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MaxPercentUnhealthyNodes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Value="20"/&gt;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&lt;/Section&gt;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FabricSettings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458" y="3048076"/>
            <a:ext cx="7462160" cy="3108543"/>
          </a:xfrm>
          <a:prstGeom prst="rect">
            <a:avLst/>
          </a:prstGeom>
          <a:solidFill>
            <a:schemeClr val="tx1">
              <a:lumMod val="95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&lt;Policies&gt;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HealthPolicy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MaxPercentUnhealthyDeployedApplications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="20"&gt;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DefaultServiceTypeHealthPolicy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MaxPercentUnhealthyServices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="0"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MaxPercentUnhealthyPartitionsPerService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="10"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MaxPercentUnhealthyReplicasPerPartition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="0"/&gt;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ServiceTypeHealthPolicy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ServiceTypeName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FrontEndSvcType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MaxPercentUnhealthyServices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="0"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MaxPercentUnhealthyPartitionsPerService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="20"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MaxPercentUnhealthyReplicasPerPartition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="0"/&gt;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HealthPolicy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&lt;/Policies&gt;</a:t>
            </a:r>
          </a:p>
        </p:txBody>
      </p:sp>
    </p:spTree>
    <p:extLst>
      <p:ext uri="{BB962C8B-B14F-4D97-AF65-F5344CB8AC3E}">
        <p14:creationId xmlns:p14="http://schemas.microsoft.com/office/powerpoint/2010/main" val="2811717969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240" y="1186356"/>
            <a:ext cx="7170265" cy="3176254"/>
          </a:xfrm>
        </p:spPr>
        <p:txBody>
          <a:bodyPr/>
          <a:lstStyle/>
          <a:p>
            <a:r>
              <a:rPr lang="en-US" dirty="0"/>
              <a:t>A Watchdog Submitting</a:t>
            </a:r>
            <a:br>
              <a:rPr lang="en-US" dirty="0"/>
            </a:br>
            <a:r>
              <a:rPr lang="en-US" dirty="0"/>
              <a:t>Health Reports</a:t>
            </a:r>
          </a:p>
        </p:txBody>
      </p:sp>
    </p:spTree>
    <p:extLst>
      <p:ext uri="{BB962C8B-B14F-4D97-AF65-F5344CB8AC3E}">
        <p14:creationId xmlns:p14="http://schemas.microsoft.com/office/powerpoint/2010/main" val="340208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3724096"/>
          </a:xfrm>
        </p:spPr>
        <p:txBody>
          <a:bodyPr/>
          <a:lstStyle/>
          <a:p>
            <a:r>
              <a:rPr lang="en-US" dirty="0"/>
              <a:t>Cluster: Nodes not responding to periodic heartbeat</a:t>
            </a:r>
          </a:p>
          <a:p>
            <a:pPr lvl="1"/>
            <a:r>
              <a:rPr lang="en-US" dirty="0"/>
              <a:t>Applications: Partition could not be placed</a:t>
            </a:r>
          </a:p>
          <a:p>
            <a:pPr lvl="2"/>
            <a:r>
              <a:rPr lang="en-US" dirty="0"/>
              <a:t>Service: Failed to place replica(s)</a:t>
            </a:r>
          </a:p>
          <a:p>
            <a:pPr lvl="3"/>
            <a:r>
              <a:rPr lang="en-US" dirty="0"/>
              <a:t>Partition: Below target instance count</a:t>
            </a:r>
          </a:p>
          <a:p>
            <a:pPr lvl="4"/>
            <a:r>
              <a:rPr lang="en-US" dirty="0"/>
              <a:t>Replica: Replica taking too long to open/close</a:t>
            </a:r>
          </a:p>
          <a:p>
            <a:pPr lvl="1"/>
            <a:r>
              <a:rPr lang="en-US" dirty="0"/>
              <a:t>Node: Node down, certificate expiration, load capacity violation</a:t>
            </a:r>
          </a:p>
          <a:p>
            <a:pPr lvl="1"/>
            <a:r>
              <a:rPr lang="en-US" dirty="0"/>
              <a:t>Deployed Applications: Failed to download code package</a:t>
            </a:r>
          </a:p>
          <a:p>
            <a:pPr lvl="2"/>
            <a:r>
              <a:rPr lang="en-US" dirty="0"/>
              <a:t>Deployed Service Packages: Service Package Activation, Code Package Activation, Service type registration, Download, Upgrade validation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Health Failure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866626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69850"/>
            <a:ext cx="10299700" cy="658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674220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798510"/>
          </a:xfrm>
        </p:spPr>
        <p:txBody>
          <a:bodyPr/>
          <a:lstStyle/>
          <a:p>
            <a:r>
              <a:rPr lang="en-US" sz="2400" dirty="0"/>
              <a:t>Cluster health failures</a:t>
            </a:r>
          </a:p>
          <a:p>
            <a:pPr lvl="1"/>
            <a:r>
              <a:rPr lang="en-US" sz="1600" dirty="0"/>
              <a:t>Nodes not responding to periodic heartbeat</a:t>
            </a:r>
          </a:p>
          <a:p>
            <a:pPr lvl="2"/>
            <a:r>
              <a:rPr lang="en-US" sz="1600" dirty="0"/>
              <a:t>Report: </a:t>
            </a:r>
            <a:r>
              <a:rPr lang="en-US" sz="1600" dirty="0" err="1"/>
              <a:t>SourceId</a:t>
            </a:r>
            <a:r>
              <a:rPr lang="en-US" sz="1600" dirty="0"/>
              <a:t>=</a:t>
            </a:r>
            <a:r>
              <a:rPr lang="en-US" sz="1600" dirty="0" err="1"/>
              <a:t>System.Federation</a:t>
            </a:r>
            <a:r>
              <a:rPr lang="en-US" sz="1600" dirty="0"/>
              <a:t>, Property=Neighborhood</a:t>
            </a:r>
          </a:p>
          <a:p>
            <a:pPr lvl="2"/>
            <a:r>
              <a:rPr lang="en-US" sz="1600" dirty="0"/>
              <a:t>Action: Check communication within cluster</a:t>
            </a:r>
          </a:p>
          <a:p>
            <a:r>
              <a:rPr lang="en-US" sz="2400" dirty="0"/>
              <a:t>Node health failures</a:t>
            </a:r>
          </a:p>
          <a:p>
            <a:pPr lvl="1"/>
            <a:r>
              <a:rPr lang="en-US" sz="1600" dirty="0"/>
              <a:t>Node Down</a:t>
            </a:r>
          </a:p>
          <a:p>
            <a:pPr lvl="2"/>
            <a:r>
              <a:rPr lang="en-US" sz="1600" dirty="0"/>
              <a:t>Report: SourceId=System.FM (failover manager), Property=State</a:t>
            </a:r>
          </a:p>
          <a:p>
            <a:pPr lvl="2"/>
            <a:r>
              <a:rPr lang="en-US" sz="1600" dirty="0"/>
              <a:t>Action: Wait for upgrade to complete; if taking too long, investigate</a:t>
            </a:r>
          </a:p>
          <a:p>
            <a:pPr lvl="1"/>
            <a:r>
              <a:rPr lang="en-US" sz="1600" dirty="0"/>
              <a:t>Certificate Expiration</a:t>
            </a:r>
          </a:p>
          <a:p>
            <a:pPr lvl="2"/>
            <a:r>
              <a:rPr lang="en-US" sz="1600" dirty="0"/>
              <a:t>Report: </a:t>
            </a:r>
            <a:r>
              <a:rPr lang="en-US" sz="1600" dirty="0" err="1"/>
              <a:t>SourceId</a:t>
            </a:r>
            <a:r>
              <a:rPr lang="en-US" sz="1600" dirty="0"/>
              <a:t>=</a:t>
            </a:r>
            <a:r>
              <a:rPr lang="en-US" sz="1600" dirty="0" err="1"/>
              <a:t>System.FabricNode</a:t>
            </a:r>
            <a:r>
              <a:rPr lang="en-US" sz="1600" dirty="0"/>
              <a:t>, Property=Certificate XXX</a:t>
            </a:r>
          </a:p>
          <a:p>
            <a:pPr lvl="2"/>
            <a:r>
              <a:rPr lang="en-US" sz="1600" dirty="0"/>
              <a:t>Action: Update certificate</a:t>
            </a:r>
          </a:p>
          <a:p>
            <a:pPr lvl="1"/>
            <a:r>
              <a:rPr lang="en-US" sz="1600" dirty="0"/>
              <a:t>Load Capacity Violation</a:t>
            </a:r>
          </a:p>
          <a:p>
            <a:pPr lvl="2"/>
            <a:r>
              <a:rPr lang="en-US" sz="1600" dirty="0"/>
              <a:t>Report: </a:t>
            </a:r>
            <a:r>
              <a:rPr lang="en-US" sz="1600" dirty="0" err="1"/>
              <a:t>SourceId</a:t>
            </a:r>
            <a:r>
              <a:rPr lang="en-US" sz="1600" dirty="0"/>
              <a:t>=</a:t>
            </a:r>
            <a:r>
              <a:rPr lang="en-US" sz="1600" dirty="0" err="1"/>
              <a:t>System.PLB</a:t>
            </a:r>
            <a:r>
              <a:rPr lang="en-US" sz="1600" dirty="0"/>
              <a:t> (placement load balancer), Property=Capacity</a:t>
            </a:r>
          </a:p>
          <a:p>
            <a:pPr lvl="2"/>
            <a:r>
              <a:rPr lang="en-US" sz="1600" dirty="0"/>
              <a:t>Action: View current node capacity &amp; update metrics</a:t>
            </a:r>
          </a:p>
          <a:p>
            <a:r>
              <a:rPr lang="en-US" sz="2400" dirty="0"/>
              <a:t>Application health failures (System.CM=Cluster Manager)</a:t>
            </a:r>
          </a:p>
          <a:p>
            <a:r>
              <a:rPr lang="en-US" sz="2400" dirty="0"/>
              <a:t>Service failures (System.FM=Failover Manager)</a:t>
            </a:r>
          </a:p>
          <a:p>
            <a:pPr lvl="1"/>
            <a:r>
              <a:rPr lang="en-US" sz="1600" dirty="0"/>
              <a:t>Unplaced replicas violation</a:t>
            </a:r>
          </a:p>
          <a:p>
            <a:pPr lvl="2"/>
            <a:r>
              <a:rPr lang="en-US" sz="1600" dirty="0"/>
              <a:t>Report: </a:t>
            </a:r>
            <a:r>
              <a:rPr lang="en-US" sz="1600" dirty="0" err="1"/>
              <a:t>SourceId</a:t>
            </a:r>
            <a:r>
              <a:rPr lang="en-US" sz="1600" dirty="0"/>
              <a:t>=System.FM, Property=State</a:t>
            </a:r>
          </a:p>
          <a:p>
            <a:pPr lvl="2"/>
            <a:r>
              <a:rPr lang="en-US" sz="1600" dirty="0"/>
              <a:t>Action: Check service constraints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Health Failures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93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4893647"/>
          </a:xfrm>
        </p:spPr>
        <p:txBody>
          <a:bodyPr/>
          <a:lstStyle/>
          <a:p>
            <a:r>
              <a:rPr lang="en-US" sz="3200" dirty="0"/>
              <a:t>Partition failures (System.FM)</a:t>
            </a:r>
          </a:p>
          <a:p>
            <a:pPr lvl="1"/>
            <a:r>
              <a:rPr lang="en-US" sz="2000" dirty="0"/>
              <a:t>Replicas below minimum</a:t>
            </a:r>
          </a:p>
          <a:p>
            <a:pPr lvl="2"/>
            <a:r>
              <a:rPr lang="en-US" sz="2000" dirty="0"/>
              <a:t>Report: </a:t>
            </a:r>
            <a:r>
              <a:rPr lang="en-US" sz="2000" dirty="0" err="1"/>
              <a:t>SourceId</a:t>
            </a:r>
            <a:r>
              <a:rPr lang="en-US" sz="2000" dirty="0"/>
              <a:t>=System.FM, Property=State</a:t>
            </a:r>
          </a:p>
          <a:p>
            <a:pPr lvl="2"/>
            <a:r>
              <a:rPr lang="en-US" sz="2000" dirty="0"/>
              <a:t>Action: Check bug in service code’s Open/</a:t>
            </a:r>
            <a:r>
              <a:rPr lang="en-US" sz="2000" dirty="0" err="1"/>
              <a:t>ChangeRole</a:t>
            </a:r>
            <a:endParaRPr lang="en-US" sz="2000" dirty="0"/>
          </a:p>
          <a:p>
            <a:r>
              <a:rPr lang="en-US" sz="3200" dirty="0"/>
              <a:t>Replica failures (</a:t>
            </a:r>
            <a:r>
              <a:rPr lang="en-US" sz="3200" dirty="0" err="1"/>
              <a:t>System.RA</a:t>
            </a:r>
            <a:r>
              <a:rPr lang="en-US" sz="3200" dirty="0"/>
              <a:t> [Reconfiguration agent])</a:t>
            </a:r>
          </a:p>
          <a:p>
            <a:pPr lvl="1"/>
            <a:r>
              <a:rPr lang="en-US" sz="2000" dirty="0"/>
              <a:t>Replica takes too long to open</a:t>
            </a:r>
          </a:p>
          <a:p>
            <a:pPr lvl="2"/>
            <a:r>
              <a:rPr lang="en-US" sz="2000" dirty="0"/>
              <a:t>Report: </a:t>
            </a:r>
            <a:r>
              <a:rPr lang="en-US" sz="2000" dirty="0" err="1"/>
              <a:t>SourceId</a:t>
            </a:r>
            <a:r>
              <a:rPr lang="en-US" sz="2000" dirty="0"/>
              <a:t>=</a:t>
            </a:r>
            <a:r>
              <a:rPr lang="en-US" sz="2000" dirty="0" err="1"/>
              <a:t>System.RA</a:t>
            </a:r>
            <a:r>
              <a:rPr lang="en-US" sz="2000" dirty="0"/>
              <a:t>, Property=</a:t>
            </a:r>
            <a:r>
              <a:rPr lang="en-US" sz="2000" dirty="0" err="1"/>
              <a:t>RepliaOpenStatus</a:t>
            </a:r>
            <a:endParaRPr lang="en-US" sz="2000" dirty="0"/>
          </a:p>
          <a:p>
            <a:pPr lvl="2"/>
            <a:r>
              <a:rPr lang="en-US" sz="2000" dirty="0"/>
              <a:t>Action: Check service’s Open code</a:t>
            </a:r>
          </a:p>
          <a:p>
            <a:pPr lvl="1"/>
            <a:r>
              <a:rPr lang="en-US" sz="2000" dirty="0"/>
              <a:t>Slow service API call</a:t>
            </a:r>
          </a:p>
          <a:p>
            <a:pPr lvl="2"/>
            <a:r>
              <a:rPr lang="en-US" sz="2000" dirty="0"/>
              <a:t>Report: </a:t>
            </a:r>
            <a:r>
              <a:rPr lang="en-US" sz="2000" dirty="0" err="1"/>
              <a:t>SourceId</a:t>
            </a:r>
            <a:r>
              <a:rPr lang="en-US" sz="2000" dirty="0"/>
              <a:t>=</a:t>
            </a:r>
            <a:r>
              <a:rPr lang="en-US" sz="2000" dirty="0" err="1"/>
              <a:t>System.RAP</a:t>
            </a:r>
            <a:r>
              <a:rPr lang="en-US" sz="2000" dirty="0"/>
              <a:t> or </a:t>
            </a:r>
            <a:r>
              <a:rPr lang="en-US" sz="2000" dirty="0" err="1"/>
              <a:t>System.Replicator</a:t>
            </a:r>
            <a:r>
              <a:rPr lang="en-US" sz="2000" dirty="0"/>
              <a:t>, Property=[Name of slow API]</a:t>
            </a:r>
          </a:p>
          <a:p>
            <a:pPr lvl="2"/>
            <a:r>
              <a:rPr lang="en-US" sz="2000" dirty="0"/>
              <a:t>Action: Check service’s API code (possible unhandled exception)</a:t>
            </a:r>
          </a:p>
          <a:p>
            <a:pPr lvl="1"/>
            <a:r>
              <a:rPr lang="en-US" sz="2000" dirty="0"/>
              <a:t>Replica queue full warning</a:t>
            </a:r>
          </a:p>
          <a:p>
            <a:pPr lvl="2"/>
            <a:r>
              <a:rPr lang="en-US" sz="2000" dirty="0"/>
              <a:t>Report: </a:t>
            </a:r>
            <a:r>
              <a:rPr lang="en-US" sz="2000" dirty="0" err="1"/>
              <a:t>SourceId</a:t>
            </a:r>
            <a:r>
              <a:rPr lang="en-US" sz="2000" dirty="0"/>
              <a:t>=</a:t>
            </a:r>
            <a:r>
              <a:rPr lang="en-US" sz="2000" dirty="0" err="1"/>
              <a:t>System.Replicator</a:t>
            </a:r>
            <a:r>
              <a:rPr lang="en-US" sz="2000" dirty="0"/>
              <a:t>, Property=[Primary | Secondary]</a:t>
            </a:r>
            <a:r>
              <a:rPr lang="en-US" sz="2000" dirty="0" err="1"/>
              <a:t>ReplicationQueueStatus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Health Failures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09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312223"/>
          </a:xfrm>
        </p:spPr>
        <p:txBody>
          <a:bodyPr/>
          <a:lstStyle/>
          <a:p>
            <a:r>
              <a:rPr lang="en-US" sz="2800" dirty="0" err="1"/>
              <a:t>DeployedApplication</a:t>
            </a:r>
            <a:r>
              <a:rPr lang="en-US" sz="2800" dirty="0"/>
              <a:t> (</a:t>
            </a:r>
            <a:r>
              <a:rPr lang="en-US" sz="2800" dirty="0" err="1"/>
              <a:t>System.Hosting</a:t>
            </a:r>
            <a:r>
              <a:rPr lang="en-US" sz="2800" dirty="0"/>
              <a:t>)</a:t>
            </a:r>
          </a:p>
          <a:p>
            <a:pPr lvl="1"/>
            <a:r>
              <a:rPr lang="en-US" sz="1800" dirty="0"/>
              <a:t>Activation</a:t>
            </a:r>
          </a:p>
          <a:p>
            <a:pPr lvl="2"/>
            <a:r>
              <a:rPr lang="en-US" sz="1800" dirty="0"/>
              <a:t>Report: </a:t>
            </a:r>
            <a:r>
              <a:rPr lang="en-US" sz="1800" dirty="0" err="1"/>
              <a:t>SourceId</a:t>
            </a:r>
            <a:r>
              <a:rPr lang="en-US" sz="1800" dirty="0"/>
              <a:t>=</a:t>
            </a:r>
            <a:r>
              <a:rPr lang="en-US" sz="1800" dirty="0" err="1"/>
              <a:t>System.Hosting</a:t>
            </a:r>
            <a:r>
              <a:rPr lang="en-US" sz="1800" dirty="0"/>
              <a:t>, Property=Activation (includes rollout version)</a:t>
            </a:r>
          </a:p>
          <a:p>
            <a:pPr lvl="1"/>
            <a:r>
              <a:rPr lang="en-US" sz="1800" dirty="0"/>
              <a:t>Download</a:t>
            </a:r>
          </a:p>
          <a:p>
            <a:pPr lvl="2"/>
            <a:r>
              <a:rPr lang="en-US" sz="1800" dirty="0"/>
              <a:t>Report: </a:t>
            </a:r>
            <a:r>
              <a:rPr lang="en-US" sz="1800" dirty="0" err="1"/>
              <a:t>SourceId</a:t>
            </a:r>
            <a:r>
              <a:rPr lang="en-US" sz="1800" dirty="0"/>
              <a:t>=</a:t>
            </a:r>
            <a:r>
              <a:rPr lang="en-US" sz="1800" dirty="0" err="1"/>
              <a:t>System.Hosting</a:t>
            </a:r>
            <a:r>
              <a:rPr lang="en-US" sz="1800" dirty="0"/>
              <a:t>, Property=Download</a:t>
            </a:r>
          </a:p>
          <a:p>
            <a:r>
              <a:rPr lang="en-US" sz="2800" dirty="0" err="1"/>
              <a:t>DeployedServicePackage</a:t>
            </a:r>
            <a:r>
              <a:rPr lang="en-US" sz="2800" dirty="0"/>
              <a:t> (</a:t>
            </a:r>
            <a:r>
              <a:rPr lang="en-US" sz="2800" dirty="0" err="1"/>
              <a:t>System.Hosting</a:t>
            </a:r>
            <a:r>
              <a:rPr lang="en-US" sz="2800" dirty="0"/>
              <a:t>)</a:t>
            </a:r>
          </a:p>
          <a:p>
            <a:pPr lvl="1"/>
            <a:r>
              <a:rPr lang="en-US" sz="1800" dirty="0"/>
              <a:t>Service Package Activation</a:t>
            </a:r>
          </a:p>
          <a:p>
            <a:pPr lvl="2"/>
            <a:r>
              <a:rPr lang="en-US" sz="1800" dirty="0"/>
              <a:t>Report: </a:t>
            </a:r>
            <a:r>
              <a:rPr lang="en-US" sz="1800" dirty="0" err="1"/>
              <a:t>SourceId</a:t>
            </a:r>
            <a:r>
              <a:rPr lang="en-US" sz="1800" dirty="0"/>
              <a:t>=</a:t>
            </a:r>
            <a:r>
              <a:rPr lang="en-US" sz="1800" dirty="0" err="1"/>
              <a:t>System.Hosting</a:t>
            </a:r>
            <a:r>
              <a:rPr lang="en-US" sz="1800" dirty="0"/>
              <a:t>, Property=Activation</a:t>
            </a:r>
          </a:p>
          <a:p>
            <a:pPr lvl="1"/>
            <a:r>
              <a:rPr lang="en-US" sz="1800" dirty="0"/>
              <a:t>Code Package Activation</a:t>
            </a:r>
          </a:p>
          <a:p>
            <a:pPr lvl="2"/>
            <a:r>
              <a:rPr lang="en-US" sz="1800" dirty="0"/>
              <a:t>Report: </a:t>
            </a:r>
            <a:r>
              <a:rPr lang="en-US" sz="1800" dirty="0" err="1"/>
              <a:t>SourceId</a:t>
            </a:r>
            <a:r>
              <a:rPr lang="en-US" sz="1800" dirty="0"/>
              <a:t>=</a:t>
            </a:r>
            <a:r>
              <a:rPr lang="en-US" sz="1800" dirty="0" err="1"/>
              <a:t>System.Hosting</a:t>
            </a:r>
            <a:r>
              <a:rPr lang="en-US" sz="1800" dirty="0"/>
              <a:t>, Property=</a:t>
            </a:r>
            <a:r>
              <a:rPr lang="en-US" sz="1800" dirty="0" err="1"/>
              <a:t>CodePackageActivation</a:t>
            </a:r>
            <a:endParaRPr lang="en-US" sz="1800" dirty="0"/>
          </a:p>
          <a:p>
            <a:pPr lvl="1"/>
            <a:r>
              <a:rPr lang="en-US" sz="1800" dirty="0"/>
              <a:t>Service type registration</a:t>
            </a:r>
          </a:p>
          <a:p>
            <a:pPr lvl="2"/>
            <a:r>
              <a:rPr lang="en-US" sz="1800" dirty="0"/>
              <a:t>Report: </a:t>
            </a:r>
            <a:r>
              <a:rPr lang="en-US" sz="1800" dirty="0" err="1"/>
              <a:t>SourceId</a:t>
            </a:r>
            <a:r>
              <a:rPr lang="en-US" sz="1800" dirty="0"/>
              <a:t>=</a:t>
            </a:r>
            <a:r>
              <a:rPr lang="en-US" sz="1800" dirty="0" err="1"/>
              <a:t>System.Hosting</a:t>
            </a:r>
            <a:r>
              <a:rPr lang="en-US" sz="1800" dirty="0"/>
              <a:t>, Property=</a:t>
            </a:r>
            <a:r>
              <a:rPr lang="en-US" sz="1800" dirty="0" err="1"/>
              <a:t>ServiceTypeRegistration</a:t>
            </a:r>
            <a:endParaRPr lang="en-US" sz="1800" dirty="0"/>
          </a:p>
          <a:p>
            <a:pPr lvl="1"/>
            <a:r>
              <a:rPr lang="en-US" sz="1800" dirty="0"/>
              <a:t>Download</a:t>
            </a:r>
          </a:p>
          <a:p>
            <a:pPr lvl="2"/>
            <a:r>
              <a:rPr lang="en-US" sz="1800" dirty="0"/>
              <a:t>Report: </a:t>
            </a:r>
            <a:r>
              <a:rPr lang="en-US" sz="1800" dirty="0" err="1"/>
              <a:t>SourceId</a:t>
            </a:r>
            <a:r>
              <a:rPr lang="en-US" sz="1800" dirty="0"/>
              <a:t>=</a:t>
            </a:r>
            <a:r>
              <a:rPr lang="en-US" sz="1800" dirty="0" err="1"/>
              <a:t>System.Hosting</a:t>
            </a:r>
            <a:r>
              <a:rPr lang="en-US" sz="1800" dirty="0"/>
              <a:t>, Property=Download</a:t>
            </a:r>
          </a:p>
          <a:p>
            <a:pPr lvl="1"/>
            <a:r>
              <a:rPr lang="en-US" sz="1800" dirty="0"/>
              <a:t>Upgrade validation</a:t>
            </a:r>
          </a:p>
          <a:p>
            <a:pPr lvl="2"/>
            <a:r>
              <a:rPr lang="en-US" sz="1800" dirty="0"/>
              <a:t>Report: </a:t>
            </a:r>
            <a:r>
              <a:rPr lang="en-US" sz="1800" dirty="0" err="1"/>
              <a:t>SourceId</a:t>
            </a:r>
            <a:r>
              <a:rPr lang="en-US" sz="1800" dirty="0"/>
              <a:t>=</a:t>
            </a:r>
            <a:r>
              <a:rPr lang="en-US" sz="1800" dirty="0" err="1"/>
              <a:t>System.Hosting</a:t>
            </a:r>
            <a:r>
              <a:rPr lang="en-US" sz="1800" dirty="0"/>
              <a:t>, Property=</a:t>
            </a:r>
            <a:r>
              <a:rPr lang="en-US" sz="1800" dirty="0" err="1"/>
              <a:t>FabricUpgradeValidation</a:t>
            </a:r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Health Failures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640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Have “watchdog” periodically check service instance</a:t>
            </a:r>
          </a:p>
          <a:p>
            <a:pPr lvl="2"/>
            <a:r>
              <a:rPr lang="en-US"/>
              <a:t>Watchdog code/process can be in or out of the cluster</a:t>
            </a:r>
          </a:p>
          <a:p>
            <a:pPr lvl="2"/>
            <a:r>
              <a:rPr lang="en-US"/>
              <a:t>Keep watchdog simple and “bug-free” </a:t>
            </a:r>
          </a:p>
          <a:p>
            <a:r>
              <a:rPr lang="en-US"/>
              <a:t>Submit health reports via PowerShell, REST, .NET API</a:t>
            </a:r>
          </a:p>
          <a:p>
            <a:pPr lvl="1"/>
            <a:r>
              <a:rPr lang="en-US"/>
              <a:t>.NET API batches reports and sends ~30 seconds (default)</a:t>
            </a:r>
          </a:p>
          <a:p>
            <a:r>
              <a:rPr lang="en-US"/>
              <a:t>Submit helpful health reports that…</a:t>
            </a:r>
          </a:p>
          <a:p>
            <a:pPr lvl="1"/>
            <a:r>
              <a:rPr lang="en-US"/>
              <a:t>Prevent downtime, reduce issue investigation time, improve customer satisfaction</a:t>
            </a:r>
          </a:p>
          <a:p>
            <a:pPr lvl="2"/>
            <a:r>
              <a:rPr lang="en-US"/>
              <a:t>Ex: Diminishing disk space, bad perf, big queue size</a:t>
            </a:r>
          </a:p>
          <a:p>
            <a:pPr lvl="2"/>
            <a:r>
              <a:rPr lang="en-US"/>
              <a:t>Agents can poll health and take action (Ex: delete old files, send e-mails)</a:t>
            </a:r>
          </a:p>
          <a:p>
            <a:r>
              <a:rPr lang="en-US"/>
              <a:t>Note: Reports are deleted when entity deleted</a:t>
            </a:r>
          </a:p>
          <a:p>
            <a:pPr lvl="1"/>
            <a:r>
              <a:rPr lang="en-US"/>
              <a:t>To outlive entity, submit report on parent entity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Submitting Health Reports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912446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240" y="1186356"/>
            <a:ext cx="7170265" cy="2179058"/>
          </a:xfrm>
        </p:spPr>
        <p:txBody>
          <a:bodyPr/>
          <a:lstStyle/>
          <a:p>
            <a:r>
              <a:rPr lang="en-US" dirty="0"/>
              <a:t>Submitting a Health Report</a:t>
            </a:r>
          </a:p>
        </p:txBody>
      </p:sp>
    </p:spTree>
    <p:extLst>
      <p:ext uri="{BB962C8B-B14F-4D97-AF65-F5344CB8AC3E}">
        <p14:creationId xmlns:p14="http://schemas.microsoft.com/office/powerpoint/2010/main" val="257346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627864"/>
          </a:xfrm>
        </p:spPr>
        <p:txBody>
          <a:bodyPr/>
          <a:lstStyle/>
          <a:p>
            <a:r>
              <a:rPr lang="en-US" sz="3200" dirty="0"/>
              <a:t>For each entity, SF stores 1 health report per </a:t>
            </a:r>
            <a:r>
              <a:rPr lang="en-US" sz="3200" dirty="0" err="1"/>
              <a:t>SourceId</a:t>
            </a:r>
            <a:r>
              <a:rPr lang="en-US" sz="3200" dirty="0"/>
              <a:t>/Property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in a Health Report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913086"/>
              </p:ext>
            </p:extLst>
          </p:nvPr>
        </p:nvGraphicFramePr>
        <p:xfrm>
          <a:off x="588914" y="1869294"/>
          <a:ext cx="11089277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02273">
                  <a:extLst>
                    <a:ext uri="{9D8B030D-6E8A-4147-A177-3AD203B41FA5}">
                      <a16:colId xmlns:a16="http://schemas.microsoft.com/office/drawing/2014/main" xmlns="" val="3651334521"/>
                    </a:ext>
                  </a:extLst>
                </a:gridCol>
                <a:gridCol w="8687004">
                  <a:extLst>
                    <a:ext uri="{9D8B030D-6E8A-4147-A177-3AD203B41FA5}">
                      <a16:colId xmlns:a16="http://schemas.microsoft.com/office/drawing/2014/main" xmlns="" val="3934052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Mandatory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97147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Cluster, Node, App, Service, Partition, Replica, Deployed App, Deployed Service </a:t>
                      </a:r>
                      <a:r>
                        <a:rPr lang="en-US" sz="1800" dirty="0" err="1"/>
                        <a:t>Pkg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76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SourceId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String uniquely identifies reporter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85055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Category (ex: “Storage” or “Connectivity”)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5131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HealthState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Ok, Warning,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686376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136778"/>
              </p:ext>
            </p:extLst>
          </p:nvPr>
        </p:nvGraphicFramePr>
        <p:xfrm>
          <a:off x="588915" y="4066222"/>
          <a:ext cx="11089277" cy="2392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10973">
                  <a:extLst>
                    <a:ext uri="{9D8B030D-6E8A-4147-A177-3AD203B41FA5}">
                      <a16:colId xmlns:a16="http://schemas.microsoft.com/office/drawing/2014/main" xmlns="" val="3651334521"/>
                    </a:ext>
                  </a:extLst>
                </a:gridCol>
                <a:gridCol w="1289194">
                  <a:extLst>
                    <a:ext uri="{9D8B030D-6E8A-4147-A177-3AD203B41FA5}">
                      <a16:colId xmlns:a16="http://schemas.microsoft.com/office/drawing/2014/main" xmlns="" val="1908703013"/>
                    </a:ext>
                  </a:extLst>
                </a:gridCol>
                <a:gridCol w="7389110">
                  <a:extLst>
                    <a:ext uri="{9D8B030D-6E8A-4147-A177-3AD203B41FA5}">
                      <a16:colId xmlns:a16="http://schemas.microsoft.com/office/drawing/2014/main" xmlns="" val="3934052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Optional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97147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Human readable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3236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TimeToLive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Infinite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# seconds before report is expired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8888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RemoveWhenExpired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Useful</a:t>
                      </a:r>
                      <a:r>
                        <a:rPr lang="en-US" sz="1800" baseline="0" dirty="0"/>
                        <a:t> if TTL != Infinite. If false, report’s entity is in Error; else report removed after expiration.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12145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SequenceNumber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Auto-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Increasing integer.</a:t>
                      </a:r>
                      <a:r>
                        <a:rPr lang="en-US" sz="1800" baseline="0" dirty="0"/>
                        <a:t> Use to </a:t>
                      </a:r>
                      <a:r>
                        <a:rPr lang="en-US" sz="1800" dirty="0"/>
                        <a:t>replace old reports when reporting </a:t>
                      </a:r>
                      <a:r>
                        <a:rPr lang="en-US" sz="1800" baseline="0" dirty="0"/>
                        <a:t>state transitions.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1191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960951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SF wraps a health event around a health report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in a Health Event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86200"/>
              </p:ext>
            </p:extLst>
          </p:nvPr>
        </p:nvGraphicFramePr>
        <p:xfrm>
          <a:off x="1563724" y="1910389"/>
          <a:ext cx="9064552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92692">
                  <a:extLst>
                    <a:ext uri="{9D8B030D-6E8A-4147-A177-3AD203B41FA5}">
                      <a16:colId xmlns:a16="http://schemas.microsoft.com/office/drawing/2014/main" xmlns="" val="3651334521"/>
                    </a:ext>
                  </a:extLst>
                </a:gridCol>
                <a:gridCol w="6071860">
                  <a:extLst>
                    <a:ext uri="{9D8B030D-6E8A-4147-A177-3AD203B41FA5}">
                      <a16:colId xmlns:a16="http://schemas.microsoft.com/office/drawing/2014/main" xmlns="" val="3934052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97147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HealthInformation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The original health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81557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SourceUtcTimetamp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The time the health report was originally submitted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76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LastModifiedUtcTimestamp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The last time the report was modified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57786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IsExpired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 if TTL expired and </a:t>
                      </a:r>
                      <a:r>
                        <a:rPr lang="en-US" sz="1800" dirty="0" err="1"/>
                        <a:t>RemoveWhenExpired</a:t>
                      </a:r>
                      <a:r>
                        <a:rPr lang="en-US" sz="1800" dirty="0"/>
                        <a:t>=false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85055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LastOkTransitionAt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r>
                        <a:rPr lang="en-US" sz="1800" dirty="0" err="1"/>
                        <a:t>LastWarningTransitionAt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r>
                        <a:rPr lang="en-US" sz="1800" dirty="0" err="1"/>
                        <a:t>LastErrorTransitionAt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These give a history of the event’s health states.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Ex:</a:t>
                      </a:r>
                      <a:r>
                        <a:rPr lang="en-US" sz="1800" baseline="0" dirty="0"/>
                        <a:t> Alert if !Ok &gt; 5 minutes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39194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569601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041380"/>
          </a:xfrm>
        </p:spPr>
        <p:txBody>
          <a:bodyPr/>
          <a:lstStyle/>
          <a:p>
            <a:r>
              <a:rPr lang="en-US" b="1" i="1" dirty="0"/>
              <a:t>Never </a:t>
            </a:r>
            <a:r>
              <a:rPr lang="en-US" dirty="0"/>
              <a:t>submit report not related to health</a:t>
            </a:r>
          </a:p>
          <a:p>
            <a:pPr lvl="1"/>
            <a:r>
              <a:rPr lang="en-US" dirty="0"/>
              <a:t>Health is not a generic reporting mechanism</a:t>
            </a:r>
          </a:p>
          <a:p>
            <a:r>
              <a:rPr lang="en-US" b="1" i="1" dirty="0"/>
              <a:t>Avoid </a:t>
            </a:r>
            <a:r>
              <a:rPr lang="en-US" dirty="0"/>
              <a:t>reporting on state transitions because you’ll have to synchronize state across failures</a:t>
            </a:r>
          </a:p>
          <a:p>
            <a:r>
              <a:rPr lang="en-US" b="1" i="1" dirty="0"/>
              <a:t>Avoid </a:t>
            </a:r>
            <a:r>
              <a:rPr lang="en-US" dirty="0" err="1"/>
              <a:t>SequenceNumber</a:t>
            </a:r>
            <a:r>
              <a:rPr lang="en-US" dirty="0"/>
              <a:t>; accept auto-generated</a:t>
            </a:r>
          </a:p>
          <a:p>
            <a:r>
              <a:rPr lang="en-US" b="1" i="1" dirty="0"/>
              <a:t>Always </a:t>
            </a:r>
            <a:r>
              <a:rPr lang="en-US" dirty="0"/>
              <a:t>clean up reports when no longer valid</a:t>
            </a:r>
          </a:p>
          <a:p>
            <a:pPr lvl="1"/>
            <a:r>
              <a:rPr lang="en-US" dirty="0"/>
              <a:t>Ex: Errors affect upgrades</a:t>
            </a:r>
          </a:p>
          <a:p>
            <a:pPr lvl="1"/>
            <a:r>
              <a:rPr lang="en-US" dirty="0"/>
              <a:t>So, have watchdog report periodically with TTL &amp; </a:t>
            </a:r>
            <a:r>
              <a:rPr lang="en-US" dirty="0" err="1"/>
              <a:t>RemoveWhenExpired</a:t>
            </a:r>
            <a:r>
              <a:rPr lang="en-US" dirty="0"/>
              <a:t>=false</a:t>
            </a:r>
          </a:p>
          <a:p>
            <a:pPr lvl="1"/>
            <a:r>
              <a:rPr lang="en-US" dirty="0"/>
              <a:t>If watchdog fails, event’s </a:t>
            </a:r>
            <a:r>
              <a:rPr lang="en-US" dirty="0" err="1"/>
              <a:t>IsExpired</a:t>
            </a:r>
            <a:r>
              <a:rPr lang="en-US" dirty="0"/>
              <a:t>=true &amp; entity’s health is Error</a:t>
            </a:r>
          </a:p>
          <a:p>
            <a:pPr lvl="1"/>
            <a:r>
              <a:rPr lang="en-US" dirty="0"/>
              <a:t>To have report self-expire, send with TTL &amp; </a:t>
            </a:r>
            <a:r>
              <a:rPr lang="en-US" dirty="0" err="1"/>
              <a:t>RemoveWhenExpired</a:t>
            </a:r>
            <a:r>
              <a:rPr lang="en-US" dirty="0"/>
              <a:t>=true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Health Report Submission Guidance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253624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Upgrading a</a:t>
            </a:r>
            <a:br>
              <a:rPr lang="en-US"/>
            </a:br>
            <a:r>
              <a:rPr lang="en-US"/>
              <a:t>Named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768430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4860301" cy="4899803"/>
          </a:xfrm>
        </p:spPr>
        <p:txBody>
          <a:bodyPr/>
          <a:lstStyle/>
          <a:p>
            <a:pPr marL="461963" indent="-461963" defTabSz="739775">
              <a:buFont typeface="+mj-lt"/>
              <a:buAutoNum type="arabicPeriod"/>
            </a:pPr>
            <a:r>
              <a:rPr lang="en-US" sz="3200" dirty="0"/>
              <a:t>Put new code in code package</a:t>
            </a:r>
          </a:p>
          <a:p>
            <a:pPr marL="461963" indent="-461963" defTabSz="739775">
              <a:buFont typeface="+mj-lt"/>
              <a:buAutoNum type="arabicPeriod"/>
            </a:pPr>
            <a:r>
              <a:rPr lang="en-US" sz="3200" dirty="0"/>
              <a:t>Update </a:t>
            </a:r>
            <a:r>
              <a:rPr lang="en-US" sz="3200" dirty="0" err="1"/>
              <a:t>ver</a:t>
            </a:r>
            <a:r>
              <a:rPr lang="en-US" sz="3200" dirty="0"/>
              <a:t> strings</a:t>
            </a:r>
            <a:br>
              <a:rPr lang="en-US" sz="3200" dirty="0"/>
            </a:br>
            <a:r>
              <a:rPr lang="en-US" sz="2400" dirty="0"/>
              <a:t>(#s are not required)</a:t>
            </a:r>
          </a:p>
          <a:p>
            <a:pPr marL="461963" indent="-461963" defTabSz="739775">
              <a:buFont typeface="+mj-lt"/>
              <a:buAutoNum type="arabicPeriod"/>
            </a:pPr>
            <a:r>
              <a:rPr lang="en-US" sz="3200" dirty="0"/>
              <a:t>Copy new app package to image store</a:t>
            </a:r>
          </a:p>
          <a:p>
            <a:pPr marL="461963" indent="-461963" defTabSz="739775">
              <a:buFont typeface="+mj-lt"/>
              <a:buAutoNum type="arabicPeriod"/>
            </a:pPr>
            <a:r>
              <a:rPr lang="en-US" sz="3200" dirty="0"/>
              <a:t>Register new app type/</a:t>
            </a:r>
            <a:br>
              <a:rPr lang="en-US" sz="3200" dirty="0"/>
            </a:br>
            <a:r>
              <a:rPr lang="en-US" sz="3200" dirty="0"/>
              <a:t>version</a:t>
            </a:r>
          </a:p>
          <a:p>
            <a:pPr marL="461963" indent="-461963" defTabSz="739775">
              <a:buFont typeface="+mj-lt"/>
              <a:buAutoNum type="arabicPeriod"/>
            </a:pPr>
            <a:r>
              <a:rPr lang="en-US" sz="3200" dirty="0"/>
              <a:t>Select named app(s) to upgrade to new version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Updating Your App’s Service’s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199016" y="3288213"/>
            <a:ext cx="6886245" cy="280076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Name="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WebServer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Version="2.0"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ServiceTypes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StatelessServiceType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ServiceTypeName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WebServer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...&gt;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&lt;Extensions&gt; ... &lt;/Extensions&gt;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&lt;/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StatelessServiceType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&lt;/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ServiceTypes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CodePackage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Name="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CodePkg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Version="1.1"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EntryPoint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... &lt;/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EntryPoint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&lt;/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CodePackage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&lt;Resources&gt;&lt;Endpoints&gt; ... &lt;/Endpoints&gt;&lt;/Resources&gt;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9017" y="1214100"/>
            <a:ext cx="6886245" cy="181588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ApplicationManifest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ApplicationTypeName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DemoAppType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ApplicationTypeVersion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="3.0"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ServiceManifestImport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ServiceManifestRef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ServiceManifestName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WebServer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ServiceManifestVersion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="2.0"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.../&gt;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&lt;/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ServiceManifestImport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ApplicationManifest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8" name="Left Arrow 7"/>
          <p:cNvSpPr/>
          <p:nvPr/>
        </p:nvSpPr>
        <p:spPr>
          <a:xfrm>
            <a:off x="10745426" y="4763770"/>
            <a:ext cx="572432" cy="43497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Left Arrow 8"/>
          <p:cNvSpPr/>
          <p:nvPr/>
        </p:nvSpPr>
        <p:spPr>
          <a:xfrm>
            <a:off x="10745425" y="3258729"/>
            <a:ext cx="572432" cy="43497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10" name="Left Arrow 9"/>
          <p:cNvSpPr/>
          <p:nvPr/>
        </p:nvSpPr>
        <p:spPr>
          <a:xfrm>
            <a:off x="11441953" y="1439763"/>
            <a:ext cx="574301" cy="43497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11441952" y="2125325"/>
            <a:ext cx="574301" cy="43497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</p:spTree>
    <p:extLst>
      <p:ext uri="{BB962C8B-B14F-4D97-AF65-F5344CB8AC3E}">
        <p14:creationId xmlns:p14="http://schemas.microsoft.com/office/powerpoint/2010/main" val="19341947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3323987"/>
          </a:xfrm>
        </p:spPr>
        <p:txBody>
          <a:bodyPr/>
          <a:lstStyle/>
          <a:p>
            <a:r>
              <a:rPr lang="en-US" dirty="0"/>
              <a:t>Prevent complete service outage while upgrading</a:t>
            </a:r>
          </a:p>
          <a:p>
            <a:pPr lvl="1"/>
            <a:r>
              <a:rPr lang="en-US" dirty="0"/>
              <a:t>More UDs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less loss of scale but more time to upgrade</a:t>
            </a:r>
          </a:p>
          <a:p>
            <a:pPr lvl="1"/>
            <a:r>
              <a:rPr lang="en-US" dirty="0"/>
              <a:t># UD set when cluster created via cluster manifest; ARM template</a:t>
            </a:r>
          </a:p>
          <a:p>
            <a:pPr lvl="2"/>
            <a:r>
              <a:rPr lang="en-US" dirty="0"/>
              <a:t>Default=5; 20% down at a time</a:t>
            </a:r>
          </a:p>
          <a:p>
            <a:pPr lvl="1"/>
            <a:r>
              <a:rPr lang="en-US" dirty="0"/>
              <a:t>IMPORTANT: 2 versions of your code run side-by-side simultaneously</a:t>
            </a:r>
          </a:p>
          <a:p>
            <a:pPr lvl="2"/>
            <a:r>
              <a:rPr lang="en-US" dirty="0"/>
              <a:t>Beware of data/schema/protocol changes; use 2-phase upgrade</a:t>
            </a:r>
          </a:p>
          <a:p>
            <a:r>
              <a:rPr lang="en-US" dirty="0"/>
              <a:t>Below shows 9 instances spread across 5 UDs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Domains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426163" y="4620422"/>
            <a:ext cx="1894724" cy="122804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UD #0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701637" y="4626141"/>
            <a:ext cx="1947369" cy="122232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UD #1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029756" y="4620424"/>
            <a:ext cx="1947369" cy="122804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UD #2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357874" y="4620425"/>
            <a:ext cx="1947370" cy="122804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UD #3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685994" y="4620425"/>
            <a:ext cx="1922208" cy="122804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UD #4</a:t>
            </a:r>
            <a:b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25512" y="5045408"/>
            <a:ext cx="1693918" cy="34278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4411" y="5442378"/>
            <a:ext cx="1812822" cy="34278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Instance-8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6291" y="5024041"/>
            <a:ext cx="1812823" cy="34278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4410" y="5003799"/>
            <a:ext cx="1812823" cy="34278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2528" y="5006424"/>
            <a:ext cx="1812823" cy="34278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Instance-4</a:t>
            </a:r>
            <a:endParaRPr lang="en-US" baseline="-25000" dirty="0"/>
          </a:p>
        </p:txBody>
      </p:sp>
      <p:sp>
        <p:nvSpPr>
          <p:cNvPr id="19" name="Rounded Rectangle 18"/>
          <p:cNvSpPr/>
          <p:nvPr/>
        </p:nvSpPr>
        <p:spPr>
          <a:xfrm>
            <a:off x="9812827" y="5012895"/>
            <a:ext cx="1693919" cy="34278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Instance-5</a:t>
            </a:r>
            <a:endParaRPr lang="en-US" baseline="-25000" dirty="0"/>
          </a:p>
        </p:txBody>
      </p:sp>
      <p:sp>
        <p:nvSpPr>
          <p:cNvPr id="20" name="Rounded Rectangle 19"/>
          <p:cNvSpPr/>
          <p:nvPr/>
        </p:nvSpPr>
        <p:spPr>
          <a:xfrm>
            <a:off x="7422529" y="5415487"/>
            <a:ext cx="1812822" cy="3197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Instance-9</a:t>
            </a:r>
            <a:endParaRPr lang="en-US" baseline="-25000" dirty="0"/>
          </a:p>
        </p:txBody>
      </p:sp>
      <p:sp>
        <p:nvSpPr>
          <p:cNvPr id="21" name="Rounded Rectangle 20"/>
          <p:cNvSpPr/>
          <p:nvPr/>
        </p:nvSpPr>
        <p:spPr>
          <a:xfrm>
            <a:off x="525512" y="5430683"/>
            <a:ext cx="1693918" cy="34278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Instance-6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66291" y="5429750"/>
            <a:ext cx="1812823" cy="34278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Instance-7</a:t>
            </a:r>
          </a:p>
        </p:txBody>
      </p:sp>
    </p:spTree>
    <p:extLst>
      <p:ext uri="{BB962C8B-B14F-4D97-AF65-F5344CB8AC3E}">
        <p14:creationId xmlns:p14="http://schemas.microsoft.com/office/powerpoint/2010/main" val="23015882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588127"/>
          </a:xfrm>
        </p:spPr>
        <p:txBody>
          <a:bodyPr/>
          <a:lstStyle/>
          <a:p>
            <a:r>
              <a:rPr lang="en-US" dirty="0"/>
              <a:t>Isolate cluster from a single point of </a:t>
            </a:r>
            <a:br>
              <a:rPr lang="en-US" dirty="0"/>
            </a:br>
            <a:r>
              <a:rPr lang="en-US" dirty="0"/>
              <a:t>hardware failure (fault)</a:t>
            </a:r>
          </a:p>
          <a:p>
            <a:pPr lvl="1"/>
            <a:r>
              <a:rPr lang="en-US" dirty="0"/>
              <a:t>Determined by hardware topology (datacenter, rack, blade)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Domains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58614" y="1189176"/>
            <a:ext cx="244150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fd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:/DC1/R1/B1</a:t>
            </a:r>
          </a:p>
          <a:p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fd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:/DC1/R1/B2</a:t>
            </a:r>
          </a:p>
          <a:p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fd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:/DC1/R1/B3</a:t>
            </a:r>
          </a:p>
          <a:p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fd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:/DC1/R2/B1</a:t>
            </a:r>
          </a:p>
          <a:p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fd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:/DC1/R2/B2</a:t>
            </a:r>
          </a:p>
          <a:p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fd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:/DC1/R2/B3</a:t>
            </a:r>
          </a:p>
          <a:p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fd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:/DC2/R1/B1</a:t>
            </a:r>
          </a:p>
          <a:p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fd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:/DC2/R1/B2</a:t>
            </a:r>
          </a:p>
          <a:p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fd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:/DC2/R1/B3</a:t>
            </a:r>
          </a:p>
          <a:p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fd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:/DC2/R2/B1</a:t>
            </a:r>
          </a:p>
          <a:p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fd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:/DC2/R2/B2</a:t>
            </a:r>
          </a:p>
          <a:p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fd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:/DC2/R2/B3</a:t>
            </a:r>
          </a:p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85262" y="2943603"/>
            <a:ext cx="2632822" cy="3018115"/>
            <a:chOff x="1999840" y="3247417"/>
            <a:chExt cx="2632822" cy="3170099"/>
          </a:xfrm>
        </p:grpSpPr>
        <p:sp>
          <p:nvSpPr>
            <p:cNvPr id="4" name="Rectangle 3"/>
            <p:cNvSpPr/>
            <p:nvPr/>
          </p:nvSpPr>
          <p:spPr>
            <a:xfrm>
              <a:off x="1999840" y="3247417"/>
              <a:ext cx="2632822" cy="317009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 anchor="t" anchorCtr="1">
              <a:spAutoFit/>
            </a:bodyPr>
            <a:lstStyle/>
            <a:p>
              <a:pPr algn="ctr"/>
              <a:r>
                <a:rPr lang="en-US" sz="4000" dirty="0"/>
                <a:t>DC1</a:t>
              </a:r>
              <a:br>
                <a:rPr lang="en-US" sz="4000" dirty="0"/>
              </a:br>
              <a:r>
                <a:rPr lang="en-US" sz="4000" dirty="0"/>
                <a:t/>
              </a:r>
              <a:br>
                <a:rPr lang="en-US" sz="4000" dirty="0"/>
              </a:br>
              <a:r>
                <a:rPr lang="en-US" sz="4000" dirty="0"/>
                <a:t/>
              </a:r>
              <a:br>
                <a:rPr lang="en-US" sz="4000" dirty="0"/>
              </a:br>
              <a:r>
                <a:rPr lang="en-US" sz="4000" dirty="0"/>
                <a:t/>
              </a:r>
              <a:br>
                <a:rPr lang="en-US" sz="4000" dirty="0"/>
              </a:br>
              <a:endParaRPr lang="en-US" sz="4000" dirty="0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115696" y="3974986"/>
              <a:ext cx="1123484" cy="2308324"/>
              <a:chOff x="2826165" y="4001294"/>
              <a:chExt cx="1123484" cy="2308324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2826165" y="4001294"/>
                <a:ext cx="1123484" cy="2308324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wrap="square" rtlCol="0" anchor="t" anchorCtr="1">
                <a:noAutofit/>
              </a:bodyPr>
              <a:lstStyle/>
              <a:p>
                <a:pPr algn="ctr"/>
                <a:r>
                  <a:rPr lang="en-US" sz="3600" dirty="0"/>
                  <a:t>R1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925239" y="4597146"/>
                <a:ext cx="916615" cy="461665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 anchor="t" anchorCtr="1">
                <a:spAutoFit/>
              </a:bodyPr>
              <a:lstStyle/>
              <a:p>
                <a:pPr algn="ctr"/>
                <a:r>
                  <a:rPr lang="en-US" sz="2400" dirty="0"/>
                  <a:t>B1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925239" y="5151105"/>
                <a:ext cx="916615" cy="4616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 anchor="t" anchorCtr="1">
                <a:spAutoFit/>
              </a:bodyPr>
              <a:lstStyle/>
              <a:p>
                <a:pPr algn="ctr"/>
                <a:r>
                  <a:rPr lang="en-US" sz="2400" dirty="0"/>
                  <a:t>B2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925239" y="5696941"/>
                <a:ext cx="920904" cy="46166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 anchor="t" anchorCtr="1">
                <a:spAutoFit/>
              </a:bodyPr>
              <a:lstStyle/>
              <a:p>
                <a:pPr algn="ctr"/>
                <a:r>
                  <a:rPr lang="en-US" sz="2400" dirty="0"/>
                  <a:t>B3</a:t>
                </a: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3392090" y="3974986"/>
              <a:ext cx="1123484" cy="2308324"/>
              <a:chOff x="2826165" y="4001294"/>
              <a:chExt cx="1123484" cy="2308324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2826165" y="4001294"/>
                <a:ext cx="1123484" cy="2308324"/>
              </a:xfrm>
              <a:prstGeom prst="rect">
                <a:avLst/>
              </a:prstGeom>
              <a:solidFill>
                <a:schemeClr val="tx1"/>
              </a:solidFill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wrap="square" rtlCol="0" anchor="t" anchorCtr="1">
                <a:noAutofit/>
              </a:bodyPr>
              <a:lstStyle/>
              <a:p>
                <a:pPr algn="ctr"/>
                <a:r>
                  <a:rPr lang="en-US" sz="3600" dirty="0">
                    <a:solidFill>
                      <a:schemeClr val="bg1"/>
                    </a:solidFill>
                  </a:rPr>
                  <a:t>R2</a:t>
                </a: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2925239" y="4597146"/>
                <a:ext cx="916615" cy="461665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 anchor="t" anchorCtr="1">
                <a:spAutoFit/>
              </a:bodyPr>
              <a:lstStyle/>
              <a:p>
                <a:pPr algn="ctr"/>
                <a:r>
                  <a:rPr lang="en-US" sz="2400" dirty="0"/>
                  <a:t>B1</a:t>
                </a: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2925239" y="5151105"/>
                <a:ext cx="916615" cy="4616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 anchor="t" anchorCtr="1">
                <a:spAutoFit/>
              </a:bodyPr>
              <a:lstStyle/>
              <a:p>
                <a:pPr algn="ctr"/>
                <a:r>
                  <a:rPr lang="en-US" sz="2400" dirty="0"/>
                  <a:t>B2</a:t>
                </a:r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2925239" y="5696941"/>
                <a:ext cx="920904" cy="46166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 anchor="t" anchorCtr="1">
                <a:spAutoFit/>
              </a:bodyPr>
              <a:lstStyle/>
              <a:p>
                <a:pPr algn="ctr"/>
                <a:r>
                  <a:rPr lang="en-US" sz="2400" dirty="0"/>
                  <a:t>B3</a:t>
                </a:r>
              </a:p>
            </p:txBody>
          </p:sp>
        </p:grpSp>
      </p:grpSp>
      <p:sp>
        <p:nvSpPr>
          <p:cNvPr id="63" name="Rectangle 62"/>
          <p:cNvSpPr/>
          <p:nvPr/>
        </p:nvSpPr>
        <p:spPr>
          <a:xfrm>
            <a:off x="3557479" y="2943603"/>
            <a:ext cx="2632822" cy="3018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t" anchorCtr="1">
            <a:noAutofit/>
          </a:bodyPr>
          <a:lstStyle/>
          <a:p>
            <a:pPr algn="ctr"/>
            <a:r>
              <a:rPr lang="en-US" sz="4000" dirty="0"/>
              <a:t>DC2</a:t>
            </a:r>
            <a:br>
              <a:rPr lang="en-US" sz="4000" dirty="0"/>
            </a:b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grpSp>
        <p:nvGrpSpPr>
          <p:cNvPr id="64" name="Group 63"/>
          <p:cNvGrpSpPr/>
          <p:nvPr/>
        </p:nvGrpSpPr>
        <p:grpSpPr>
          <a:xfrm>
            <a:off x="3673335" y="3579570"/>
            <a:ext cx="1123484" cy="2254376"/>
            <a:chOff x="2826165" y="4001294"/>
            <a:chExt cx="1123484" cy="2254376"/>
          </a:xfrm>
        </p:grpSpPr>
        <p:sp>
          <p:nvSpPr>
            <p:cNvPr id="70" name="Rectangle 69"/>
            <p:cNvSpPr/>
            <p:nvPr/>
          </p:nvSpPr>
          <p:spPr>
            <a:xfrm>
              <a:off x="2826165" y="4001294"/>
              <a:ext cx="1123484" cy="2254376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3600" dirty="0"/>
                <a:t>R1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925239" y="4597146"/>
              <a:ext cx="916615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2400" dirty="0"/>
                <a:t>B1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925239" y="5151105"/>
              <a:ext cx="916615" cy="46166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2400" dirty="0"/>
                <a:t>B2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925239" y="5696941"/>
              <a:ext cx="920904" cy="46166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2400" dirty="0"/>
                <a:t>B3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4949729" y="3579570"/>
            <a:ext cx="1123484" cy="2254376"/>
            <a:chOff x="2826165" y="4001294"/>
            <a:chExt cx="1123484" cy="2308324"/>
          </a:xfrm>
        </p:grpSpPr>
        <p:sp>
          <p:nvSpPr>
            <p:cNvPr id="66" name="Rectangle 65"/>
            <p:cNvSpPr/>
            <p:nvPr/>
          </p:nvSpPr>
          <p:spPr>
            <a:xfrm>
              <a:off x="2826165" y="4001294"/>
              <a:ext cx="1123484" cy="2308324"/>
            </a:xfrm>
            <a:prstGeom prst="rect">
              <a:avLst/>
            </a:prstGeom>
            <a:solidFill>
              <a:schemeClr val="tx1"/>
            </a:solidFill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</a:rPr>
                <a:t>R2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925239" y="4597146"/>
              <a:ext cx="916615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2400" dirty="0"/>
                <a:t>B1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925239" y="5151105"/>
              <a:ext cx="916615" cy="46166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2400" dirty="0"/>
                <a:t>B2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925239" y="5696941"/>
              <a:ext cx="920904" cy="46166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2400" dirty="0"/>
                <a:t>B3</a:t>
              </a:r>
            </a:p>
          </p:txBody>
        </p:sp>
      </p:grpSp>
      <p:sp>
        <p:nvSpPr>
          <p:cNvPr id="75" name="Rectangle 74"/>
          <p:cNvSpPr/>
          <p:nvPr/>
        </p:nvSpPr>
        <p:spPr>
          <a:xfrm>
            <a:off x="6343211" y="2953027"/>
            <a:ext cx="2632822" cy="30181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t" anchorCtr="1">
            <a:noAutofit/>
          </a:bodyPr>
          <a:lstStyle/>
          <a:p>
            <a:pPr algn="ctr"/>
            <a:r>
              <a:rPr lang="en-US" sz="4000" dirty="0"/>
              <a:t>DC3</a:t>
            </a:r>
            <a:br>
              <a:rPr lang="en-US" sz="4000" dirty="0"/>
            </a:b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grpSp>
        <p:nvGrpSpPr>
          <p:cNvPr id="76" name="Group 75"/>
          <p:cNvGrpSpPr/>
          <p:nvPr/>
        </p:nvGrpSpPr>
        <p:grpSpPr>
          <a:xfrm>
            <a:off x="6459067" y="3588994"/>
            <a:ext cx="1123484" cy="2244952"/>
            <a:chOff x="2826165" y="4001294"/>
            <a:chExt cx="1123484" cy="2308324"/>
          </a:xfrm>
        </p:grpSpPr>
        <p:sp>
          <p:nvSpPr>
            <p:cNvPr id="82" name="Rectangle 81"/>
            <p:cNvSpPr/>
            <p:nvPr/>
          </p:nvSpPr>
          <p:spPr>
            <a:xfrm>
              <a:off x="2826165" y="4001294"/>
              <a:ext cx="1123484" cy="2308324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3600" dirty="0"/>
                <a:t>R1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2925239" y="4597146"/>
              <a:ext cx="916615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2400" dirty="0"/>
                <a:t>B1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2925239" y="5151105"/>
              <a:ext cx="916615" cy="46166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2400" dirty="0"/>
                <a:t>B2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925239" y="5696941"/>
              <a:ext cx="920904" cy="46166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2400" dirty="0"/>
                <a:t>B3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7735461" y="3588994"/>
            <a:ext cx="1123484" cy="2244952"/>
            <a:chOff x="2826165" y="4001294"/>
            <a:chExt cx="1123484" cy="2308324"/>
          </a:xfrm>
        </p:grpSpPr>
        <p:sp>
          <p:nvSpPr>
            <p:cNvPr id="78" name="Rectangle 77"/>
            <p:cNvSpPr/>
            <p:nvPr/>
          </p:nvSpPr>
          <p:spPr>
            <a:xfrm>
              <a:off x="2826165" y="4001294"/>
              <a:ext cx="1123484" cy="2308324"/>
            </a:xfrm>
            <a:prstGeom prst="rect">
              <a:avLst/>
            </a:prstGeom>
            <a:solidFill>
              <a:schemeClr val="tx1"/>
            </a:solidFill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</a:rPr>
                <a:t>R2</a:t>
              </a:r>
              <a:endParaRPr lang="en-US" sz="3600" dirty="0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2925239" y="4597146"/>
              <a:ext cx="916615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2400" dirty="0"/>
                <a:t>B1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2925239" y="5151105"/>
              <a:ext cx="916615" cy="46166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2400" dirty="0"/>
                <a:t>B2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2925239" y="5696941"/>
              <a:ext cx="920904" cy="46166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t" anchorCtr="1">
              <a:noAutofit/>
            </a:bodyPr>
            <a:lstStyle/>
            <a:p>
              <a:pPr algn="ctr"/>
              <a:r>
                <a:rPr lang="en-US" sz="2400" dirty="0"/>
                <a:t>B3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452478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type="body" sz="quarter" idx="10"/>
          </p:nvPr>
        </p:nvSpPr>
        <p:spPr>
          <a:xfrm>
            <a:off x="269240" y="1189177"/>
            <a:ext cx="5545716" cy="2289858"/>
          </a:xfrm>
        </p:spPr>
        <p:txBody>
          <a:bodyPr/>
          <a:lstStyle/>
          <a:p>
            <a:r>
              <a:rPr lang="en-US" dirty="0"/>
              <a:t>Example shows Cluster</a:t>
            </a:r>
            <a:br>
              <a:rPr lang="en-US" dirty="0"/>
            </a:br>
            <a:r>
              <a:rPr lang="en-US" dirty="0"/>
              <a:t>in Azure and how nodes spread across fault/upgrade domains</a:t>
            </a:r>
          </a:p>
          <a:p>
            <a:r>
              <a:rPr lang="en-US" dirty="0"/>
              <a:t>Note: Azure’s SFRP doesn't support X-DC clusters today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 Fabric Explorer’s Cluster Map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955" y="1317419"/>
            <a:ext cx="6015096" cy="499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68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Start-</a:t>
            </a:r>
            <a:r>
              <a:rPr lang="en-US" dirty="0" err="1">
                <a:hlinkClick r:id="rId3"/>
              </a:rPr>
              <a:t>ServiceFabricApplicationUpgrade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769040"/>
              </p:ext>
            </p:extLst>
          </p:nvPr>
        </p:nvGraphicFramePr>
        <p:xfrm>
          <a:off x="614938" y="1574074"/>
          <a:ext cx="10964443" cy="4673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42195">
                  <a:extLst>
                    <a:ext uri="{9D8B030D-6E8A-4147-A177-3AD203B41FA5}">
                      <a16:colId xmlns:a16="http://schemas.microsoft.com/office/drawing/2014/main" xmlns="" val="3651334521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xmlns="" val="4153649020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xmlns="" val="3934052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97147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ApplicationName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Application Instance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54201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kern="1200" dirty="0" err="1">
                          <a:effectLst/>
                        </a:rPr>
                        <a:t>TargetApplicationTypeVersion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The version string you want to upgrade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0325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FailureAction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N/A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Rollback (to last version) or 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Manual (stop upgrade &amp; switch to manual)</a:t>
                      </a:r>
                      <a:endParaRPr 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1577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err="1">
                          <a:effectLst/>
                        </a:rPr>
                        <a:t>UpgradeDomainTimeoutSec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Infinite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If any UD takes more than this time, </a:t>
                      </a:r>
                      <a:r>
                        <a:rPr lang="en-US" sz="1800" dirty="0" err="1"/>
                        <a:t>FailureAction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92078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err="1">
                          <a:effectLst/>
                        </a:rPr>
                        <a:t>UpgradeTimeout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Infinite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If all UDs take more than this time, </a:t>
                      </a:r>
                      <a:r>
                        <a:rPr lang="en-US" sz="1800" dirty="0" err="1"/>
                        <a:t>FailureAction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2122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err="1">
                          <a:effectLst/>
                        </a:rPr>
                        <a:t>HealthCheckWaitDurationSec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After UD,</a:t>
                      </a:r>
                      <a:r>
                        <a:rPr lang="en-US" sz="1800" baseline="0" dirty="0"/>
                        <a:t> SF waits this long before initiating health check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85055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err="1">
                          <a:effectLst/>
                        </a:rPr>
                        <a:t>UpgradeHealthCheckInterval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If health check fails, SF waits this long before checking again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(set in cluster manifest; not PowerShell)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5131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err="1">
                          <a:effectLst/>
                        </a:rPr>
                        <a:t>HealthCheckRetryTimeoutSec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Maximum</a:t>
                      </a:r>
                      <a:r>
                        <a:rPr lang="en-US" sz="1800" baseline="0" dirty="0"/>
                        <a:t> time SF waits for app to be healthy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6863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err="1">
                          <a:effectLst/>
                        </a:rPr>
                        <a:t>HealthCheckStableDurationSec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How long app must be healthy before upgrading next 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5639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493375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Health Criteria Policies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331709"/>
              </p:ext>
            </p:extLst>
          </p:nvPr>
        </p:nvGraphicFramePr>
        <p:xfrm>
          <a:off x="269240" y="1372056"/>
          <a:ext cx="11621693" cy="5130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650169">
                  <a:extLst>
                    <a:ext uri="{9D8B030D-6E8A-4147-A177-3AD203B41FA5}">
                      <a16:colId xmlns:a16="http://schemas.microsoft.com/office/drawing/2014/main" xmlns="" val="3651334521"/>
                    </a:ext>
                  </a:extLst>
                </a:gridCol>
                <a:gridCol w="1604074">
                  <a:extLst>
                    <a:ext uri="{9D8B030D-6E8A-4147-A177-3AD203B41FA5}">
                      <a16:colId xmlns:a16="http://schemas.microsoft.com/office/drawing/2014/main" xmlns="" val="4153649020"/>
                    </a:ext>
                  </a:extLst>
                </a:gridCol>
                <a:gridCol w="5367450">
                  <a:extLst>
                    <a:ext uri="{9D8B030D-6E8A-4147-A177-3AD203B41FA5}">
                      <a16:colId xmlns:a16="http://schemas.microsoft.com/office/drawing/2014/main" xmlns="" val="3934052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97147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effectLst/>
                        </a:rPr>
                        <a:t>ConsiderWarningAsError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Warning health events are considered errors stopping the upgrade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54201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effectLst/>
                        </a:rPr>
                        <a:t>MaxPercentUnhealthyDeployedApplications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TODO: Max unhealthy before app is declared unhealthy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0325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effectLst/>
                        </a:rPr>
                        <a:t>MaxPercentUnhealthyServices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Max service instances unhealthy before app is declared unhealthy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85055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effectLst/>
                        </a:rPr>
                        <a:t>MaxPercentUnhealthyPartitionsPerService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Max partitions unhealthy before service</a:t>
                      </a:r>
                      <a:r>
                        <a:rPr lang="en-US" sz="1800" baseline="0" dirty="0"/>
                        <a:t> instance is declared unhealthy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5131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effectLst/>
                        </a:rPr>
                        <a:t>MaxPercentUnhealthyReplicasPerPartition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Max partition</a:t>
                      </a:r>
                      <a:r>
                        <a:rPr lang="en-US" sz="1800" baseline="0" dirty="0"/>
                        <a:t> replicas unhealthy before partition is declared unhealthy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6863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effectLst/>
                        </a:rPr>
                        <a:t>UpgradeReplicaSetCheckTimeout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Infinite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900 (rollback)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Stateless: How long SF waits for target instances before next UD</a:t>
                      </a:r>
                      <a:br>
                        <a:rPr lang="en-US" sz="1800" dirty="0"/>
                      </a:br>
                      <a:r>
                        <a:rPr lang="en-US" sz="1800" dirty="0" err="1"/>
                        <a:t>Stateful</a:t>
                      </a:r>
                      <a:r>
                        <a:rPr lang="en-US" sz="1800" dirty="0"/>
                        <a:t>:</a:t>
                      </a:r>
                      <a:r>
                        <a:rPr lang="en-US" sz="1800" baseline="0" dirty="0"/>
                        <a:t> How long SF waits for quorum before next UD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5639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effectLst/>
                        </a:rPr>
                        <a:t>ForceRestart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Forces service</a:t>
                      </a:r>
                      <a:r>
                        <a:rPr lang="en-US" sz="1800" baseline="0" dirty="0"/>
                        <a:t> restart when updating </a:t>
                      </a:r>
                      <a:r>
                        <a:rPr lang="en-US" sz="1800" baseline="0" dirty="0" err="1"/>
                        <a:t>config</a:t>
                      </a:r>
                      <a:r>
                        <a:rPr lang="en-US" sz="1800" baseline="0" dirty="0"/>
                        <a:t>/data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22998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153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Upgrading a</a:t>
            </a:r>
            <a:br>
              <a:rPr lang="en-US" dirty="0"/>
            </a:br>
            <a:r>
              <a:rPr lang="en-US" dirty="0"/>
              <a:t>Named Application</a:t>
            </a:r>
          </a:p>
        </p:txBody>
      </p:sp>
    </p:spTree>
    <p:extLst>
      <p:ext uri="{BB962C8B-B14F-4D97-AF65-F5344CB8AC3E}">
        <p14:creationId xmlns:p14="http://schemas.microsoft.com/office/powerpoint/2010/main" val="328026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521512"/>
          </a:xfrm>
        </p:spPr>
        <p:txBody>
          <a:bodyPr/>
          <a:lstStyle/>
          <a:p>
            <a:r>
              <a:rPr lang="en-US" dirty="0"/>
              <a:t>Get progress via </a:t>
            </a:r>
            <a:r>
              <a:rPr lang="en-US" dirty="0">
                <a:hlinkClick r:id="rId3"/>
              </a:rPr>
              <a:t>Get-</a:t>
            </a:r>
            <a:r>
              <a:rPr lang="en-US" dirty="0" err="1">
                <a:hlinkClick r:id="rId3"/>
              </a:rPr>
              <a:t>ServiceFabricApplicationUpgrade</a:t>
            </a:r>
            <a:endParaRPr lang="en-US" dirty="0"/>
          </a:p>
          <a:p>
            <a:pPr lvl="1"/>
            <a:r>
              <a:rPr lang="en-US" dirty="0"/>
              <a:t>Most problems are timing related</a:t>
            </a:r>
          </a:p>
          <a:p>
            <a:pPr lvl="2"/>
            <a:r>
              <a:rPr lang="en-US" dirty="0"/>
              <a:t>Instances/replicas not going down quickly</a:t>
            </a:r>
          </a:p>
          <a:p>
            <a:pPr lvl="2"/>
            <a:r>
              <a:rPr lang="en-US" dirty="0"/>
              <a:t>UDs not coming up in time</a:t>
            </a:r>
          </a:p>
          <a:p>
            <a:pPr lvl="2"/>
            <a:r>
              <a:rPr lang="en-US" dirty="0"/>
              <a:t>Failing health checks </a:t>
            </a:r>
          </a:p>
          <a:p>
            <a:r>
              <a:rPr lang="en-US" dirty="0"/>
              <a:t>If </a:t>
            </a:r>
            <a:r>
              <a:rPr lang="en-US" dirty="0" err="1"/>
              <a:t>FailureAction</a:t>
            </a:r>
            <a:r>
              <a:rPr lang="en-US" dirty="0"/>
              <a:t> is “Manual”, you can: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Optional: After all named apps upgrade, </a:t>
            </a:r>
            <a:br>
              <a:rPr lang="en-US" dirty="0"/>
            </a:br>
            <a:r>
              <a:rPr lang="en-US" dirty="0"/>
              <a:t>unregister old app type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Managing Named Application Upgrades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130261"/>
              </p:ext>
            </p:extLst>
          </p:nvPr>
        </p:nvGraphicFramePr>
        <p:xfrm>
          <a:off x="2295139" y="4039484"/>
          <a:ext cx="7601722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61018">
                  <a:extLst>
                    <a:ext uri="{9D8B030D-6E8A-4147-A177-3AD203B41FA5}">
                      <a16:colId xmlns:a16="http://schemas.microsoft.com/office/drawing/2014/main" xmlns="" val="3729476251"/>
                    </a:ext>
                  </a:extLst>
                </a:gridCol>
                <a:gridCol w="4540704">
                  <a:extLst>
                    <a:ext uri="{9D8B030D-6E8A-4147-A177-3AD203B41FA5}">
                      <a16:colId xmlns:a16="http://schemas.microsoft.com/office/drawing/2014/main" xmlns="" val="568007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PowerShell</a:t>
                      </a:r>
                      <a:r>
                        <a:rPr lang="en-US" sz="1800" baseline="0" dirty="0"/>
                        <a:t> Command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08556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Rollback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Start-</a:t>
                      </a:r>
                      <a:r>
                        <a:rPr lang="en-US" sz="1800" dirty="0" err="1"/>
                        <a:t>ServiceFabricApplicationRollback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63813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Start next 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Resume-</a:t>
                      </a:r>
                      <a:r>
                        <a:rPr lang="en-US" sz="1800" dirty="0" err="1"/>
                        <a:t>ServiceFabricApplicationUpgrade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1130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Resume monitored upgrade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Update-</a:t>
                      </a:r>
                      <a:r>
                        <a:rPr lang="en-US" sz="1800" dirty="0" err="1"/>
                        <a:t>ServiceFabricApplicationUpgrade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7389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696055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Updating a</a:t>
            </a:r>
            <a:br>
              <a:rPr lang="en-US"/>
            </a:br>
            <a:r>
              <a:rPr lang="en-US"/>
              <a:t>Named Service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51664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714589"/>
          </a:xfrm>
        </p:spPr>
        <p:txBody>
          <a:bodyPr/>
          <a:lstStyle/>
          <a:p>
            <a:r>
              <a:rPr lang="en-US" dirty="0">
                <a:hlinkClick r:id="rId2"/>
              </a:rPr>
              <a:t>Update-</a:t>
            </a:r>
            <a:r>
              <a:rPr lang="en-US" dirty="0" err="1">
                <a:hlinkClick r:id="rId2"/>
              </a:rPr>
              <a:t>ServiceFabricService</a:t>
            </a:r>
            <a:r>
              <a:rPr lang="en-US" dirty="0"/>
              <a:t> let’s you</a:t>
            </a:r>
          </a:p>
          <a:p>
            <a:pPr lvl="1"/>
            <a:r>
              <a:rPr lang="en-US" dirty="0"/>
              <a:t>Scale up/down by changing instance count</a:t>
            </a:r>
          </a:p>
          <a:p>
            <a:pPr lvl="1"/>
            <a:r>
              <a:rPr lang="en-US" dirty="0"/>
              <a:t>Report metric</a:t>
            </a:r>
          </a:p>
          <a:p>
            <a:pPr lvl="1"/>
            <a:r>
              <a:rPr lang="en-US" dirty="0"/>
              <a:t>Set Placement constraints and policy </a:t>
            </a:r>
          </a:p>
          <a:p>
            <a:pPr lvl="1"/>
            <a:r>
              <a:rPr lang="en-US" dirty="0"/>
              <a:t>Update a named service’s properties</a:t>
            </a:r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a Named Service</a:t>
            </a:r>
          </a:p>
        </p:txBody>
      </p:sp>
    </p:spTree>
    <p:extLst>
      <p:ext uri="{BB962C8B-B14F-4D97-AF65-F5344CB8AC3E}">
        <p14:creationId xmlns:p14="http://schemas.microsoft.com/office/powerpoint/2010/main" val="4098858529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240" y="1186356"/>
            <a:ext cx="7170265" cy="2179058"/>
          </a:xfrm>
        </p:spPr>
        <p:txBody>
          <a:bodyPr/>
          <a:lstStyle/>
          <a:p>
            <a:r>
              <a:rPr lang="en-US" dirty="0"/>
              <a:t>Updating a Named Service</a:t>
            </a:r>
          </a:p>
        </p:txBody>
      </p:sp>
    </p:spTree>
    <p:extLst>
      <p:ext uri="{BB962C8B-B14F-4D97-AF65-F5344CB8AC3E}">
        <p14:creationId xmlns:p14="http://schemas.microsoft.com/office/powerpoint/2010/main" val="15380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2622256"/>
          </a:xfrm>
        </p:spPr>
        <p:txBody>
          <a:bodyPr/>
          <a:lstStyle/>
          <a:p>
            <a:r>
              <a:rPr lang="en-US" dirty="0"/>
              <a:t>The Cluster</a:t>
            </a:r>
            <a:br>
              <a:rPr lang="en-US" dirty="0"/>
            </a:br>
            <a:r>
              <a:rPr lang="en-US" dirty="0"/>
              <a:t>Resource Manager</a:t>
            </a:r>
          </a:p>
        </p:txBody>
      </p:sp>
    </p:spTree>
    <p:extLst>
      <p:ext uri="{BB962C8B-B14F-4D97-AF65-F5344CB8AC3E}">
        <p14:creationId xmlns:p14="http://schemas.microsoft.com/office/powerpoint/2010/main" val="3822756241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4062651"/>
          </a:xfrm>
        </p:spPr>
        <p:txBody>
          <a:bodyPr/>
          <a:lstStyle/>
          <a:p>
            <a:r>
              <a:rPr lang="en-US" dirty="0"/>
              <a:t>Node Placement Properties &amp; Constraints</a:t>
            </a:r>
          </a:p>
          <a:p>
            <a:pPr lvl="1"/>
            <a:r>
              <a:rPr lang="en-US" dirty="0"/>
              <a:t>Apply placement properties to </a:t>
            </a:r>
            <a:r>
              <a:rPr lang="en-US" b="1" i="1" dirty="0"/>
              <a:t>all </a:t>
            </a:r>
            <a:r>
              <a:rPr lang="en-US" dirty="0"/>
              <a:t>nodes indicating </a:t>
            </a:r>
            <a:r>
              <a:rPr lang="en-US" b="1" i="1" dirty="0"/>
              <a:t>type of </a:t>
            </a:r>
            <a:r>
              <a:rPr lang="en-US" dirty="0"/>
              <a:t>RAM, disk, etc.</a:t>
            </a:r>
          </a:p>
          <a:p>
            <a:pPr lvl="1"/>
            <a:r>
              <a:rPr lang="en-US" dirty="0"/>
              <a:t>Apply placement constraint when starting/updating a named service</a:t>
            </a:r>
            <a:br>
              <a:rPr lang="en-US" dirty="0"/>
            </a:br>
            <a:endParaRPr lang="en-US" dirty="0"/>
          </a:p>
          <a:p>
            <a:r>
              <a:rPr lang="en-US" dirty="0"/>
              <a:t>Node Capacities &amp; Service Load Metric Values</a:t>
            </a:r>
          </a:p>
          <a:p>
            <a:pPr lvl="1"/>
            <a:r>
              <a:rPr lang="en-US" dirty="0"/>
              <a:t>Apply capacity limits to </a:t>
            </a:r>
            <a:r>
              <a:rPr lang="en-US" b="1" i="1" dirty="0"/>
              <a:t>desired </a:t>
            </a:r>
            <a:r>
              <a:rPr lang="en-US" dirty="0"/>
              <a:t>nodes indicating </a:t>
            </a:r>
            <a:r>
              <a:rPr lang="en-US" b="1" i="1" dirty="0"/>
              <a:t>size of </a:t>
            </a:r>
            <a:r>
              <a:rPr lang="en-US" dirty="0"/>
              <a:t>RAM, disk, etc.</a:t>
            </a:r>
          </a:p>
          <a:p>
            <a:pPr lvl="1"/>
            <a:r>
              <a:rPr lang="en-US" dirty="0"/>
              <a:t>Specify metrics to balance &amp; default load in ServiceManifest.xml</a:t>
            </a:r>
          </a:p>
          <a:p>
            <a:pPr lvl="2"/>
            <a:r>
              <a:rPr lang="en-US" dirty="0"/>
              <a:t>Override default load when starting/updating a named service</a:t>
            </a:r>
          </a:p>
          <a:p>
            <a:pPr lvl="1"/>
            <a:r>
              <a:rPr lang="en-US" dirty="0"/>
              <a:t>A named service instance can report load dynamically with SF </a:t>
            </a:r>
            <a:r>
              <a:rPr lang="en-US" dirty="0" err="1"/>
              <a:t>prg</a:t>
            </a:r>
            <a:r>
              <a:rPr lang="en-US" dirty="0"/>
              <a:t> models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Placement Properties &amp; Capacities</a:t>
            </a:r>
          </a:p>
        </p:txBody>
      </p:sp>
    </p:spTree>
    <p:extLst>
      <p:ext uri="{BB962C8B-B14F-4D97-AF65-F5344CB8AC3E}">
        <p14:creationId xmlns:p14="http://schemas.microsoft.com/office/powerpoint/2010/main" val="3311972166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4524315"/>
          </a:xfrm>
        </p:spPr>
        <p:txBody>
          <a:bodyPr/>
          <a:lstStyle/>
          <a:p>
            <a:r>
              <a:rPr lang="en-US" dirty="0"/>
              <a:t>Lets you constrain instances to nodes with specific values</a:t>
            </a:r>
          </a:p>
          <a:p>
            <a:pPr lvl="1"/>
            <a:r>
              <a:rPr lang="en-US" dirty="0"/>
              <a:t>Hardware: </a:t>
            </a:r>
            <a:r>
              <a:rPr lang="en-US" i="1" dirty="0"/>
              <a:t>Type of </a:t>
            </a:r>
            <a:r>
              <a:rPr lang="en-US" dirty="0"/>
              <a:t>CPU, RAM, disk, network, GPU, etc.</a:t>
            </a:r>
          </a:p>
          <a:p>
            <a:pPr lvl="1"/>
            <a:r>
              <a:rPr lang="en-US" dirty="0"/>
              <a:t>Other: Geolocation, network access/DMZ</a:t>
            </a:r>
          </a:p>
          <a:p>
            <a:r>
              <a:rPr lang="en-US" dirty="0"/>
              <a:t>You should set properties on all nodes via </a:t>
            </a:r>
            <a:br>
              <a:rPr lang="en-US" dirty="0"/>
            </a:br>
            <a:r>
              <a:rPr lang="en-US" dirty="0"/>
              <a:t>Azure ARM or ClusterManifest.xml</a:t>
            </a:r>
          </a:p>
          <a:p>
            <a:pPr marL="560241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&lt;Property Name="Continent" Value="Americas"/&gt; </a:t>
            </a:r>
            <a:r>
              <a:rPr lang="en-US" dirty="0">
                <a:solidFill>
                  <a:schemeClr val="tx2"/>
                </a:solidFill>
                <a:sym typeface="Wingdings" panose="05000000000000000000" pitchFamily="2" charset="2"/>
              </a:rPr>
              <a:t> (</a:t>
            </a:r>
            <a:r>
              <a:rPr lang="en-US" dirty="0">
                <a:solidFill>
                  <a:schemeClr val="tx2"/>
                </a:solidFill>
              </a:rPr>
              <a:t>string/double)</a:t>
            </a:r>
          </a:p>
          <a:p>
            <a:r>
              <a:rPr lang="en-US" dirty="0"/>
              <a:t>Apply constraint via ServiceManifest.xml or</a:t>
            </a:r>
            <a:br>
              <a:rPr lang="en-US" dirty="0"/>
            </a:br>
            <a:r>
              <a:rPr lang="en-US" dirty="0">
                <a:hlinkClick r:id="rId3"/>
              </a:rPr>
              <a:t>New</a:t>
            </a:r>
            <a:r>
              <a:rPr lang="en-US" dirty="0"/>
              <a:t>/</a:t>
            </a:r>
            <a:r>
              <a:rPr lang="en-US" dirty="0">
                <a:hlinkClick r:id="rId4"/>
              </a:rPr>
              <a:t>Update</a:t>
            </a:r>
            <a:r>
              <a:rPr lang="en-US" dirty="0"/>
              <a:t>-</a:t>
            </a:r>
            <a:r>
              <a:rPr lang="en-US" dirty="0" err="1"/>
              <a:t>ServiceFabricService</a:t>
            </a:r>
            <a:endParaRPr lang="en-US" dirty="0"/>
          </a:p>
          <a:p>
            <a:pPr marL="5715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"(Constraint == Americas) &amp;&amp; (</a:t>
            </a:r>
            <a:r>
              <a:rPr lang="en-US" dirty="0" err="1">
                <a:latin typeface="Consolas" panose="020B0609020204030204" pitchFamily="49" charset="0"/>
              </a:rPr>
              <a:t>FrontEnd</a:t>
            </a:r>
            <a:r>
              <a:rPr lang="en-US" dirty="0">
                <a:latin typeface="Consolas" panose="020B0609020204030204" pitchFamily="49" charset="0"/>
              </a:rPr>
              <a:t> == false)"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Node Placement Properties &amp; Constraints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384145" y="2018521"/>
            <a:ext cx="2013527" cy="1633068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6637" rIns="45720" bIns="46637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b="1" dirty="0"/>
              <a:t>Predefined: </a:t>
            </a:r>
            <a:r>
              <a:rPr lang="en-US" dirty="0" err="1"/>
              <a:t>NodeType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NodeName</a:t>
            </a:r>
            <a:r>
              <a:rPr lang="en-US" dirty="0"/>
              <a:t> </a:t>
            </a:r>
            <a:r>
              <a:rPr lang="en-US" dirty="0" err="1"/>
              <a:t>FaultDomain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UpgradeDomain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9136170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4930581"/>
          </a:xfrm>
        </p:spPr>
        <p:txBody>
          <a:bodyPr/>
          <a:lstStyle/>
          <a:p>
            <a:r>
              <a:rPr lang="en-US" dirty="0"/>
              <a:t>Set resource limits (</a:t>
            </a:r>
            <a:r>
              <a:rPr lang="en-US" i="1" dirty="0"/>
              <a:t>size of </a:t>
            </a:r>
            <a:r>
              <a:rPr lang="en-US" dirty="0"/>
              <a:t>disk, RAM, etc.) on desired</a:t>
            </a:r>
            <a:br>
              <a:rPr lang="en-US" dirty="0"/>
            </a:br>
            <a:r>
              <a:rPr lang="en-US" dirty="0"/>
              <a:t>nodes via Azure ARM or ClusterManifest.xml</a:t>
            </a:r>
          </a:p>
          <a:p>
            <a:pPr marL="62865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&lt;Capacity Name="Disk" Value="100"/&gt;  </a:t>
            </a:r>
            <a:r>
              <a:rPr lang="en-US" dirty="0">
                <a:solidFill>
                  <a:schemeClr val="tx2"/>
                </a:solidFill>
                <a:sym typeface="Wingdings" panose="05000000000000000000" pitchFamily="2" charset="2"/>
              </a:rPr>
              <a:t> (</a:t>
            </a:r>
            <a:r>
              <a:rPr lang="en-US" dirty="0" err="1">
                <a:solidFill>
                  <a:schemeClr val="tx2"/>
                </a:solidFill>
              </a:rPr>
              <a:t>int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r>
              <a:rPr lang="en-US" dirty="0"/>
              <a:t>Specify metrics to balance &amp; default load values via ServiceManifest.xml</a:t>
            </a:r>
          </a:p>
          <a:p>
            <a:pPr marL="62865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LoadMetric</a:t>
            </a:r>
            <a:r>
              <a:rPr lang="en-US" dirty="0">
                <a:latin typeface="Consolas" panose="020B0609020204030204" pitchFamily="49" charset="0"/>
              </a:rPr>
              <a:t> Name="Disk" Weight="High" </a:t>
            </a:r>
            <a:r>
              <a:rPr lang="en-US" dirty="0" err="1">
                <a:latin typeface="Consolas" panose="020B0609020204030204" pitchFamily="49" charset="0"/>
              </a:rPr>
              <a:t>DefaultLoad</a:t>
            </a:r>
            <a:r>
              <a:rPr lang="en-US" dirty="0">
                <a:latin typeface="Consolas" panose="020B0609020204030204" pitchFamily="49" charset="0"/>
              </a:rPr>
              <a:t>="50"/&gt;</a:t>
            </a:r>
          </a:p>
          <a:p>
            <a:r>
              <a:rPr lang="en-US" dirty="0"/>
              <a:t>Override for a named service via </a:t>
            </a:r>
            <a:r>
              <a:rPr lang="en-US" dirty="0">
                <a:hlinkClick r:id="rId3"/>
              </a:rPr>
              <a:t>New</a:t>
            </a:r>
            <a:r>
              <a:rPr lang="en-US" dirty="0"/>
              <a:t>/</a:t>
            </a:r>
            <a:r>
              <a:rPr lang="en-US" dirty="0">
                <a:hlinkClick r:id="rId4"/>
              </a:rPr>
              <a:t>Update</a:t>
            </a:r>
            <a:r>
              <a:rPr lang="en-US" dirty="0"/>
              <a:t>-</a:t>
            </a:r>
            <a:r>
              <a:rPr lang="en-US" dirty="0" err="1"/>
              <a:t>SFService</a:t>
            </a:r>
            <a:endParaRPr lang="en-US" dirty="0"/>
          </a:p>
          <a:p>
            <a:pPr lvl="1"/>
            <a:r>
              <a:rPr lang="en-US" dirty="0"/>
              <a:t>Name, Weight (Importance: Zero, Low, Medium, High), Instances’ value</a:t>
            </a:r>
          </a:p>
          <a:p>
            <a:pPr marL="62865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@("Disk,High,75", …)</a:t>
            </a:r>
          </a:p>
          <a:p>
            <a:pPr lvl="1"/>
            <a:r>
              <a:rPr lang="en-US" dirty="0"/>
              <a:t>SF </a:t>
            </a:r>
            <a:r>
              <a:rPr lang="en-US" dirty="0" err="1"/>
              <a:t>prg</a:t>
            </a:r>
            <a:r>
              <a:rPr lang="en-US" dirty="0"/>
              <a:t> models: code calls </a:t>
            </a:r>
            <a:r>
              <a:rPr lang="en-US" dirty="0" err="1">
                <a:hlinkClick r:id="rId5"/>
              </a:rPr>
              <a:t>ReportLoad</a:t>
            </a:r>
            <a:r>
              <a:rPr lang="en-US" dirty="0"/>
              <a:t> to update instance’s values dynamically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Capacities &amp; Service Load Metric Values</a:t>
            </a:r>
          </a:p>
        </p:txBody>
      </p:sp>
    </p:spTree>
    <p:extLst>
      <p:ext uri="{BB962C8B-B14F-4D97-AF65-F5344CB8AC3E}">
        <p14:creationId xmlns:p14="http://schemas.microsoft.com/office/powerpoint/2010/main" val="2375088276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240" y="236171"/>
            <a:ext cx="11655840" cy="899665"/>
          </a:xfrm>
        </p:spPr>
        <p:txBody>
          <a:bodyPr/>
          <a:lstStyle/>
          <a:p>
            <a:r>
              <a:rPr lang="en-US" dirty="0"/>
              <a:t>DEMO: Cluster Resource Manager</a:t>
            </a:r>
          </a:p>
        </p:txBody>
      </p:sp>
      <p:sp>
        <p:nvSpPr>
          <p:cNvPr id="64" name="Rectangle 63"/>
          <p:cNvSpPr/>
          <p:nvPr/>
        </p:nvSpPr>
        <p:spPr bwMode="auto">
          <a:xfrm>
            <a:off x="2082147" y="1401850"/>
            <a:ext cx="9936480" cy="5266805"/>
          </a:xfrm>
          <a:prstGeom prst="rect">
            <a:avLst/>
          </a:prstGeom>
          <a:gradFill flip="none" rotWithShape="1">
            <a:gsLst>
              <a:gs pos="0">
                <a:srgbClr val="70AD47">
                  <a:lumMod val="40000"/>
                  <a:lumOff val="60000"/>
                </a:srgbClr>
              </a:gs>
              <a:gs pos="46000">
                <a:srgbClr val="70AD47">
                  <a:lumMod val="95000"/>
                  <a:lumOff val="5000"/>
                </a:srgbClr>
              </a:gs>
              <a:gs pos="100000">
                <a:srgbClr val="70AD47">
                  <a:lumMod val="60000"/>
                </a:srgb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ysClr val="windowText" lastClr="000000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Segoe UI" panose="020B0502040204020203" pitchFamily="34" charset="0"/>
              </a:rPr>
              <a:t>12 Node Cluster</a:t>
            </a:r>
            <a:b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Segoe UI" panose="020B0502040204020203" pitchFamily="34" charset="0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Segoe UI" panose="020B0502040204020203" pitchFamily="34" charset="0"/>
              </a:rPr>
              <a:t>6 in America, 6 in Europe; 2 FE &amp; 4 BE in each Datacenter</a:t>
            </a:r>
          </a:p>
        </p:txBody>
      </p:sp>
      <p:sp>
        <p:nvSpPr>
          <p:cNvPr id="65" name="Rectangle 64"/>
          <p:cNvSpPr/>
          <p:nvPr/>
        </p:nvSpPr>
        <p:spPr bwMode="auto">
          <a:xfrm>
            <a:off x="2312985" y="2184036"/>
            <a:ext cx="2152579" cy="1077218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89000"/>
                </a:srgbClr>
              </a:gs>
              <a:gs pos="23000">
                <a:srgbClr val="4472C4">
                  <a:lumMod val="89000"/>
                </a:srgbClr>
              </a:gs>
              <a:gs pos="69000">
                <a:srgbClr val="4472C4">
                  <a:lumMod val="75000"/>
                </a:srgbClr>
              </a:gs>
              <a:gs pos="97000">
                <a:srgbClr val="4472C4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#1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Continent:	America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FrontEnd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:	true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Disk:	100GB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2312983" y="3869693"/>
            <a:ext cx="2152579" cy="1077218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89000"/>
                </a:srgbClr>
              </a:gs>
              <a:gs pos="23000">
                <a:srgbClr val="4472C4">
                  <a:lumMod val="89000"/>
                </a:srgbClr>
              </a:gs>
              <a:gs pos="69000">
                <a:srgbClr val="4472C4">
                  <a:lumMod val="75000"/>
                </a:srgbClr>
              </a:gs>
              <a:gs pos="97000">
                <a:srgbClr val="4472C4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#3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Continent:	America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FrontEnd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:	false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Disk:	100GB</a:t>
            </a:r>
          </a:p>
        </p:txBody>
      </p:sp>
      <p:sp>
        <p:nvSpPr>
          <p:cNvPr id="67" name="Rectangle 66"/>
          <p:cNvSpPr/>
          <p:nvPr/>
        </p:nvSpPr>
        <p:spPr bwMode="auto">
          <a:xfrm>
            <a:off x="4754922" y="2174216"/>
            <a:ext cx="2152579" cy="1077218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89000"/>
                </a:srgbClr>
              </a:gs>
              <a:gs pos="23000">
                <a:srgbClr val="4472C4">
                  <a:lumMod val="89000"/>
                </a:srgbClr>
              </a:gs>
              <a:gs pos="69000">
                <a:srgbClr val="4472C4">
                  <a:lumMod val="75000"/>
                </a:srgbClr>
              </a:gs>
              <a:gs pos="97000">
                <a:srgbClr val="4472C4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#2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Continent:	America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FrontEnd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:	true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Disk:	100GB</a:t>
            </a:r>
          </a:p>
        </p:txBody>
      </p:sp>
      <p:sp>
        <p:nvSpPr>
          <p:cNvPr id="68" name="Rectangle 67"/>
          <p:cNvSpPr/>
          <p:nvPr/>
        </p:nvSpPr>
        <p:spPr bwMode="auto">
          <a:xfrm>
            <a:off x="7211940" y="2119433"/>
            <a:ext cx="2152579" cy="120642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lin ang="13500000" scaled="1"/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#7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Continent:	Europe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FrontEnd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:	true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Disk:	100GB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9624453" y="2109613"/>
            <a:ext cx="2152579" cy="120642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lin ang="13500000" scaled="1"/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#8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Continent:	Europe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FrontEnd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:	true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Disk:	100GB</a:t>
            </a:r>
          </a:p>
        </p:txBody>
      </p:sp>
      <p:sp>
        <p:nvSpPr>
          <p:cNvPr id="70" name="Rectangle 69"/>
          <p:cNvSpPr/>
          <p:nvPr/>
        </p:nvSpPr>
        <p:spPr bwMode="auto">
          <a:xfrm>
            <a:off x="4725496" y="3853763"/>
            <a:ext cx="2152579" cy="1077218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89000"/>
                </a:srgbClr>
              </a:gs>
              <a:gs pos="23000">
                <a:srgbClr val="4472C4">
                  <a:lumMod val="89000"/>
                </a:srgbClr>
              </a:gs>
              <a:gs pos="69000">
                <a:srgbClr val="4472C4">
                  <a:lumMod val="75000"/>
                </a:srgbClr>
              </a:gs>
              <a:gs pos="97000">
                <a:srgbClr val="4472C4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#4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Continent:	America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FrontEnd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:	false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Disk:	100GB</a:t>
            </a:r>
          </a:p>
        </p:txBody>
      </p:sp>
      <p:sp>
        <p:nvSpPr>
          <p:cNvPr id="71" name="Rectangle 70"/>
          <p:cNvSpPr/>
          <p:nvPr/>
        </p:nvSpPr>
        <p:spPr bwMode="auto">
          <a:xfrm>
            <a:off x="7211940" y="3807157"/>
            <a:ext cx="2152579" cy="120642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lin ang="13500000" scaled="1"/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#9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Continent:	Europe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FrontEnd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:	false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Disk:	100GB</a:t>
            </a:r>
          </a:p>
        </p:txBody>
      </p:sp>
      <p:sp>
        <p:nvSpPr>
          <p:cNvPr id="72" name="Rectangle 71"/>
          <p:cNvSpPr/>
          <p:nvPr/>
        </p:nvSpPr>
        <p:spPr bwMode="auto">
          <a:xfrm>
            <a:off x="9624454" y="3827940"/>
            <a:ext cx="2152579" cy="107721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lin ang="13500000" scaled="1"/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#10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Continent:	Europe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FrontEnd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:	false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Disk:	100GB</a:t>
            </a:r>
          </a:p>
        </p:txBody>
      </p:sp>
      <p:sp>
        <p:nvSpPr>
          <p:cNvPr id="73" name="Rectangle 72"/>
          <p:cNvSpPr/>
          <p:nvPr/>
        </p:nvSpPr>
        <p:spPr bwMode="auto">
          <a:xfrm>
            <a:off x="2306323" y="5289984"/>
            <a:ext cx="2152579" cy="1077218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89000"/>
                </a:srgbClr>
              </a:gs>
              <a:gs pos="23000">
                <a:srgbClr val="4472C4">
                  <a:lumMod val="89000"/>
                </a:srgbClr>
              </a:gs>
              <a:gs pos="69000">
                <a:srgbClr val="4472C4">
                  <a:lumMod val="75000"/>
                </a:srgbClr>
              </a:gs>
              <a:gs pos="97000">
                <a:srgbClr val="4472C4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#5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Continent:	America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FrontEnd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:	false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Disk:	100GB</a:t>
            </a:r>
          </a:p>
        </p:txBody>
      </p:sp>
      <p:sp>
        <p:nvSpPr>
          <p:cNvPr id="74" name="Rectangle 73"/>
          <p:cNvSpPr/>
          <p:nvPr/>
        </p:nvSpPr>
        <p:spPr bwMode="auto">
          <a:xfrm>
            <a:off x="4728342" y="5289984"/>
            <a:ext cx="2152579" cy="1077218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89000"/>
                </a:srgbClr>
              </a:gs>
              <a:gs pos="23000">
                <a:srgbClr val="4472C4">
                  <a:lumMod val="89000"/>
                </a:srgbClr>
              </a:gs>
              <a:gs pos="69000">
                <a:srgbClr val="4472C4">
                  <a:lumMod val="75000"/>
                </a:srgbClr>
              </a:gs>
              <a:gs pos="97000">
                <a:srgbClr val="4472C4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#6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Continent:	America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FrontEnd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:	false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Disk:	100GB</a:t>
            </a:r>
          </a:p>
        </p:txBody>
      </p:sp>
      <p:sp>
        <p:nvSpPr>
          <p:cNvPr id="75" name="Rectangle 74"/>
          <p:cNvSpPr/>
          <p:nvPr/>
        </p:nvSpPr>
        <p:spPr bwMode="auto">
          <a:xfrm>
            <a:off x="7211941" y="5222338"/>
            <a:ext cx="2152579" cy="120642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lin ang="13500000" scaled="1"/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#11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Continent:	Europe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FrontEnd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:	false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Disk:	100GB</a:t>
            </a:r>
          </a:p>
        </p:txBody>
      </p:sp>
      <p:sp>
        <p:nvSpPr>
          <p:cNvPr id="76" name="Rectangle 75"/>
          <p:cNvSpPr/>
          <p:nvPr/>
        </p:nvSpPr>
        <p:spPr bwMode="auto">
          <a:xfrm>
            <a:off x="9633960" y="5222338"/>
            <a:ext cx="2152579" cy="120642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lin ang="13500000" scaled="1"/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#12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Continent:	Europe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FrontEnd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:	false</a:t>
            </a:r>
          </a:p>
          <a:p>
            <a:pPr marL="0" marR="0" lvl="0" indent="0" defTabSz="10271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Disk:	100GB</a:t>
            </a:r>
          </a:p>
        </p:txBody>
      </p:sp>
      <p:sp>
        <p:nvSpPr>
          <p:cNvPr id="77" name="Regular Pentagon 76"/>
          <p:cNvSpPr/>
          <p:nvPr/>
        </p:nvSpPr>
        <p:spPr>
          <a:xfrm>
            <a:off x="2529663" y="2004544"/>
            <a:ext cx="385894" cy="342784"/>
          </a:xfrm>
          <a:prstGeom prst="pentagon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78" name="Regular Pentagon 77"/>
          <p:cNvSpPr/>
          <p:nvPr/>
        </p:nvSpPr>
        <p:spPr>
          <a:xfrm>
            <a:off x="6341663" y="3656675"/>
            <a:ext cx="385894" cy="342784"/>
          </a:xfrm>
          <a:prstGeom prst="pentagon">
            <a:avLst/>
          </a:prstGeom>
          <a:solidFill>
            <a:srgbClr val="FF0000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79" name="Regular Pentagon 78"/>
          <p:cNvSpPr/>
          <p:nvPr/>
        </p:nvSpPr>
        <p:spPr>
          <a:xfrm>
            <a:off x="2561989" y="3662500"/>
            <a:ext cx="385894" cy="342784"/>
          </a:xfrm>
          <a:prstGeom prst="pentagon">
            <a:avLst/>
          </a:prstGeom>
          <a:solidFill>
            <a:srgbClr val="00B0F0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80" name="Regular Pentagon 79"/>
          <p:cNvSpPr/>
          <p:nvPr/>
        </p:nvSpPr>
        <p:spPr>
          <a:xfrm>
            <a:off x="4935727" y="1993090"/>
            <a:ext cx="385894" cy="342784"/>
          </a:xfrm>
          <a:prstGeom prst="pentagon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81" name="Regular Pentagon 80"/>
          <p:cNvSpPr/>
          <p:nvPr/>
        </p:nvSpPr>
        <p:spPr>
          <a:xfrm>
            <a:off x="7497520" y="1991089"/>
            <a:ext cx="385894" cy="342784"/>
          </a:xfrm>
          <a:prstGeom prst="pentagon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82" name="Regular Pentagon 81"/>
          <p:cNvSpPr/>
          <p:nvPr/>
        </p:nvSpPr>
        <p:spPr>
          <a:xfrm>
            <a:off x="9883437" y="1948632"/>
            <a:ext cx="385894" cy="342784"/>
          </a:xfrm>
          <a:prstGeom prst="pentagon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83" name="Regular Pentagon 82"/>
          <p:cNvSpPr/>
          <p:nvPr/>
        </p:nvSpPr>
        <p:spPr>
          <a:xfrm>
            <a:off x="4968474" y="3656675"/>
            <a:ext cx="385894" cy="342784"/>
          </a:xfrm>
          <a:prstGeom prst="pentagon">
            <a:avLst/>
          </a:prstGeom>
          <a:solidFill>
            <a:srgbClr val="00B0F0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84" name="Regular Pentagon 83"/>
          <p:cNvSpPr/>
          <p:nvPr/>
        </p:nvSpPr>
        <p:spPr>
          <a:xfrm>
            <a:off x="2534466" y="5103748"/>
            <a:ext cx="385894" cy="342784"/>
          </a:xfrm>
          <a:prstGeom prst="pentagon">
            <a:avLst/>
          </a:prstGeom>
          <a:solidFill>
            <a:srgbClr val="00B0F0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85" name="Regular Pentagon 84"/>
          <p:cNvSpPr/>
          <p:nvPr/>
        </p:nvSpPr>
        <p:spPr>
          <a:xfrm>
            <a:off x="3869352" y="5077221"/>
            <a:ext cx="385894" cy="342784"/>
          </a:xfrm>
          <a:prstGeom prst="pentagon">
            <a:avLst/>
          </a:prstGeom>
          <a:solidFill>
            <a:srgbClr val="FF0000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86" name="Regular Pentagon 85"/>
          <p:cNvSpPr/>
          <p:nvPr/>
        </p:nvSpPr>
        <p:spPr>
          <a:xfrm>
            <a:off x="6380633" y="5077221"/>
            <a:ext cx="385894" cy="342784"/>
          </a:xfrm>
          <a:prstGeom prst="pentagon">
            <a:avLst/>
          </a:prstGeom>
          <a:solidFill>
            <a:srgbClr val="FF0000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903" y="2109613"/>
            <a:ext cx="16993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/>
              </a:rPr>
              <a:t>4 Instances, FE=true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/>
              </a:rPr>
              <a:t>3 Instances,</a:t>
            </a:r>
            <a:br>
              <a:rPr lang="en-US" dirty="0">
                <a:latin typeface="Calibri" panose="020F0502020204030204"/>
              </a:rPr>
            </a:br>
            <a:r>
              <a:rPr lang="en-US" dirty="0">
                <a:latin typeface="Calibri" panose="020F0502020204030204"/>
              </a:rPr>
              <a:t>C=America,</a:t>
            </a:r>
            <a:br>
              <a:rPr lang="en-US" dirty="0">
                <a:latin typeface="Calibri" panose="020F0502020204030204"/>
              </a:rPr>
            </a:br>
            <a:r>
              <a:rPr lang="en-US" dirty="0">
                <a:latin typeface="Calibri" panose="020F0502020204030204"/>
              </a:rPr>
              <a:t>FE=false</a:t>
            </a:r>
            <a:br>
              <a:rPr lang="en-US" dirty="0">
                <a:latin typeface="Calibri" panose="020F0502020204030204"/>
              </a:rPr>
            </a:br>
            <a:r>
              <a:rPr lang="en-US" dirty="0">
                <a:latin typeface="Calibri" panose="020F0502020204030204"/>
              </a:rPr>
              <a:t>D=50GB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/>
              </a:rPr>
              <a:t>3 Instances,</a:t>
            </a:r>
            <a:r>
              <a:rPr lang="en-US">
                <a:latin typeface="Calibri" panose="020F0502020204030204"/>
              </a:rPr>
              <a:t/>
            </a:r>
            <a:br>
              <a:rPr lang="en-US">
                <a:latin typeface="Calibri" panose="020F0502020204030204"/>
              </a:rPr>
            </a:br>
            <a:r>
              <a:rPr lang="en-US">
                <a:latin typeface="Calibri" panose="020F0502020204030204"/>
              </a:rPr>
              <a:t>C=America,</a:t>
            </a:r>
            <a:r>
              <a:rPr lang="en-US" dirty="0">
                <a:latin typeface="Calibri" panose="020F0502020204030204"/>
              </a:rPr>
              <a:t/>
            </a:r>
            <a:br>
              <a:rPr lang="en-US" dirty="0">
                <a:latin typeface="Calibri" panose="020F0502020204030204"/>
              </a:rPr>
            </a:br>
            <a:r>
              <a:rPr lang="en-US" dirty="0">
                <a:latin typeface="Calibri" panose="020F0502020204030204"/>
              </a:rPr>
              <a:t>FE=false,</a:t>
            </a:r>
            <a:br>
              <a:rPr lang="en-US" dirty="0">
                <a:latin typeface="Calibri" panose="020F0502020204030204"/>
              </a:rPr>
            </a:br>
            <a:r>
              <a:rPr lang="en-US" dirty="0">
                <a:latin typeface="Calibri" panose="020F0502020204030204"/>
              </a:rPr>
              <a:t>D=50GB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/>
              </a:rPr>
              <a:t>D=100GB</a:t>
            </a:r>
          </a:p>
        </p:txBody>
      </p:sp>
      <p:sp>
        <p:nvSpPr>
          <p:cNvPr id="88" name="Regular Pentagon 87"/>
          <p:cNvSpPr/>
          <p:nvPr/>
        </p:nvSpPr>
        <p:spPr>
          <a:xfrm>
            <a:off x="175159" y="2109613"/>
            <a:ext cx="385894" cy="342784"/>
          </a:xfrm>
          <a:prstGeom prst="pentagon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Regular Pentagon 88"/>
          <p:cNvSpPr/>
          <p:nvPr/>
        </p:nvSpPr>
        <p:spPr>
          <a:xfrm>
            <a:off x="195699" y="2962842"/>
            <a:ext cx="385894" cy="342784"/>
          </a:xfrm>
          <a:prstGeom prst="pentagon">
            <a:avLst/>
          </a:prstGeom>
          <a:solidFill>
            <a:srgbClr val="00B0F0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Regular Pentagon 89"/>
          <p:cNvSpPr/>
          <p:nvPr/>
        </p:nvSpPr>
        <p:spPr>
          <a:xfrm>
            <a:off x="195699" y="4285529"/>
            <a:ext cx="385894" cy="342784"/>
          </a:xfrm>
          <a:prstGeom prst="pentagon">
            <a:avLst/>
          </a:prstGeom>
          <a:solidFill>
            <a:srgbClr val="FF0000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Regular Pentagon 90"/>
          <p:cNvSpPr/>
          <p:nvPr/>
        </p:nvSpPr>
        <p:spPr>
          <a:xfrm>
            <a:off x="195699" y="5654553"/>
            <a:ext cx="385894" cy="342784"/>
          </a:xfrm>
          <a:prstGeom prst="pentagon">
            <a:avLst/>
          </a:prstGeom>
          <a:solidFill>
            <a:srgbClr val="00B0F0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2306323" y="3552502"/>
            <a:ext cx="9480216" cy="34570"/>
          </a:xfrm>
          <a:prstGeom prst="line">
            <a:avLst/>
          </a:prstGeom>
          <a:ln w="25400">
            <a:solidFill>
              <a:schemeClr val="bg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1966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2000" fill="hold"/>
                                        <p:tgtEl>
                                          <p:spTgt spid="8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2.22222E-6 L 0.00222 -0.20764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10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4" grpId="1" animBg="1"/>
      <p:bldP spid="85" grpId="0" animBg="1"/>
      <p:bldP spid="85" grpId="1" animBg="1"/>
      <p:bldP spid="8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5834107" cy="2511457"/>
          </a:xfrm>
        </p:spPr>
        <p:txBody>
          <a:bodyPr/>
          <a:lstStyle/>
          <a:p>
            <a:r>
              <a:rPr lang="en-US" dirty="0"/>
              <a:t>Virtual IP: Public IP (1 per VNET; dynamic or 5 static) </a:t>
            </a:r>
          </a:p>
          <a:p>
            <a:r>
              <a:rPr lang="en-US" dirty="0"/>
              <a:t>Dynamic IP: Per-VM’s NIC(s), assigned by VNET </a:t>
            </a:r>
            <a:r>
              <a:rPr lang="en-US" dirty="0" err="1"/>
              <a:t>submask</a:t>
            </a:r>
            <a:endParaRPr lang="en-US" dirty="0"/>
          </a:p>
          <a:p>
            <a:r>
              <a:rPr lang="en-US" dirty="0"/>
              <a:t>Public Instance-level IP: Internet </a:t>
            </a:r>
            <a:r>
              <a:rPr lang="en-US" dirty="0">
                <a:sym typeface="Wingdings" panose="05000000000000000000" pitchFamily="2" charset="2"/>
              </a:rPr>
              <a:t> VM instance (no LB)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VIPs, DIPS, and PIPs</a:t>
            </a:r>
          </a:p>
        </p:txBody>
      </p:sp>
      <p:sp>
        <p:nvSpPr>
          <p:cNvPr id="64" name="Rectangle 63"/>
          <p:cNvSpPr/>
          <p:nvPr/>
        </p:nvSpPr>
        <p:spPr bwMode="auto">
          <a:xfrm>
            <a:off x="8921097" y="2066925"/>
            <a:ext cx="2756553" cy="3724275"/>
          </a:xfrm>
          <a:prstGeom prst="rect">
            <a:avLst/>
          </a:prstGeom>
          <a:gradFill flip="none" rotWithShape="1">
            <a:gsLst>
              <a:gs pos="0">
                <a:srgbClr val="70AD47">
                  <a:lumMod val="40000"/>
                  <a:lumOff val="60000"/>
                </a:srgbClr>
              </a:gs>
              <a:gs pos="46000">
                <a:srgbClr val="70AD47">
                  <a:lumMod val="95000"/>
                  <a:lumOff val="5000"/>
                </a:srgbClr>
              </a:gs>
              <a:gs pos="100000">
                <a:srgbClr val="70AD47">
                  <a:lumMod val="60000"/>
                </a:srgbClr>
              </a:gs>
            </a:gsLst>
            <a:path path="circle">
              <a:fillToRect l="50000" t="130000" r="50000" b="-30000"/>
            </a:path>
            <a:tileRect/>
          </a:gradFill>
          <a:ln w="19050" cap="flat" cmpd="sng" algn="ctr">
            <a:solidFill>
              <a:sysClr val="windowText" lastClr="000000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45720" tIns="45720" rIns="45720" bIns="45720" numCol="1" rtlCol="0" anchor="t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Segoe UI" panose="020B0502040204020203" pitchFamily="34" charset="0"/>
              </a:rPr>
              <a:t>VNET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9190624" y="2598543"/>
            <a:ext cx="2152579" cy="1253789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89000"/>
                </a:srgbClr>
              </a:gs>
              <a:gs pos="23000">
                <a:srgbClr val="4472C4">
                  <a:lumMod val="89000"/>
                </a:srgbClr>
              </a:gs>
              <a:gs pos="69000">
                <a:srgbClr val="4472C4">
                  <a:lumMod val="75000"/>
                </a:srgbClr>
              </a:gs>
              <a:gs pos="97000">
                <a:srgbClr val="4472C4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VM #1</a:t>
            </a:r>
          </a:p>
        </p:txBody>
      </p:sp>
      <p:sp>
        <p:nvSpPr>
          <p:cNvPr id="67" name="Rectangle 66"/>
          <p:cNvSpPr/>
          <p:nvPr/>
        </p:nvSpPr>
        <p:spPr bwMode="auto">
          <a:xfrm>
            <a:off x="9373416" y="3040869"/>
            <a:ext cx="877482" cy="646331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kern="0" dirty="0">
                <a:solidFill>
                  <a:prstClr val="white"/>
                </a:solidFill>
                <a:latin typeface="Calibri" panose="020F0502020204030204"/>
              </a:rPr>
              <a:t>NIC</a:t>
            </a:r>
            <a:br>
              <a:rPr lang="en-US" kern="0" dirty="0">
                <a:solidFill>
                  <a:prstClr val="white"/>
                </a:solidFill>
                <a:latin typeface="Calibri" panose="020F0502020204030204"/>
              </a:rPr>
            </a:br>
            <a:r>
              <a:rPr lang="en-US" kern="0" dirty="0">
                <a:solidFill>
                  <a:prstClr val="white"/>
                </a:solidFill>
                <a:latin typeface="Calibri" panose="020F0502020204030204"/>
              </a:rPr>
              <a:t>(DIP)</a:t>
            </a:r>
          </a:p>
        </p:txBody>
      </p:sp>
      <p:pic>
        <p:nvPicPr>
          <p:cNvPr id="32" name="Picture 2" descr="C:\Users\Jeffrey\AppData\Local\Microsoft\Windows\Temporary Internet Files\Content.IE5\Z5GQZJYD\MC90043256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793" y="3041917"/>
            <a:ext cx="1774290" cy="177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/>
          <p:cNvSpPr/>
          <p:nvPr/>
        </p:nvSpPr>
        <p:spPr bwMode="auto">
          <a:xfrm>
            <a:off x="10373427" y="3040869"/>
            <a:ext cx="877482" cy="646331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kern="0" dirty="0">
                <a:solidFill>
                  <a:prstClr val="white"/>
                </a:solidFill>
                <a:latin typeface="Calibri" panose="020F0502020204030204"/>
              </a:rPr>
              <a:t>NIC</a:t>
            </a:r>
            <a:br>
              <a:rPr lang="en-US" kern="0" dirty="0">
                <a:solidFill>
                  <a:prstClr val="white"/>
                </a:solidFill>
                <a:latin typeface="Calibri" panose="020F0502020204030204"/>
              </a:rPr>
            </a:br>
            <a:r>
              <a:rPr lang="en-US" kern="0" dirty="0">
                <a:solidFill>
                  <a:prstClr val="white"/>
                </a:solidFill>
                <a:latin typeface="Calibri" panose="020F0502020204030204"/>
              </a:rPr>
              <a:t>(DIP)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9190624" y="4118346"/>
            <a:ext cx="2152579" cy="1253789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89000"/>
                </a:srgbClr>
              </a:gs>
              <a:gs pos="23000">
                <a:srgbClr val="4472C4">
                  <a:lumMod val="89000"/>
                </a:srgbClr>
              </a:gs>
              <a:gs pos="69000">
                <a:srgbClr val="4472C4">
                  <a:lumMod val="75000"/>
                </a:srgbClr>
              </a:gs>
              <a:gs pos="97000">
                <a:srgbClr val="4472C4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VM #2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9373416" y="4560672"/>
            <a:ext cx="877482" cy="646331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kern="0" dirty="0">
                <a:solidFill>
                  <a:prstClr val="white"/>
                </a:solidFill>
                <a:latin typeface="Calibri" panose="020F0502020204030204"/>
              </a:rPr>
              <a:t>NIC</a:t>
            </a:r>
            <a:br>
              <a:rPr lang="en-US" kern="0" dirty="0">
                <a:solidFill>
                  <a:prstClr val="white"/>
                </a:solidFill>
                <a:latin typeface="Calibri" panose="020F0502020204030204"/>
              </a:rPr>
            </a:br>
            <a:r>
              <a:rPr lang="en-US" kern="0" dirty="0">
                <a:solidFill>
                  <a:prstClr val="white"/>
                </a:solidFill>
                <a:latin typeface="Calibri" panose="020F0502020204030204"/>
              </a:rPr>
              <a:t>(DIP)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10373427" y="4560672"/>
            <a:ext cx="877482" cy="646331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kern="0" dirty="0">
                <a:solidFill>
                  <a:prstClr val="white"/>
                </a:solidFill>
                <a:latin typeface="Calibri" panose="020F0502020204030204"/>
              </a:rPr>
              <a:t>NIC</a:t>
            </a:r>
            <a:br>
              <a:rPr lang="en-US" kern="0" dirty="0">
                <a:solidFill>
                  <a:prstClr val="white"/>
                </a:solidFill>
                <a:latin typeface="Calibri" panose="020F0502020204030204"/>
              </a:rPr>
            </a:br>
            <a:r>
              <a:rPr lang="en-US" kern="0" dirty="0">
                <a:solidFill>
                  <a:prstClr val="white"/>
                </a:solidFill>
                <a:latin typeface="Calibri" panose="020F0502020204030204"/>
              </a:rPr>
              <a:t>(DIP)</a:t>
            </a:r>
          </a:p>
        </p:txBody>
      </p:sp>
      <p:cxnSp>
        <p:nvCxnSpPr>
          <p:cNvPr id="38" name="Straight Arrow Connector 37"/>
          <p:cNvCxnSpPr>
            <a:stCxn id="32" idx="3"/>
            <a:endCxn id="64" idx="1"/>
          </p:cNvCxnSpPr>
          <p:nvPr/>
        </p:nvCxnSpPr>
        <p:spPr>
          <a:xfrm>
            <a:off x="8212083" y="3929062"/>
            <a:ext cx="709014" cy="1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074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240" y="1186356"/>
            <a:ext cx="7170265" cy="3176254"/>
          </a:xfrm>
        </p:spPr>
        <p:txBody>
          <a:bodyPr/>
          <a:lstStyle/>
          <a:p>
            <a:r>
              <a:rPr lang="en-US" dirty="0"/>
              <a:t>Placement Constraints &amp; Load Metrics</a:t>
            </a:r>
          </a:p>
        </p:txBody>
      </p:sp>
    </p:spTree>
    <p:extLst>
      <p:ext uri="{BB962C8B-B14F-4D97-AF65-F5344CB8AC3E}">
        <p14:creationId xmlns:p14="http://schemas.microsoft.com/office/powerpoint/2010/main" val="408331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1" descr="image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882" y="1203182"/>
            <a:ext cx="8070851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0084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238357"/>
          </a:xfrm>
        </p:spPr>
        <p:txBody>
          <a:bodyPr/>
          <a:lstStyle/>
          <a:p>
            <a:r>
              <a:rPr lang="en-US" sz="2000" dirty="0"/>
              <a:t>Static configuration</a:t>
            </a:r>
          </a:p>
          <a:p>
            <a:pPr lvl="1"/>
            <a:r>
              <a:rPr lang="en-US" sz="1400" dirty="0"/>
              <a:t>ClusterManifest.xml </a:t>
            </a:r>
            <a:r>
              <a:rPr lang="en-US" sz="1400" dirty="0" err="1"/>
              <a:t>NodeType</a:t>
            </a:r>
            <a:r>
              <a:rPr lang="en-US" sz="1400" dirty="0"/>
              <a:t>:</a:t>
            </a:r>
          </a:p>
          <a:p>
            <a:pPr lvl="2"/>
            <a:r>
              <a:rPr lang="en-US" sz="1400" dirty="0" err="1"/>
              <a:t>PlacementProperties</a:t>
            </a:r>
            <a:r>
              <a:rPr lang="en-US" sz="1400" dirty="0"/>
              <a:t>: "</a:t>
            </a:r>
            <a:r>
              <a:rPr lang="en-US" sz="1400" dirty="0" err="1"/>
              <a:t>FrontEnd</a:t>
            </a:r>
            <a:r>
              <a:rPr lang="en-US" sz="1400" dirty="0"/>
              <a:t>" = "true", "Continent" = "Americas"</a:t>
            </a:r>
          </a:p>
          <a:p>
            <a:pPr lvl="2"/>
            <a:r>
              <a:rPr lang="en-US" sz="1400" dirty="0"/>
              <a:t>Capacities: "Disk"="100"</a:t>
            </a:r>
          </a:p>
          <a:p>
            <a:pPr lvl="1"/>
            <a:r>
              <a:rPr lang="en-US" sz="1400" dirty="0"/>
              <a:t>Web service’s ServiceManifest.xml, </a:t>
            </a:r>
            <a:r>
              <a:rPr lang="en-US" sz="1400" dirty="0" err="1"/>
              <a:t>StatelessServiceType</a:t>
            </a:r>
            <a:r>
              <a:rPr lang="en-US" sz="1400" dirty="0"/>
              <a:t>:</a:t>
            </a:r>
          </a:p>
          <a:p>
            <a:pPr lvl="2"/>
            <a:r>
              <a:rPr lang="en-US" sz="1400" dirty="0" err="1"/>
              <a:t>PlacementConstraint</a:t>
            </a:r>
            <a:r>
              <a:rPr lang="en-US" sz="1400" dirty="0"/>
              <a:t>: (</a:t>
            </a:r>
            <a:r>
              <a:rPr lang="en-US" sz="1400" dirty="0" err="1"/>
              <a:t>FrontEnd</a:t>
            </a:r>
            <a:r>
              <a:rPr lang="en-US" sz="1400" dirty="0"/>
              <a:t> == true)</a:t>
            </a:r>
          </a:p>
          <a:p>
            <a:pPr lvl="1"/>
            <a:r>
              <a:rPr lang="en-US" sz="1400" dirty="0"/>
              <a:t>Database service’s ServiceManifest.xml, </a:t>
            </a:r>
            <a:r>
              <a:rPr lang="en-US" sz="1400" dirty="0" err="1"/>
              <a:t>StatefulServiceType</a:t>
            </a:r>
            <a:endParaRPr lang="en-US" sz="1400" dirty="0"/>
          </a:p>
          <a:p>
            <a:pPr lvl="2"/>
            <a:r>
              <a:rPr lang="en-US" sz="1400" dirty="0"/>
              <a:t>Load Metrics: "Disk" = "50“ (GB for Primary &amp; Secondary replicas)</a:t>
            </a:r>
          </a:p>
          <a:p>
            <a:r>
              <a:rPr lang="en-US" sz="2000" dirty="0"/>
              <a:t>Dynamic operations:</a:t>
            </a:r>
          </a:p>
          <a:p>
            <a:pPr lvl="1"/>
            <a:r>
              <a:rPr lang="en-US" sz="1400" dirty="0"/>
              <a:t>With cluster down, update ClusterManifest.xml, &amp; start up cluster (Admin):</a:t>
            </a:r>
            <a:br>
              <a:rPr lang="en-US" sz="1400" dirty="0"/>
            </a:br>
            <a:r>
              <a:rPr lang="en-US" sz="1400" dirty="0"/>
              <a:t>New-</a:t>
            </a:r>
            <a:r>
              <a:rPr lang="en-US" sz="1400" dirty="0" err="1"/>
              <a:t>ServiceFabricNodeConfiguration</a:t>
            </a:r>
            <a:r>
              <a:rPr lang="en-US" sz="1400" dirty="0"/>
              <a:t> -</a:t>
            </a:r>
            <a:r>
              <a:rPr lang="en-US" sz="1400" dirty="0" err="1"/>
              <a:t>ClusterManifestPath</a:t>
            </a:r>
            <a:r>
              <a:rPr lang="en-US" sz="1400" dirty="0"/>
              <a:t> C:\...\ClusterManifest.xml</a:t>
            </a:r>
          </a:p>
          <a:p>
            <a:pPr lvl="1"/>
            <a:r>
              <a:rPr lang="en-US" sz="1400" dirty="0"/>
              <a:t>Deploy App package &amp; start </a:t>
            </a:r>
            <a:r>
              <a:rPr lang="en-US" sz="1400" dirty="0" err="1"/>
              <a:t>WebSite</a:t>
            </a:r>
            <a:r>
              <a:rPr lang="en-US" sz="1400" dirty="0"/>
              <a:t> named service with 3 instances (Visual Studio F5)</a:t>
            </a:r>
          </a:p>
          <a:p>
            <a:pPr lvl="1"/>
            <a:r>
              <a:rPr lang="en-US" sz="1400" dirty="0"/>
              <a:t>Start Database service 1st Americas tenant (See Disk load metrics in SFX under partition’s DETAILS):</a:t>
            </a:r>
            <a:br>
              <a:rPr lang="en-US" sz="1400" dirty="0"/>
            </a:br>
            <a:r>
              <a:rPr lang="en-US" sz="1400" dirty="0"/>
              <a:t>New-</a:t>
            </a:r>
            <a:r>
              <a:rPr lang="en-US" sz="1400" dirty="0" err="1"/>
              <a:t>ServiceFabricService</a:t>
            </a:r>
            <a:r>
              <a:rPr lang="en-US" sz="1400" dirty="0"/>
              <a:t> -</a:t>
            </a:r>
            <a:r>
              <a:rPr lang="en-US" sz="1400" dirty="0" err="1"/>
              <a:t>ApplicationName</a:t>
            </a:r>
            <a:r>
              <a:rPr lang="en-US" sz="1400" dirty="0"/>
              <a:t> fabric:/</a:t>
            </a:r>
            <a:r>
              <a:rPr lang="en-US" sz="1400" dirty="0" err="1"/>
              <a:t>Prb</a:t>
            </a:r>
            <a:r>
              <a:rPr lang="en-US" sz="1400" dirty="0"/>
              <a:t> -</a:t>
            </a:r>
            <a:r>
              <a:rPr lang="en-US" sz="1400" dirty="0" err="1"/>
              <a:t>ServiceName</a:t>
            </a:r>
            <a:r>
              <a:rPr lang="en-US" sz="1400" dirty="0"/>
              <a:t> fabric:/</a:t>
            </a:r>
            <a:r>
              <a:rPr lang="en-US" sz="1400" dirty="0" err="1"/>
              <a:t>Prb</a:t>
            </a:r>
            <a:r>
              <a:rPr lang="en-US" sz="1400" dirty="0"/>
              <a:t>/DB-1 -</a:t>
            </a:r>
            <a:r>
              <a:rPr lang="en-US" sz="1400" dirty="0" err="1"/>
              <a:t>ServiceType</a:t>
            </a:r>
            <a:r>
              <a:rPr lang="en-US" sz="1400" dirty="0"/>
              <a:t> </a:t>
            </a:r>
            <a:r>
              <a:rPr lang="en-US" sz="1400" dirty="0" err="1"/>
              <a:t>DatabaseType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-</a:t>
            </a:r>
            <a:r>
              <a:rPr lang="en-US" sz="1400" dirty="0" err="1"/>
              <a:t>MinReplicas</a:t>
            </a:r>
            <a:r>
              <a:rPr lang="en-US" sz="1400" dirty="0"/>
              <a:t> 3 -</a:t>
            </a:r>
            <a:r>
              <a:rPr lang="en-US" sz="1400" dirty="0" err="1"/>
              <a:t>TargetReplicas</a:t>
            </a:r>
            <a:r>
              <a:rPr lang="en-US" sz="1400" dirty="0"/>
              <a:t> 3 -Stateful -</a:t>
            </a:r>
            <a:r>
              <a:rPr lang="en-US" sz="1400" dirty="0" err="1"/>
              <a:t>PlacementConstrains</a:t>
            </a:r>
            <a:r>
              <a:rPr lang="en-US" sz="1400" dirty="0"/>
              <a:t> "Constraint == Americas &amp;&amp; </a:t>
            </a:r>
            <a:r>
              <a:rPr lang="en-US" sz="1400" dirty="0" err="1"/>
              <a:t>FrontEnd</a:t>
            </a:r>
            <a:r>
              <a:rPr lang="en-US" sz="1400" dirty="0"/>
              <a:t> == false"</a:t>
            </a:r>
          </a:p>
          <a:p>
            <a:pPr lvl="1"/>
            <a:r>
              <a:rPr lang="en-US" sz="1400" dirty="0"/>
              <a:t>Start Database service 2nd Americas tenant:</a:t>
            </a:r>
            <a:br>
              <a:rPr lang="en-US" sz="1400" dirty="0"/>
            </a:br>
            <a:r>
              <a:rPr lang="en-US" sz="1400" dirty="0"/>
              <a:t>New-</a:t>
            </a:r>
            <a:r>
              <a:rPr lang="en-US" sz="1400" dirty="0" err="1"/>
              <a:t>ServiceFabricService</a:t>
            </a:r>
            <a:r>
              <a:rPr lang="en-US" sz="1400" dirty="0"/>
              <a:t> -</a:t>
            </a:r>
            <a:r>
              <a:rPr lang="en-US" sz="1400" dirty="0" err="1"/>
              <a:t>ApplicationName</a:t>
            </a:r>
            <a:r>
              <a:rPr lang="en-US" sz="1400" dirty="0"/>
              <a:t> fabric:/</a:t>
            </a:r>
            <a:r>
              <a:rPr lang="en-US" sz="1400" dirty="0" err="1"/>
              <a:t>Prb</a:t>
            </a:r>
            <a:r>
              <a:rPr lang="en-US" sz="1400" dirty="0"/>
              <a:t> -</a:t>
            </a:r>
            <a:r>
              <a:rPr lang="en-US" sz="1400" dirty="0" err="1"/>
              <a:t>ServiceName</a:t>
            </a:r>
            <a:r>
              <a:rPr lang="en-US" sz="1400" dirty="0"/>
              <a:t> fabric:/</a:t>
            </a:r>
            <a:r>
              <a:rPr lang="en-US" sz="1400" dirty="0" err="1"/>
              <a:t>Prb</a:t>
            </a:r>
            <a:r>
              <a:rPr lang="en-US" sz="1400" dirty="0"/>
              <a:t>/DB-2 -</a:t>
            </a:r>
            <a:r>
              <a:rPr lang="en-US" sz="1400" dirty="0" err="1"/>
              <a:t>ServiceType</a:t>
            </a:r>
            <a:r>
              <a:rPr lang="en-US" sz="1400" dirty="0"/>
              <a:t> </a:t>
            </a:r>
            <a:r>
              <a:rPr lang="en-US" sz="1400" dirty="0" err="1"/>
              <a:t>DatabaseType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-</a:t>
            </a:r>
            <a:r>
              <a:rPr lang="en-US" sz="1400" dirty="0" err="1"/>
              <a:t>MinReplicas</a:t>
            </a:r>
            <a:r>
              <a:rPr lang="en-US" sz="1400" dirty="0"/>
              <a:t> 3 -</a:t>
            </a:r>
            <a:r>
              <a:rPr lang="en-US" sz="1400" dirty="0" err="1"/>
              <a:t>TargetReplicas</a:t>
            </a:r>
            <a:r>
              <a:rPr lang="en-US" sz="1400" dirty="0"/>
              <a:t> 3 -Stateful -</a:t>
            </a:r>
            <a:r>
              <a:rPr lang="en-US" sz="1400" dirty="0" err="1"/>
              <a:t>PlacementConstrains</a:t>
            </a:r>
            <a:r>
              <a:rPr lang="en-US" sz="1400" dirty="0"/>
              <a:t> "Constraint == Americas &amp;&amp; </a:t>
            </a:r>
            <a:r>
              <a:rPr lang="en-US" sz="1400" dirty="0" err="1"/>
              <a:t>FrontEnd</a:t>
            </a:r>
            <a:r>
              <a:rPr lang="en-US" sz="1400" dirty="0"/>
              <a:t> == false"</a:t>
            </a:r>
          </a:p>
          <a:p>
            <a:pPr lvl="1"/>
            <a:r>
              <a:rPr lang="en-US" sz="1400" dirty="0"/>
              <a:t>Start Database service 3rd Americas tenant (fails, out of resources):</a:t>
            </a:r>
            <a:br>
              <a:rPr lang="en-US" sz="1400" dirty="0"/>
            </a:br>
            <a:r>
              <a:rPr lang="en-US" sz="1400" dirty="0"/>
              <a:t>New-</a:t>
            </a:r>
            <a:r>
              <a:rPr lang="en-US" sz="1400" dirty="0" err="1"/>
              <a:t>ServiceFabricService</a:t>
            </a:r>
            <a:r>
              <a:rPr lang="en-US" sz="1400" dirty="0"/>
              <a:t> -</a:t>
            </a:r>
            <a:r>
              <a:rPr lang="en-US" sz="1400" dirty="0" err="1"/>
              <a:t>ApplicationName</a:t>
            </a:r>
            <a:r>
              <a:rPr lang="en-US" sz="1400" dirty="0"/>
              <a:t> fabric:/</a:t>
            </a:r>
            <a:r>
              <a:rPr lang="en-US" sz="1400" dirty="0" err="1"/>
              <a:t>Prb</a:t>
            </a:r>
            <a:r>
              <a:rPr lang="en-US" sz="1400" dirty="0"/>
              <a:t> -</a:t>
            </a:r>
            <a:r>
              <a:rPr lang="en-US" sz="1400" dirty="0" err="1"/>
              <a:t>ServiceName</a:t>
            </a:r>
            <a:r>
              <a:rPr lang="en-US" sz="1400" dirty="0"/>
              <a:t> fabric:/</a:t>
            </a:r>
            <a:r>
              <a:rPr lang="en-US" sz="1400" dirty="0" err="1"/>
              <a:t>Prb</a:t>
            </a:r>
            <a:r>
              <a:rPr lang="en-US" sz="1400" dirty="0"/>
              <a:t>/DB-3 -</a:t>
            </a:r>
            <a:r>
              <a:rPr lang="en-US" sz="1400" dirty="0" err="1"/>
              <a:t>ServiceType</a:t>
            </a:r>
            <a:r>
              <a:rPr lang="en-US" sz="1400" dirty="0"/>
              <a:t> </a:t>
            </a:r>
            <a:r>
              <a:rPr lang="en-US" sz="1400" dirty="0" err="1"/>
              <a:t>DatabaseType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-</a:t>
            </a:r>
            <a:r>
              <a:rPr lang="en-US" sz="1400" dirty="0" err="1"/>
              <a:t>MinReplicas</a:t>
            </a:r>
            <a:r>
              <a:rPr lang="en-US" sz="1400" dirty="0"/>
              <a:t> 3 -</a:t>
            </a:r>
            <a:r>
              <a:rPr lang="en-US" sz="1400" dirty="0" err="1"/>
              <a:t>TargetReplicas</a:t>
            </a:r>
            <a:r>
              <a:rPr lang="en-US" sz="1400" dirty="0"/>
              <a:t> 3 -Stateful -</a:t>
            </a:r>
            <a:r>
              <a:rPr lang="en-US" sz="1400" dirty="0" err="1"/>
              <a:t>PlacementConstrains</a:t>
            </a:r>
            <a:r>
              <a:rPr lang="en-US" sz="1400" dirty="0"/>
              <a:t> "Constraint == Americas &amp;&amp; </a:t>
            </a:r>
            <a:r>
              <a:rPr lang="en-US" sz="1400" dirty="0" err="1"/>
              <a:t>FrontEnd</a:t>
            </a:r>
            <a:r>
              <a:rPr lang="en-US" sz="1400" dirty="0"/>
              <a:t> == false"</a:t>
            </a:r>
          </a:p>
          <a:p>
            <a:pPr lvl="1"/>
            <a:r>
              <a:rPr lang="en-US" sz="1400" dirty="0"/>
              <a:t>Node 5: Make instance report 100GB causing replica to move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2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Periodically, each node’s reconfiguration agent (RA) sends load values to the PRB service </a:t>
            </a:r>
          </a:p>
          <a:p>
            <a:r>
              <a:rPr lang="en-US"/>
              <a:t>PRB performs</a:t>
            </a:r>
          </a:p>
          <a:p>
            <a:pPr lvl="1"/>
            <a:r>
              <a:rPr lang="en-US"/>
              <a:t>Constraint check</a:t>
            </a:r>
          </a:p>
          <a:p>
            <a:pPr lvl="2"/>
            <a:r>
              <a:rPr lang="en-US"/>
              <a:t>If any constraint/capacity violated, moves instances to fix</a:t>
            </a:r>
          </a:p>
          <a:p>
            <a:pPr lvl="2"/>
            <a:r>
              <a:rPr lang="en-US"/>
              <a:t>This generally helps balance the cluster</a:t>
            </a:r>
          </a:p>
          <a:p>
            <a:pPr lvl="1"/>
            <a:r>
              <a:rPr lang="en-US"/>
              <a:t>Balance check</a:t>
            </a:r>
          </a:p>
          <a:p>
            <a:pPr lvl="2"/>
            <a:r>
              <a:rPr lang="en-US"/>
              <a:t>If cluster not balanced, moves instances (not being moved) to fix</a:t>
            </a:r>
          </a:p>
          <a:p>
            <a:r>
              <a:rPr lang="en-US"/>
              <a:t>A service instance can report load against any metric but only specified metrics can be balanced against</a:t>
            </a:r>
          </a:p>
          <a:p>
            <a:pPr lvl="1"/>
            <a:r>
              <a:rPr lang="en-US"/>
              <a:t>Useful when upgrading code to report new metrics</a:t>
            </a:r>
          </a:p>
          <a:p>
            <a:pPr lvl="1"/>
            <a:r>
              <a:rPr lang="en-US"/>
              <a:t>Follow this up with an Update-ServiceFabricService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Node Movement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141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521512"/>
          </a:xfrm>
        </p:spPr>
        <p:txBody>
          <a:bodyPr/>
          <a:lstStyle/>
          <a:p>
            <a:r>
              <a:rPr lang="en-US" sz="3200" dirty="0"/>
              <a:t>Set in clusterManifest.xml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&lt;Section Name="</a:t>
            </a:r>
            <a:r>
              <a:rPr lang="en-US" sz="2400" dirty="0" err="1">
                <a:latin typeface="Consolas" panose="020B0609020204030204" pitchFamily="49" charset="0"/>
              </a:rPr>
              <a:t>MetricBalancingThresholds</a:t>
            </a:r>
            <a:r>
              <a:rPr lang="en-US" sz="2400" dirty="0">
                <a:latin typeface="Consolas" panose="020B0609020204030204" pitchFamily="49" charset="0"/>
              </a:rPr>
              <a:t>"&gt;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&lt;!-- ratio of </a:t>
            </a:r>
            <a:r>
              <a:rPr lang="en-US" sz="2400" dirty="0" err="1">
                <a:latin typeface="Consolas" panose="020B0609020204030204" pitchFamily="49" charset="0"/>
              </a:rPr>
              <a:t>MostLoaded</a:t>
            </a:r>
            <a:r>
              <a:rPr lang="en-US" sz="2400" dirty="0">
                <a:latin typeface="Consolas" panose="020B0609020204030204" pitchFamily="49" charset="0"/>
              </a:rPr>
              <a:t> to </a:t>
            </a:r>
            <a:r>
              <a:rPr lang="en-US" sz="2400" dirty="0" err="1">
                <a:latin typeface="Consolas" panose="020B0609020204030204" pitchFamily="49" charset="0"/>
              </a:rPr>
              <a:t>LeastLoaded</a:t>
            </a:r>
            <a:r>
              <a:rPr lang="en-US" sz="2400" dirty="0">
                <a:latin typeface="Consolas" panose="020B0609020204030204" pitchFamily="49" charset="0"/>
              </a:rPr>
              <a:t> node --&gt;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&lt;Parameter Name="Metric1" Value="2"/&gt; 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&lt;Parameter Name="Metric2" Value="3.5"/&gt;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&lt;/Section&gt;</a:t>
            </a:r>
          </a:p>
          <a:p>
            <a:r>
              <a:rPr lang="en-US" sz="3200" dirty="0"/>
              <a:t>Activity threshold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&lt;Section Name="</a:t>
            </a:r>
            <a:r>
              <a:rPr lang="en-US" sz="2400" dirty="0" err="1">
                <a:latin typeface="Consolas" panose="020B0609020204030204" pitchFamily="49" charset="0"/>
              </a:rPr>
              <a:t>MetricActivityThresholds</a:t>
            </a:r>
            <a:r>
              <a:rPr lang="en-US" sz="2400" dirty="0">
                <a:latin typeface="Consolas" panose="020B0609020204030204" pitchFamily="49" charset="0"/>
              </a:rPr>
              <a:t>"&gt;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&lt;!-- Don’t balance until load is &gt; value --&gt;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&lt;!-- Prevents churn during bootstrap] --&gt;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&lt;Parameter Name="Memory" Value="1536"/&gt; 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&lt;/Section&gt;</a:t>
            </a:r>
          </a:p>
          <a:p>
            <a:r>
              <a:rPr lang="en-US" sz="3200" dirty="0"/>
              <a:t>Move cost: Zero, Low, Medium, and High. </a:t>
            </a:r>
          </a:p>
          <a:p>
            <a:pPr lvl="1"/>
            <a:r>
              <a:rPr lang="en-US" sz="2000" dirty="0" err="1"/>
              <a:t>this.ServicePartition.ReportMoveCost</a:t>
            </a:r>
            <a:r>
              <a:rPr lang="en-US" sz="2000" dirty="0"/>
              <a:t>(</a:t>
            </a:r>
            <a:r>
              <a:rPr lang="en-US" sz="2000" dirty="0" err="1"/>
              <a:t>MoveCost.Medium</a:t>
            </a:r>
            <a:r>
              <a:rPr lang="en-US" sz="2000" dirty="0"/>
              <a:t>);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Balancing Threshold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782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SF uses </a:t>
            </a:r>
            <a:r>
              <a:rPr lang="en-US">
                <a:hlinkClick r:id="rId2"/>
              </a:rPr>
              <a:t>simulated annealing</a:t>
            </a:r>
            <a:r>
              <a:rPr lang="en-US"/>
              <a:t> to improve the cluster’s balance</a:t>
            </a:r>
          </a:p>
          <a:p>
            <a:pPr lvl="0"/>
            <a:r>
              <a:rPr lang="en-US"/>
              <a:t>If cluster is imbalanced:</a:t>
            </a:r>
          </a:p>
          <a:p>
            <a:pPr lvl="1"/>
            <a:r>
              <a:rPr lang="en-US"/>
              <a:t>Give cluster’s current balance a score</a:t>
            </a:r>
          </a:p>
          <a:p>
            <a:pPr lvl="1"/>
            <a:r>
              <a:rPr lang="en-US"/>
              <a:t>Generate a random, valid move and give it s score; keep best score</a:t>
            </a:r>
          </a:p>
          <a:p>
            <a:pPr lvl="2"/>
            <a:r>
              <a:rPr lang="en-US"/>
              <a:t>Repeat until some time period has elapsed</a:t>
            </a:r>
          </a:p>
          <a:p>
            <a:pPr lvl="1"/>
            <a:r>
              <a:rPr lang="en-US"/>
              <a:t>If final score is better than cluster’s current score, initiate new balancing  to incrementally improving the cluster’s balance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Simulated Annealing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102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232202"/>
          </a:xfrm>
        </p:spPr>
        <p:txBody>
          <a:bodyPr/>
          <a:lstStyle/>
          <a:p>
            <a:r>
              <a:rPr lang="en-US" sz="3200" dirty="0"/>
              <a:t>By default, Resource Manager’s PRB</a:t>
            </a:r>
          </a:p>
          <a:p>
            <a:pPr lvl="1"/>
            <a:r>
              <a:rPr lang="en-US" sz="2000" dirty="0"/>
              <a:t>Contemplates what to check every 1/10th second for batching changes</a:t>
            </a:r>
          </a:p>
          <a:p>
            <a:pPr lvl="1"/>
            <a:r>
              <a:rPr lang="en-US" sz="2000" dirty="0"/>
              <a:t>Considers placement checks every 1 second</a:t>
            </a:r>
          </a:p>
          <a:p>
            <a:pPr lvl="1"/>
            <a:r>
              <a:rPr lang="en-US" sz="2000" dirty="0"/>
              <a:t>Considers constraint checks every 1 second</a:t>
            </a:r>
          </a:p>
          <a:p>
            <a:pPr lvl="1"/>
            <a:r>
              <a:rPr lang="en-US" sz="2000" dirty="0"/>
              <a:t>Considers balancing every 5 seconds</a:t>
            </a:r>
          </a:p>
          <a:p>
            <a:r>
              <a:rPr lang="en-US" sz="3200" dirty="0"/>
              <a:t>Allows for aggressive constraint checks but less aggressive balancing</a:t>
            </a:r>
          </a:p>
          <a:p>
            <a:r>
              <a:rPr lang="en-US" sz="3200" dirty="0"/>
              <a:t>ClusterManifest.xml: (JMR- What about in Azure?)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&lt;Section Name="</a:t>
            </a:r>
            <a:r>
              <a:rPr lang="en-US" sz="2000" dirty="0" err="1">
                <a:latin typeface="Consolas" panose="020B0609020204030204" pitchFamily="49" charset="0"/>
              </a:rPr>
              <a:t>PlacementAndLoadBalancing</a:t>
            </a:r>
            <a:r>
              <a:rPr lang="en-US" sz="2000" dirty="0">
                <a:latin typeface="Consolas" panose="020B0609020204030204" pitchFamily="49" charset="0"/>
              </a:rPr>
              <a:t>"&gt;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&lt;Parameter Name="</a:t>
            </a:r>
            <a:r>
              <a:rPr lang="en-US" sz="2000" dirty="0" err="1">
                <a:latin typeface="Consolas" panose="020B0609020204030204" pitchFamily="49" charset="0"/>
              </a:rPr>
              <a:t>PLBRefreshGap</a:t>
            </a:r>
            <a:r>
              <a:rPr lang="en-US" sz="2000" dirty="0">
                <a:latin typeface="Consolas" panose="020B0609020204030204" pitchFamily="49" charset="0"/>
              </a:rPr>
              <a:t>" Value="0.1" /&gt;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&lt;Parameter Name="</a:t>
            </a:r>
            <a:r>
              <a:rPr lang="en-US" sz="2000" dirty="0" err="1">
                <a:latin typeface="Consolas" panose="020B0609020204030204" pitchFamily="49" charset="0"/>
              </a:rPr>
              <a:t>MinPlacementInterval</a:t>
            </a:r>
            <a:r>
              <a:rPr lang="en-US" sz="2000" dirty="0">
                <a:latin typeface="Consolas" panose="020B0609020204030204" pitchFamily="49" charset="0"/>
              </a:rPr>
              <a:t>" Value="1" /&gt;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&lt;Parameter Name="</a:t>
            </a:r>
            <a:r>
              <a:rPr lang="en-US" sz="2000" dirty="0" err="1">
                <a:latin typeface="Consolas" panose="020B0609020204030204" pitchFamily="49" charset="0"/>
              </a:rPr>
              <a:t>MinConstraintCheckInterval</a:t>
            </a:r>
            <a:r>
              <a:rPr lang="en-US" sz="2000" dirty="0">
                <a:latin typeface="Consolas" panose="020B0609020204030204" pitchFamily="49" charset="0"/>
              </a:rPr>
              <a:t>" Value="1" /&gt;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&lt;Parameter Name="</a:t>
            </a:r>
            <a:r>
              <a:rPr lang="en-US" sz="2000" dirty="0" err="1">
                <a:latin typeface="Consolas" panose="020B0609020204030204" pitchFamily="49" charset="0"/>
              </a:rPr>
              <a:t>MinLoadBalancingInterval</a:t>
            </a:r>
            <a:r>
              <a:rPr lang="en-US" sz="2000" dirty="0">
                <a:latin typeface="Consolas" panose="020B0609020204030204" pitchFamily="49" charset="0"/>
              </a:rPr>
              <a:t>" Value="300" /&gt;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&lt;/Section&gt;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Frequency of Placement Calculations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936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64608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Two main test scenarios provided out of the box</a:t>
            </a:r>
          </a:p>
          <a:p>
            <a:pPr lvl="1"/>
            <a:r>
              <a:rPr lang="en-US"/>
              <a:t>Chaos tests</a:t>
            </a:r>
          </a:p>
          <a:p>
            <a:pPr lvl="1"/>
            <a:r>
              <a:rPr lang="en-US"/>
              <a:t>Failover tests</a:t>
            </a:r>
          </a:p>
          <a:p>
            <a:r>
              <a:rPr lang="en-US"/>
              <a:t>Tools</a:t>
            </a:r>
          </a:p>
          <a:p>
            <a:pPr lvl="1"/>
            <a:r>
              <a:rPr lang="en-US"/>
              <a:t>C# APIs (System.Fabric.Testability.dll)</a:t>
            </a:r>
          </a:p>
          <a:p>
            <a:pPr lvl="1"/>
            <a:r>
              <a:rPr lang="en-US"/>
              <a:t>PowerShell commandlets (runtime required)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746799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Testability Actions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156505721"/>
              </p:ext>
            </p:extLst>
          </p:nvPr>
        </p:nvGraphicFramePr>
        <p:xfrm>
          <a:off x="769400" y="1189176"/>
          <a:ext cx="11155680" cy="6609600"/>
        </p:xfrm>
        <a:graphic>
          <a:graphicData uri="http://schemas.openxmlformats.org/drawingml/2006/table">
            <a:tbl>
              <a:tblPr/>
              <a:tblGrid>
                <a:gridCol w="1643437">
                  <a:extLst>
                    <a:ext uri="{9D8B030D-6E8A-4147-A177-3AD203B41FA5}">
                      <a16:colId xmlns:a16="http://schemas.microsoft.com/office/drawing/2014/main" xmlns="" val="2057790899"/>
                    </a:ext>
                  </a:extLst>
                </a:gridCol>
                <a:gridCol w="3912356">
                  <a:extLst>
                    <a:ext uri="{9D8B030D-6E8A-4147-A177-3AD203B41FA5}">
                      <a16:colId xmlns:a16="http://schemas.microsoft.com/office/drawing/2014/main" xmlns="" val="3306342332"/>
                    </a:ext>
                  </a:extLst>
                </a:gridCol>
                <a:gridCol w="1807838">
                  <a:extLst>
                    <a:ext uri="{9D8B030D-6E8A-4147-A177-3AD203B41FA5}">
                      <a16:colId xmlns:a16="http://schemas.microsoft.com/office/drawing/2014/main" xmlns="" val="3786621153"/>
                    </a:ext>
                  </a:extLst>
                </a:gridCol>
                <a:gridCol w="2483940">
                  <a:extLst>
                    <a:ext uri="{9D8B030D-6E8A-4147-A177-3AD203B41FA5}">
                      <a16:colId xmlns:a16="http://schemas.microsoft.com/office/drawing/2014/main" xmlns="" val="1017422443"/>
                    </a:ext>
                  </a:extLst>
                </a:gridCol>
                <a:gridCol w="1308109">
                  <a:extLst>
                    <a:ext uri="{9D8B030D-6E8A-4147-A177-3AD203B41FA5}">
                      <a16:colId xmlns:a16="http://schemas.microsoft.com/office/drawing/2014/main" xmlns="" val="2515234518"/>
                    </a:ext>
                  </a:extLst>
                </a:gridCol>
              </a:tblGrid>
              <a:tr h="56091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Actions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Managed API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Powershell Cmdlet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Graceful/</a:t>
                      </a:r>
                    </a:p>
                    <a:p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UnGraceful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 Faults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37604800"/>
                  </a:ext>
                </a:extLst>
              </a:tr>
              <a:tr h="325638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CleanTestState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Removes all the test state from the cluster in case of a bad shutdown of the test driver.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CleanTestStateAsync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Remove-ServiceFabricTestState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Not Applicable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78264957"/>
                  </a:ext>
                </a:extLst>
              </a:tr>
              <a:tr h="325638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InvokeDataLoss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Induces data loss into a service partition.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InvokeDataLossAsync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Invoke-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ServiceFabricPartitionDataLoss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Graceful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9216016"/>
                  </a:ext>
                </a:extLst>
              </a:tr>
              <a:tr h="168789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InvokeQuorumLoss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Puts a given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stateful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 service partition in to quorum loss.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InvokeQuorumLossAsync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Invoke-ServiceFabricQuorumLoss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Graceful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81758008"/>
                  </a:ext>
                </a:extLst>
              </a:tr>
              <a:tr h="32563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Move Primary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Moves the specified primary replica of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stateful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 service to the specified cluster node.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MovePrimaryAsync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Move-ServiceFabricPrimaryReplica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Graceful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37812281"/>
                  </a:ext>
                </a:extLst>
              </a:tr>
              <a:tr h="32563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Move Secondary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Moves the current secondary replica of a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stateful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 service to a different cluster node.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MoveSecondaryAsync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Move-ServiceFabricSecondaryReplica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Graceful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87099835"/>
                  </a:ext>
                </a:extLst>
              </a:tr>
              <a:tr h="482488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RemoveReplica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Simulates a replica failure by removing a replica from a cluster. This will close the replica and will transition it to role 'None', removing all of its state from the cluster.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RemoveReplicaAsync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Remove-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ServiceFabricReplica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Graceful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81990511"/>
                  </a:ext>
                </a:extLst>
              </a:tr>
              <a:tr h="639338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RestartDeployedCodePackage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Simulates a code package process failure by restarting a code package deployed on a node in a cluster. This aborts the code package process which will restart all the user service replicas hosted in that process.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RestartDeployedCodePackageAsync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Restart-ServiceFabricDeployedCodePackage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Ungraceful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68376942"/>
                  </a:ext>
                </a:extLst>
              </a:tr>
              <a:tr h="325638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RestartNode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Simulates a Service Fabric cluster node failure by restarting a node.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RestartNodeAsync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Restart-ServiceFabricNode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Ungraceful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49621128"/>
                  </a:ext>
                </a:extLst>
              </a:tr>
              <a:tr h="325638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RestartPartition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Simulates a data center blackout or cluster blackout scenario by restarting some or all replicas of a partition.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RestartPartitionAsync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Restart-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ServiceFabricPartition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Graceful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98709242"/>
                  </a:ext>
                </a:extLst>
              </a:tr>
              <a:tr h="32563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RestartReplica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Simulates a replica failure by restarting a persisted replica in a cluster, closing the replica and then reopening it.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RestartReplicaAsync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Restart-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ServiceFabricReplica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Graceful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36723800"/>
                  </a:ext>
                </a:extLst>
              </a:tr>
              <a:tr h="168789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StartNode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Starts a node in a cluster which is already stopped.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StartNodeAsync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Start-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ServiceFabricNode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Not Applicable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42640037"/>
                  </a:ext>
                </a:extLst>
              </a:tr>
              <a:tr h="32563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StopNode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Simulates a node failure by stopping a node in a cluster. The node will stay down until StartNode is called.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StopNodeAsync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Stop-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ServiceFabricNode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Ungraceful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49700967"/>
                  </a:ext>
                </a:extLst>
              </a:tr>
              <a:tr h="48248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ValidateApplication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Validates the availability and health of all Service Fabric services within an application, usually after inducing some fault into the system.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ValidateApplicationAsync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Test-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ServiceFabricApplication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Not Applicable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08921097"/>
                  </a:ext>
                </a:extLst>
              </a:tr>
              <a:tr h="56091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ValidateService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Validates the availability and health of a Service Fabric service, usually after inducing some fault into the system.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ValidateServiceAsync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Test-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</a:rPr>
                        <a:t>ServiceFabricService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Not Applicable</a:t>
                      </a:r>
                    </a:p>
                  </a:txBody>
                  <a:tcPr marL="15080" marR="15080" marT="6960" marB="696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79575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719124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5689601" cy="4013406"/>
          </a:xfrm>
        </p:spPr>
        <p:txBody>
          <a:bodyPr/>
          <a:lstStyle/>
          <a:p>
            <a:r>
              <a:rPr lang="en-US" sz="3200" dirty="0"/>
              <a:t>Stateless:</a:t>
            </a:r>
          </a:p>
          <a:p>
            <a:pPr lvl="1"/>
            <a:r>
              <a:rPr lang="en-US" sz="2000" dirty="0"/>
              <a:t>Stop node (ungraceful)</a:t>
            </a:r>
          </a:p>
          <a:p>
            <a:pPr lvl="1"/>
            <a:r>
              <a:rPr lang="en-US" sz="2000" dirty="0"/>
              <a:t>Start node (N/A)</a:t>
            </a:r>
          </a:p>
          <a:p>
            <a:pPr lvl="1"/>
            <a:r>
              <a:rPr lang="en-US" sz="2000" dirty="0"/>
              <a:t>Restart node (ungraceful)</a:t>
            </a:r>
          </a:p>
          <a:p>
            <a:pPr lvl="1"/>
            <a:r>
              <a:rPr lang="en-US" sz="2000" dirty="0"/>
              <a:t>Validate application (N/A)</a:t>
            </a:r>
          </a:p>
          <a:p>
            <a:pPr lvl="1"/>
            <a:r>
              <a:rPr lang="en-US" sz="2000" dirty="0"/>
              <a:t>Validate service (N/A)</a:t>
            </a:r>
          </a:p>
          <a:p>
            <a:pPr lvl="1"/>
            <a:r>
              <a:rPr lang="en-US" sz="2000" dirty="0" err="1"/>
              <a:t>RestartDeployedCodePackage</a:t>
            </a:r>
            <a:r>
              <a:rPr lang="en-US" sz="2000" dirty="0"/>
              <a:t> (ungraceful)</a:t>
            </a:r>
          </a:p>
          <a:p>
            <a:pPr lvl="1"/>
            <a:r>
              <a:rPr lang="en-US" sz="2000" dirty="0"/>
              <a:t>Restart partition (graceful)</a:t>
            </a:r>
          </a:p>
          <a:p>
            <a:pPr lvl="1"/>
            <a:r>
              <a:rPr lang="en-US" sz="2000" dirty="0"/>
              <a:t>Restart replica (graceful)</a:t>
            </a:r>
          </a:p>
          <a:p>
            <a:pPr lvl="1"/>
            <a:r>
              <a:rPr lang="en-US" sz="2000" dirty="0" err="1"/>
              <a:t>CleanTestState</a:t>
            </a:r>
            <a:r>
              <a:rPr lang="en-US" sz="2000" dirty="0"/>
              <a:t> (N/A)</a:t>
            </a:r>
          </a:p>
          <a:p>
            <a:pPr lvl="1"/>
            <a:r>
              <a:rPr lang="en-US" sz="2000" dirty="0"/>
              <a:t>Failover/chaos tests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Testability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380478" y="1189176"/>
            <a:ext cx="4897122" cy="2320635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>
            <a:lvl1pPr marL="336145" marR="0" indent="-336145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 sz="3600" kern="1200" spc="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572691" marR="0" indent="-236546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84338" marR="0" indent="-224097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08435" marR="0" indent="-224097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 sz="20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32531" marR="0" indent="-224097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 sz="20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09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93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7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1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err="1">
                <a:solidFill>
                  <a:schemeClr val="tx1"/>
                </a:solidFill>
              </a:rPr>
              <a:t>Stateful</a:t>
            </a:r>
            <a:r>
              <a:rPr lang="en-US" sz="3200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Move primary replica (graceful)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Move secondary replica (graceful)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Remove Replica (graceful)</a:t>
            </a:r>
          </a:p>
          <a:p>
            <a:pPr lvl="1"/>
            <a:r>
              <a:rPr lang="en-US" sz="2000" dirty="0" err="1">
                <a:solidFill>
                  <a:schemeClr val="tx1"/>
                </a:solidFill>
              </a:rPr>
              <a:t>InvokeQuorumLoss</a:t>
            </a:r>
            <a:r>
              <a:rPr lang="en-US" sz="2000" dirty="0">
                <a:solidFill>
                  <a:schemeClr val="tx1"/>
                </a:solidFill>
              </a:rPr>
              <a:t> (graceful)</a:t>
            </a:r>
          </a:p>
          <a:p>
            <a:pPr lvl="1"/>
            <a:r>
              <a:rPr lang="en-US" sz="2000" dirty="0" err="1">
                <a:solidFill>
                  <a:schemeClr val="tx1"/>
                </a:solidFill>
              </a:rPr>
              <a:t>InvokeDataLoss</a:t>
            </a:r>
            <a:r>
              <a:rPr lang="en-US" sz="2000" dirty="0">
                <a:solidFill>
                  <a:schemeClr val="tx1"/>
                </a:solidFill>
              </a:rPr>
              <a:t> (graceful)</a:t>
            </a:r>
          </a:p>
        </p:txBody>
      </p:sp>
    </p:spTree>
    <p:extLst>
      <p:ext uri="{BB962C8B-B14F-4D97-AF65-F5344CB8AC3E}">
        <p14:creationId xmlns:p14="http://schemas.microsoft.com/office/powerpoint/2010/main" val="2096663131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Diagnostics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724398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4844403"/>
          </a:xfrm>
        </p:spPr>
        <p:txBody>
          <a:bodyPr/>
          <a:lstStyle/>
          <a:p>
            <a:r>
              <a:rPr lang="en-US" dirty="0"/>
              <a:t>Logs are at C:\SfDevCluster\Log\Traces</a:t>
            </a:r>
          </a:p>
          <a:p>
            <a:r>
              <a:rPr lang="en-US" dirty="0"/>
              <a:t>Reset cluster after changing C:\Program Files\Microsoft SDKs\Service Fabric\</a:t>
            </a:r>
            <a:r>
              <a:rPr lang="en-US" dirty="0" err="1"/>
              <a:t>ClusterSetup</a:t>
            </a:r>
            <a:r>
              <a:rPr lang="en-US" dirty="0"/>
              <a:t>\</a:t>
            </a:r>
            <a:r>
              <a:rPr lang="en-US" dirty="0" err="1"/>
              <a:t>NonSecure</a:t>
            </a:r>
            <a:r>
              <a:rPr lang="en-US" dirty="0"/>
              <a:t>\</a:t>
            </a:r>
            <a:br>
              <a:rPr lang="en-US" dirty="0"/>
            </a:br>
            <a:r>
              <a:rPr lang="en-US" dirty="0"/>
              <a:t>ClusterManifestTemplate.xml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&lt;Section Name="Trace/</a:t>
            </a:r>
            <a:r>
              <a:rPr lang="en-US" sz="2000" dirty="0" err="1">
                <a:latin typeface="Consolas" panose="020B0609020204030204" pitchFamily="49" charset="0"/>
              </a:rPr>
              <a:t>Etw</a:t>
            </a:r>
            <a:r>
              <a:rPr lang="en-US" sz="2000" dirty="0">
                <a:latin typeface="Consolas" panose="020B0609020204030204" pitchFamily="49" charset="0"/>
              </a:rPr>
              <a:t>"&gt;&lt;Parameter Name="Level" Value="1" /&gt;&lt;/Section&gt;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&lt;!-- Configure the DCA to cleanup the log folder only. The collection of the logs, performance counters and </a:t>
            </a:r>
            <a:r>
              <a:rPr lang="en-US" sz="2000" dirty="0" err="1">
                <a:latin typeface="Consolas" panose="020B0609020204030204" pitchFamily="49" charset="0"/>
              </a:rPr>
              <a:t>crashdumps</a:t>
            </a:r>
            <a:r>
              <a:rPr lang="en-US" sz="2000" dirty="0">
                <a:latin typeface="Consolas" panose="020B0609020204030204" pitchFamily="49" charset="0"/>
              </a:rPr>
              <a:t> is not performed on the local machine. --&gt;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&lt;Section Name="Diagnostics"&gt;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&lt;Parameter Name="</a:t>
            </a:r>
            <a:r>
              <a:rPr lang="en-US" sz="2000" dirty="0" err="1">
                <a:latin typeface="Consolas" panose="020B0609020204030204" pitchFamily="49" charset="0"/>
              </a:rPr>
              <a:t>ProducerInstances</a:t>
            </a:r>
            <a:r>
              <a:rPr lang="en-US" sz="2000" dirty="0">
                <a:latin typeface="Consolas" panose="020B0609020204030204" pitchFamily="49" charset="0"/>
              </a:rPr>
              <a:t>" Value="</a:t>
            </a:r>
            <a:r>
              <a:rPr lang="en-US" sz="2000" dirty="0" err="1">
                <a:latin typeface="Consolas" panose="020B0609020204030204" pitchFamily="49" charset="0"/>
              </a:rPr>
              <a:t>ServiceFabricEtlFile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ServiceFabricPerfCtrFolder</a:t>
            </a:r>
            <a:r>
              <a:rPr lang="en-US" sz="2000" dirty="0">
                <a:latin typeface="Consolas" panose="020B0609020204030204" pitchFamily="49" charset="0"/>
              </a:rPr>
              <a:t>" /&gt;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   &lt;Parameter Name="</a:t>
            </a:r>
            <a:r>
              <a:rPr lang="en-US" sz="2000" dirty="0" err="1">
                <a:latin typeface="Consolas" panose="020B0609020204030204" pitchFamily="49" charset="0"/>
              </a:rPr>
              <a:t>MaxDiskQuotaInMB</a:t>
            </a:r>
            <a:r>
              <a:rPr lang="en-US" sz="2000" dirty="0">
                <a:latin typeface="Consolas" panose="020B0609020204030204" pitchFamily="49" charset="0"/>
              </a:rPr>
              <a:t>" Value="1024" /&gt;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&lt;/Section&gt;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SF Log Files</a:t>
            </a:r>
          </a:p>
        </p:txBody>
      </p:sp>
    </p:spTree>
    <p:extLst>
      <p:ext uri="{BB962C8B-B14F-4D97-AF65-F5344CB8AC3E}">
        <p14:creationId xmlns:p14="http://schemas.microsoft.com/office/powerpoint/2010/main" val="1905387680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9239" y="1577340"/>
            <a:ext cx="11653523" cy="424731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String </a:t>
            </a:r>
            <a:r>
              <a:rPr lang="en-US" sz="2000" dirty="0" err="1">
                <a:latin typeface="Consolas" panose="020B0609020204030204" pitchFamily="49" charset="0"/>
              </a:rPr>
              <a:t>EncryptText</a:t>
            </a:r>
            <a:r>
              <a:rPr lang="en-US" sz="2000" dirty="0">
                <a:latin typeface="Consolas" panose="020B0609020204030204" pitchFamily="49" charset="0"/>
              </a:rPr>
              <a:t>(String </a:t>
            </a:r>
            <a:r>
              <a:rPr lang="en-US" sz="2000" dirty="0" err="1">
                <a:latin typeface="Consolas" panose="020B0609020204030204" pitchFamily="49" charset="0"/>
              </a:rPr>
              <a:t>clearText</a:t>
            </a:r>
            <a:r>
              <a:rPr lang="en-US" sz="2000" dirty="0">
                <a:latin typeface="Consolas" panose="020B0609020204030204" pitchFamily="49" charset="0"/>
              </a:rPr>
              <a:t>, String </a:t>
            </a:r>
            <a:r>
              <a:rPr lang="en-US" sz="2000" dirty="0" err="1">
                <a:latin typeface="Consolas" panose="020B0609020204030204" pitchFamily="49" charset="0"/>
              </a:rPr>
              <a:t>pfxCertPathname</a:t>
            </a:r>
            <a:r>
              <a:rPr lang="en-US" sz="2000" dirty="0">
                <a:latin typeface="Consolas" panose="020B0609020204030204" pitchFamily="49" charset="0"/>
              </a:rPr>
              <a:t>, String </a:t>
            </a:r>
            <a:r>
              <a:rPr lang="en-US" sz="2000" dirty="0" err="1">
                <a:latin typeface="Consolas" panose="020B0609020204030204" pitchFamily="49" charset="0"/>
              </a:rPr>
              <a:t>pfxPswd</a:t>
            </a:r>
            <a:r>
              <a:rPr lang="en-US" sz="2000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// Create an envelope with the text as its contents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</a:rPr>
              <a:t>var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contentInfo</a:t>
            </a:r>
            <a:r>
              <a:rPr lang="en-US" sz="2000" dirty="0">
                <a:latin typeface="Consolas" panose="020B0609020204030204" pitchFamily="49" charset="0"/>
              </a:rPr>
              <a:t> = new </a:t>
            </a:r>
            <a:r>
              <a:rPr lang="en-US" sz="2000" dirty="0" err="1">
                <a:latin typeface="Consolas" panose="020B0609020204030204" pitchFamily="49" charset="0"/>
              </a:rPr>
              <a:t>ContentInfo</a:t>
            </a:r>
            <a:r>
              <a:rPr lang="en-US" sz="2000" dirty="0">
                <a:latin typeface="Consolas" panose="020B0609020204030204" pitchFamily="49" charset="0"/>
              </a:rPr>
              <a:t>(Encoding.UTF8.GetBytes(</a:t>
            </a:r>
            <a:r>
              <a:rPr lang="en-US" sz="2000" dirty="0" err="1">
                <a:latin typeface="Consolas" panose="020B0609020204030204" pitchFamily="49" charset="0"/>
              </a:rPr>
              <a:t>clearText</a:t>
            </a:r>
            <a:r>
              <a:rPr lang="en-US" sz="2000" dirty="0">
                <a:latin typeface="Consolas" panose="020B0609020204030204" pitchFamily="49" charset="0"/>
              </a:rPr>
              <a:t>));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</a:rPr>
              <a:t>var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envelopedCms</a:t>
            </a:r>
            <a:r>
              <a:rPr lang="en-US" sz="2000" dirty="0">
                <a:latin typeface="Consolas" panose="020B0609020204030204" pitchFamily="49" charset="0"/>
              </a:rPr>
              <a:t> = new </a:t>
            </a:r>
            <a:r>
              <a:rPr lang="en-US" sz="2000" dirty="0" err="1">
                <a:latin typeface="Consolas" panose="020B0609020204030204" pitchFamily="49" charset="0"/>
              </a:rPr>
              <a:t>EnvelopedCms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contentInfo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/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// The recipient of the envelope is the owner of the certificate's private key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</a:rPr>
              <a:t>var</a:t>
            </a:r>
            <a:r>
              <a:rPr lang="en-US" sz="2000" dirty="0">
                <a:latin typeface="Consolas" panose="020B0609020204030204" pitchFamily="49" charset="0"/>
              </a:rPr>
              <a:t> certificate = new X509Certificate2(</a:t>
            </a:r>
            <a:r>
              <a:rPr lang="en-US" sz="2000" dirty="0" err="1">
                <a:latin typeface="Consolas" panose="020B0609020204030204" pitchFamily="49" charset="0"/>
              </a:rPr>
              <a:t>pfxCertPathname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pfxPswd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</a:rPr>
              <a:t>var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cmsRecipient</a:t>
            </a:r>
            <a:r>
              <a:rPr lang="en-US" sz="2000" dirty="0">
                <a:latin typeface="Consolas" panose="020B0609020204030204" pitchFamily="49" charset="0"/>
              </a:rPr>
              <a:t> = new </a:t>
            </a:r>
            <a:r>
              <a:rPr lang="en-US" sz="2000" dirty="0" err="1">
                <a:latin typeface="Consolas" panose="020B0609020204030204" pitchFamily="49" charset="0"/>
              </a:rPr>
              <a:t>CmsRecipient</a:t>
            </a:r>
            <a:r>
              <a:rPr lang="en-US" sz="2000" dirty="0">
                <a:latin typeface="Consolas" panose="020B0609020204030204" pitchFamily="49" charset="0"/>
              </a:rPr>
              <a:t>(certificate);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// Encrypt the envelope for the recipient &amp; return the encoded value;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// NOTE: the cert info is embedded; no need record thumbprint separately.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</a:rPr>
              <a:t>envelopedCms.Encrypt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cmsRecipient</a:t>
            </a:r>
            <a:r>
              <a:rPr lang="en-US" sz="2000" dirty="0">
                <a:latin typeface="Consolas" panose="020B0609020204030204" pitchFamily="49" charset="0"/>
              </a:rPr>
              <a:t>);     // Certificate thumbprint embedded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return Convert.ToBase64String(</a:t>
            </a:r>
            <a:r>
              <a:rPr lang="en-US" sz="2000" dirty="0" err="1">
                <a:latin typeface="Consolas" panose="020B0609020204030204" pitchFamily="49" charset="0"/>
              </a:rPr>
              <a:t>envelopedCms.Encode</a:t>
            </a:r>
            <a:r>
              <a:rPr lang="en-US" sz="2000" dirty="0">
                <a:latin typeface="Consolas" panose="020B0609020204030204" pitchFamily="49" charset="0"/>
              </a:rPr>
              <a:t>());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Cryptographic Message Syntax (CMS)</a:t>
            </a:r>
            <a:br>
              <a:rPr lang="en-US" dirty="0"/>
            </a:br>
            <a:r>
              <a:rPr lang="en-US" dirty="0"/>
              <a:t>http://www.ietf.org/rfc/rfc3852.txt</a:t>
            </a:r>
          </a:p>
        </p:txBody>
      </p:sp>
    </p:spTree>
    <p:extLst>
      <p:ext uri="{BB962C8B-B14F-4D97-AF65-F5344CB8AC3E}">
        <p14:creationId xmlns:p14="http://schemas.microsoft.com/office/powerpoint/2010/main" val="1768135359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376103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static String </a:t>
            </a:r>
            <a:r>
              <a:rPr lang="en-US" sz="2800" dirty="0" err="1">
                <a:latin typeface="Consolas" panose="020B0609020204030204" pitchFamily="49" charset="0"/>
              </a:rPr>
              <a:t>DecryptText</a:t>
            </a:r>
            <a:r>
              <a:rPr lang="en-US" sz="2800" dirty="0">
                <a:latin typeface="Consolas" panose="020B0609020204030204" pitchFamily="49" charset="0"/>
              </a:rPr>
              <a:t>(String </a:t>
            </a:r>
            <a:r>
              <a:rPr lang="en-US" sz="2800" dirty="0" err="1">
                <a:latin typeface="Consolas" panose="020B0609020204030204" pitchFamily="49" charset="0"/>
              </a:rPr>
              <a:t>cipherText</a:t>
            </a:r>
            <a:r>
              <a:rPr lang="en-US" sz="2800" dirty="0">
                <a:latin typeface="Consolas" panose="020B0609020204030204" pitchFamily="49" charset="0"/>
              </a:rPr>
              <a:t>) {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</a:t>
            </a:r>
            <a:r>
              <a:rPr lang="en-US" sz="2800" dirty="0" err="1">
                <a:latin typeface="Consolas" panose="020B0609020204030204" pitchFamily="49" charset="0"/>
              </a:rPr>
              <a:t>var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envelopedCms</a:t>
            </a:r>
            <a:r>
              <a:rPr lang="en-US" sz="2800" dirty="0">
                <a:latin typeface="Consolas" panose="020B0609020204030204" pitchFamily="49" charset="0"/>
              </a:rPr>
              <a:t> = new </a:t>
            </a:r>
            <a:r>
              <a:rPr lang="en-US" sz="2800" dirty="0" err="1">
                <a:latin typeface="Consolas" panose="020B0609020204030204" pitchFamily="49" charset="0"/>
              </a:rPr>
              <a:t>EnvelopedCms</a:t>
            </a:r>
            <a:r>
              <a:rPr lang="en-US" sz="2800" dirty="0">
                <a:latin typeface="Consolas" panose="020B0609020204030204" pitchFamily="49" charset="0"/>
              </a:rPr>
              <a:t>();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/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</a:t>
            </a:r>
            <a:r>
              <a:rPr lang="en-US" sz="2800" dirty="0" err="1">
                <a:latin typeface="Consolas" panose="020B0609020204030204" pitchFamily="49" charset="0"/>
              </a:rPr>
              <a:t>envelopedCms.Decode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  Convert.FromBase64String(</a:t>
            </a:r>
            <a:r>
              <a:rPr lang="en-US" sz="2800" dirty="0" err="1">
                <a:latin typeface="Consolas" panose="020B0609020204030204" pitchFamily="49" charset="0"/>
              </a:rPr>
              <a:t>cipherText</a:t>
            </a:r>
            <a:r>
              <a:rPr lang="en-US" sz="2800" dirty="0">
                <a:latin typeface="Consolas" panose="020B0609020204030204" pitchFamily="49" charset="0"/>
              </a:rPr>
              <a:t>));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</a:t>
            </a:r>
            <a:r>
              <a:rPr lang="en-US" sz="2800" dirty="0" err="1">
                <a:latin typeface="Consolas" panose="020B0609020204030204" pitchFamily="49" charset="0"/>
              </a:rPr>
              <a:t>envelopedCms.Decrypt</a:t>
            </a:r>
            <a:r>
              <a:rPr lang="en-US" sz="2800" dirty="0">
                <a:latin typeface="Consolas" panose="020B0609020204030204" pitchFamily="49" charset="0"/>
              </a:rPr>
              <a:t>();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return Encoding.UTF8.GetString(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  </a:t>
            </a:r>
            <a:r>
              <a:rPr lang="en-US" sz="2800" dirty="0" err="1">
                <a:latin typeface="Consolas" panose="020B0609020204030204" pitchFamily="49" charset="0"/>
              </a:rPr>
              <a:t>envelopedCms.ContentInfo.Content</a:t>
            </a:r>
            <a:r>
              <a:rPr lang="en-US" sz="2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10050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435334"/>
          </a:xfrm>
        </p:spPr>
        <p:txBody>
          <a:bodyPr/>
          <a:lstStyle/>
          <a:p>
            <a:r>
              <a:rPr lang="en-US" sz="3200" dirty="0"/>
              <a:t>ALM</a:t>
            </a:r>
          </a:p>
          <a:p>
            <a:pPr lvl="1"/>
            <a:r>
              <a:rPr lang="en-US" sz="2000" dirty="0"/>
              <a:t>Securing SF TCP/REST endpoints</a:t>
            </a:r>
          </a:p>
          <a:p>
            <a:pPr lvl="1"/>
            <a:r>
              <a:rPr lang="en-US" sz="2000" dirty="0"/>
              <a:t>Get certificate on nodes for HTTPS web endpoints</a:t>
            </a:r>
          </a:p>
          <a:p>
            <a:pPr lvl="1"/>
            <a:r>
              <a:rPr lang="en-US" sz="2000" dirty="0"/>
              <a:t>Testability demo &amp; guidance around testability APIs</a:t>
            </a:r>
          </a:p>
          <a:p>
            <a:pPr lvl="1"/>
            <a:r>
              <a:rPr lang="en-US" sz="2000" dirty="0"/>
              <a:t>Demo service instance under different account</a:t>
            </a:r>
          </a:p>
          <a:p>
            <a:pPr lvl="1"/>
            <a:r>
              <a:rPr lang="en-US" sz="2000" dirty="0"/>
              <a:t>Startup tasks</a:t>
            </a:r>
          </a:p>
          <a:p>
            <a:pPr lvl="1"/>
            <a:r>
              <a:rPr lang="en-US" sz="2000" dirty="0"/>
              <a:t>Demo reading </a:t>
            </a:r>
            <a:r>
              <a:rPr lang="en-US" sz="2000" dirty="0" err="1"/>
              <a:t>config</a:t>
            </a:r>
            <a:r>
              <a:rPr lang="en-US" sz="2000" dirty="0"/>
              <a:t> file from </a:t>
            </a:r>
            <a:r>
              <a:rPr lang="en-US" sz="2000" dirty="0" err="1"/>
              <a:t>config</a:t>
            </a:r>
            <a:r>
              <a:rPr lang="en-US" sz="2000" dirty="0"/>
              <a:t> package</a:t>
            </a:r>
          </a:p>
          <a:p>
            <a:r>
              <a:rPr lang="en-US" sz="3200" dirty="0"/>
              <a:t>Stateless</a:t>
            </a:r>
          </a:p>
          <a:p>
            <a:pPr lvl="1"/>
            <a:r>
              <a:rPr lang="en-US" sz="2000" dirty="0"/>
              <a:t>Demo service instance code/</a:t>
            </a:r>
            <a:r>
              <a:rPr lang="en-US" sz="2000" dirty="0" err="1"/>
              <a:t>config</a:t>
            </a:r>
            <a:r>
              <a:rPr lang="en-US" sz="2000" dirty="0"/>
              <a:t>/data update events</a:t>
            </a:r>
          </a:p>
          <a:p>
            <a:pPr lvl="1"/>
            <a:r>
              <a:rPr lang="en-US" sz="2000" dirty="0"/>
              <a:t>What is in the Log, Work, and Temp directories</a:t>
            </a:r>
          </a:p>
          <a:p>
            <a:pPr lvl="1"/>
            <a:r>
              <a:rPr lang="en-US" sz="2000" dirty="0"/>
              <a:t>The options for setting the default directory in the manifest for a service instance/replica</a:t>
            </a:r>
          </a:p>
          <a:p>
            <a:r>
              <a:rPr lang="en-US" sz="3200" dirty="0" err="1"/>
              <a:t>Stateful</a:t>
            </a:r>
            <a:endParaRPr lang="en-US" sz="3200" dirty="0"/>
          </a:p>
          <a:p>
            <a:pPr lvl="1"/>
            <a:r>
              <a:rPr lang="en-US" sz="2000" dirty="0"/>
              <a:t>Reliable collections backup/restore</a:t>
            </a:r>
          </a:p>
          <a:p>
            <a:pPr lvl="1"/>
            <a:r>
              <a:rPr lang="en-US" sz="2000" dirty="0"/>
              <a:t>Reliable collections custom serialization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94802258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 &amp;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04611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Jeffrey Richter">
  <a:themeElements>
    <a:clrScheme name="TR20 - BO">
      <a:dk1>
        <a:srgbClr val="505050"/>
      </a:dk1>
      <a:lt1>
        <a:srgbClr val="FFFFFF"/>
      </a:lt1>
      <a:dk2>
        <a:srgbClr val="0078D7"/>
      </a:dk2>
      <a:lt2>
        <a:srgbClr val="D2D2D2"/>
      </a:lt2>
      <a:accent1>
        <a:srgbClr val="D83B01"/>
      </a:accent1>
      <a:accent2>
        <a:srgbClr val="0078D7"/>
      </a:accent2>
      <a:accent3>
        <a:srgbClr val="BAD80A"/>
      </a:accent3>
      <a:accent4>
        <a:srgbClr val="FFB900"/>
      </a:accent4>
      <a:accent5>
        <a:srgbClr val="5C2D91"/>
      </a:accent5>
      <a:accent6>
        <a:srgbClr val="002050"/>
      </a:accent6>
      <a:hlink>
        <a:srgbClr val="002050"/>
      </a:hlink>
      <a:folHlink>
        <a:srgbClr val="002050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 w="3175"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effrey Richter PPT Template.potx" id="{0EC3B29B-1691-4021-B91F-DD4F9F467C43}" vid="{219876D6-05DE-4F5A-B736-86EA333E67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0</TotalTime>
  <Words>3850</Words>
  <Application>Microsoft Office PowerPoint</Application>
  <PresentationFormat>宽屏</PresentationFormat>
  <Paragraphs>1077</Paragraphs>
  <Slides>78</Slides>
  <Notes>40</Notes>
  <HiddenSlides>52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78</vt:i4>
      </vt:variant>
    </vt:vector>
  </HeadingPairs>
  <TitlesOfParts>
    <vt:vector size="90" baseType="lpstr">
      <vt:lpstr>Core Sans NR 45 Regular</vt:lpstr>
      <vt:lpstr>MS PGothic</vt:lpstr>
      <vt:lpstr>Segoe Pro Display Light</vt:lpstr>
      <vt:lpstr>Segoe Pro Display Semibold</vt:lpstr>
      <vt:lpstr>Arial</vt:lpstr>
      <vt:lpstr>Calibri</vt:lpstr>
      <vt:lpstr>Consolas</vt:lpstr>
      <vt:lpstr>Segoe UI</vt:lpstr>
      <vt:lpstr>Segoe UI Light</vt:lpstr>
      <vt:lpstr>Segoe UI Semibold</vt:lpstr>
      <vt:lpstr>Wingdings</vt:lpstr>
      <vt:lpstr>Jeffrey Richter</vt:lpstr>
      <vt:lpstr>Building Microservices Applications on Azure Service Fabric</vt:lpstr>
      <vt:lpstr>Jeffrey Richter: Microsoft Software Engineer, Wintellect Co-Founder, &amp; Author</vt:lpstr>
      <vt:lpstr>Boris Scholl: Principal PM, Azure Compute Author and Speaker  </vt:lpstr>
      <vt:lpstr>Agenda </vt:lpstr>
      <vt:lpstr>Service Fabric: A Microservices Platform</vt:lpstr>
      <vt:lpstr>What is Service Fabric</vt:lpstr>
      <vt:lpstr>Cloud Services vs Service Fabric</vt:lpstr>
      <vt:lpstr>Azure’s Next Generation Cloud Platform</vt:lpstr>
      <vt:lpstr>Service Fabric Container Integration</vt:lpstr>
      <vt:lpstr>Azure Resource Manager </vt:lpstr>
      <vt:lpstr>Power of Repeatability</vt:lpstr>
      <vt:lpstr>Service Fabric Cluster with 5 Nodes </vt:lpstr>
      <vt:lpstr>Securing Node Endpoints</vt:lpstr>
      <vt:lpstr>Securing a Service Fabric Cluster</vt:lpstr>
      <vt:lpstr>Setting-up a Cluster in Azure</vt:lpstr>
      <vt:lpstr>Service Fabric’s Infrastructure Services</vt:lpstr>
      <vt:lpstr>Service Fabric’s Infrastructure Services</vt:lpstr>
      <vt:lpstr>Node Processes</vt:lpstr>
      <vt:lpstr>Service Fabric Explorer</vt:lpstr>
      <vt:lpstr>Service Instance Environment Variables</vt:lpstr>
      <vt:lpstr>Application Packaging &amp; Deployment</vt:lpstr>
      <vt:lpstr>Defining Application Types &amp; Service Types</vt:lpstr>
      <vt:lpstr>App Pkg Dir &amp; its ApplicationManifest.xml File</vt:lpstr>
      <vt:lpstr>Service Pkg Dir &amp; its ServiceManifest.xml File</vt:lpstr>
      <vt:lpstr>Runtime Relationships</vt:lpstr>
      <vt:lpstr>Creating Apps, Services, Partitions, &amp; Instances</vt:lpstr>
      <vt:lpstr>PowerPoint 演示文稿</vt:lpstr>
      <vt:lpstr>Deploy Application Type &amp; Create App Instance</vt:lpstr>
      <vt:lpstr>PowerShell App Pkg &amp; Named App/Service Ops</vt:lpstr>
      <vt:lpstr>Health</vt:lpstr>
      <vt:lpstr>Health Entities, Events, &amp; States</vt:lpstr>
      <vt:lpstr>Health Policies</vt:lpstr>
      <vt:lpstr>A Watchdog Submitting Health Reports</vt:lpstr>
      <vt:lpstr>Health Failure Examples</vt:lpstr>
      <vt:lpstr>PowerPoint 演示文稿</vt:lpstr>
      <vt:lpstr>Example Health Failures</vt:lpstr>
      <vt:lpstr>Example Health Failures</vt:lpstr>
      <vt:lpstr>Example Health Failures</vt:lpstr>
      <vt:lpstr>Submitting Health Reports</vt:lpstr>
      <vt:lpstr>Submitting a Health Report</vt:lpstr>
      <vt:lpstr>What’s in a Health Report</vt:lpstr>
      <vt:lpstr>What’s in a Health Event</vt:lpstr>
      <vt:lpstr>Health Report Submission Guidance</vt:lpstr>
      <vt:lpstr>Upgrading a Named Application</vt:lpstr>
      <vt:lpstr>Updating Your App’s Service’s Code</vt:lpstr>
      <vt:lpstr>Upgrade Domains</vt:lpstr>
      <vt:lpstr>Fault Domains</vt:lpstr>
      <vt:lpstr>Service Fabric Explorer’s Cluster Map</vt:lpstr>
      <vt:lpstr>Start-ServiceFabricApplicationUpgrade</vt:lpstr>
      <vt:lpstr>Optional Health Criteria Policies</vt:lpstr>
      <vt:lpstr>Upgrading a Named Application</vt:lpstr>
      <vt:lpstr>Managing Named Application Upgrades</vt:lpstr>
      <vt:lpstr>Updating a Named Service</vt:lpstr>
      <vt:lpstr>Update a Named Service</vt:lpstr>
      <vt:lpstr>Updating a Named Service</vt:lpstr>
      <vt:lpstr>The Cluster Resource Manager</vt:lpstr>
      <vt:lpstr>Node Placement Properties &amp; Capacities</vt:lpstr>
      <vt:lpstr>Node Placement Properties &amp; Constraints</vt:lpstr>
      <vt:lpstr>Node Capacities &amp; Service Load Metric Values</vt:lpstr>
      <vt:lpstr>DEMO: Cluster Resource Manager</vt:lpstr>
      <vt:lpstr>VIPs, DIPS, and PIPs</vt:lpstr>
      <vt:lpstr>Placement Constraints &amp; Load Metrics</vt:lpstr>
      <vt:lpstr>PowerPoint 演示文稿</vt:lpstr>
      <vt:lpstr>PowerPoint 演示文稿</vt:lpstr>
      <vt:lpstr>Node Movement</vt:lpstr>
      <vt:lpstr>Balancing Threshold</vt:lpstr>
      <vt:lpstr>Simulated Annealing</vt:lpstr>
      <vt:lpstr>Frequency of Placement Calculations</vt:lpstr>
      <vt:lpstr>Testability</vt:lpstr>
      <vt:lpstr>Testability</vt:lpstr>
      <vt:lpstr>Testability Actions</vt:lpstr>
      <vt:lpstr>Testability</vt:lpstr>
      <vt:lpstr>Diagnostics</vt:lpstr>
      <vt:lpstr>SF Log Files</vt:lpstr>
      <vt:lpstr>Cryptographic Message Syntax (CMS) http://www.ietf.org/rfc/rfc3852.txt</vt:lpstr>
      <vt:lpstr>PowerPoint 演示文稿</vt:lpstr>
      <vt:lpstr>TODO</vt:lpstr>
      <vt:lpstr>Q &amp; 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2016-09-07T16:51:16Z</dcterms:created>
  <dcterms:modified xsi:type="dcterms:W3CDTF">2018-07-18T13:47:57Z</dcterms:modified>
</cp:coreProperties>
</file>