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 id="2147484219" r:id="rId2"/>
    <p:sldMasterId id="2147484239" r:id="rId3"/>
  </p:sldMasterIdLst>
  <p:notesMasterIdLst>
    <p:notesMasterId r:id="rId38"/>
  </p:notesMasterIdLst>
  <p:handoutMasterIdLst>
    <p:handoutMasterId r:id="rId39"/>
  </p:handoutMasterIdLst>
  <p:sldIdLst>
    <p:sldId id="1492" r:id="rId4"/>
    <p:sldId id="1493" r:id="rId5"/>
    <p:sldId id="1417" r:id="rId6"/>
    <p:sldId id="1421" r:id="rId7"/>
    <p:sldId id="1435" r:id="rId8"/>
    <p:sldId id="1454" r:id="rId9"/>
    <p:sldId id="1455" r:id="rId10"/>
    <p:sldId id="1456" r:id="rId11"/>
    <p:sldId id="1468" r:id="rId12"/>
    <p:sldId id="1438" r:id="rId13"/>
    <p:sldId id="1436" r:id="rId14"/>
    <p:sldId id="1429" r:id="rId15"/>
    <p:sldId id="1442" r:id="rId16"/>
    <p:sldId id="1478" r:id="rId17"/>
    <p:sldId id="1479" r:id="rId18"/>
    <p:sldId id="1440" r:id="rId19"/>
    <p:sldId id="1457" r:id="rId20"/>
    <p:sldId id="1446" r:id="rId21"/>
    <p:sldId id="1481" r:id="rId22"/>
    <p:sldId id="1480" r:id="rId23"/>
    <p:sldId id="1495" r:id="rId24"/>
    <p:sldId id="1482" r:id="rId25"/>
    <p:sldId id="1485" r:id="rId26"/>
    <p:sldId id="1483" r:id="rId27"/>
    <p:sldId id="1484" r:id="rId28"/>
    <p:sldId id="1486" r:id="rId29"/>
    <p:sldId id="1488" r:id="rId30"/>
    <p:sldId id="1489" r:id="rId31"/>
    <p:sldId id="1490" r:id="rId32"/>
    <p:sldId id="1491" r:id="rId33"/>
    <p:sldId id="1427" r:id="rId34"/>
    <p:sldId id="1428" r:id="rId35"/>
    <p:sldId id="1419" r:id="rId36"/>
    <p:sldId id="1494" r:id="rId37"/>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435308C-029E-46FB-BD78-CBA658CC9432}">
          <p14:sldIdLst>
            <p14:sldId id="1492"/>
          </p14:sldIdLst>
        </p14:section>
        <p14:section name="Intro and Agenda" id="{46325CC0-7D1B-4A4D-9AFD-CF3128AD6499}">
          <p14:sldIdLst>
            <p14:sldId id="1493"/>
            <p14:sldId id="1417"/>
          </p14:sldIdLst>
        </p14:section>
        <p14:section name="Architectures" id="{41A20459-BB6F-4AA3-B506-3B394CA3D0A2}">
          <p14:sldIdLst/>
        </p14:section>
        <p14:section name="General Services" id="{703013F2-AB40-42A3-87F2-522FBFB4B0FF}">
          <p14:sldIdLst>
            <p14:sldId id="1421"/>
            <p14:sldId id="1435"/>
            <p14:sldId id="1454"/>
            <p14:sldId id="1455"/>
            <p14:sldId id="1456"/>
            <p14:sldId id="1468"/>
            <p14:sldId id="1438"/>
            <p14:sldId id="1436"/>
            <p14:sldId id="1429"/>
          </p14:sldIdLst>
        </p14:section>
        <p14:section name="Development" id="{6A970275-901A-4DEE-A785-01A784E7207D}">
          <p14:sldIdLst>
            <p14:sldId id="1442"/>
            <p14:sldId id="1478"/>
            <p14:sldId id="1479"/>
            <p14:sldId id="1440"/>
            <p14:sldId id="1457"/>
            <p14:sldId id="1446"/>
            <p14:sldId id="1481"/>
            <p14:sldId id="1480"/>
          </p14:sldIdLst>
        </p14:section>
        <p14:section name="Monitoring" id="{3C00C1C6-3271-4F0E-84DC-4C3E0BABA966}">
          <p14:sldIdLst>
            <p14:sldId id="1495"/>
            <p14:sldId id="1482"/>
            <p14:sldId id="1485"/>
            <p14:sldId id="1483"/>
            <p14:sldId id="1484"/>
            <p14:sldId id="1486"/>
            <p14:sldId id="1488"/>
            <p14:sldId id="1489"/>
            <p14:sldId id="1490"/>
            <p14:sldId id="1491"/>
          </p14:sldIdLst>
        </p14:section>
        <p14:section name="Deployment and Upgrade" id="{02B69500-B72B-440D-B4B0-2160580033CD}">
          <p14:sldIdLst>
            <p14:sldId id="1427"/>
            <p14:sldId id="1428"/>
            <p14:sldId id="1419"/>
          </p14:sldIdLst>
        </p14:section>
        <p14:section name="Wrap up" id="{E1B22098-FA7C-4774-A24A-FC8B621B3A12}">
          <p14:sldIdLst>
            <p14:sldId id="149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作者"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88F"/>
    <a:srgbClr val="000000"/>
    <a:srgbClr val="4D9ED7"/>
    <a:srgbClr val="4DA0E2"/>
    <a:srgbClr val="505050"/>
    <a:srgbClr val="002050"/>
    <a:srgbClr val="008272"/>
    <a:srgbClr val="D2D2D2"/>
    <a:srgbClr val="BAD80A"/>
    <a:srgbClr val="7FB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99" autoAdjust="0"/>
    <p:restoredTop sz="89199" autoAdjust="0"/>
  </p:normalViewPr>
  <p:slideViewPr>
    <p:cSldViewPr snapToObjects="1">
      <p:cViewPr varScale="1">
        <p:scale>
          <a:sx n="57" d="100"/>
          <a:sy n="57" d="100"/>
        </p:scale>
        <p:origin x="490" y="48"/>
      </p:cViewPr>
      <p:guideLst/>
    </p:cSldViewPr>
  </p:slideViewPr>
  <p:outlineViewPr>
    <p:cViewPr>
      <p:scale>
        <a:sx n="33" d="100"/>
        <a:sy n="33" d="100"/>
      </p:scale>
      <p:origin x="0" y="-1251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83" d="100"/>
          <a:sy n="83" d="100"/>
        </p:scale>
        <p:origin x="299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7AAADD-8F94-4863-AB67-1D448E3F1BC3}" type="datetime1">
              <a:rPr lang="en-US" smtClean="0">
                <a:latin typeface="Segoe UI" pitchFamily="34" charset="0"/>
              </a:rPr>
              <a:t>7/18/2018</a:t>
            </a:fld>
            <a:endParaRPr lang="en-US" dirty="0">
              <a:latin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
        <p:nvSpPr>
          <p:cNvPr id="3" name="Footer Placeholder 2"/>
          <p:cNvSpPr>
            <a:spLocks noGrp="1"/>
          </p:cNvSpPr>
          <p:nvPr>
            <p:ph type="ftr" sz="quarter" idx="2"/>
          </p:nvPr>
        </p:nvSpPr>
        <p:spPr>
          <a:xfrm>
            <a:off x="320074" y="8685213"/>
            <a:ext cx="5463504" cy="458787"/>
          </a:xfrm>
          <a:prstGeom prst="rect">
            <a:avLst/>
          </a:prstGeom>
        </p:spPr>
        <p:txBody>
          <a:bodyPr vert="horz" lIns="91440" tIns="45720" rIns="91440" bIns="45720" rtlCol="0" anchor="b"/>
          <a:lstStyle>
            <a:lvl1pPr algn="l">
              <a:defRPr sz="1200"/>
            </a:lvl1pPr>
          </a:lstStyle>
          <a:p>
            <a:r>
              <a:rPr lang="en-US" sz="500" dirty="0"/>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5"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TechReady 22</a:t>
            </a:r>
          </a:p>
          <a:p>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TechReady 22</a:t>
            </a:r>
          </a:p>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E74353ED-ACB2-44BF-A903-985B0AF962B7}" type="datetime1">
              <a:rPr lang="en-US" smtClean="0"/>
              <a:t>7/18/2018</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335790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4203827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2038274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2514654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977076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3623668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20</a:t>
            </a:fld>
            <a:endParaRPr lang="en-US" dirty="0"/>
          </a:p>
        </p:txBody>
      </p:sp>
    </p:spTree>
    <p:extLst>
      <p:ext uri="{BB962C8B-B14F-4D97-AF65-F5344CB8AC3E}">
        <p14:creationId xmlns:p14="http://schemas.microsoft.com/office/powerpoint/2010/main" val="148142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5" name="Date Placeholder 4"/>
          <p:cNvSpPr>
            <a:spLocks noGrp="1"/>
          </p:cNvSpPr>
          <p:nvPr>
            <p:ph type="dt" idx="11"/>
          </p:nvPr>
        </p:nvSpPr>
        <p:spPr/>
        <p:txBody>
          <a:bodyPr/>
          <a:lstStyle/>
          <a:p>
            <a:fld id="{E74353ED-ACB2-44BF-A903-985B0AF962B7}" type="datetime1">
              <a:rPr lang="en-US" smtClean="0"/>
              <a:t>7/18/2018</a:t>
            </a:fld>
            <a:endParaRPr lang="en-US" dirty="0"/>
          </a:p>
        </p:txBody>
      </p:sp>
      <p:sp>
        <p:nvSpPr>
          <p:cNvPr id="6" name="Slide Number Placeholder 5"/>
          <p:cNvSpPr>
            <a:spLocks noGrp="1"/>
          </p:cNvSpPr>
          <p:nvPr>
            <p:ph type="sldNum" sz="quarter" idx="12"/>
          </p:nvPr>
        </p:nvSpPr>
        <p:spPr/>
        <p:txBody>
          <a:bodyPr/>
          <a:lstStyle/>
          <a:p>
            <a:fld id="{B4008EB6-D09E-4580-8CD6-DDB14511944F}" type="slidenum">
              <a:rPr lang="en-US" smtClean="0"/>
              <a:pPr/>
              <a:t>22</a:t>
            </a:fld>
            <a:endParaRPr lang="en-US" dirty="0"/>
          </a:p>
        </p:txBody>
      </p:sp>
    </p:spTree>
    <p:extLst>
      <p:ext uri="{BB962C8B-B14F-4D97-AF65-F5344CB8AC3E}">
        <p14:creationId xmlns:p14="http://schemas.microsoft.com/office/powerpoint/2010/main" val="112388595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9.emf"/><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ANIMATED">
    <p:bg bwMode="auto">
      <p:bgPr>
        <a:solidFill>
          <a:schemeClr val="accent2"/>
        </a:solidFill>
        <a:effectLst/>
      </p:bgPr>
    </p:bg>
    <p:spTree>
      <p:nvGrpSpPr>
        <p:cNvPr id="1" name=""/>
        <p:cNvGrpSpPr/>
        <p:nvPr/>
      </p:nvGrpSpPr>
      <p:grpSpPr>
        <a:xfrm>
          <a:off x="0" y="0"/>
          <a:ext cx="0" cy="0"/>
          <a:chOff x="0" y="0"/>
          <a:chExt cx="0" cy="0"/>
        </a:xfrm>
      </p:grpSpPr>
      <p:sp>
        <p:nvSpPr>
          <p:cNvPr id="12" name="Rectangle 5"/>
          <p:cNvSpPr>
            <a:spLocks noChangeArrowheads="1"/>
          </p:cNvSpPr>
          <p:nvPr userDrawn="1"/>
        </p:nvSpPr>
        <p:spPr bwMode="auto">
          <a:xfrm>
            <a:off x="3175" y="4395788"/>
            <a:ext cx="12433300" cy="2601913"/>
          </a:xfrm>
          <a:prstGeom prst="rect">
            <a:avLst/>
          </a:prstGeom>
          <a:solidFill>
            <a:srgbClr val="4DA0E2"/>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7"/>
          <p:cNvSpPr>
            <a:spLocks noChangeArrowheads="1"/>
          </p:cNvSpPr>
          <p:nvPr userDrawn="1"/>
        </p:nvSpPr>
        <p:spPr bwMode="auto">
          <a:xfrm>
            <a:off x="0" y="5843588"/>
            <a:ext cx="12433301" cy="1154113"/>
          </a:xfrm>
          <a:prstGeom prst="rect">
            <a:avLst/>
          </a:prstGeom>
          <a:solidFill>
            <a:srgbClr val="00188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userDrawn="1"/>
        </p:nvSpPr>
        <p:spPr bwMode="auto">
          <a:xfrm>
            <a:off x="3175" y="3409950"/>
            <a:ext cx="12430127" cy="282575"/>
          </a:xfrm>
          <a:prstGeom prst="rect">
            <a:avLst/>
          </a:prstGeom>
          <a:solidFill>
            <a:srgbClr val="25B9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2"/>
          <p:cNvSpPr/>
          <p:nvPr userDrawn="1"/>
        </p:nvSpPr>
        <p:spPr bwMode="white">
          <a:xfrm>
            <a:off x="0" y="-318"/>
            <a:ext cx="12435840" cy="699516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a:t>Presentation title</a:t>
            </a:r>
          </a:p>
        </p:txBody>
      </p:sp>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val="0"/>
              </a:ext>
            </a:extLst>
          </a:blip>
          <a:stretch>
            <a:fillRect/>
          </a:stretch>
        </p:blipFill>
        <p:spPr bwMode="black">
          <a:xfrm>
            <a:off x="458332" y="6182440"/>
            <a:ext cx="1552931" cy="332660"/>
          </a:xfrm>
          <a:prstGeom prst="rect">
            <a:avLst/>
          </a:prstGeom>
        </p:spPr>
      </p:pic>
      <p:sp>
        <p:nvSpPr>
          <p:cNvPr id="8" name="Rectangle 6"/>
          <p:cNvSpPr>
            <a:spLocks noChangeArrowheads="1"/>
          </p:cNvSpPr>
          <p:nvPr userDrawn="1"/>
        </p:nvSpPr>
        <p:spPr bwMode="auto">
          <a:xfrm>
            <a:off x="3175" y="4395788"/>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Text Placeholder 16"/>
          <p:cNvSpPr>
            <a:spLocks noGrp="1"/>
          </p:cNvSpPr>
          <p:nvPr>
            <p:ph type="body" sz="quarter" idx="13" hasCustomPrompt="1"/>
          </p:nvPr>
        </p:nvSpPr>
        <p:spPr>
          <a:xfrm>
            <a:off x="274638" y="296863"/>
            <a:ext cx="3657600" cy="461665"/>
          </a:xfrm>
        </p:spPr>
        <p:txBody>
          <a:bodyPr/>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a:t>Session Code</a:t>
            </a:r>
          </a:p>
        </p:txBody>
      </p:sp>
      <p:sp>
        <p:nvSpPr>
          <p:cNvPr id="15" name="Text Placeholder 16"/>
          <p:cNvSpPr>
            <a:spLocks noGrp="1"/>
          </p:cNvSpPr>
          <p:nvPr>
            <p:ph type="body" sz="quarter" idx="14" hasCustomPrompt="1"/>
          </p:nvPr>
        </p:nvSpPr>
        <p:spPr>
          <a:xfrm>
            <a:off x="8504239" y="296863"/>
            <a:ext cx="3657600" cy="461665"/>
          </a:xfrm>
        </p:spPr>
        <p:txBody>
          <a:bodyPr/>
          <a:lstStyle>
            <a:lvl1pPr marL="0" indent="0" algn="r">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a:t>Yammer hashtag</a:t>
            </a:r>
          </a:p>
        </p:txBody>
      </p:sp>
    </p:spTree>
    <p:extLst>
      <p:ext uri="{BB962C8B-B14F-4D97-AF65-F5344CB8AC3E}">
        <p14:creationId xmlns:p14="http://schemas.microsoft.com/office/powerpoint/2010/main" val="288605353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24000" decel="76000" fill="hold" grpId="0" nodeType="withEffect">
                                  <p:stCondLst>
                                    <p:cond delay="0"/>
                                  </p:stCondLst>
                                  <p:childTnLst>
                                    <p:animMotion origin="layout" path="M 0 3.25011E-6 L 1.00728 3.25011E-6 " pathEditMode="relative" rAng="0" ptsTypes="AA">
                                      <p:cBhvr>
                                        <p:cTn id="6" dur="750" fill="hold"/>
                                        <p:tgtEl>
                                          <p:spTgt spid="11"/>
                                        </p:tgtEl>
                                        <p:attrNameLst>
                                          <p:attrName>ppt_x</p:attrName>
                                          <p:attrName>ppt_y</p:attrName>
                                        </p:attrNameLst>
                                      </p:cBhvr>
                                      <p:rCtr x="50357" y="0"/>
                                    </p:animMotion>
                                  </p:childTnLst>
                                </p:cTn>
                              </p:par>
                              <p:par>
                                <p:cTn id="7" presetID="63" presetClass="path" presetSubtype="0" accel="24000" decel="76000" fill="hold" grpId="0" nodeType="withEffect">
                                  <p:stCondLst>
                                    <p:cond delay="250"/>
                                  </p:stCondLst>
                                  <p:childTnLst>
                                    <p:animMotion origin="layout" path="M 0 3.25011E-6 L 1.00728 3.25011E-6 " pathEditMode="relative" rAng="0" ptsTypes="AA">
                                      <p:cBhvr>
                                        <p:cTn id="8" dur="750" fill="hold"/>
                                        <p:tgtEl>
                                          <p:spTgt spid="12"/>
                                        </p:tgtEl>
                                        <p:attrNameLst>
                                          <p:attrName>ppt_x</p:attrName>
                                          <p:attrName>ppt_y</p:attrName>
                                        </p:attrNameLst>
                                      </p:cBhvr>
                                      <p:rCtr x="50357" y="0"/>
                                    </p:animMotion>
                                  </p:childTnLst>
                                </p:cTn>
                              </p:par>
                              <p:par>
                                <p:cTn id="9" presetID="63" presetClass="path" presetSubtype="0" accel="24000" decel="76000" fill="hold" grpId="0" nodeType="withEffect">
                                  <p:stCondLst>
                                    <p:cond delay="150"/>
                                  </p:stCondLst>
                                  <p:childTnLst>
                                    <p:animMotion origin="layout" path="M 0 3.25011E-6 L 1.00728 3.25011E-6 " pathEditMode="relative" rAng="0" ptsTypes="AA">
                                      <p:cBhvr>
                                        <p:cTn id="10" dur="750" fill="hold"/>
                                        <p:tgtEl>
                                          <p:spTgt spid="10"/>
                                        </p:tgtEl>
                                        <p:attrNameLst>
                                          <p:attrName>ppt_x</p:attrName>
                                          <p:attrName>ppt_y</p:attrName>
                                        </p:attrNameLst>
                                      </p:cBhvr>
                                      <p:rCtr x="50357" y="0"/>
                                    </p:animMotion>
                                  </p:childTnLst>
                                </p:cTn>
                              </p:par>
                              <p:par>
                                <p:cTn id="11" presetID="1"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childTnLst>
                                </p:cTn>
                              </p:par>
                              <p:par>
                                <p:cTn id="13" presetID="10" presetClass="entr" presetSubtype="0" fill="hold" grpId="0" nodeType="withEffect">
                                  <p:stCondLst>
                                    <p:cond delay="7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950"/>
                                        <p:tgtEl>
                                          <p:spTgt spid="9"/>
                                        </p:tgtEl>
                                      </p:cBhvr>
                                    </p:animEffect>
                                  </p:childTnLst>
                                </p:cTn>
                              </p:par>
                              <p:par>
                                <p:cTn id="16" presetID="63" presetClass="path" presetSubtype="0" decel="100000" fill="hold" grpId="1" nodeType="withEffect">
                                  <p:stCondLst>
                                    <p:cond delay="750"/>
                                  </p:stCondLst>
                                  <p:childTnLst>
                                    <p:animMotion origin="layout" path="M -0.01455 -1.34362E-6 L -3.90605E-7 -1.34362E-6 " pathEditMode="relative" rAng="0" ptsTypes="AA">
                                      <p:cBhvr>
                                        <p:cTn id="17" dur="950" fill="hold"/>
                                        <p:tgtEl>
                                          <p:spTgt spid="9"/>
                                        </p:tgtEl>
                                        <p:attrNameLst>
                                          <p:attrName>ppt_x</p:attrName>
                                          <p:attrName>ppt_y</p:attrName>
                                        </p:attrNameLst>
                                      </p:cBhvr>
                                      <p:rCtr x="728" y="0"/>
                                    </p:animMotion>
                                  </p:childTnLst>
                                </p:cTn>
                              </p:par>
                              <p:par>
                                <p:cTn id="18" presetID="6" presetClass="emph" presetSubtype="0" accel="100000" autoRev="1" fill="hold" grpId="2" nodeType="withEffect">
                                  <p:stCondLst>
                                    <p:cond delay="50"/>
                                  </p:stCondLst>
                                  <p:childTnLst>
                                    <p:animScale>
                                      <p:cBhvr>
                                        <p:cTn id="19" dur="500" fill="hold"/>
                                        <p:tgtEl>
                                          <p:spTgt spid="9"/>
                                        </p:tgtEl>
                                      </p:cBhvr>
                                      <p:by x="95000" y="95000"/>
                                    </p:animScale>
                                  </p:childTnLst>
                                </p:cTn>
                              </p:par>
                              <p:par>
                                <p:cTn id="20" presetID="10" presetClass="entr" presetSubtype="0" fill="hold" grpId="0" nodeType="withEffect">
                                  <p:stCondLst>
                                    <p:cond delay="8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950"/>
                                        <p:tgtEl>
                                          <p:spTgt spid="5"/>
                                        </p:tgtEl>
                                      </p:cBhvr>
                                    </p:animEffect>
                                  </p:childTnLst>
                                </p:cTn>
                              </p:par>
                              <p:par>
                                <p:cTn id="23" presetID="63" presetClass="path" presetSubtype="0" decel="100000" fill="hold" grpId="1" nodeType="withEffect">
                                  <p:stCondLst>
                                    <p:cond delay="800"/>
                                  </p:stCondLst>
                                  <p:childTnLst>
                                    <p:animMotion origin="layout" path="M -0.01455 -1.34362E-6 L -3.90605E-7 -1.34362E-6 " pathEditMode="relative" rAng="0" ptsTypes="AA">
                                      <p:cBhvr>
                                        <p:cTn id="24" dur="950" fill="hold"/>
                                        <p:tgtEl>
                                          <p:spTgt spid="5"/>
                                        </p:tgtEl>
                                        <p:attrNameLst>
                                          <p:attrName>ppt_x</p:attrName>
                                          <p:attrName>ppt_y</p:attrName>
                                        </p:attrNameLst>
                                      </p:cBhvr>
                                      <p:rCtr x="728" y="0"/>
                                    </p:animMotion>
                                  </p:childTnLst>
                                </p:cTn>
                              </p:par>
                              <p:par>
                                <p:cTn id="25" presetID="6" presetClass="emph" presetSubtype="0" accel="100000" autoRev="1" fill="hold" grpId="2" nodeType="withEffect">
                                  <p:stCondLst>
                                    <p:cond delay="100"/>
                                  </p:stCondLst>
                                  <p:childTnLst>
                                    <p:animScale>
                                      <p:cBhvr>
                                        <p:cTn id="26" dur="500" fill="hold"/>
                                        <p:tgtEl>
                                          <p:spTgt spid="5"/>
                                        </p:tgtEl>
                                      </p:cBhvr>
                                      <p:by x="95000" y="95000"/>
                                    </p:animScale>
                                  </p:childTnLst>
                                </p:cTn>
                              </p:par>
                              <p:par>
                                <p:cTn id="27" presetID="10" presetClass="entr" presetSubtype="0" fill="hold" nodeType="withEffect">
                                  <p:stCondLst>
                                    <p:cond delay="9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950"/>
                                        <p:tgtEl>
                                          <p:spTgt spid="6"/>
                                        </p:tgtEl>
                                      </p:cBhvr>
                                    </p:animEffect>
                                  </p:childTnLst>
                                </p:cTn>
                              </p:par>
                              <p:par>
                                <p:cTn id="30" presetID="63" presetClass="path" presetSubtype="0" decel="100000" fill="hold" nodeType="withEffect">
                                  <p:stCondLst>
                                    <p:cond delay="900"/>
                                  </p:stCondLst>
                                  <p:childTnLst>
                                    <p:animMotion origin="layout" path="M -0.01455 -1.34362E-6 L -3.90605E-7 -1.34362E-6 " pathEditMode="relative" rAng="0" ptsTypes="AA">
                                      <p:cBhvr>
                                        <p:cTn id="31" dur="950" fill="hold"/>
                                        <p:tgtEl>
                                          <p:spTgt spid="6"/>
                                        </p:tgtEl>
                                        <p:attrNameLst>
                                          <p:attrName>ppt_x</p:attrName>
                                          <p:attrName>ppt_y</p:attrName>
                                        </p:attrNameLst>
                                      </p:cBhvr>
                                      <p:rCtr x="728" y="0"/>
                                    </p:animMotion>
                                  </p:childTnLst>
                                </p:cTn>
                              </p:par>
                              <p:par>
                                <p:cTn id="32" presetID="6" presetClass="emph" presetSubtype="0" accel="100000" autoRev="1" fill="hold" nodeType="withEffect">
                                  <p:stCondLst>
                                    <p:cond delay="200"/>
                                  </p:stCondLst>
                                  <p:childTnLst>
                                    <p:animScale>
                                      <p:cBhvr>
                                        <p:cTn id="33" dur="500" fill="hold"/>
                                        <p:tgtEl>
                                          <p:spTgt spid="6"/>
                                        </p:tgtEl>
                                      </p:cBhvr>
                                      <p:by x="95000" y="95000"/>
                                    </p:animScale>
                                  </p:childTnLst>
                                </p:cTn>
                              </p:par>
                              <p:par>
                                <p:cTn id="34" presetID="10" presetClass="entr" presetSubtype="0" fill="hold" grpId="0" nodeType="withEffect">
                                  <p:stCondLst>
                                    <p:cond delay="70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950"/>
                                        <p:tgtEl>
                                          <p:spTgt spid="17"/>
                                        </p:tgtEl>
                                      </p:cBhvr>
                                    </p:animEffect>
                                  </p:childTnLst>
                                </p:cTn>
                              </p:par>
                              <p:par>
                                <p:cTn id="37" presetID="63" presetClass="path" presetSubtype="0" decel="100000" fill="hold" grpId="1" nodeType="withEffect">
                                  <p:stCondLst>
                                    <p:cond delay="700"/>
                                  </p:stCondLst>
                                  <p:childTnLst>
                                    <p:animMotion origin="layout" path="M -0.01455 -1.34362E-6 L -3.90605E-7 -1.34362E-6 " pathEditMode="relative" rAng="0" ptsTypes="AA">
                                      <p:cBhvr>
                                        <p:cTn id="38" dur="950" fill="hold"/>
                                        <p:tgtEl>
                                          <p:spTgt spid="17"/>
                                        </p:tgtEl>
                                        <p:attrNameLst>
                                          <p:attrName>ppt_x</p:attrName>
                                          <p:attrName>ppt_y</p:attrName>
                                        </p:attrNameLst>
                                      </p:cBhvr>
                                      <p:rCtr x="728" y="0"/>
                                    </p:animMotion>
                                  </p:childTnLst>
                                </p:cTn>
                              </p:par>
                              <p:par>
                                <p:cTn id="39" presetID="6" presetClass="emph" presetSubtype="0" accel="100000" autoRev="1" fill="hold" grpId="2" nodeType="withEffect">
                                  <p:stCondLst>
                                    <p:cond delay="0"/>
                                  </p:stCondLst>
                                  <p:childTnLst>
                                    <p:animScale>
                                      <p:cBhvr>
                                        <p:cTn id="40" dur="500" fill="hold"/>
                                        <p:tgtEl>
                                          <p:spTgt spid="17"/>
                                        </p:tgtEl>
                                      </p:cBhvr>
                                      <p:by x="95000" y="95000"/>
                                    </p:animScale>
                                  </p:childTnLst>
                                </p:cTn>
                              </p:par>
                              <p:par>
                                <p:cTn id="41" presetID="10" presetClass="entr" presetSubtype="0" fill="hold" grpId="0" nodeType="withEffect">
                                  <p:stCondLst>
                                    <p:cond delay="70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950"/>
                                        <p:tgtEl>
                                          <p:spTgt spid="15"/>
                                        </p:tgtEl>
                                      </p:cBhvr>
                                    </p:animEffect>
                                  </p:childTnLst>
                                </p:cTn>
                              </p:par>
                              <p:par>
                                <p:cTn id="44" presetID="63" presetClass="path" presetSubtype="0" decel="100000" fill="hold" grpId="1" nodeType="withEffect">
                                  <p:stCondLst>
                                    <p:cond delay="700"/>
                                  </p:stCondLst>
                                  <p:childTnLst>
                                    <p:animMotion origin="layout" path="M -0.01455 -1.34362E-6 L -3.90605E-7 -1.34362E-6 " pathEditMode="relative" rAng="0" ptsTypes="AA">
                                      <p:cBhvr>
                                        <p:cTn id="45" dur="950" fill="hold"/>
                                        <p:tgtEl>
                                          <p:spTgt spid="15"/>
                                        </p:tgtEl>
                                        <p:attrNameLst>
                                          <p:attrName>ppt_x</p:attrName>
                                          <p:attrName>ppt_y</p:attrName>
                                        </p:attrNameLst>
                                      </p:cBhvr>
                                      <p:rCtr x="728" y="0"/>
                                    </p:animMotion>
                                  </p:childTnLst>
                                </p:cTn>
                              </p:par>
                              <p:par>
                                <p:cTn id="46" presetID="6" presetClass="emph" presetSubtype="0" accel="100000" autoRev="1" fill="hold" grpId="2" nodeType="withEffect">
                                  <p:stCondLst>
                                    <p:cond delay="0"/>
                                  </p:stCondLst>
                                  <p:childTnLst>
                                    <p:animScale>
                                      <p:cBhvr>
                                        <p:cTn id="47" dur="500" fill="hold"/>
                                        <p:tgtEl>
                                          <p:spTgt spid="15"/>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11" grpId="0" animBg="1"/>
      <p:bldP spid="13" grpId="0" animBg="1"/>
      <p:bldP spid="5" grpId="0">
        <p:tmplLst>
          <p:tmpl>
            <p:tnLst>
              <p:par>
                <p:cTn presetID="10" presetClass="entr" presetSubtype="0" fill="hold" nodeType="withEffect">
                  <p:stCondLst>
                    <p:cond delay="800"/>
                  </p:stCondLst>
                  <p:childTnLst>
                    <p:set>
                      <p:cBhvr>
                        <p:cTn dur="1" fill="hold">
                          <p:stCondLst>
                            <p:cond delay="0"/>
                          </p:stCondLst>
                        </p:cTn>
                        <p:tgtEl>
                          <p:spTgt spid="5"/>
                        </p:tgtEl>
                        <p:attrNameLst>
                          <p:attrName>style.visibility</p:attrName>
                        </p:attrNameLst>
                      </p:cBhvr>
                      <p:to>
                        <p:strVal val="visible"/>
                      </p:to>
                    </p:set>
                    <p:animEffect transition="in" filter="fade">
                      <p:cBhvr>
                        <p:cTn dur="950"/>
                        <p:tgtEl>
                          <p:spTgt spid="5"/>
                        </p:tgtEl>
                      </p:cBhvr>
                    </p:animEffect>
                  </p:childTnLst>
                </p:cTn>
              </p:par>
            </p:tnLst>
          </p:tmpl>
        </p:tmplLst>
      </p:bldP>
      <p:bldP spid="5" grpId="1">
        <p:tmplLst>
          <p:tmpl>
            <p:tnLst>
              <p:par>
                <p:cTn presetID="63" presetClass="path" presetSubtype="0" decel="100000" fill="hold" nodeType="withEffect">
                  <p:stCondLst>
                    <p:cond delay="800"/>
                  </p:stCondLst>
                  <p:childTnLst>
                    <p:animMotion origin="layout" path="M -0.01455 -1.34362E-6 L -3.90605E-7 -1.34362E-6 " pathEditMode="relative" rAng="0" ptsTypes="AA">
                      <p:cBhvr>
                        <p:cTn dur="950" fill="hold"/>
                        <p:tgtEl>
                          <p:spTgt spid="5"/>
                        </p:tgtEl>
                        <p:attrNameLst>
                          <p:attrName>ppt_x</p:attrName>
                          <p:attrName>ppt_y</p:attrName>
                        </p:attrNameLst>
                      </p:cBhvr>
                      <p:rCtr x="728" y="0"/>
                    </p:animMotion>
                  </p:childTnLst>
                </p:cTn>
              </p:par>
            </p:tnLst>
          </p:tmpl>
        </p:tmplLst>
      </p:bldP>
      <p:bldP spid="5" grpId="2">
        <p:tmplLst>
          <p:tmpl>
            <p:tnLst>
              <p:par>
                <p:cTn presetID="6" presetClass="emph" presetSubtype="0" accel="100000" autoRev="1" fill="hold" nodeType="withEffect">
                  <p:stCondLst>
                    <p:cond delay="100"/>
                  </p:stCondLst>
                  <p:childTnLst>
                    <p:animScale>
                      <p:cBhvr>
                        <p:cTn dur="500" fill="hold"/>
                        <p:tgtEl>
                          <p:spTgt spid="5"/>
                        </p:tgtEl>
                      </p:cBhvr>
                      <p:by x="95000" y="95000"/>
                    </p:animScale>
                  </p:childTnLst>
                </p:cTn>
              </p:par>
            </p:tnLst>
          </p:tmpl>
        </p:tmplLst>
      </p:bldP>
      <p:bldP spid="9" grpId="0"/>
      <p:bldP spid="9" grpId="1"/>
      <p:bldP spid="9" grpId="2"/>
      <p:bldP spid="17" grpId="0">
        <p:tmplLst>
          <p:tmpl>
            <p:tnLst>
              <p:par>
                <p:cTn presetID="10" presetClass="entr" presetSubtype="0" fill="hold" nodeType="withEffect">
                  <p:stCondLst>
                    <p:cond delay="700"/>
                  </p:stCondLst>
                  <p:childTnLst>
                    <p:set>
                      <p:cBhvr>
                        <p:cTn dur="1" fill="hold">
                          <p:stCondLst>
                            <p:cond delay="0"/>
                          </p:stCondLst>
                        </p:cTn>
                        <p:tgtEl>
                          <p:spTgt spid="17"/>
                        </p:tgtEl>
                        <p:attrNameLst>
                          <p:attrName>style.visibility</p:attrName>
                        </p:attrNameLst>
                      </p:cBhvr>
                      <p:to>
                        <p:strVal val="visible"/>
                      </p:to>
                    </p:set>
                    <p:animEffect transition="in" filter="fade">
                      <p:cBhvr>
                        <p:cTn dur="950"/>
                        <p:tgtEl>
                          <p:spTgt spid="17"/>
                        </p:tgtEl>
                      </p:cBhvr>
                    </p:animEffect>
                  </p:childTnLst>
                </p:cTn>
              </p:par>
            </p:tnLst>
          </p:tmpl>
        </p:tmplLst>
      </p:bldP>
      <p:bldP spid="17" grpId="1"/>
      <p:bldP spid="17" grpId="2"/>
      <p:bldP spid="15" grpId="0">
        <p:tmplLst>
          <p:tmpl>
            <p:tnLst>
              <p:par>
                <p:cTn presetID="10" presetClass="entr" presetSubtype="0" fill="hold" nodeType="withEffect">
                  <p:stCondLst>
                    <p:cond delay="700"/>
                  </p:stCondLst>
                  <p:childTnLst>
                    <p:set>
                      <p:cBhvr>
                        <p:cTn dur="1" fill="hold">
                          <p:stCondLst>
                            <p:cond delay="0"/>
                          </p:stCondLst>
                        </p:cTn>
                        <p:tgtEl>
                          <p:spTgt spid="15"/>
                        </p:tgtEl>
                        <p:attrNameLst>
                          <p:attrName>style.visibility</p:attrName>
                        </p:attrNameLst>
                      </p:cBhvr>
                      <p:to>
                        <p:strVal val="visible"/>
                      </p:to>
                    </p:set>
                    <p:animEffect transition="in" filter="fade">
                      <p:cBhvr>
                        <p:cTn dur="950"/>
                        <p:tgtEl>
                          <p:spTgt spid="15"/>
                        </p:tgtEl>
                      </p:cBhvr>
                    </p:animEffect>
                  </p:childTnLst>
                </p:cTn>
              </p:par>
            </p:tnLst>
          </p:tmpl>
        </p:tmplLst>
      </p:bldP>
      <p:bldP spid="15" grpId="1"/>
      <p:bldP spid="15" grpId="2"/>
    </p:bldLst>
  </p:timing>
  <p:extLst mod="1">
    <p:ext uri="{DCECCB84-F9BA-43D5-87BE-67443E8EF086}">
      <p15:sldGuideLst xmlns:p15="http://schemas.microsoft.com/office/powerpoint/2012/main">
        <p15:guide id="4" orient="horz" pos="4406"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 STATIC">
    <p:bg>
      <p:bgPr>
        <a:solidFill>
          <a:schemeClr val="accent2"/>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a:t>Presentation title</a:t>
            </a:r>
          </a:p>
        </p:txBody>
      </p:sp>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val="0"/>
              </a:ext>
            </a:extLst>
          </a:blip>
          <a:stretch>
            <a:fillRect/>
          </a:stretch>
        </p:blipFill>
        <p:spPr bwMode="black">
          <a:xfrm>
            <a:off x="458332" y="6182440"/>
            <a:ext cx="1552931" cy="332660"/>
          </a:xfrm>
          <a:prstGeom prst="rect">
            <a:avLst/>
          </a:prstGeom>
        </p:spPr>
      </p:pic>
      <p:sp>
        <p:nvSpPr>
          <p:cNvPr id="8" name="Rectangle 6"/>
          <p:cNvSpPr>
            <a:spLocks noChangeArrowheads="1"/>
          </p:cNvSpPr>
          <p:nvPr userDrawn="1"/>
        </p:nvSpPr>
        <p:spPr bwMode="auto">
          <a:xfrm>
            <a:off x="3175" y="4395788"/>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Text Placeholder 16"/>
          <p:cNvSpPr>
            <a:spLocks noGrp="1"/>
          </p:cNvSpPr>
          <p:nvPr>
            <p:ph type="body" sz="quarter" idx="13" hasCustomPrompt="1"/>
          </p:nvPr>
        </p:nvSpPr>
        <p:spPr>
          <a:xfrm>
            <a:off x="274638" y="296863"/>
            <a:ext cx="3657600" cy="461665"/>
          </a:xfrm>
        </p:spPr>
        <p:txBody>
          <a:bodyPr/>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a:t>Session Code</a:t>
            </a:r>
          </a:p>
        </p:txBody>
      </p:sp>
      <p:sp>
        <p:nvSpPr>
          <p:cNvPr id="10" name="Text Placeholder 16"/>
          <p:cNvSpPr>
            <a:spLocks noGrp="1"/>
          </p:cNvSpPr>
          <p:nvPr>
            <p:ph type="body" sz="quarter" idx="14" hasCustomPrompt="1"/>
          </p:nvPr>
        </p:nvSpPr>
        <p:spPr>
          <a:xfrm>
            <a:off x="8504239" y="296863"/>
            <a:ext cx="3657600" cy="461665"/>
          </a:xfrm>
        </p:spPr>
        <p:txBody>
          <a:bodyPr/>
          <a:lstStyle>
            <a:lvl1pPr marL="0" indent="0" algn="r">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a:t>Yammer hashtag</a:t>
            </a:r>
          </a:p>
        </p:txBody>
      </p:sp>
    </p:spTree>
    <p:extLst>
      <p:ext uri="{BB962C8B-B14F-4D97-AF65-F5344CB8AC3E}">
        <p14:creationId xmlns:p14="http://schemas.microsoft.com/office/powerpoint/2010/main" val="281670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4406">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lgn="l" defTabSz="932742" rtl="0" eaLnBrk="1" latinLnBrk="0" hangingPunct="1">
              <a:lnSpc>
                <a:spcPct val="90000"/>
              </a:lnSpc>
              <a:spcBef>
                <a:spcPct val="0"/>
              </a:spcBef>
              <a:buNone/>
              <a:defRPr lang="en-US" sz="8800" b="0" kern="1200" cap="none" spc="-100" baseline="0" dirty="0">
                <a:ln w="3175">
                  <a:noFill/>
                </a:ln>
                <a:gradFill>
                  <a:gsLst>
                    <a:gs pos="75912">
                      <a:schemeClr val="tx1"/>
                    </a:gs>
                    <a:gs pos="34307">
                      <a:schemeClr val="tx1"/>
                    </a:gs>
                    <a:gs pos="43000">
                      <a:schemeClr val="tx1"/>
                    </a:gs>
                  </a:gsLst>
                  <a:lin ang="5400000" scaled="0"/>
                </a:gra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76253691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1"/>
          </p:nvPr>
        </p:nvSpPr>
        <p:spPr>
          <a:xfrm>
            <a:off x="274639" y="1212849"/>
            <a:ext cx="11889564" cy="2059025"/>
          </a:xfrm>
        </p:spPr>
        <p:txBody>
          <a:bodyPr/>
          <a:lstStyle>
            <a:lvl1pPr marL="0" indent="0">
              <a:buNone/>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1pPr>
              <a:defRPr>
                <a:latin typeface="Calibri" panose="020F0502020204030204" pitchFamily="34" charset="0"/>
              </a:defRPr>
            </a:lvl1pPr>
            <a:lvl2pPr>
              <a:defRPr>
                <a:latin typeface="Calibri" panose="020F0502020204030204" pitchFamily="34" charset="0"/>
              </a:defRPr>
            </a:lvl2pPr>
            <a:lvl3pPr>
              <a:defRPr sz="2400">
                <a:latin typeface="Calibri" panose="020F0502020204030204" pitchFamily="34" charset="0"/>
              </a:defRPr>
            </a:lvl3pPr>
            <a:lvl4pPr>
              <a:defRPr sz="2000">
                <a:latin typeface="Calibri" panose="020F0502020204030204" pitchFamily="34" charset="0"/>
              </a:defRPr>
            </a:lvl4pPr>
            <a:lvl5pPr>
              <a:defRPr sz="2000">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1883987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536079"/>
          </a:xfrm>
        </p:spPr>
        <p:txBody>
          <a:bodyPr wrap="square">
            <a:spAutoFit/>
          </a:bodyPr>
          <a:lstStyle>
            <a:lvl1pPr marL="287338" indent="-287338">
              <a:spcBef>
                <a:spcPts val="1224"/>
              </a:spcBef>
              <a:buClr>
                <a:schemeClr val="tx1"/>
              </a:buClr>
              <a:buFont typeface="Wingdings" panose="05000000000000000000" pitchFamily="2" charset="2"/>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536079"/>
          </a:xfrm>
        </p:spPr>
        <p:txBody>
          <a:bodyPr wrap="square">
            <a:spAutoFit/>
          </a:bodyPr>
          <a:lstStyle>
            <a:lvl1pPr marL="287338" indent="-287338">
              <a:spcBef>
                <a:spcPts val="1224"/>
              </a:spcBef>
              <a:buClr>
                <a:schemeClr val="tx1"/>
              </a:buClr>
              <a:buFont typeface="Wingdings" panose="05000000000000000000" pitchFamily="2" charset="2"/>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9362577"/>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a:t>Click to edit Master title style</a:t>
            </a:r>
            <a:endParaRPr lang="en-US" dirty="0"/>
          </a:p>
        </p:txBody>
      </p:sp>
    </p:spTree>
    <p:extLst>
      <p:ext uri="{BB962C8B-B14F-4D97-AF65-F5344CB8AC3E}">
        <p14:creationId xmlns:p14="http://schemas.microsoft.com/office/powerpoint/2010/main" val="2390161380"/>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act Layout_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a:t>Click to edit Master title style</a:t>
            </a:r>
            <a:endParaRPr lang="en-US" dirty="0"/>
          </a:p>
        </p:txBody>
      </p:sp>
      <p:sp>
        <p:nvSpPr>
          <p:cNvPr id="3"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253860340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g Idea &amp; 3 Points">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82576" y="2430462"/>
            <a:ext cx="11887200" cy="932563"/>
          </a:xfrm>
        </p:spPr>
        <p:txBody>
          <a:bodyPr/>
          <a:lstStyle>
            <a:lvl1pPr marL="0" indent="0">
              <a:buNone/>
              <a:defRPr sz="5400">
                <a:gradFill>
                  <a:gsLst>
                    <a:gs pos="3333">
                      <a:schemeClr val="tx1"/>
                    </a:gs>
                    <a:gs pos="3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p:txBody>
      </p:sp>
      <p:sp>
        <p:nvSpPr>
          <p:cNvPr id="4" name="Title 1"/>
          <p:cNvSpPr>
            <a:spLocks noGrp="1"/>
          </p:cNvSpPr>
          <p:nvPr>
            <p:ph type="title"/>
          </p:nvPr>
        </p:nvSpPr>
        <p:spPr>
          <a:xfrm>
            <a:off x="282576" y="1211263"/>
            <a:ext cx="11889564" cy="917575"/>
          </a:xfrm>
        </p:spPr>
        <p:txBody>
          <a:bodyPr/>
          <a:lstStyle>
            <a:lvl1pPr>
              <a:defRPr sz="7200" baseline="0">
                <a:gradFill>
                  <a:gsLst>
                    <a:gs pos="1250">
                      <a:schemeClr val="tx1"/>
                    </a:gs>
                    <a:gs pos="100000">
                      <a:schemeClr val="tx1"/>
                    </a:gs>
                  </a:gsLst>
                  <a:lin ang="5400000" scaled="0"/>
                </a:gradFill>
              </a:defRPr>
            </a:lvl1pPr>
          </a:lstStyle>
          <a:p>
            <a:r>
              <a:rPr lang="en-US"/>
              <a:t>Click to edit Master title style</a:t>
            </a:r>
            <a:endParaRPr lang="en-US" dirty="0"/>
          </a:p>
        </p:txBody>
      </p:sp>
    </p:spTree>
    <p:extLst>
      <p:ext uri="{BB962C8B-B14F-4D97-AF65-F5344CB8AC3E}">
        <p14:creationId xmlns:p14="http://schemas.microsoft.com/office/powerpoint/2010/main" val="48033091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Accent Color 2">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789656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Light">
    <p:bg>
      <p:bgRef idx="1001">
        <a:schemeClr val="bg1"/>
      </p:bgRef>
    </p:bg>
    <p:spTree>
      <p:nvGrpSpPr>
        <p:cNvPr id="1" name=""/>
        <p:cNvGrpSpPr/>
        <p:nvPr/>
      </p:nvGrpSpPr>
      <p:grpSpPr>
        <a:xfrm>
          <a:off x="0" y="0"/>
          <a:ext cx="0" cy="0"/>
          <a:chOff x="0" y="0"/>
          <a:chExt cx="0" cy="0"/>
        </a:xfrm>
      </p:grpSpPr>
      <p:sp>
        <p:nvSpPr>
          <p:cNvPr id="10" name="Title 1"/>
          <p:cNvSpPr>
            <a:spLocks noGrp="1"/>
          </p:cNvSpPr>
          <p:nvPr>
            <p:ph type="title"/>
          </p:nvPr>
        </p:nvSpPr>
        <p:spPr>
          <a:xfrm>
            <a:off x="406422" y="280106"/>
            <a:ext cx="11623632" cy="1165754"/>
          </a:xfrm>
          <a:prstGeom prst="rect">
            <a:avLst/>
          </a:prstGeom>
        </p:spPr>
        <p:txBody>
          <a:bodyPr/>
          <a:lstStyle>
            <a:lvl1pPr>
              <a:defRPr b="1">
                <a:solidFill>
                  <a:srgbClr val="253746"/>
                </a:solidFill>
                <a:latin typeface="+mj-lt"/>
                <a:cs typeface="Core Sans NR 35 Light"/>
              </a:defRPr>
            </a:lvl1pPr>
          </a:lstStyle>
          <a:p>
            <a:r>
              <a:rPr lang="en-US"/>
              <a:t>Click to edit Master title style</a:t>
            </a:r>
            <a:endParaRPr lang="en-US" dirty="0"/>
          </a:p>
        </p:txBody>
      </p:sp>
    </p:spTree>
    <p:extLst>
      <p:ext uri="{BB962C8B-B14F-4D97-AF65-F5344CB8AC3E}">
        <p14:creationId xmlns:p14="http://schemas.microsoft.com/office/powerpoint/2010/main" val="2707148992"/>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sz="4488"/>
            </a:lvl1pPr>
          </a:lstStyle>
          <a:p>
            <a:r>
              <a:rPr lang="en-US" dirty="0"/>
              <a:t>Click to edit Master title style</a:t>
            </a:r>
          </a:p>
        </p:txBody>
      </p:sp>
    </p:spTree>
    <p:extLst>
      <p:ext uri="{BB962C8B-B14F-4D97-AF65-F5344CB8AC3E}">
        <p14:creationId xmlns:p14="http://schemas.microsoft.com/office/powerpoint/2010/main" val="360721774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954458"/>
            <a:ext cx="6399213" cy="1830388"/>
          </a:xfrm>
          <a:noFill/>
        </p:spPr>
        <p:txBody>
          <a:bodyPr lIns="146304" tIns="109728" rIns="146304" bIns="109728">
            <a:noAutofit/>
          </a:bodyPr>
          <a:lstStyle>
            <a:lvl1pPr marL="0" indent="0">
              <a:spcBef>
                <a:spcPts val="0"/>
              </a:spcBef>
              <a:buNone/>
              <a:defRPr sz="3672"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119" spc="-100" baseline="0">
                <a:solidFill>
                  <a:schemeClr val="bg1"/>
                </a:solidFill>
              </a:defRPr>
            </a:lvl1pPr>
          </a:lstStyle>
          <a:p>
            <a:r>
              <a:rPr lang="en-US" dirty="0"/>
              <a:t>Presentation title</a:t>
            </a:r>
          </a:p>
        </p:txBody>
      </p:sp>
      <p:pic>
        <p:nvPicPr>
          <p:cNvPr id="6" name="Picture 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val="0"/>
              </a:ext>
            </a:extLst>
          </a:blip>
          <a:stretch>
            <a:fillRect/>
          </a:stretch>
        </p:blipFill>
        <p:spPr bwMode="black">
          <a:xfrm>
            <a:off x="458332" y="6182441"/>
            <a:ext cx="1552931" cy="332660"/>
          </a:xfrm>
          <a:prstGeom prst="rect">
            <a:avLst/>
          </a:prstGeom>
        </p:spPr>
      </p:pic>
      <p:sp>
        <p:nvSpPr>
          <p:cNvPr id="8" name="Rectangle 6"/>
          <p:cNvSpPr>
            <a:spLocks noChangeArrowheads="1"/>
          </p:cNvSpPr>
          <p:nvPr userDrawn="1"/>
        </p:nvSpPr>
        <p:spPr bwMode="auto">
          <a:xfrm>
            <a:off x="3176" y="4395789"/>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4"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Segoe UI"/>
              <a:ea typeface="+mn-ea"/>
              <a:cs typeface="+mn-cs"/>
            </a:endParaRPr>
          </a:p>
        </p:txBody>
      </p:sp>
    </p:spTree>
    <p:extLst>
      <p:ext uri="{BB962C8B-B14F-4D97-AF65-F5344CB8AC3E}">
        <p14:creationId xmlns:p14="http://schemas.microsoft.com/office/powerpoint/2010/main" val="814913569"/>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75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950"/>
                                        <p:tgtEl>
                                          <p:spTgt spid="9"/>
                                        </p:tgtEl>
                                      </p:cBhvr>
                                    </p:animEffect>
                                  </p:childTnLst>
                                </p:cTn>
                              </p:par>
                              <p:par>
                                <p:cTn id="8" presetID="63" presetClass="path" presetSubtype="0" decel="100000" fill="hold" grpId="1" nodeType="withEffect">
                                  <p:stCondLst>
                                    <p:cond delay="750"/>
                                  </p:stCondLst>
                                  <p:childTnLst>
                                    <p:animMotion origin="layout" path="M -0.01455 -1.34362E-6 L -3.90605E-7 -1.34362E-6 " pathEditMode="relative" rAng="0" ptsTypes="AA">
                                      <p:cBhvr>
                                        <p:cTn id="9" dur="950" fill="hold"/>
                                        <p:tgtEl>
                                          <p:spTgt spid="9"/>
                                        </p:tgtEl>
                                        <p:attrNameLst>
                                          <p:attrName>ppt_x</p:attrName>
                                          <p:attrName>ppt_y</p:attrName>
                                        </p:attrNameLst>
                                      </p:cBhvr>
                                      <p:rCtr x="728" y="0"/>
                                    </p:animMotion>
                                  </p:childTnLst>
                                </p:cTn>
                              </p:par>
                              <p:par>
                                <p:cTn id="10" presetID="6" presetClass="emph" presetSubtype="0" accel="100000" autoRev="1" fill="hold" grpId="2" nodeType="withEffect">
                                  <p:stCondLst>
                                    <p:cond delay="50"/>
                                  </p:stCondLst>
                                  <p:childTnLst>
                                    <p:animScale>
                                      <p:cBhvr>
                                        <p:cTn id="11" dur="500" fill="hold"/>
                                        <p:tgtEl>
                                          <p:spTgt spid="9"/>
                                        </p:tgtEl>
                                      </p:cBhvr>
                                      <p:by x="95000" y="95000"/>
                                    </p:animScale>
                                  </p:childTnLst>
                                </p:cTn>
                              </p:par>
                              <p:par>
                                <p:cTn id="12" presetID="10" presetClass="entr" presetSubtype="0" fill="hold" grpId="0" nodeType="withEffect">
                                  <p:stCondLst>
                                    <p:cond delay="80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950"/>
                                        <p:tgtEl>
                                          <p:spTgt spid="5"/>
                                        </p:tgtEl>
                                      </p:cBhvr>
                                    </p:animEffect>
                                  </p:childTnLst>
                                </p:cTn>
                              </p:par>
                              <p:par>
                                <p:cTn id="15" presetID="63" presetClass="path" presetSubtype="0" decel="100000" fill="hold" grpId="1" nodeType="withEffect">
                                  <p:stCondLst>
                                    <p:cond delay="800"/>
                                  </p:stCondLst>
                                  <p:childTnLst>
                                    <p:animMotion origin="layout" path="M -0.01455 -1.34362E-6 L -3.90605E-7 -1.34362E-6 " pathEditMode="relative" rAng="0" ptsTypes="AA">
                                      <p:cBhvr>
                                        <p:cTn id="16" dur="950" fill="hold"/>
                                        <p:tgtEl>
                                          <p:spTgt spid="5"/>
                                        </p:tgtEl>
                                        <p:attrNameLst>
                                          <p:attrName>ppt_x</p:attrName>
                                          <p:attrName>ppt_y</p:attrName>
                                        </p:attrNameLst>
                                      </p:cBhvr>
                                      <p:rCtr x="728" y="0"/>
                                    </p:animMotion>
                                  </p:childTnLst>
                                </p:cTn>
                              </p:par>
                              <p:par>
                                <p:cTn id="17" presetID="6" presetClass="emph" presetSubtype="0" accel="100000" autoRev="1" fill="hold" grpId="2" nodeType="withEffect">
                                  <p:stCondLst>
                                    <p:cond delay="100"/>
                                  </p:stCondLst>
                                  <p:childTnLst>
                                    <p:animScale>
                                      <p:cBhvr>
                                        <p:cTn id="18" dur="500" fill="hold"/>
                                        <p:tgtEl>
                                          <p:spTgt spid="5"/>
                                        </p:tgtEl>
                                      </p:cBhvr>
                                      <p:by x="95000" y="95000"/>
                                    </p:animScale>
                                  </p:childTnLst>
                                </p:cTn>
                              </p:par>
                              <p:par>
                                <p:cTn id="19" presetID="10" presetClass="entr" presetSubtype="0" fill="hold" nodeType="withEffect">
                                  <p:stCondLst>
                                    <p:cond delay="9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950"/>
                                        <p:tgtEl>
                                          <p:spTgt spid="6"/>
                                        </p:tgtEl>
                                      </p:cBhvr>
                                    </p:animEffect>
                                  </p:childTnLst>
                                </p:cTn>
                              </p:par>
                              <p:par>
                                <p:cTn id="22" presetID="63" presetClass="path" presetSubtype="0" decel="100000" fill="hold" nodeType="withEffect">
                                  <p:stCondLst>
                                    <p:cond delay="900"/>
                                  </p:stCondLst>
                                  <p:childTnLst>
                                    <p:animMotion origin="layout" path="M -0.01455 -1.34362E-6 L -3.90605E-7 -1.34362E-6 " pathEditMode="relative" rAng="0" ptsTypes="AA">
                                      <p:cBhvr>
                                        <p:cTn id="23" dur="950" fill="hold"/>
                                        <p:tgtEl>
                                          <p:spTgt spid="6"/>
                                        </p:tgtEl>
                                        <p:attrNameLst>
                                          <p:attrName>ppt_x</p:attrName>
                                          <p:attrName>ppt_y</p:attrName>
                                        </p:attrNameLst>
                                      </p:cBhvr>
                                      <p:rCtr x="728" y="0"/>
                                    </p:animMotion>
                                  </p:childTnLst>
                                </p:cTn>
                              </p:par>
                              <p:par>
                                <p:cTn id="24" presetID="6" presetClass="emph" presetSubtype="0" accel="100000" autoRev="1" fill="hold" nodeType="withEffect">
                                  <p:stCondLst>
                                    <p:cond delay="200"/>
                                  </p:stCondLst>
                                  <p:childTnLst>
                                    <p:animScale>
                                      <p:cBhvr>
                                        <p:cTn id="25" dur="500" fill="hold"/>
                                        <p:tgtEl>
                                          <p:spTgt spid="6"/>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tmplLst>
          <p:tmpl>
            <p:tnLst>
              <p:par>
                <p:cTn presetID="10" presetClass="entr" presetSubtype="0" fill="hold" nodeType="withEffect">
                  <p:stCondLst>
                    <p:cond delay="800"/>
                  </p:stCondLst>
                  <p:childTnLst>
                    <p:set>
                      <p:cBhvr>
                        <p:cTn dur="1" fill="hold">
                          <p:stCondLst>
                            <p:cond delay="0"/>
                          </p:stCondLst>
                        </p:cTn>
                        <p:tgtEl>
                          <p:spTgt spid="5"/>
                        </p:tgtEl>
                        <p:attrNameLst>
                          <p:attrName>style.visibility</p:attrName>
                        </p:attrNameLst>
                      </p:cBhvr>
                      <p:to>
                        <p:strVal val="visible"/>
                      </p:to>
                    </p:set>
                    <p:animEffect transition="in" filter="fade">
                      <p:cBhvr>
                        <p:cTn dur="950"/>
                        <p:tgtEl>
                          <p:spTgt spid="5"/>
                        </p:tgtEl>
                      </p:cBhvr>
                    </p:animEffect>
                  </p:childTnLst>
                </p:cTn>
              </p:par>
            </p:tnLst>
          </p:tmpl>
        </p:tmplLst>
      </p:bldP>
      <p:bldP spid="5" grpId="1">
        <p:tmplLst>
          <p:tmpl>
            <p:tnLst>
              <p:par>
                <p:cTn presetID="63" presetClass="path" presetSubtype="0" decel="100000" fill="hold" nodeType="withEffect">
                  <p:stCondLst>
                    <p:cond delay="800"/>
                  </p:stCondLst>
                  <p:childTnLst>
                    <p:animMotion origin="layout" path="M -0.01455 -1.34362E-6 L -3.90605E-7 -1.34362E-6 " pathEditMode="relative" rAng="0" ptsTypes="AA">
                      <p:cBhvr>
                        <p:cTn dur="950" fill="hold"/>
                        <p:tgtEl>
                          <p:spTgt spid="5"/>
                        </p:tgtEl>
                        <p:attrNameLst>
                          <p:attrName>ppt_x</p:attrName>
                          <p:attrName>ppt_y</p:attrName>
                        </p:attrNameLst>
                      </p:cBhvr>
                      <p:rCtr x="728" y="0"/>
                    </p:animMotion>
                  </p:childTnLst>
                </p:cTn>
              </p:par>
            </p:tnLst>
          </p:tmpl>
        </p:tmplLst>
      </p:bldP>
      <p:bldP spid="5" grpId="2">
        <p:tmplLst>
          <p:tmpl>
            <p:tnLst>
              <p:par>
                <p:cTn presetID="6" presetClass="emph" presetSubtype="0" accel="100000" autoRev="1" fill="hold" nodeType="withEffect">
                  <p:stCondLst>
                    <p:cond delay="100"/>
                  </p:stCondLst>
                  <p:childTnLst>
                    <p:animScale>
                      <p:cBhvr>
                        <p:cTn dur="500" fill="hold"/>
                        <p:tgtEl>
                          <p:spTgt spid="5"/>
                        </p:tgtEl>
                      </p:cBhvr>
                      <p:by x="95000" y="95000"/>
                    </p:animScale>
                  </p:childTnLst>
                </p:cTn>
              </p:par>
            </p:tnLst>
          </p:tmpl>
        </p:tmplLst>
      </p:bldP>
      <p:bldP spid="9" grpId="0"/>
      <p:bldP spid="9" grpId="1"/>
      <p:bldP spid="9" grpId="2"/>
    </p:bldLst>
  </p:timing>
  <p:extLst mod="1">
    <p:ext uri="{DCECCB84-F9BA-43D5-87BE-67443E8EF086}">
      <p15:sldGuideLst xmlns:p15="http://schemas.microsoft.com/office/powerpoint/2012/main">
        <p15:guide id="4" orient="horz" pos="4406">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63"/>
            <a:ext cx="11887200" cy="1431400"/>
          </a:xfrm>
          <a:noFill/>
        </p:spPr>
        <p:txBody>
          <a:bodyPr tIns="91440" bIns="91440" anchor="t" anchorCtr="0">
            <a:spAutoFit/>
          </a:bodyPr>
          <a:lstStyle>
            <a:lvl1pPr algn="l" defTabSz="932563" rtl="0" eaLnBrk="1" latinLnBrk="0" hangingPunct="1">
              <a:lnSpc>
                <a:spcPct val="90000"/>
              </a:lnSpc>
              <a:spcBef>
                <a:spcPct val="0"/>
              </a:spcBef>
              <a:buNone/>
              <a:defRPr lang="en-US" sz="8975" b="0" kern="1200" cap="none" spc="-100" baseline="0" dirty="0">
                <a:ln w="3175">
                  <a:noFill/>
                </a:ln>
                <a:solidFill>
                  <a:schemeClr val="bg1"/>
                </a:solidFill>
                <a:effectLst/>
                <a:latin typeface="+mj-lt"/>
                <a:ea typeface="+mn-ea"/>
                <a:cs typeface="Segoe UI" pitchFamily="34" charset="0"/>
              </a:defRPr>
            </a:lvl1pPr>
          </a:lstStyle>
          <a:p>
            <a:r>
              <a:rPr lang="en-US" dirty="0"/>
              <a:t>Section title</a:t>
            </a:r>
          </a:p>
        </p:txBody>
      </p:sp>
    </p:spTree>
    <p:extLst>
      <p:ext uri="{BB962C8B-B14F-4D97-AF65-F5344CB8AC3E}">
        <p14:creationId xmlns:p14="http://schemas.microsoft.com/office/powerpoint/2010/main" val="85129518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9" y="1212851"/>
            <a:ext cx="11887200" cy="2259059"/>
          </a:xfrm>
        </p:spPr>
        <p:txBody>
          <a:bodyPr>
            <a:spAutoFit/>
          </a:bodyPr>
          <a:lstStyle>
            <a:lvl1pPr>
              <a:buClrTx/>
              <a:defRPr sz="3672">
                <a:solidFill>
                  <a:schemeClr val="bg1"/>
                </a:solidFill>
              </a:defRPr>
            </a:lvl1pPr>
            <a:lvl2pPr>
              <a:buClrTx/>
              <a:defRPr sz="2448">
                <a:solidFill>
                  <a:schemeClr val="bg1"/>
                </a:solidFill>
              </a:defRPr>
            </a:lvl2pPr>
            <a:lvl3pPr>
              <a:buClrTx/>
              <a:defRPr sz="2448">
                <a:solidFill>
                  <a:schemeClr val="bg1"/>
                </a:solidFill>
              </a:defRPr>
            </a:lvl3pPr>
            <a:lvl4pPr>
              <a:buClrTx/>
              <a:defRPr sz="2040">
                <a:solidFill>
                  <a:schemeClr val="bg1"/>
                </a:solidFill>
              </a:defRPr>
            </a:lvl4pPr>
            <a:lvl5pPr>
              <a:buClrTx/>
              <a:defRPr sz="2040">
                <a:solidFill>
                  <a:schemeClr val="bg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lvl1pPr>
              <a:defRPr sz="4488"/>
            </a:lvl1pPr>
          </a:lstStyle>
          <a:p>
            <a:r>
              <a:rPr lang="en-US" dirty="0"/>
              <a:t>Click to edit Master title style</a:t>
            </a:r>
          </a:p>
        </p:txBody>
      </p:sp>
    </p:spTree>
    <p:extLst>
      <p:ext uri="{BB962C8B-B14F-4D97-AF65-F5344CB8AC3E}">
        <p14:creationId xmlns:p14="http://schemas.microsoft.com/office/powerpoint/2010/main" val="356397483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sz="4488"/>
            </a:lvl1pPr>
          </a:lstStyle>
          <a:p>
            <a:r>
              <a:rPr lang="en-US" dirty="0"/>
              <a:t>Click to edit Master title style</a:t>
            </a:r>
          </a:p>
        </p:txBody>
      </p:sp>
    </p:spTree>
    <p:extLst>
      <p:ext uri="{BB962C8B-B14F-4D97-AF65-F5344CB8AC3E}">
        <p14:creationId xmlns:p14="http://schemas.microsoft.com/office/powerpoint/2010/main" val="130083176"/>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7757448" y="304193"/>
            <a:ext cx="4409440" cy="6400800"/>
          </a:xfrm>
          <a:prstGeom prst="rect">
            <a:avLst/>
          </a:prstGeom>
        </p:spPr>
      </p:pic>
      <p:sp>
        <p:nvSpPr>
          <p:cNvPr id="4" name="Rectangle 3"/>
          <p:cNvSpPr/>
          <p:nvPr userDrawn="1"/>
        </p:nvSpPr>
        <p:spPr bwMode="auto">
          <a:xfrm>
            <a:off x="274702" y="1211287"/>
            <a:ext cx="100583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p:cNvSpPr>
            <a:spLocks noGrp="1"/>
          </p:cNvSpPr>
          <p:nvPr>
            <p:ph type="title" hasCustomPrompt="1"/>
          </p:nvPr>
        </p:nvSpPr>
        <p:spPr>
          <a:xfrm>
            <a:off x="274639" y="1209973"/>
            <a:ext cx="7314044" cy="1205390"/>
          </a:xfrm>
          <a:noFill/>
        </p:spPr>
        <p:txBody>
          <a:bodyPr tIns="91440" bIns="91440" anchor="t" anchorCtr="0">
            <a:spAutoFit/>
          </a:bodyPr>
          <a:lstStyle>
            <a:lvl1pPr>
              <a:defRPr sz="7343" spc="-100" baseline="0">
                <a:solidFill>
                  <a:schemeClr val="bg1"/>
                </a:solidFill>
              </a:defRPr>
            </a:lvl1pPr>
          </a:lstStyle>
          <a:p>
            <a:r>
              <a:rPr lang="en-US" dirty="0"/>
              <a:t>Demo title</a:t>
            </a:r>
          </a:p>
        </p:txBody>
      </p:sp>
    </p:spTree>
    <p:extLst>
      <p:ext uri="{BB962C8B-B14F-4D97-AF65-F5344CB8AC3E}">
        <p14:creationId xmlns:p14="http://schemas.microsoft.com/office/powerpoint/2010/main" val="309764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 Light">
    <p:bg>
      <p:bgRef idx="1001">
        <a:schemeClr val="bg1"/>
      </p:bgRef>
    </p:bg>
    <p:spTree>
      <p:nvGrpSpPr>
        <p:cNvPr id="1" name=""/>
        <p:cNvGrpSpPr/>
        <p:nvPr/>
      </p:nvGrpSpPr>
      <p:grpSpPr>
        <a:xfrm>
          <a:off x="0" y="0"/>
          <a:ext cx="0" cy="0"/>
          <a:chOff x="0" y="0"/>
          <a:chExt cx="0" cy="0"/>
        </a:xfrm>
      </p:grpSpPr>
      <p:sp>
        <p:nvSpPr>
          <p:cNvPr id="10" name="Title 1"/>
          <p:cNvSpPr>
            <a:spLocks noGrp="1"/>
          </p:cNvSpPr>
          <p:nvPr>
            <p:ph type="title"/>
          </p:nvPr>
        </p:nvSpPr>
        <p:spPr>
          <a:xfrm>
            <a:off x="406422" y="280106"/>
            <a:ext cx="11623632" cy="1165754"/>
          </a:xfrm>
          <a:prstGeom prst="rect">
            <a:avLst/>
          </a:prstGeom>
        </p:spPr>
        <p:txBody>
          <a:bodyPr/>
          <a:lstStyle>
            <a:lvl1pPr>
              <a:defRPr b="1">
                <a:solidFill>
                  <a:srgbClr val="253746"/>
                </a:solidFill>
                <a:latin typeface="+mj-lt"/>
                <a:cs typeface="Core Sans NR 35 Light"/>
              </a:defRPr>
            </a:lvl1pPr>
          </a:lstStyle>
          <a:p>
            <a:r>
              <a:rPr lang="en-US"/>
              <a:t>Click to edit Master title style</a:t>
            </a:r>
            <a:endParaRPr lang="en-US" dirty="0"/>
          </a:p>
        </p:txBody>
      </p:sp>
    </p:spTree>
    <p:extLst>
      <p:ext uri="{BB962C8B-B14F-4D97-AF65-F5344CB8AC3E}">
        <p14:creationId xmlns:p14="http://schemas.microsoft.com/office/powerpoint/2010/main" val="1142450175"/>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122306125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79548229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Rectangle 1"/>
          <p:cNvSpPr/>
          <p:nvPr/>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35241564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4_Title Slide">
    <p:spTree>
      <p:nvGrpSpPr>
        <p:cNvPr id="1" name=""/>
        <p:cNvGrpSpPr/>
        <p:nvPr/>
      </p:nvGrpSpPr>
      <p:grpSpPr>
        <a:xfrm>
          <a:off x="0" y="0"/>
          <a:ext cx="0" cy="0"/>
          <a:chOff x="0" y="0"/>
          <a:chExt cx="0" cy="0"/>
        </a:xfrm>
      </p:grpSpPr>
      <p:sp>
        <p:nvSpPr>
          <p:cNvPr id="2" name="Rectangle 1"/>
          <p:cNvSpPr/>
          <p:nvPr/>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6234035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236053062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8554123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874990016"/>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a:t>Click to edit Master title style</a:t>
            </a:r>
            <a:endParaRPr lang="en-US" dirty="0"/>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412121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6303805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77437870"/>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036071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88942903"/>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1740206"/>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615088484"/>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a:t>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a:t>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a:t>Edit Master text styles</a:t>
            </a:r>
          </a:p>
        </p:txBody>
      </p:sp>
      <p:sp>
        <p:nvSpPr>
          <p:cNvPr id="2" name="Title 1"/>
          <p:cNvSpPr>
            <a:spLocks noGrp="1"/>
          </p:cNvSpPr>
          <p:nvPr>
            <p:ph type="title"/>
          </p:nvPr>
        </p:nvSpPr>
        <p:spPr>
          <a:xfrm>
            <a:off x="365760" y="365760"/>
            <a:ext cx="11704320" cy="822960"/>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a:t>Edit Master text styles</a:t>
            </a:r>
          </a:p>
        </p:txBody>
      </p:sp>
      <p:pic>
        <p:nvPicPr>
          <p:cNvPr id="8" name="Picture 7"/>
          <p:cNvPicPr>
            <a:picLocks noChangeAspect="1"/>
          </p:cNvPicPr>
          <p:nvPr/>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4134317821"/>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a:t>Click to edit Master title style</a:t>
            </a:r>
            <a:endParaRPr lang="en-US" dirty="0"/>
          </a:p>
        </p:txBody>
      </p:sp>
      <p:sp>
        <p:nvSpPr>
          <p:cNvPr id="4" name="Picture Placeholder 3"/>
          <p:cNvSpPr>
            <a:spLocks noGrp="1"/>
          </p:cNvSpPr>
          <p:nvPr>
            <p:ph type="pic" sz="quarter" idx="10"/>
          </p:nvPr>
        </p:nvSpPr>
        <p:spPr>
          <a:xfrm>
            <a:off x="6217920" y="0"/>
            <a:ext cx="6217920" cy="6995160"/>
          </a:xfrm>
        </p:spPr>
        <p:txBody>
          <a:bodyPr/>
          <a:lstStyle/>
          <a:p>
            <a:r>
              <a:rPr lang="en-US"/>
              <a:t>Click icon to add picture</a:t>
            </a:r>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5405321"/>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a:t>Click to edit Master title style</a:t>
            </a:r>
            <a:endParaRPr lang="en-US" dirty="0"/>
          </a:p>
        </p:txBody>
      </p:sp>
      <p:sp>
        <p:nvSpPr>
          <p:cNvPr id="4" name="Picture Placeholder 3"/>
          <p:cNvSpPr>
            <a:spLocks noGrp="1"/>
          </p:cNvSpPr>
          <p:nvPr>
            <p:ph type="pic" sz="quarter" idx="10"/>
          </p:nvPr>
        </p:nvSpPr>
        <p:spPr>
          <a:xfrm>
            <a:off x="0" y="0"/>
            <a:ext cx="6217920" cy="6995160"/>
          </a:xfrm>
        </p:spPr>
        <p:txBody>
          <a:bodyPr/>
          <a:lstStyle/>
          <a:p>
            <a:r>
              <a:rPr lang="en-US"/>
              <a:t>Click icon to add picture</a:t>
            </a:r>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1515032"/>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and illustration A">
    <p:spTree>
      <p:nvGrpSpPr>
        <p:cNvPr id="1" name=""/>
        <p:cNvGrpSpPr/>
        <p:nvPr/>
      </p:nvGrpSpPr>
      <p:grpSpPr>
        <a:xfrm>
          <a:off x="0" y="0"/>
          <a:ext cx="0" cy="0"/>
          <a:chOff x="0" y="0"/>
          <a:chExt cx="0" cy="0"/>
        </a:xfrm>
      </p:grpSpPr>
      <p:pic>
        <p:nvPicPr>
          <p:cNvPr id="4" name="Picture 3"/>
          <p:cNvPicPr>
            <a:picLocks/>
          </p:cNvPicPr>
          <p:nvPr/>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a:t>Click to edit Master title style</a:t>
            </a:r>
            <a:endParaRPr lang="en-US" dirty="0"/>
          </a:p>
        </p:txBody>
      </p:sp>
      <p:pic>
        <p:nvPicPr>
          <p:cNvPr id="3" name="Picture 2"/>
          <p:cNvPicPr>
            <a:picLocks noChangeAspect="1"/>
          </p:cNvPicPr>
          <p:nvPr/>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318325277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ext and illustration B">
    <p:spTree>
      <p:nvGrpSpPr>
        <p:cNvPr id="1" name=""/>
        <p:cNvGrpSpPr/>
        <p:nvPr/>
      </p:nvGrpSpPr>
      <p:grpSpPr>
        <a:xfrm>
          <a:off x="0" y="0"/>
          <a:ext cx="0" cy="0"/>
          <a:chOff x="0" y="0"/>
          <a:chExt cx="0" cy="0"/>
        </a:xfrm>
      </p:grpSpPr>
      <p:pic>
        <p:nvPicPr>
          <p:cNvPr id="4" name="Picture 3"/>
          <p:cNvPicPr>
            <a:picLocks/>
          </p:cNvPicPr>
          <p:nvPr/>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a:t>Click to edit Master title style</a:t>
            </a:r>
            <a:endParaRPr lang="en-US" dirty="0"/>
          </a:p>
        </p:txBody>
      </p:sp>
      <p:pic>
        <p:nvPicPr>
          <p:cNvPr id="6" name="Picture 5"/>
          <p:cNvPicPr>
            <a:picLocks noChangeAspect="1"/>
          </p:cNvPicPr>
          <p:nvPr/>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374347180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6420095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33044952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082182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846720"/>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103368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49025368"/>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1127379833"/>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04584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lvl1pPr>
              <a:defRPr sz="4488"/>
            </a:lvl1pPr>
          </a:lstStyle>
          <a:p>
            <a:r>
              <a:rPr lang="en-US" dirty="0"/>
              <a:t>Click to edit Master title style</a:t>
            </a:r>
          </a:p>
        </p:txBody>
      </p:sp>
    </p:spTree>
    <p:extLst>
      <p:ext uri="{BB962C8B-B14F-4D97-AF65-F5344CB8AC3E}">
        <p14:creationId xmlns:p14="http://schemas.microsoft.com/office/powerpoint/2010/main" val="24318014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theme" Target="../theme/theme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228302"/>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p:cNvPicPr>
            <a:picLocks noChangeAspect="1"/>
          </p:cNvPicPr>
          <p:nvPr userDrawn="1"/>
        </p:nvPicPr>
        <p:blipFill>
          <a:blip r:embed="rId17"/>
          <a:stretch>
            <a:fillRect/>
          </a:stretch>
        </p:blipFill>
        <p:spPr>
          <a:xfrm rot="5400000">
            <a:off x="9489149" y="3050513"/>
            <a:ext cx="6995160" cy="894134"/>
          </a:xfrm>
          <a:prstGeom prst="rect">
            <a:avLst/>
          </a:prstGeom>
        </p:spPr>
      </p:pic>
    </p:spTree>
    <p:extLst>
      <p:ext uri="{BB962C8B-B14F-4D97-AF65-F5344CB8AC3E}">
        <p14:creationId xmlns:p14="http://schemas.microsoft.com/office/powerpoint/2010/main" val="1790270825"/>
      </p:ext>
    </p:extLst>
  </p:cSld>
  <p:clrMap bg1="dk1" tx1="lt1" bg2="dk2" tx2="lt2" accent1="accent1" accent2="accent2" accent3="accent3" accent4="accent4" accent5="accent5" accent6="accent6" hlink="hlink" folHlink="folHlink"/>
  <p:sldLayoutIdLst>
    <p:sldLayoutId id="2147484167" r:id="rId1"/>
    <p:sldLayoutId id="2147484215" r:id="rId2"/>
    <p:sldLayoutId id="2147484101" r:id="rId3"/>
    <p:sldLayoutId id="2147484098" r:id="rId4"/>
    <p:sldLayoutId id="2147484086" r:id="rId5"/>
    <p:sldLayoutId id="2147484100" r:id="rId6"/>
    <p:sldLayoutId id="2147484089" r:id="rId7"/>
    <p:sldLayoutId id="2147484092" r:id="rId8"/>
    <p:sldLayoutId id="2147484195" r:id="rId9"/>
    <p:sldLayoutId id="2147484209" r:id="rId10"/>
    <p:sldLayoutId id="2147484192" r:id="rId11"/>
    <p:sldLayoutId id="2147484093" r:id="rId12"/>
    <p:sldLayoutId id="2147484203" r:id="rId13"/>
    <p:sldLayoutId id="2147484218" r:id="rId14"/>
    <p:sldLayoutId id="2147484226" r:id="rId15"/>
  </p:sldLayoutIdLst>
  <p:transition>
    <p:fade/>
  </p:transition>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5ACBF0"/>
          </p15:clr>
        </p15:guide>
        <p15:guide id="2" pos="173" userDrawn="1">
          <p15:clr>
            <a:srgbClr val="5ACBF0"/>
          </p15:clr>
        </p15:guide>
        <p15:guide id="3" pos="7661" userDrawn="1">
          <p15:clr>
            <a:srgbClr val="5ACBF0"/>
          </p15:clr>
        </p15:guide>
        <p15:guide id="4" orient="horz" pos="4219" userDrawn="1">
          <p15:clr>
            <a:srgbClr val="5ACBF0"/>
          </p15:clr>
        </p15:guide>
        <p15:guide id="5" pos="749" userDrawn="1">
          <p15:clr>
            <a:srgbClr val="5ACBF0"/>
          </p15:clr>
        </p15:guide>
        <p15:guide id="6" pos="1325" userDrawn="1">
          <p15:clr>
            <a:srgbClr val="5ACBF0"/>
          </p15:clr>
        </p15:guide>
        <p15:guide id="7" pos="1901" userDrawn="1">
          <p15:clr>
            <a:srgbClr val="5ACBF0"/>
          </p15:clr>
        </p15:guide>
        <p15:guide id="8" pos="2477" userDrawn="1">
          <p15:clr>
            <a:srgbClr val="5ACBF0"/>
          </p15:clr>
        </p15:guide>
        <p15:guide id="9" pos="3053" userDrawn="1">
          <p15:clr>
            <a:srgbClr val="5ACBF0"/>
          </p15:clr>
        </p15:guide>
        <p15:guide id="10" pos="3629" userDrawn="1">
          <p15:clr>
            <a:srgbClr val="5ACBF0"/>
          </p15:clr>
        </p15:guide>
        <p15:guide id="11" pos="4205" userDrawn="1">
          <p15:clr>
            <a:srgbClr val="5ACBF0"/>
          </p15:clr>
        </p15:guide>
        <p15:guide id="12" pos="4781" userDrawn="1">
          <p15:clr>
            <a:srgbClr val="5ACBF0"/>
          </p15:clr>
        </p15:guide>
        <p15:guide id="13" pos="5357" userDrawn="1">
          <p15:clr>
            <a:srgbClr val="5ACBF0"/>
          </p15:clr>
        </p15:guide>
        <p15:guide id="14" pos="5933" userDrawn="1">
          <p15:clr>
            <a:srgbClr val="5ACBF0"/>
          </p15:clr>
        </p15:guide>
        <p15:guide id="15" pos="6509" userDrawn="1">
          <p15:clr>
            <a:srgbClr val="5ACBF0"/>
          </p15:clr>
        </p15:guide>
        <p15:guide id="16" pos="7085" userDrawn="1">
          <p15:clr>
            <a:srgbClr val="5ACBF0"/>
          </p15:clr>
        </p15:guide>
        <p15:guide id="17" orient="horz" pos="763" userDrawn="1">
          <p15:clr>
            <a:srgbClr val="5ACBF0"/>
          </p15:clr>
        </p15:guide>
        <p15:guide id="18" orient="horz" pos="1339" userDrawn="1">
          <p15:clr>
            <a:srgbClr val="5ACBF0"/>
          </p15:clr>
        </p15:guide>
        <p15:guide id="19" orient="horz" pos="1915" userDrawn="1">
          <p15:clr>
            <a:srgbClr val="5ACBF0"/>
          </p15:clr>
        </p15:guide>
        <p15:guide id="20" orient="horz" pos="2491" userDrawn="1">
          <p15:clr>
            <a:srgbClr val="5ACBF0"/>
          </p15:clr>
        </p15:guide>
        <p15:guide id="21" orient="horz" pos="3067" userDrawn="1">
          <p15:clr>
            <a:srgbClr val="5ACBF0"/>
          </p15:clr>
        </p15:guide>
        <p15:guide id="22" orient="horz" pos="3643" userDrawn="1">
          <p15:clr>
            <a:srgbClr val="5ACBF0"/>
          </p15:clr>
        </p15:guide>
        <p15:guide id="23" pos="288" userDrawn="1">
          <p15:clr>
            <a:srgbClr val="C35EA4"/>
          </p15:clr>
        </p15:guide>
        <p15:guide id="24" pos="7546" userDrawn="1">
          <p15:clr>
            <a:srgbClr val="C35EA4"/>
          </p15:clr>
        </p15:guide>
        <p15:guide id="25" orient="horz" pos="302" userDrawn="1">
          <p15:clr>
            <a:srgbClr val="C35EA4"/>
          </p15:clr>
        </p15:guide>
        <p15:guide id="26" orient="horz" pos="4104"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5"/>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1" y="1212851"/>
            <a:ext cx="11887198" cy="2228302"/>
          </a:xfrm>
          <a:prstGeom prst="rect">
            <a:avLst/>
          </a:prstGeom>
        </p:spPr>
        <p:txBody>
          <a:bodyPr vert="horz" wrap="square" lIns="146304" tIns="91440" rIns="146304" bIns="91440" rtlCol="0">
            <a:sp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59588166"/>
      </p:ext>
    </p:extLst>
  </p:cSld>
  <p:clrMap bg1="dk1" tx1="lt1" bg2="dk2" tx2="lt2" accent1="accent1" accent2="accent2" accent3="accent3" accent4="accent4" accent5="accent5" accent6="accent6" hlink="hlink" folHlink="folHlink"/>
  <p:sldLayoutIdLst>
    <p:sldLayoutId id="2147484220" r:id="rId1"/>
    <p:sldLayoutId id="2147484221" r:id="rId2"/>
    <p:sldLayoutId id="2147484222" r:id="rId3"/>
    <p:sldLayoutId id="2147484223" r:id="rId4"/>
    <p:sldLayoutId id="2147484224" r:id="rId5"/>
    <p:sldLayoutId id="2147484225" r:id="rId6"/>
  </p:sldLayoutIdLst>
  <p:transition>
    <p:fade/>
  </p:transition>
  <p:txStyles>
    <p:titleStyle>
      <a:lvl1pPr algn="l" defTabSz="932563" rtl="0" eaLnBrk="1" latinLnBrk="0" hangingPunct="1">
        <a:lnSpc>
          <a:spcPct val="90000"/>
        </a:lnSpc>
        <a:spcBef>
          <a:spcPct val="0"/>
        </a:spcBef>
        <a:buNone/>
        <a:defRPr lang="en-US" sz="5399" b="0" kern="1200" cap="none" spc="-102" baseline="0" dirty="0" smtClean="0">
          <a:ln w="3175">
            <a:noFill/>
          </a:ln>
          <a:solidFill>
            <a:schemeClr val="bg1"/>
          </a:solidFill>
          <a:effectLst/>
          <a:latin typeface="+mj-lt"/>
          <a:ea typeface="+mn-ea"/>
          <a:cs typeface="Segoe UI" pitchFamily="34" charset="0"/>
        </a:defRPr>
      </a:lvl1pPr>
    </p:titleStyle>
    <p:bodyStyle>
      <a:lvl1pPr marL="342834" marR="0" indent="-342834" algn="l" defTabSz="932563"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72" kern="1200" spc="0" baseline="0">
          <a:solidFill>
            <a:schemeClr val="bg1"/>
          </a:solidFill>
          <a:latin typeface="+mj-lt"/>
          <a:ea typeface="+mn-ea"/>
          <a:cs typeface="+mn-cs"/>
        </a:defRPr>
      </a:lvl1pPr>
      <a:lvl2pPr marL="584088" marR="0" indent="-241253" algn="l" defTabSz="932563"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48" kern="1200" spc="0" baseline="0">
          <a:solidFill>
            <a:schemeClr val="bg1"/>
          </a:solidFill>
          <a:latin typeface="+mn-lt"/>
          <a:ea typeface="+mn-ea"/>
          <a:cs typeface="+mn-cs"/>
        </a:defRPr>
      </a:lvl2pPr>
      <a:lvl3pPr marL="799946" marR="0" indent="-228557" algn="l" defTabSz="932563"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48" kern="1200" spc="0" baseline="0">
          <a:solidFill>
            <a:schemeClr val="bg1"/>
          </a:solidFill>
          <a:latin typeface="+mn-lt"/>
          <a:ea typeface="+mn-ea"/>
          <a:cs typeface="+mn-cs"/>
        </a:defRPr>
      </a:lvl3pPr>
      <a:lvl4pPr marL="1028503" marR="0" indent="-228557" algn="l" defTabSz="932563"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040" kern="1200" spc="0" baseline="0">
          <a:solidFill>
            <a:schemeClr val="bg1"/>
          </a:solidFill>
          <a:latin typeface="+mn-lt"/>
          <a:ea typeface="+mn-ea"/>
          <a:cs typeface="+mn-cs"/>
        </a:defRPr>
      </a:lvl4pPr>
      <a:lvl5pPr marL="1257058" marR="0" indent="-228557" algn="l" defTabSz="932563"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040" kern="1200" spc="0" baseline="0">
          <a:solidFill>
            <a:schemeClr val="bg1"/>
          </a:solidFill>
          <a:latin typeface="+mn-lt"/>
          <a:ea typeface="+mn-ea"/>
          <a:cs typeface="+mn-cs"/>
        </a:defRPr>
      </a:lvl5pPr>
      <a:lvl6pPr marL="2564548"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0830"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112"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3394" indent="-233141" algn="l" defTabSz="9325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563" rtl="0" eaLnBrk="1" latinLnBrk="0" hangingPunct="1">
        <a:defRPr sz="1800" kern="1200">
          <a:solidFill>
            <a:schemeClr val="tx1"/>
          </a:solidFill>
          <a:latin typeface="+mn-lt"/>
          <a:ea typeface="+mn-ea"/>
          <a:cs typeface="+mn-cs"/>
        </a:defRPr>
      </a:lvl1pPr>
      <a:lvl2pPr marL="466281" algn="l" defTabSz="932563" rtl="0" eaLnBrk="1" latinLnBrk="0" hangingPunct="1">
        <a:defRPr sz="1800" kern="1200">
          <a:solidFill>
            <a:schemeClr val="tx1"/>
          </a:solidFill>
          <a:latin typeface="+mn-lt"/>
          <a:ea typeface="+mn-ea"/>
          <a:cs typeface="+mn-cs"/>
        </a:defRPr>
      </a:lvl2pPr>
      <a:lvl3pPr marL="932563" algn="l" defTabSz="932563" rtl="0" eaLnBrk="1" latinLnBrk="0" hangingPunct="1">
        <a:defRPr sz="1800" kern="1200">
          <a:solidFill>
            <a:schemeClr val="tx1"/>
          </a:solidFill>
          <a:latin typeface="+mn-lt"/>
          <a:ea typeface="+mn-ea"/>
          <a:cs typeface="+mn-cs"/>
        </a:defRPr>
      </a:lvl3pPr>
      <a:lvl4pPr marL="1398844" algn="l" defTabSz="932563" rtl="0" eaLnBrk="1" latinLnBrk="0" hangingPunct="1">
        <a:defRPr sz="1800" kern="1200">
          <a:solidFill>
            <a:schemeClr val="tx1"/>
          </a:solidFill>
          <a:latin typeface="+mn-lt"/>
          <a:ea typeface="+mn-ea"/>
          <a:cs typeface="+mn-cs"/>
        </a:defRPr>
      </a:lvl4pPr>
      <a:lvl5pPr marL="1865126" algn="l" defTabSz="932563" rtl="0" eaLnBrk="1" latinLnBrk="0" hangingPunct="1">
        <a:defRPr sz="1800" kern="1200">
          <a:solidFill>
            <a:schemeClr val="tx1"/>
          </a:solidFill>
          <a:latin typeface="+mn-lt"/>
          <a:ea typeface="+mn-ea"/>
          <a:cs typeface="+mn-cs"/>
        </a:defRPr>
      </a:lvl5pPr>
      <a:lvl6pPr marL="2331408" algn="l" defTabSz="932563" rtl="0" eaLnBrk="1" latinLnBrk="0" hangingPunct="1">
        <a:defRPr sz="1800" kern="1200">
          <a:solidFill>
            <a:schemeClr val="tx1"/>
          </a:solidFill>
          <a:latin typeface="+mn-lt"/>
          <a:ea typeface="+mn-ea"/>
          <a:cs typeface="+mn-cs"/>
        </a:defRPr>
      </a:lvl6pPr>
      <a:lvl7pPr marL="2797689" algn="l" defTabSz="932563" rtl="0" eaLnBrk="1" latinLnBrk="0" hangingPunct="1">
        <a:defRPr sz="1800" kern="1200">
          <a:solidFill>
            <a:schemeClr val="tx1"/>
          </a:solidFill>
          <a:latin typeface="+mn-lt"/>
          <a:ea typeface="+mn-ea"/>
          <a:cs typeface="+mn-cs"/>
        </a:defRPr>
      </a:lvl7pPr>
      <a:lvl8pPr marL="3263970" algn="l" defTabSz="932563" rtl="0" eaLnBrk="1" latinLnBrk="0" hangingPunct="1">
        <a:defRPr sz="1800" kern="1200">
          <a:solidFill>
            <a:schemeClr val="tx1"/>
          </a:solidFill>
          <a:latin typeface="+mn-lt"/>
          <a:ea typeface="+mn-ea"/>
          <a:cs typeface="+mn-cs"/>
        </a:defRPr>
      </a:lvl8pPr>
      <a:lvl9pPr marL="3730253" algn="l" defTabSz="932563"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661">
          <p15:clr>
            <a:srgbClr val="5ACBF0"/>
          </p15:clr>
        </p15:guide>
        <p15:guide id="4" orient="horz" pos="4219">
          <p15:clr>
            <a:srgbClr val="5ACBF0"/>
          </p15:clr>
        </p15:guide>
        <p15:guide id="5" pos="749">
          <p15:clr>
            <a:srgbClr val="5ACBF0"/>
          </p15:clr>
        </p15:guide>
        <p15:guide id="6" pos="1325">
          <p15:clr>
            <a:srgbClr val="5ACBF0"/>
          </p15:clr>
        </p15:guide>
        <p15:guide id="7" pos="1901">
          <p15:clr>
            <a:srgbClr val="5ACBF0"/>
          </p15:clr>
        </p15:guide>
        <p15:guide id="8" pos="2477">
          <p15:clr>
            <a:srgbClr val="5ACBF0"/>
          </p15:clr>
        </p15:guide>
        <p15:guide id="9" pos="3053">
          <p15:clr>
            <a:srgbClr val="5ACBF0"/>
          </p15:clr>
        </p15:guide>
        <p15:guide id="10" pos="3629">
          <p15:clr>
            <a:srgbClr val="5ACBF0"/>
          </p15:clr>
        </p15:guide>
        <p15:guide id="11" pos="4205">
          <p15:clr>
            <a:srgbClr val="5ACBF0"/>
          </p15:clr>
        </p15:guide>
        <p15:guide id="12" pos="4781">
          <p15:clr>
            <a:srgbClr val="5ACBF0"/>
          </p15:clr>
        </p15:guide>
        <p15:guide id="13" pos="5357">
          <p15:clr>
            <a:srgbClr val="5ACBF0"/>
          </p15:clr>
        </p15:guide>
        <p15:guide id="14" pos="5933">
          <p15:clr>
            <a:srgbClr val="5ACBF0"/>
          </p15:clr>
        </p15:guide>
        <p15:guide id="15" pos="6509">
          <p15:clr>
            <a:srgbClr val="5ACBF0"/>
          </p15:clr>
        </p15:guide>
        <p15:guide id="16" pos="7085">
          <p15:clr>
            <a:srgbClr val="5ACBF0"/>
          </p15:clr>
        </p15:guide>
        <p15:guide id="17" orient="horz" pos="763">
          <p15:clr>
            <a:srgbClr val="5ACBF0"/>
          </p15:clr>
        </p15:guide>
        <p15:guide id="18" orient="horz" pos="1339">
          <p15:clr>
            <a:srgbClr val="5ACBF0"/>
          </p15:clr>
        </p15:guide>
        <p15:guide id="19" orient="horz" pos="1915">
          <p15:clr>
            <a:srgbClr val="5ACBF0"/>
          </p15:clr>
        </p15:guide>
        <p15:guide id="20" orient="horz" pos="2491">
          <p15:clr>
            <a:srgbClr val="5ACBF0"/>
          </p15:clr>
        </p15:guide>
        <p15:guide id="21" orient="horz" pos="3067">
          <p15:clr>
            <a:srgbClr val="5ACBF0"/>
          </p15:clr>
        </p15:guide>
        <p15:guide id="22" orient="horz" pos="3643">
          <p15:clr>
            <a:srgbClr val="5ACBF0"/>
          </p15:clr>
        </p15:guide>
        <p15:guide id="23" pos="288">
          <p15:clr>
            <a:srgbClr val="C35EA4"/>
          </p15:clr>
        </p15:guide>
        <p15:guide id="24" pos="7546">
          <p15:clr>
            <a:srgbClr val="C35EA4"/>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11818906"/>
      </p:ext>
    </p:extLst>
  </p:cSld>
  <p:clrMap bg1="lt1" tx1="dk1" bg2="lt2" tx2="dk2" accent1="accent1" accent2="accent2" accent3="accent3" accent4="accent4" accent5="accent5" accent6="accent6" hlink="hlink" folHlink="folHlink"/>
  <p:sldLayoutIdLst>
    <p:sldLayoutId id="2147484240" r:id="rId1"/>
    <p:sldLayoutId id="2147484241" r:id="rId2"/>
    <p:sldLayoutId id="2147484242" r:id="rId3"/>
    <p:sldLayoutId id="2147484243" r:id="rId4"/>
    <p:sldLayoutId id="2147484244" r:id="rId5"/>
    <p:sldLayoutId id="2147484245" r:id="rId6"/>
    <p:sldLayoutId id="2147484246" r:id="rId7"/>
    <p:sldLayoutId id="2147484247" r:id="rId8"/>
    <p:sldLayoutId id="2147484248" r:id="rId9"/>
    <p:sldLayoutId id="2147484249" r:id="rId10"/>
    <p:sldLayoutId id="2147484250" r:id="rId11"/>
    <p:sldLayoutId id="2147484251" r:id="rId12"/>
    <p:sldLayoutId id="2147484252" r:id="rId13"/>
    <p:sldLayoutId id="2147484253" r:id="rId14"/>
    <p:sldLayoutId id="2147484254" r:id="rId15"/>
    <p:sldLayoutId id="2147484255" r:id="rId16"/>
    <p:sldLayoutId id="2147484256" r:id="rId17"/>
    <p:sldLayoutId id="2147484257" r:id="rId18"/>
    <p:sldLayoutId id="2147484258" r:id="rId19"/>
    <p:sldLayoutId id="2147484259" r:id="rId20"/>
    <p:sldLayoutId id="2147484260" r:id="rId21"/>
    <p:sldLayoutId id="2147484261" r:id="rId22"/>
    <p:sldLayoutId id="2147484262" r:id="rId23"/>
    <p:sldLayoutId id="2147484263" r:id="rId24"/>
    <p:sldLayoutId id="2147484264" r:id="rId25"/>
    <p:sldLayoutId id="2147484265" r:id="rId26"/>
    <p:sldLayoutId id="2147484266" r:id="rId27"/>
    <p:sldLayoutId id="2147484268" r:id="rId28"/>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7" orient="horz" pos="187" userDrawn="1">
          <p15:clr>
            <a:srgbClr val="5ACBF0"/>
          </p15:clr>
        </p15:guide>
        <p15:guide id="28" pos="173" userDrawn="1">
          <p15:clr>
            <a:srgbClr val="5ACBF0"/>
          </p15:clr>
        </p15:guide>
        <p15:guide id="29" pos="7661" userDrawn="1">
          <p15:clr>
            <a:srgbClr val="5ACBF0"/>
          </p15:clr>
        </p15:guide>
        <p15:guide id="30" orient="horz" pos="4219" userDrawn="1">
          <p15:clr>
            <a:srgbClr val="5ACBF0"/>
          </p15:clr>
        </p15:guide>
        <p15:guide id="31" pos="749" userDrawn="1">
          <p15:clr>
            <a:srgbClr val="5ACBF0"/>
          </p15:clr>
        </p15:guide>
        <p15:guide id="32" pos="1325" userDrawn="1">
          <p15:clr>
            <a:srgbClr val="5ACBF0"/>
          </p15:clr>
        </p15:guide>
        <p15:guide id="33" pos="1901" userDrawn="1">
          <p15:clr>
            <a:srgbClr val="5ACBF0"/>
          </p15:clr>
        </p15:guide>
        <p15:guide id="34" pos="2477" userDrawn="1">
          <p15:clr>
            <a:srgbClr val="5ACBF0"/>
          </p15:clr>
        </p15:guide>
        <p15:guide id="35" pos="3053" userDrawn="1">
          <p15:clr>
            <a:srgbClr val="5ACBF0"/>
          </p15:clr>
        </p15:guide>
        <p15:guide id="36" pos="3629" userDrawn="1">
          <p15:clr>
            <a:srgbClr val="5ACBF0"/>
          </p15:clr>
        </p15:guide>
        <p15:guide id="37" pos="4205" userDrawn="1">
          <p15:clr>
            <a:srgbClr val="5ACBF0"/>
          </p15:clr>
        </p15:guide>
        <p15:guide id="38" pos="4781" userDrawn="1">
          <p15:clr>
            <a:srgbClr val="5ACBF0"/>
          </p15:clr>
        </p15:guide>
        <p15:guide id="39" pos="5357" userDrawn="1">
          <p15:clr>
            <a:srgbClr val="5ACBF0"/>
          </p15:clr>
        </p15:guide>
        <p15:guide id="40" pos="5933" userDrawn="1">
          <p15:clr>
            <a:srgbClr val="5ACBF0"/>
          </p15:clr>
        </p15:guide>
        <p15:guide id="41" pos="6509" userDrawn="1">
          <p15:clr>
            <a:srgbClr val="5ACBF0"/>
          </p15:clr>
        </p15:guide>
        <p15:guide id="42" pos="7085" userDrawn="1">
          <p15:clr>
            <a:srgbClr val="5ACBF0"/>
          </p15:clr>
        </p15:guide>
        <p15:guide id="43" orient="horz" pos="763" userDrawn="1">
          <p15:clr>
            <a:srgbClr val="5ACBF0"/>
          </p15:clr>
        </p15:guide>
        <p15:guide id="44" orient="horz" pos="1339" userDrawn="1">
          <p15:clr>
            <a:srgbClr val="5ACBF0"/>
          </p15:clr>
        </p15:guide>
        <p15:guide id="45" orient="horz" pos="1915" userDrawn="1">
          <p15:clr>
            <a:srgbClr val="5ACBF0"/>
          </p15:clr>
        </p15:guide>
        <p15:guide id="46" orient="horz" pos="2491" userDrawn="1">
          <p15:clr>
            <a:srgbClr val="5ACBF0"/>
          </p15:clr>
        </p15:guide>
        <p15:guide id="47" orient="horz" pos="3067" userDrawn="1">
          <p15:clr>
            <a:srgbClr val="5ACBF0"/>
          </p15:clr>
        </p15:guide>
        <p15:guide id="48" orient="horz" pos="3643" userDrawn="1">
          <p15:clr>
            <a:srgbClr val="5ACBF0"/>
          </p15:clr>
        </p15:guide>
        <p15:guide id="49" pos="288" userDrawn="1">
          <p15:clr>
            <a:srgbClr val="C35EA4"/>
          </p15:clr>
        </p15:guide>
        <p15:guide id="50" pos="7546" userDrawn="1">
          <p15:clr>
            <a:srgbClr val="C35EA4"/>
          </p15:clr>
        </p15:guide>
        <p15:guide id="51" orient="horz" pos="302" userDrawn="1">
          <p15:clr>
            <a:srgbClr val="C35EA4"/>
          </p15:clr>
        </p15:guide>
        <p15:guide id="52" orient="horz" pos="4104" userDrawn="1">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hyperlink" Target="https://msdn.microsoft.com/en-us/library/dn589784.aspx" TargetMode="External"/><Relationship Id="rId2" Type="http://schemas.openxmlformats.org/officeDocument/2006/relationships/notesSlide" Target="../notesSlides/notesSlide4.xml"/><Relationship Id="rId1" Type="http://schemas.openxmlformats.org/officeDocument/2006/relationships/slideLayout" Target="../slideLayouts/slideLayout31.xml"/><Relationship Id="rId4" Type="http://schemas.openxmlformats.org/officeDocument/2006/relationships/hyperlink" Target="http://www.rightscale.com/blog/cloud-industry-insights/amazon-ec2-outage-summary-and-lessons-learned"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en-us/blog/windows-azure-service-disruption-from-expired-certificate" TargetMode="External"/><Relationship Id="rId2" Type="http://schemas.openxmlformats.org/officeDocument/2006/relationships/hyperlink" Target="http://www.facilitiesnet.com/datacenters/article/How-to-Minimize-Human-Error-Prevent-Data-Center-Downtime-Facilities-Management-Data-Centers-Feature--14223" TargetMode="Externa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hyperlink" Target="https://azure.microsoft.com/en-us/documentation/articles/service-fabric-work-with-reliable-collections/#define-immutable-data-types-to-prevent-programmer-error" TargetMode="External"/><Relationship Id="rId2" Type="http://schemas.openxmlformats.org/officeDocument/2006/relationships/notesSlide" Target="../notesSlides/notesSlide6.xml"/><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2" Type="http://schemas.openxmlformats.org/officeDocument/2006/relationships/hyperlink" Target="https://azure.microsoft.com/en-us/documentation/articles/service-fabric-reliable-services-reliable-collections/" TargetMode="Externa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2" Type="http://schemas.openxmlformats.org/officeDocument/2006/relationships/hyperlink" Target="https://azure.microsoft.com/documentation/articles/service-fabric-concepts-partitioning/" TargetMode="Externa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hyperlink" Target="https://msdn.microsoft.com/en-us/library/dn589784.aspx" TargetMode="External"/><Relationship Id="rId2" Type="http://schemas.openxmlformats.org/officeDocument/2006/relationships/notesSlide" Target="../notesSlides/notesSlide7.xml"/><Relationship Id="rId1" Type="http://schemas.openxmlformats.org/officeDocument/2006/relationships/slideLayout" Target="../slideLayouts/slideLayout31.xml"/><Relationship Id="rId4" Type="http://schemas.openxmlformats.org/officeDocument/2006/relationships/hyperlink" Target="https://aws.amazon.com/message/6745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en-us/documentation/articles/service-fabric-reliable-actors-diagnostics/" TargetMode="External"/><Relationship Id="rId2" Type="http://schemas.openxmlformats.org/officeDocument/2006/relationships/notesSlide" Target="../notesSlides/notesSlide8.xml"/><Relationship Id="rId1" Type="http://schemas.openxmlformats.org/officeDocument/2006/relationships/slideLayout" Target="../slideLayouts/slideLayout31.xml"/><Relationship Id="rId4" Type="http://schemas.openxmlformats.org/officeDocument/2006/relationships/hyperlink" Target="https://azure.microsoft.com/en-us/documentation/articles/service-fabric-reliable-services-diagnostics/"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3" Type="http://schemas.openxmlformats.org/officeDocument/2006/relationships/hyperlink" Target="http://loggr.net/" TargetMode="External"/><Relationship Id="rId2" Type="http://schemas.openxmlformats.org/officeDocument/2006/relationships/hyperlink" Target="https://docs.asp.net/en/latest/fundamentals/logging.html#logging-recommendations" TargetMode="External"/><Relationship Id="rId1" Type="http://schemas.openxmlformats.org/officeDocument/2006/relationships/slideLayout" Target="../slideLayouts/slideLayout31.xml"/><Relationship Id="rId5" Type="http://schemas.openxmlformats.org/officeDocument/2006/relationships/hyperlink" Target="https://serilog.net/" TargetMode="External"/><Relationship Id="rId4" Type="http://schemas.openxmlformats.org/officeDocument/2006/relationships/hyperlink" Target="http://nlog-project.org/" TargetMode="External"/></Relationships>
</file>

<file path=ppt/slides/_rels/slide26.xml.rels><?xml version="1.0" encoding="UTF-8" standalone="yes"?>
<Relationships xmlns="http://schemas.openxmlformats.org/package/2006/relationships"><Relationship Id="rId2" Type="http://schemas.openxmlformats.org/officeDocument/2006/relationships/hyperlink" Target="https://www.nuget.org/packages/Microsoft.Diagnostics.EventFlow/1.0.0-preview" TargetMode="Externa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hyperlink" Target="https://azure.microsoft.com/en-us/documentation/articles/service-fabric-diagnostics-how-to-report-and-check-service-health/" TargetMode="External"/><Relationship Id="rId2" Type="http://schemas.openxmlformats.org/officeDocument/2006/relationships/image" Target="../media/image14.png"/><Relationship Id="rId1" Type="http://schemas.openxmlformats.org/officeDocument/2006/relationships/slideLayout" Target="../slideLayouts/slideLayout44.xml"/><Relationship Id="rId5" Type="http://schemas.openxmlformats.org/officeDocument/2006/relationships/hyperlink" Target="https://azure.microsoft.com/en-us/documentation/articles/service-fabric-view-entities-aggregated-health/" TargetMode="External"/><Relationship Id="rId4" Type="http://schemas.openxmlformats.org/officeDocument/2006/relationships/hyperlink" Target="https://azure.microsoft.com/en-us/documentation/articles/service-fabric-report-health/"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Microsoft/bond" TargetMode="External"/><Relationship Id="rId2" Type="http://schemas.openxmlformats.org/officeDocument/2006/relationships/hyperlink" Target="https://avro.apache.org/" TargetMode="External"/><Relationship Id="rId1" Type="http://schemas.openxmlformats.org/officeDocument/2006/relationships/slideLayout" Target="../slideLayouts/slideLayout31.xml"/><Relationship Id="rId4" Type="http://schemas.openxmlformats.org/officeDocument/2006/relationships/hyperlink" Target="https://developers.google.com/protocol-buffers/"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273994621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altLang="zh-CN" dirty="0"/>
              <a:t>Todd Abel</a:t>
            </a:r>
            <a:endParaRPr lang="en-US" dirty="0"/>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Hyper-scale web</a:t>
            </a:r>
          </a:p>
        </p:txBody>
      </p:sp>
    </p:spTree>
    <p:extLst>
      <p:ext uri="{BB962C8B-B14F-4D97-AF65-F5344CB8AC3E}">
        <p14:creationId xmlns:p14="http://schemas.microsoft.com/office/powerpoint/2010/main" val="220201419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marL="0" indent="0" algn="ctr">
              <a:buNone/>
            </a:pPr>
            <a:r>
              <a:rPr lang="en-US" sz="2800" i="1" dirty="0"/>
              <a:t>“And thirdly, the code is more what you'd call ‘guidelines’ than actual rules”</a:t>
            </a:r>
          </a:p>
          <a:p>
            <a:pPr algn="ctr">
              <a:buFontTx/>
              <a:buChar char="-"/>
            </a:pPr>
            <a:r>
              <a:rPr lang="en-US" sz="2000" b="1" i="1" dirty="0"/>
              <a:t>Captain Hector Barbosa </a:t>
            </a:r>
            <a:r>
              <a:rPr lang="en-US" sz="2000" i="1" dirty="0"/>
              <a:t>– Pirates of the Caribbean: The Curse of the Black Pearl</a:t>
            </a:r>
          </a:p>
          <a:p>
            <a:pPr algn="ctr">
              <a:buFontTx/>
              <a:buChar char="-"/>
            </a:pPr>
            <a:endParaRPr lang="en-US" sz="2000" i="1" dirty="0"/>
          </a:p>
          <a:p>
            <a:r>
              <a:rPr lang="en-US" dirty="0"/>
              <a:t>Most of these are common sense</a:t>
            </a:r>
          </a:p>
          <a:p>
            <a:r>
              <a:rPr lang="en-US" dirty="0"/>
              <a:t>Always multiple ways to solve a problem</a:t>
            </a:r>
          </a:p>
          <a:p>
            <a:r>
              <a:rPr lang="en-US" dirty="0"/>
              <a:t>Each solution has pros and cons, knowing the </a:t>
            </a:r>
            <a:br>
              <a:rPr lang="en-US" dirty="0"/>
            </a:br>
            <a:r>
              <a:rPr lang="en-US" dirty="0"/>
              <a:t>trade-offs is what is important</a:t>
            </a:r>
          </a:p>
          <a:p>
            <a:r>
              <a:rPr lang="en-US" dirty="0"/>
              <a:t>Fine to </a:t>
            </a:r>
            <a:r>
              <a:rPr lang="en-US" b="1" i="1" dirty="0"/>
              <a:t>intentionally</a:t>
            </a:r>
            <a:r>
              <a:rPr lang="en-US" dirty="0"/>
              <a:t> not follow a best practice</a:t>
            </a:r>
          </a:p>
          <a:p>
            <a:pPr marL="0" indent="0">
              <a:buNone/>
            </a:pPr>
            <a:endParaRPr lang="en-US" dirty="0"/>
          </a:p>
        </p:txBody>
      </p:sp>
      <p:sp>
        <p:nvSpPr>
          <p:cNvPr id="3" name="Title 2"/>
          <p:cNvSpPr>
            <a:spLocks noGrp="1"/>
          </p:cNvSpPr>
          <p:nvPr>
            <p:ph type="title"/>
          </p:nvPr>
        </p:nvSpPr>
        <p:spPr/>
        <p:txBody>
          <a:bodyPr/>
          <a:lstStyle/>
          <a:p>
            <a:r>
              <a:rPr lang="en-US" dirty="0"/>
              <a:t>“It depends…”</a:t>
            </a:r>
          </a:p>
        </p:txBody>
      </p:sp>
    </p:spTree>
    <p:extLst>
      <p:ext uri="{BB962C8B-B14F-4D97-AF65-F5344CB8AC3E}">
        <p14:creationId xmlns:p14="http://schemas.microsoft.com/office/powerpoint/2010/main" val="357463389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Typically don’t debug directly on production nodes</a:t>
            </a:r>
          </a:p>
          <a:p>
            <a:pPr lvl="1"/>
            <a:r>
              <a:rPr lang="en-US" dirty="0"/>
              <a:t>Difficult to catch an issue directly</a:t>
            </a:r>
          </a:p>
          <a:p>
            <a:pPr lvl="1"/>
            <a:r>
              <a:rPr lang="en-US" dirty="0"/>
              <a:t>Security and compliance concerns</a:t>
            </a:r>
          </a:p>
          <a:p>
            <a:pPr lvl="1"/>
            <a:r>
              <a:rPr lang="en-US" dirty="0"/>
              <a:t>Should debug tools be installed on all production nodes?</a:t>
            </a:r>
          </a:p>
          <a:p>
            <a:r>
              <a:rPr lang="en-US" dirty="0"/>
              <a:t>Instrument your code</a:t>
            </a:r>
          </a:p>
          <a:p>
            <a:pPr lvl="1"/>
            <a:r>
              <a:rPr lang="en-US" dirty="0"/>
              <a:t>Instrumenting your code is critical for debugging based on logs</a:t>
            </a:r>
          </a:p>
          <a:p>
            <a:pPr lvl="1"/>
            <a:r>
              <a:rPr lang="en-US" dirty="0"/>
              <a:t>Should be able to trace the execution path through your code</a:t>
            </a:r>
          </a:p>
          <a:p>
            <a:pPr lvl="1"/>
            <a:r>
              <a:rPr lang="en-US" dirty="0"/>
              <a:t>Always log in UTC</a:t>
            </a:r>
          </a:p>
          <a:p>
            <a:pPr lvl="1"/>
            <a:r>
              <a:rPr lang="en-US" dirty="0"/>
              <a:t>Flow an activity id</a:t>
            </a:r>
          </a:p>
        </p:txBody>
      </p:sp>
      <p:sp>
        <p:nvSpPr>
          <p:cNvPr id="4" name="Title 3"/>
          <p:cNvSpPr>
            <a:spLocks noGrp="1"/>
          </p:cNvSpPr>
          <p:nvPr>
            <p:ph type="title"/>
          </p:nvPr>
        </p:nvSpPr>
        <p:spPr/>
        <p:txBody>
          <a:bodyPr/>
          <a:lstStyle/>
          <a:p>
            <a:r>
              <a:rPr lang="en-US" altLang="zh-CN" dirty="0"/>
              <a:t>Debugging in Production</a:t>
            </a:r>
            <a:endParaRPr lang="en-US" dirty="0"/>
          </a:p>
        </p:txBody>
      </p:sp>
    </p:spTree>
    <p:extLst>
      <p:ext uri="{BB962C8B-B14F-4D97-AF65-F5344CB8AC3E}">
        <p14:creationId xmlns:p14="http://schemas.microsoft.com/office/powerpoint/2010/main" val="3988497551"/>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5637212"/>
          </a:xfrm>
        </p:spPr>
        <p:txBody>
          <a:bodyPr>
            <a:normAutofit/>
          </a:bodyPr>
          <a:lstStyle/>
          <a:p>
            <a:r>
              <a:rPr lang="en-US" dirty="0"/>
              <a:t>Recovery Point Objective (RPO)</a:t>
            </a:r>
          </a:p>
          <a:p>
            <a:pPr lvl="1"/>
            <a:r>
              <a:rPr lang="en-US" dirty="0"/>
              <a:t>How much data in minutes can the business afford to lose?</a:t>
            </a:r>
          </a:p>
          <a:p>
            <a:pPr lvl="1"/>
            <a:r>
              <a:rPr lang="en-US" dirty="0"/>
              <a:t>Business should set the RPO, smaller RPO is more expensive</a:t>
            </a:r>
          </a:p>
          <a:p>
            <a:pPr lvl="1"/>
            <a:r>
              <a:rPr lang="en-US" dirty="0"/>
              <a:t>Each service must expect and plan for data loss</a:t>
            </a:r>
          </a:p>
          <a:p>
            <a:r>
              <a:rPr lang="en-US" dirty="0"/>
              <a:t>Soft deletes (tombstoning) are best practice</a:t>
            </a:r>
          </a:p>
          <a:p>
            <a:pPr lvl="1"/>
            <a:r>
              <a:rPr lang="en-US" dirty="0"/>
              <a:t>Hard delete later when you know it is not needed</a:t>
            </a:r>
          </a:p>
          <a:p>
            <a:r>
              <a:rPr lang="en-US" dirty="0"/>
              <a:t>Data Corruption</a:t>
            </a:r>
          </a:p>
          <a:p>
            <a:pPr lvl="1"/>
            <a:r>
              <a:rPr lang="en-US" dirty="0"/>
              <a:t>Frequently caused by software bug (or a hacker) </a:t>
            </a:r>
          </a:p>
          <a:p>
            <a:pPr lvl="1"/>
            <a:r>
              <a:rPr lang="en-US" dirty="0"/>
              <a:t>Detect corruption is a hard issue that is domain specific</a:t>
            </a:r>
          </a:p>
          <a:p>
            <a:pPr lvl="1"/>
            <a:r>
              <a:rPr lang="en-US" dirty="0"/>
              <a:t>If needed, deal with corruption using journaling, snapshots/backups</a:t>
            </a:r>
          </a:p>
          <a:p>
            <a:pPr lvl="1"/>
            <a:r>
              <a:rPr lang="en-US" dirty="0"/>
              <a:t>Make sure you test restoring from corruption</a:t>
            </a:r>
          </a:p>
        </p:txBody>
      </p:sp>
      <p:sp>
        <p:nvSpPr>
          <p:cNvPr id="3" name="Title 2"/>
          <p:cNvSpPr>
            <a:spLocks noGrp="1"/>
          </p:cNvSpPr>
          <p:nvPr>
            <p:ph type="title"/>
          </p:nvPr>
        </p:nvSpPr>
        <p:spPr/>
        <p:txBody>
          <a:bodyPr/>
          <a:lstStyle/>
          <a:p>
            <a:r>
              <a:rPr lang="en-US" dirty="0"/>
              <a:t>Data Loss</a:t>
            </a:r>
          </a:p>
        </p:txBody>
      </p:sp>
    </p:spTree>
    <p:extLst>
      <p:ext uri="{BB962C8B-B14F-4D97-AF65-F5344CB8AC3E}">
        <p14:creationId xmlns:p14="http://schemas.microsoft.com/office/powerpoint/2010/main" val="133441725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p:cNvSpPr>
            <a:spLocks noGrp="1"/>
          </p:cNvSpPr>
          <p:nvPr>
            <p:ph type="body" sz="quarter" idx="10"/>
          </p:nvPr>
        </p:nvSpPr>
        <p:spPr>
          <a:xfrm>
            <a:off x="274638" y="1212850"/>
            <a:ext cx="4056617" cy="2154436"/>
          </a:xfrm>
        </p:spPr>
        <p:txBody>
          <a:bodyPr/>
          <a:lstStyle/>
          <a:p>
            <a:r>
              <a:rPr lang="en-US" dirty="0"/>
              <a:t>Two similar clusters</a:t>
            </a:r>
          </a:p>
          <a:p>
            <a:r>
              <a:rPr lang="en-US" dirty="0"/>
              <a:t>Only Cluster A takes traffic</a:t>
            </a:r>
          </a:p>
          <a:p>
            <a:r>
              <a:rPr lang="en-US" dirty="0"/>
              <a:t>Primary must handle spikes</a:t>
            </a:r>
          </a:p>
          <a:p>
            <a:r>
              <a:rPr lang="en-US" dirty="0"/>
              <a:t>Data replicated to cluster B in the  background</a:t>
            </a:r>
          </a:p>
          <a:p>
            <a:endParaRPr lang="en-US" dirty="0"/>
          </a:p>
        </p:txBody>
      </p:sp>
      <p:sp>
        <p:nvSpPr>
          <p:cNvPr id="3" name="Title 2"/>
          <p:cNvSpPr>
            <a:spLocks noGrp="1"/>
          </p:cNvSpPr>
          <p:nvPr>
            <p:ph type="title"/>
          </p:nvPr>
        </p:nvSpPr>
        <p:spPr/>
        <p:txBody>
          <a:bodyPr/>
          <a:lstStyle/>
          <a:p>
            <a:r>
              <a:rPr lang="en-US" dirty="0"/>
              <a:t>Availability and Reliability – Active/Passive</a:t>
            </a:r>
          </a:p>
        </p:txBody>
      </p:sp>
      <p:sp>
        <p:nvSpPr>
          <p:cNvPr id="4" name="Rectangle 3"/>
          <p:cNvSpPr/>
          <p:nvPr/>
        </p:nvSpPr>
        <p:spPr bwMode="auto">
          <a:xfrm>
            <a:off x="7029182" y="2235603"/>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pic>
        <p:nvPicPr>
          <p:cNvPr id="5" name="Picture 2" descr="C:\Users\Jeffrey\AppData\Local\Microsoft\Windows\Temporary Internet Files\Content.IE5\Z5GQZJYD\MC90043256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7599" y="1142606"/>
            <a:ext cx="1164690" cy="116469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7"/>
          <p:cNvCxnSpPr>
            <a:stCxn id="5" idx="3"/>
            <a:endCxn id="4" idx="0"/>
          </p:cNvCxnSpPr>
          <p:nvPr/>
        </p:nvCxnSpPr>
        <p:spPr>
          <a:xfrm>
            <a:off x="7762289" y="1724951"/>
            <a:ext cx="562293" cy="510652"/>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438382" y="3040062"/>
            <a:ext cx="3886200" cy="3352800"/>
            <a:chOff x="198437" y="3484776"/>
            <a:chExt cx="3886200" cy="3352800"/>
          </a:xfrm>
        </p:grpSpPr>
        <p:sp>
          <p:nvSpPr>
            <p:cNvPr id="7"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 (Primary)</a:t>
              </a:r>
            </a:p>
          </p:txBody>
        </p:sp>
        <p:sp>
          <p:nvSpPr>
            <p:cNvPr id="12" name="Oval 11"/>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Oval 12"/>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4" name="Oval 13"/>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6" name="Oval 15"/>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0" name="Oval 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1" name="Oval 1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25" name="Group 24"/>
          <p:cNvGrpSpPr/>
          <p:nvPr/>
        </p:nvGrpSpPr>
        <p:grpSpPr>
          <a:xfrm>
            <a:off x="8422984" y="3040062"/>
            <a:ext cx="3886200" cy="3352800"/>
            <a:chOff x="6523037" y="3421062"/>
            <a:chExt cx="3886200" cy="3352800"/>
          </a:xfrm>
        </p:grpSpPr>
        <p:sp>
          <p:nvSpPr>
            <p:cNvPr id="17" name="Rectangle 16"/>
            <p:cNvSpPr/>
            <p:nvPr/>
          </p:nvSpPr>
          <p:spPr bwMode="auto">
            <a:xfrm>
              <a:off x="6523037" y="3421062"/>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 (Secondary)</a:t>
              </a:r>
            </a:p>
          </p:txBody>
        </p:sp>
        <p:sp>
          <p:nvSpPr>
            <p:cNvPr id="18" name="Oval 17"/>
            <p:cNvSpPr/>
            <p:nvPr/>
          </p:nvSpPr>
          <p:spPr bwMode="auto">
            <a:xfrm>
              <a:off x="7436844" y="3979066"/>
              <a:ext cx="2133600" cy="2133600"/>
            </a:xfrm>
            <a:prstGeom prst="ellipse">
              <a:avLst/>
            </a:prstGeom>
            <a:noFill/>
            <a:ln w="285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 name="Oval 18"/>
            <p:cNvSpPr/>
            <p:nvPr/>
          </p:nvSpPr>
          <p:spPr bwMode="auto">
            <a:xfrm>
              <a:off x="7055251" y="4430203"/>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0" name="Oval 19"/>
            <p:cNvSpPr/>
            <p:nvPr/>
          </p:nvSpPr>
          <p:spPr bwMode="auto">
            <a:xfrm>
              <a:off x="9190037" y="4424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1" name="Oval 20"/>
            <p:cNvSpPr/>
            <p:nvPr/>
          </p:nvSpPr>
          <p:spPr bwMode="auto">
            <a:xfrm>
              <a:off x="8085137" y="36358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2" name="Oval 21"/>
            <p:cNvSpPr/>
            <p:nvPr/>
          </p:nvSpPr>
          <p:spPr bwMode="auto">
            <a:xfrm>
              <a:off x="7437438" y="5567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3" name="Oval 22"/>
            <p:cNvSpPr/>
            <p:nvPr/>
          </p:nvSpPr>
          <p:spPr bwMode="auto">
            <a:xfrm>
              <a:off x="8809037" y="556714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cxnSp>
        <p:nvCxnSpPr>
          <p:cNvPr id="26" name="Straight Arrow Connector 7"/>
          <p:cNvCxnSpPr>
            <a:stCxn id="4" idx="2"/>
            <a:endCxn id="7" idx="0"/>
          </p:cNvCxnSpPr>
          <p:nvPr/>
        </p:nvCxnSpPr>
        <p:spPr>
          <a:xfrm rot="5400000">
            <a:off x="7048232" y="1763712"/>
            <a:ext cx="609600" cy="1943100"/>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7"/>
          <p:cNvCxnSpPr>
            <a:stCxn id="7" idx="2"/>
            <a:endCxn id="17" idx="2"/>
          </p:cNvCxnSpPr>
          <p:nvPr/>
        </p:nvCxnSpPr>
        <p:spPr>
          <a:xfrm rot="16200000" flipH="1">
            <a:off x="8373783" y="4400561"/>
            <a:ext cx="12700" cy="3984602"/>
          </a:xfrm>
          <a:prstGeom prst="bentConnector3">
            <a:avLst>
              <a:gd name="adj1" fmla="val 262388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656233" y="6505794"/>
            <a:ext cx="1447800" cy="233065"/>
          </a:xfrm>
          <a:prstGeom prst="rect">
            <a:avLst/>
          </a:prstGeom>
          <a:noFill/>
        </p:spPr>
        <p:txBody>
          <a:bodyPr wrap="square" lIns="182880" tIns="146304" rIns="182880" bIns="146304" rtlCol="0" anchor="ctr">
            <a:noAutofit/>
          </a:bodyPr>
          <a:lstStyle/>
          <a:p>
            <a:pP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Replication Traffic</a:t>
            </a:r>
          </a:p>
        </p:txBody>
      </p:sp>
      <p:sp>
        <p:nvSpPr>
          <p:cNvPr id="39" name="Rectangle 38"/>
          <p:cNvSpPr/>
          <p:nvPr/>
        </p:nvSpPr>
        <p:spPr bwMode="auto">
          <a:xfrm>
            <a:off x="8431709" y="3033711"/>
            <a:ext cx="3877475" cy="3365501"/>
          </a:xfrm>
          <a:prstGeom prst="rect">
            <a:avLst/>
          </a:prstGeom>
          <a:solidFill>
            <a:schemeClr val="tx1">
              <a:lumMod val="50000"/>
              <a:alpha val="50000"/>
            </a:schemeClr>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914489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500"/>
                                        <p:tgtEl>
                                          <p:spTgt spid="2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left)">
                                      <p:cBhvr>
                                        <p:cTn id="1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0"/>
          </p:nvPr>
        </p:nvSpPr>
        <p:spPr>
          <a:xfrm>
            <a:off x="198437" y="1212850"/>
            <a:ext cx="4314959" cy="5637212"/>
          </a:xfrm>
        </p:spPr>
        <p:txBody>
          <a:bodyPr>
            <a:normAutofit/>
          </a:bodyPr>
          <a:lstStyle/>
          <a:p>
            <a:pPr>
              <a:spcAft>
                <a:spcPts val="600"/>
              </a:spcAft>
            </a:pPr>
            <a:r>
              <a:rPr lang="en-US" dirty="0">
                <a:gradFill>
                  <a:gsLst>
                    <a:gs pos="2917">
                      <a:schemeClr val="tx1"/>
                    </a:gs>
                    <a:gs pos="30000">
                      <a:schemeClr val="tx1"/>
                    </a:gs>
                  </a:gsLst>
                  <a:lin ang="5400000" scaled="0"/>
                </a:gradFill>
              </a:rPr>
              <a:t>Failover flow</a:t>
            </a:r>
          </a:p>
          <a:p>
            <a:pPr lvl="1">
              <a:spcAft>
                <a:spcPts val="600"/>
              </a:spcAft>
            </a:pPr>
            <a:r>
              <a:rPr lang="en-US" dirty="0">
                <a:gradFill>
                  <a:gsLst>
                    <a:gs pos="2917">
                      <a:schemeClr val="tx1"/>
                    </a:gs>
                    <a:gs pos="30000">
                      <a:schemeClr val="tx1"/>
                    </a:gs>
                  </a:gsLst>
                  <a:lin ang="5400000" scaled="0"/>
                </a:gradFill>
              </a:rPr>
              <a:t>Customer experiences issue</a:t>
            </a:r>
          </a:p>
          <a:p>
            <a:pPr lvl="1">
              <a:spcAft>
                <a:spcPts val="600"/>
              </a:spcAft>
            </a:pPr>
            <a:r>
              <a:rPr lang="en-US" dirty="0">
                <a:gradFill>
                  <a:gsLst>
                    <a:gs pos="2917">
                      <a:schemeClr val="tx1"/>
                    </a:gs>
                    <a:gs pos="30000">
                      <a:schemeClr val="tx1"/>
                    </a:gs>
                  </a:gsLst>
                  <a:lin ang="5400000" scaled="0"/>
                </a:gradFill>
              </a:rPr>
              <a:t>DevOps decides to fail over</a:t>
            </a:r>
          </a:p>
          <a:p>
            <a:pPr lvl="1">
              <a:spcAft>
                <a:spcPts val="600"/>
              </a:spcAft>
            </a:pPr>
            <a:r>
              <a:rPr lang="en-US" dirty="0">
                <a:gradFill>
                  <a:gsLst>
                    <a:gs pos="2917">
                      <a:schemeClr val="tx1"/>
                    </a:gs>
                    <a:gs pos="30000">
                      <a:schemeClr val="tx1"/>
                    </a:gs>
                  </a:gsLst>
                  <a:lin ang="5400000" scaled="0"/>
                </a:gradFill>
              </a:rPr>
              <a:t>Data inconsistency/loss</a:t>
            </a:r>
          </a:p>
          <a:p>
            <a:pPr lvl="2">
              <a:spcAft>
                <a:spcPts val="600"/>
              </a:spcAft>
            </a:pPr>
            <a:r>
              <a:rPr lang="en-US" dirty="0">
                <a:gradFill>
                  <a:gsLst>
                    <a:gs pos="2917">
                      <a:schemeClr val="tx1"/>
                    </a:gs>
                    <a:gs pos="30000">
                      <a:schemeClr val="tx1"/>
                    </a:gs>
                  </a:gsLst>
                  <a:lin ang="5400000" scaled="0"/>
                </a:gradFill>
              </a:rPr>
              <a:t>RPO == replication delay</a:t>
            </a:r>
          </a:p>
          <a:p>
            <a:pPr lvl="1">
              <a:spcAft>
                <a:spcPts val="600"/>
              </a:spcAft>
            </a:pPr>
            <a:r>
              <a:rPr lang="en-US" dirty="0">
                <a:gradFill>
                  <a:gsLst>
                    <a:gs pos="2917">
                      <a:schemeClr val="tx1"/>
                    </a:gs>
                    <a:gs pos="30000">
                      <a:schemeClr val="tx1"/>
                    </a:gs>
                  </a:gsLst>
                  <a:lin ang="5400000" scaled="0"/>
                </a:gradFill>
              </a:rPr>
              <a:t>Takes minutes</a:t>
            </a:r>
          </a:p>
          <a:p>
            <a:pPr>
              <a:spcAft>
                <a:spcPts val="600"/>
              </a:spcAft>
            </a:pPr>
            <a:r>
              <a:rPr lang="en-US" dirty="0">
                <a:gradFill>
                  <a:gsLst>
                    <a:gs pos="2917">
                      <a:schemeClr val="tx1"/>
                    </a:gs>
                    <a:gs pos="30000">
                      <a:schemeClr val="tx1"/>
                    </a:gs>
                  </a:gsLst>
                  <a:lin ang="5400000" scaled="0"/>
                </a:gradFill>
              </a:rPr>
              <a:t>Simple development</a:t>
            </a:r>
            <a:endParaRPr lang="en-US" dirty="0">
              <a:solidFill>
                <a:schemeClr val="accent4"/>
              </a:solidFill>
            </a:endParaRPr>
          </a:p>
          <a:p>
            <a:pPr>
              <a:spcAft>
                <a:spcPts val="600"/>
              </a:spcAft>
            </a:pPr>
            <a:r>
              <a:rPr lang="en-US" dirty="0">
                <a:gradFill>
                  <a:gsLst>
                    <a:gs pos="2917">
                      <a:schemeClr val="tx1"/>
                    </a:gs>
                    <a:gs pos="30000">
                      <a:schemeClr val="tx1"/>
                    </a:gs>
                  </a:gsLst>
                  <a:lin ang="5400000" scaled="0"/>
                </a:gradFill>
              </a:rPr>
              <a:t>Infrequently tested</a:t>
            </a:r>
          </a:p>
          <a:p>
            <a:pPr>
              <a:spcAft>
                <a:spcPts val="600"/>
              </a:spcAft>
            </a:pPr>
            <a:r>
              <a:rPr lang="en-US" dirty="0">
                <a:gradFill>
                  <a:gsLst>
                    <a:gs pos="2917">
                      <a:schemeClr val="tx1"/>
                    </a:gs>
                    <a:gs pos="30000">
                      <a:schemeClr val="tx1"/>
                    </a:gs>
                  </a:gsLst>
                  <a:lin ang="5400000" scaled="0"/>
                </a:gradFill>
              </a:rPr>
              <a:t>“Wasted” capacity</a:t>
            </a:r>
          </a:p>
        </p:txBody>
      </p:sp>
      <p:sp>
        <p:nvSpPr>
          <p:cNvPr id="3" name="Title 2"/>
          <p:cNvSpPr>
            <a:spLocks noGrp="1"/>
          </p:cNvSpPr>
          <p:nvPr>
            <p:ph type="title"/>
          </p:nvPr>
        </p:nvSpPr>
        <p:spPr/>
        <p:txBody>
          <a:bodyPr/>
          <a:lstStyle/>
          <a:p>
            <a:r>
              <a:rPr lang="en-US" dirty="0"/>
              <a:t>Availability and Reliability – Active/Passive</a:t>
            </a:r>
          </a:p>
        </p:txBody>
      </p:sp>
      <p:sp>
        <p:nvSpPr>
          <p:cNvPr id="4" name="Rectangle 3"/>
          <p:cNvSpPr/>
          <p:nvPr/>
        </p:nvSpPr>
        <p:spPr bwMode="auto">
          <a:xfrm>
            <a:off x="7029182" y="2235603"/>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pic>
        <p:nvPicPr>
          <p:cNvPr id="5" name="Picture 2" descr="C:\Users\Jeffrey\AppData\Local\Microsoft\Windows\Temporary Internet Files\Content.IE5\Z5GQZJYD\MC90043256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7599" y="1142606"/>
            <a:ext cx="1164690" cy="116469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7"/>
          <p:cNvCxnSpPr>
            <a:stCxn id="5" idx="3"/>
            <a:endCxn id="4" idx="0"/>
          </p:cNvCxnSpPr>
          <p:nvPr/>
        </p:nvCxnSpPr>
        <p:spPr>
          <a:xfrm>
            <a:off x="7762289" y="1724951"/>
            <a:ext cx="562293" cy="510652"/>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438382" y="3040062"/>
            <a:ext cx="3886200" cy="3352800"/>
            <a:chOff x="198437" y="3484776"/>
            <a:chExt cx="3886200" cy="3352800"/>
          </a:xfrm>
        </p:grpSpPr>
        <p:sp>
          <p:nvSpPr>
            <p:cNvPr id="7"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 (Primary)</a:t>
              </a:r>
            </a:p>
          </p:txBody>
        </p:sp>
        <p:sp>
          <p:nvSpPr>
            <p:cNvPr id="12" name="Oval 11"/>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Oval 12"/>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4" name="Oval 13"/>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6" name="Oval 15"/>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0" name="Oval 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1" name="Oval 1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25" name="Group 24"/>
          <p:cNvGrpSpPr/>
          <p:nvPr/>
        </p:nvGrpSpPr>
        <p:grpSpPr>
          <a:xfrm>
            <a:off x="8422984" y="3040062"/>
            <a:ext cx="3886200" cy="3352800"/>
            <a:chOff x="6523037" y="3421062"/>
            <a:chExt cx="3886200" cy="3352800"/>
          </a:xfrm>
        </p:grpSpPr>
        <p:sp>
          <p:nvSpPr>
            <p:cNvPr id="17" name="Rectangle 16"/>
            <p:cNvSpPr/>
            <p:nvPr/>
          </p:nvSpPr>
          <p:spPr bwMode="auto">
            <a:xfrm>
              <a:off x="6523037" y="3421062"/>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 (Secondary)</a:t>
              </a:r>
            </a:p>
          </p:txBody>
        </p:sp>
        <p:sp>
          <p:nvSpPr>
            <p:cNvPr id="18" name="Oval 17"/>
            <p:cNvSpPr/>
            <p:nvPr/>
          </p:nvSpPr>
          <p:spPr bwMode="auto">
            <a:xfrm>
              <a:off x="7436844" y="3979066"/>
              <a:ext cx="2133600" cy="2133600"/>
            </a:xfrm>
            <a:prstGeom prst="ellipse">
              <a:avLst/>
            </a:prstGeom>
            <a:noFill/>
            <a:ln w="285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 name="Oval 18"/>
            <p:cNvSpPr/>
            <p:nvPr/>
          </p:nvSpPr>
          <p:spPr bwMode="auto">
            <a:xfrm>
              <a:off x="7055251" y="4430203"/>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0" name="Oval 19"/>
            <p:cNvSpPr/>
            <p:nvPr/>
          </p:nvSpPr>
          <p:spPr bwMode="auto">
            <a:xfrm>
              <a:off x="9190037" y="4424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1" name="Oval 20"/>
            <p:cNvSpPr/>
            <p:nvPr/>
          </p:nvSpPr>
          <p:spPr bwMode="auto">
            <a:xfrm>
              <a:off x="8085137" y="36358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2" name="Oval 21"/>
            <p:cNvSpPr/>
            <p:nvPr/>
          </p:nvSpPr>
          <p:spPr bwMode="auto">
            <a:xfrm>
              <a:off x="7437438" y="5567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3" name="Oval 22"/>
            <p:cNvSpPr/>
            <p:nvPr/>
          </p:nvSpPr>
          <p:spPr bwMode="auto">
            <a:xfrm>
              <a:off x="8809037" y="556714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cxnSp>
        <p:nvCxnSpPr>
          <p:cNvPr id="26" name="Straight Arrow Connector 7"/>
          <p:cNvCxnSpPr>
            <a:stCxn id="4" idx="2"/>
            <a:endCxn id="17" idx="0"/>
          </p:cNvCxnSpPr>
          <p:nvPr/>
        </p:nvCxnSpPr>
        <p:spPr>
          <a:xfrm rot="16200000" flipH="1">
            <a:off x="9040533" y="1714511"/>
            <a:ext cx="609600" cy="2041502"/>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7"/>
          <p:cNvCxnSpPr>
            <a:stCxn id="17" idx="2"/>
            <a:endCxn id="39" idx="2"/>
          </p:cNvCxnSpPr>
          <p:nvPr/>
        </p:nvCxnSpPr>
        <p:spPr>
          <a:xfrm rot="5400000">
            <a:off x="8370682" y="4403810"/>
            <a:ext cx="6350" cy="3984454"/>
          </a:xfrm>
          <a:prstGeom prst="bentConnector3">
            <a:avLst>
              <a:gd name="adj1" fmla="val 5562693"/>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656233" y="6505794"/>
            <a:ext cx="1447800" cy="233065"/>
          </a:xfrm>
          <a:prstGeom prst="rect">
            <a:avLst/>
          </a:prstGeom>
          <a:noFill/>
        </p:spPr>
        <p:txBody>
          <a:bodyPr wrap="square" lIns="182880" tIns="146304" rIns="182880" bIns="146304" rtlCol="0" anchor="ctr">
            <a:noAutofit/>
          </a:bodyPr>
          <a:lstStyle/>
          <a:p>
            <a:pP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Replication Traffic</a:t>
            </a:r>
          </a:p>
        </p:txBody>
      </p:sp>
      <p:sp>
        <p:nvSpPr>
          <p:cNvPr id="39" name="Rectangle 38"/>
          <p:cNvSpPr/>
          <p:nvPr/>
        </p:nvSpPr>
        <p:spPr bwMode="auto">
          <a:xfrm>
            <a:off x="4442892" y="3033711"/>
            <a:ext cx="3877475" cy="3365501"/>
          </a:xfrm>
          <a:prstGeom prst="rect">
            <a:avLst/>
          </a:prstGeom>
          <a:solidFill>
            <a:schemeClr val="tx1">
              <a:lumMod val="50000"/>
              <a:alpha val="50000"/>
            </a:schemeClr>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34603781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left)">
                                      <p:cBhvr>
                                        <p:cTn id="11" dur="500"/>
                                        <p:tgtEl>
                                          <p:spTgt spid="26"/>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right)">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p:cNvSpPr>
            <a:spLocks noGrp="1"/>
          </p:cNvSpPr>
          <p:nvPr>
            <p:ph type="body" sz="quarter" idx="10"/>
          </p:nvPr>
        </p:nvSpPr>
        <p:spPr>
          <a:xfrm>
            <a:off x="274638" y="1212851"/>
            <a:ext cx="3972651" cy="5713412"/>
          </a:xfrm>
        </p:spPr>
        <p:txBody>
          <a:bodyPr>
            <a:normAutofit/>
          </a:bodyPr>
          <a:lstStyle/>
          <a:p>
            <a:r>
              <a:rPr lang="en-US" dirty="0"/>
              <a:t>Two similar clusters</a:t>
            </a:r>
          </a:p>
          <a:p>
            <a:r>
              <a:rPr lang="en-US" dirty="0"/>
              <a:t>Both clusters takes traffic</a:t>
            </a:r>
          </a:p>
          <a:p>
            <a:r>
              <a:rPr lang="en-US" dirty="0"/>
              <a:t>Both clusters handle spikes</a:t>
            </a:r>
          </a:p>
          <a:p>
            <a:pPr lvl="1"/>
            <a:r>
              <a:rPr lang="en-US" dirty="0"/>
              <a:t>Less expensive</a:t>
            </a:r>
          </a:p>
          <a:p>
            <a:r>
              <a:rPr lang="en-US" dirty="0"/>
              <a:t>Data replicated to other cluster in the  background</a:t>
            </a:r>
          </a:p>
          <a:p>
            <a:pPr marL="0" indent="0">
              <a:spcAft>
                <a:spcPts val="600"/>
              </a:spcAft>
              <a:buNone/>
            </a:pPr>
            <a:endParaRPr lang="en-US" dirty="0">
              <a:gradFill>
                <a:gsLst>
                  <a:gs pos="2917">
                    <a:schemeClr val="tx1"/>
                  </a:gs>
                  <a:gs pos="30000">
                    <a:schemeClr val="tx1"/>
                  </a:gs>
                </a:gsLst>
                <a:lin ang="5400000" scaled="0"/>
              </a:gradFill>
            </a:endParaRPr>
          </a:p>
          <a:p>
            <a:pPr marL="0" indent="0">
              <a:buNone/>
            </a:pPr>
            <a:endParaRPr lang="en-US" dirty="0"/>
          </a:p>
        </p:txBody>
      </p:sp>
      <p:sp>
        <p:nvSpPr>
          <p:cNvPr id="3" name="Title 2"/>
          <p:cNvSpPr>
            <a:spLocks noGrp="1"/>
          </p:cNvSpPr>
          <p:nvPr>
            <p:ph type="title"/>
          </p:nvPr>
        </p:nvSpPr>
        <p:spPr/>
        <p:txBody>
          <a:bodyPr/>
          <a:lstStyle/>
          <a:p>
            <a:r>
              <a:rPr lang="en-US" dirty="0"/>
              <a:t>Availability and Reliability – Active/Active</a:t>
            </a:r>
          </a:p>
        </p:txBody>
      </p:sp>
      <p:sp>
        <p:nvSpPr>
          <p:cNvPr id="4" name="Rectangle 3"/>
          <p:cNvSpPr/>
          <p:nvPr/>
        </p:nvSpPr>
        <p:spPr bwMode="auto">
          <a:xfrm>
            <a:off x="7029182" y="2235603"/>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pic>
        <p:nvPicPr>
          <p:cNvPr id="5" name="Picture 2" descr="C:\Users\Jeffrey\AppData\Local\Microsoft\Windows\Temporary Internet Files\Content.IE5\Z5GQZJYD\MC900432569[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7599" y="1142606"/>
            <a:ext cx="1164690" cy="116469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7"/>
          <p:cNvCxnSpPr>
            <a:stCxn id="5" idx="3"/>
            <a:endCxn id="4" idx="0"/>
          </p:cNvCxnSpPr>
          <p:nvPr/>
        </p:nvCxnSpPr>
        <p:spPr>
          <a:xfrm>
            <a:off x="7762289" y="1724951"/>
            <a:ext cx="562293" cy="510652"/>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438382" y="3040062"/>
            <a:ext cx="3886200" cy="3352800"/>
            <a:chOff x="198437" y="3484776"/>
            <a:chExt cx="3886200" cy="3352800"/>
          </a:xfrm>
        </p:grpSpPr>
        <p:sp>
          <p:nvSpPr>
            <p:cNvPr id="7"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a:t>
              </a:r>
            </a:p>
          </p:txBody>
        </p:sp>
        <p:sp>
          <p:nvSpPr>
            <p:cNvPr id="12" name="Oval 11"/>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Oval 12"/>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4" name="Oval 13"/>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6" name="Oval 15"/>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0" name="Oval 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1" name="Oval 1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25" name="Group 24"/>
          <p:cNvGrpSpPr/>
          <p:nvPr/>
        </p:nvGrpSpPr>
        <p:grpSpPr>
          <a:xfrm>
            <a:off x="8422984" y="3040062"/>
            <a:ext cx="3886200" cy="3352800"/>
            <a:chOff x="6523037" y="3421062"/>
            <a:chExt cx="3886200" cy="3352800"/>
          </a:xfrm>
        </p:grpSpPr>
        <p:sp>
          <p:nvSpPr>
            <p:cNvPr id="17" name="Rectangle 16"/>
            <p:cNvSpPr/>
            <p:nvPr/>
          </p:nvSpPr>
          <p:spPr bwMode="auto">
            <a:xfrm>
              <a:off x="6523037" y="3421062"/>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a:t>
              </a:r>
            </a:p>
          </p:txBody>
        </p:sp>
        <p:sp>
          <p:nvSpPr>
            <p:cNvPr id="18" name="Oval 17"/>
            <p:cNvSpPr/>
            <p:nvPr/>
          </p:nvSpPr>
          <p:spPr bwMode="auto">
            <a:xfrm>
              <a:off x="7436844" y="3979066"/>
              <a:ext cx="2133600" cy="2133600"/>
            </a:xfrm>
            <a:prstGeom prst="ellipse">
              <a:avLst/>
            </a:prstGeom>
            <a:noFill/>
            <a:ln w="285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 name="Oval 18"/>
            <p:cNvSpPr/>
            <p:nvPr/>
          </p:nvSpPr>
          <p:spPr bwMode="auto">
            <a:xfrm>
              <a:off x="7055251" y="4430203"/>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0" name="Oval 19"/>
            <p:cNvSpPr/>
            <p:nvPr/>
          </p:nvSpPr>
          <p:spPr bwMode="auto">
            <a:xfrm>
              <a:off x="9190037" y="4424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1" name="Oval 20"/>
            <p:cNvSpPr/>
            <p:nvPr/>
          </p:nvSpPr>
          <p:spPr bwMode="auto">
            <a:xfrm>
              <a:off x="8085137" y="36358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2" name="Oval 21"/>
            <p:cNvSpPr/>
            <p:nvPr/>
          </p:nvSpPr>
          <p:spPr bwMode="auto">
            <a:xfrm>
              <a:off x="7437438" y="5567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3" name="Oval 22"/>
            <p:cNvSpPr/>
            <p:nvPr/>
          </p:nvSpPr>
          <p:spPr bwMode="auto">
            <a:xfrm>
              <a:off x="8809037" y="556714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cxnSp>
        <p:nvCxnSpPr>
          <p:cNvPr id="26" name="Straight Arrow Connector 7"/>
          <p:cNvCxnSpPr>
            <a:stCxn id="4" idx="1"/>
            <a:endCxn id="7" idx="0"/>
          </p:cNvCxnSpPr>
          <p:nvPr/>
        </p:nvCxnSpPr>
        <p:spPr>
          <a:xfrm rot="10800000" flipV="1">
            <a:off x="6381482" y="2333032"/>
            <a:ext cx="647700" cy="707029"/>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7"/>
          <p:cNvCxnSpPr>
            <a:stCxn id="7" idx="2"/>
            <a:endCxn id="17" idx="2"/>
          </p:cNvCxnSpPr>
          <p:nvPr/>
        </p:nvCxnSpPr>
        <p:spPr>
          <a:xfrm rot="16200000" flipH="1">
            <a:off x="8373783" y="4400561"/>
            <a:ext cx="12700" cy="3984602"/>
          </a:xfrm>
          <a:prstGeom prst="bentConnector3">
            <a:avLst>
              <a:gd name="adj1" fmla="val 2623882"/>
            </a:avLst>
          </a:prstGeom>
          <a:ln w="57150">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656233" y="6505794"/>
            <a:ext cx="1447800" cy="233065"/>
          </a:xfrm>
          <a:prstGeom prst="rect">
            <a:avLst/>
          </a:prstGeom>
          <a:noFill/>
        </p:spPr>
        <p:txBody>
          <a:bodyPr wrap="square" lIns="182880" tIns="146304" rIns="182880" bIns="146304" rtlCol="0" anchor="ctr">
            <a:noAutofit/>
          </a:bodyPr>
          <a:lstStyle/>
          <a:p>
            <a:pP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Replication Traffic</a:t>
            </a:r>
          </a:p>
        </p:txBody>
      </p:sp>
      <p:cxnSp>
        <p:nvCxnSpPr>
          <p:cNvPr id="29" name="Straight Arrow Connector 7"/>
          <p:cNvCxnSpPr>
            <a:stCxn id="4" idx="3"/>
            <a:endCxn id="17" idx="0"/>
          </p:cNvCxnSpPr>
          <p:nvPr/>
        </p:nvCxnSpPr>
        <p:spPr>
          <a:xfrm>
            <a:off x="9619982" y="2333033"/>
            <a:ext cx="746102" cy="707029"/>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9702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wipe(up)">
                                      <p:cBhvr>
                                        <p:cTn id="11" dur="500"/>
                                        <p:tgtEl>
                                          <p:spTgt spid="26"/>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wipe(left)">
                                      <p:cBhvr>
                                        <p:cTn id="15" dur="500"/>
                                        <p:tgtEl>
                                          <p:spTgt spid="3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up)">
                                      <p:cBhvr>
                                        <p:cTn id="19" dur="500"/>
                                        <p:tgtEl>
                                          <p:spTgt spid="6"/>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up)">
                                      <p:cBhvr>
                                        <p:cTn id="23" dur="500"/>
                                        <p:tgtEl>
                                          <p:spTgt spid="29"/>
                                        </p:tgtEl>
                                      </p:cBhvr>
                                    </p:animEffect>
                                  </p:childTnLst>
                                </p:cTn>
                              </p:par>
                            </p:childTnLst>
                          </p:cTn>
                        </p:par>
                        <p:par>
                          <p:cTn id="24" fill="hold">
                            <p:stCondLst>
                              <p:cond delay="2500"/>
                            </p:stCondLst>
                            <p:childTnLst>
                              <p:par>
                                <p:cTn id="25" presetID="22" presetClass="entr" presetSubtype="2" fill="hold" nodeType="after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right)">
                                      <p:cBhvr>
                                        <p:cTn id="2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p:cNvSpPr>
            <a:spLocks noGrp="1"/>
          </p:cNvSpPr>
          <p:nvPr>
            <p:ph type="body" sz="quarter" idx="10"/>
          </p:nvPr>
        </p:nvSpPr>
        <p:spPr>
          <a:xfrm>
            <a:off x="274638" y="1212851"/>
            <a:ext cx="3972651" cy="5713412"/>
          </a:xfrm>
        </p:spPr>
        <p:txBody>
          <a:bodyPr>
            <a:normAutofit/>
          </a:bodyPr>
          <a:lstStyle/>
          <a:p>
            <a:pPr marL="342900" lvl="1" indent="-342900">
              <a:spcAft>
                <a:spcPts val="600"/>
              </a:spcAft>
            </a:pPr>
            <a:r>
              <a:rPr lang="en-US" dirty="0">
                <a:gradFill>
                  <a:gsLst>
                    <a:gs pos="2917">
                      <a:schemeClr val="tx1"/>
                    </a:gs>
                    <a:gs pos="30000">
                      <a:schemeClr val="tx1"/>
                    </a:gs>
                  </a:gsLst>
                  <a:lin ang="5400000" scaled="0"/>
                </a:gradFill>
              </a:rPr>
              <a:t>Failover is fast and free</a:t>
            </a:r>
          </a:p>
          <a:p>
            <a:pPr marL="342900" lvl="1" indent="-342900">
              <a:spcAft>
                <a:spcPts val="600"/>
              </a:spcAft>
            </a:pPr>
            <a:r>
              <a:rPr lang="en-US" dirty="0">
                <a:gradFill>
                  <a:gsLst>
                    <a:gs pos="2917">
                      <a:schemeClr val="tx1"/>
                    </a:gs>
                    <a:gs pos="30000">
                      <a:schemeClr val="tx1"/>
                    </a:gs>
                  </a:gsLst>
                  <a:lin ang="5400000" scaled="0"/>
                </a:gradFill>
              </a:rPr>
              <a:t>Harder development</a:t>
            </a:r>
          </a:p>
          <a:p>
            <a:pPr lvl="1">
              <a:spcAft>
                <a:spcPts val="600"/>
              </a:spcAft>
            </a:pPr>
            <a:r>
              <a:rPr lang="en-US" dirty="0">
                <a:gradFill>
                  <a:gsLst>
                    <a:gs pos="2917">
                      <a:schemeClr val="tx1"/>
                    </a:gs>
                    <a:gs pos="30000">
                      <a:schemeClr val="tx1"/>
                    </a:gs>
                  </a:gsLst>
                  <a:lin ang="5400000" scaled="0"/>
                </a:gradFill>
              </a:rPr>
              <a:t>Data inconsistency or</a:t>
            </a:r>
            <a:br>
              <a:rPr lang="en-US" dirty="0">
                <a:gradFill>
                  <a:gsLst>
                    <a:gs pos="2917">
                      <a:schemeClr val="tx1"/>
                    </a:gs>
                    <a:gs pos="30000">
                      <a:schemeClr val="tx1"/>
                    </a:gs>
                  </a:gsLst>
                  <a:lin ang="5400000" scaled="0"/>
                </a:gradFill>
              </a:rPr>
            </a:br>
            <a:r>
              <a:rPr lang="en-US" dirty="0">
                <a:gradFill>
                  <a:gsLst>
                    <a:gs pos="2917">
                      <a:schemeClr val="tx1"/>
                    </a:gs>
                    <a:gs pos="30000">
                      <a:schemeClr val="tx1"/>
                    </a:gs>
                  </a:gsLst>
                  <a:lin ang="5400000" scaled="0"/>
                </a:gradFill>
              </a:rPr>
              <a:t>dual reads</a:t>
            </a:r>
            <a:endParaRPr lang="en-US" dirty="0">
              <a:solidFill>
                <a:schemeClr val="accent4"/>
              </a:solidFill>
            </a:endParaRPr>
          </a:p>
          <a:p>
            <a:pPr>
              <a:spcAft>
                <a:spcPts val="600"/>
              </a:spcAft>
            </a:pPr>
            <a:r>
              <a:rPr lang="en-US" dirty="0">
                <a:gradFill>
                  <a:gsLst>
                    <a:gs pos="2917">
                      <a:schemeClr val="tx1"/>
                    </a:gs>
                    <a:gs pos="30000">
                      <a:schemeClr val="tx1"/>
                    </a:gs>
                  </a:gsLst>
                  <a:lin ang="5400000" scaled="0"/>
                </a:gradFill>
              </a:rPr>
              <a:t>Continuously tested</a:t>
            </a:r>
          </a:p>
          <a:p>
            <a:pPr>
              <a:spcAft>
                <a:spcPts val="600"/>
              </a:spcAft>
            </a:pPr>
            <a:r>
              <a:rPr lang="en-US" dirty="0">
                <a:gradFill>
                  <a:gsLst>
                    <a:gs pos="2917">
                      <a:schemeClr val="tx1"/>
                    </a:gs>
                    <a:gs pos="30000">
                      <a:schemeClr val="tx1"/>
                    </a:gs>
                  </a:gsLst>
                  <a:lin ang="5400000" scaled="0"/>
                </a:gradFill>
              </a:rPr>
              <a:t>Less “wasted” capacity</a:t>
            </a:r>
          </a:p>
        </p:txBody>
      </p:sp>
      <p:sp>
        <p:nvSpPr>
          <p:cNvPr id="3" name="Title 2"/>
          <p:cNvSpPr>
            <a:spLocks noGrp="1"/>
          </p:cNvSpPr>
          <p:nvPr>
            <p:ph type="title"/>
          </p:nvPr>
        </p:nvSpPr>
        <p:spPr/>
        <p:txBody>
          <a:bodyPr/>
          <a:lstStyle/>
          <a:p>
            <a:r>
              <a:rPr lang="en-US" dirty="0"/>
              <a:t>Availability and Reliability – Active/Active</a:t>
            </a:r>
          </a:p>
        </p:txBody>
      </p:sp>
      <p:sp>
        <p:nvSpPr>
          <p:cNvPr id="4" name="Rectangle 3"/>
          <p:cNvSpPr/>
          <p:nvPr/>
        </p:nvSpPr>
        <p:spPr bwMode="auto">
          <a:xfrm>
            <a:off x="7029182" y="2235603"/>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pic>
        <p:nvPicPr>
          <p:cNvPr id="5" name="Picture 2" descr="C:\Users\Jeffrey\AppData\Local\Microsoft\Windows\Temporary Internet Files\Content.IE5\Z5GQZJYD\MC900432569[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7599" y="1142606"/>
            <a:ext cx="1164690" cy="1164690"/>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7"/>
          <p:cNvCxnSpPr>
            <a:stCxn id="5" idx="3"/>
            <a:endCxn id="4" idx="0"/>
          </p:cNvCxnSpPr>
          <p:nvPr/>
        </p:nvCxnSpPr>
        <p:spPr>
          <a:xfrm>
            <a:off x="7762289" y="1724951"/>
            <a:ext cx="562293" cy="510652"/>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4438382" y="3040062"/>
            <a:ext cx="3886200" cy="3352800"/>
            <a:chOff x="198437" y="3484776"/>
            <a:chExt cx="3886200" cy="3352800"/>
          </a:xfrm>
        </p:grpSpPr>
        <p:sp>
          <p:nvSpPr>
            <p:cNvPr id="7"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a:t>
              </a:r>
            </a:p>
          </p:txBody>
        </p:sp>
        <p:sp>
          <p:nvSpPr>
            <p:cNvPr id="12" name="Oval 11"/>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3" name="Oval 12"/>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4" name="Oval 13"/>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6" name="Oval 15"/>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0" name="Oval 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1" name="Oval 1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25" name="Group 24"/>
          <p:cNvGrpSpPr/>
          <p:nvPr/>
        </p:nvGrpSpPr>
        <p:grpSpPr>
          <a:xfrm>
            <a:off x="8422984" y="3040062"/>
            <a:ext cx="3886200" cy="3352800"/>
            <a:chOff x="6523037" y="3421062"/>
            <a:chExt cx="3886200" cy="3352800"/>
          </a:xfrm>
        </p:grpSpPr>
        <p:sp>
          <p:nvSpPr>
            <p:cNvPr id="17" name="Rectangle 16"/>
            <p:cNvSpPr/>
            <p:nvPr/>
          </p:nvSpPr>
          <p:spPr bwMode="auto">
            <a:xfrm>
              <a:off x="6523037" y="3421062"/>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a:t>
              </a:r>
            </a:p>
          </p:txBody>
        </p:sp>
        <p:sp>
          <p:nvSpPr>
            <p:cNvPr id="18" name="Oval 17"/>
            <p:cNvSpPr/>
            <p:nvPr/>
          </p:nvSpPr>
          <p:spPr bwMode="auto">
            <a:xfrm>
              <a:off x="7436844" y="3979066"/>
              <a:ext cx="2133600" cy="2133600"/>
            </a:xfrm>
            <a:prstGeom prst="ellipse">
              <a:avLst/>
            </a:prstGeom>
            <a:noFill/>
            <a:ln w="285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9" name="Oval 18"/>
            <p:cNvSpPr/>
            <p:nvPr/>
          </p:nvSpPr>
          <p:spPr bwMode="auto">
            <a:xfrm>
              <a:off x="7055251" y="4430203"/>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0" name="Oval 19"/>
            <p:cNvSpPr/>
            <p:nvPr/>
          </p:nvSpPr>
          <p:spPr bwMode="auto">
            <a:xfrm>
              <a:off x="9190037" y="4424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1" name="Oval 20"/>
            <p:cNvSpPr/>
            <p:nvPr/>
          </p:nvSpPr>
          <p:spPr bwMode="auto">
            <a:xfrm>
              <a:off x="8085137" y="36358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2" name="Oval 21"/>
            <p:cNvSpPr/>
            <p:nvPr/>
          </p:nvSpPr>
          <p:spPr bwMode="auto">
            <a:xfrm>
              <a:off x="7437438" y="5567148"/>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3" name="Oval 22"/>
            <p:cNvSpPr/>
            <p:nvPr/>
          </p:nvSpPr>
          <p:spPr bwMode="auto">
            <a:xfrm>
              <a:off x="8809037" y="556714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cxnSp>
        <p:nvCxnSpPr>
          <p:cNvPr id="26" name="Straight Arrow Connector 7"/>
          <p:cNvCxnSpPr>
            <a:stCxn id="4" idx="2"/>
            <a:endCxn id="7" idx="0"/>
          </p:cNvCxnSpPr>
          <p:nvPr/>
        </p:nvCxnSpPr>
        <p:spPr>
          <a:xfrm rot="5400000">
            <a:off x="7048232" y="1763712"/>
            <a:ext cx="609600" cy="1943100"/>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7"/>
          <p:cNvCxnSpPr>
            <a:stCxn id="7" idx="2"/>
            <a:endCxn id="17" idx="2"/>
          </p:cNvCxnSpPr>
          <p:nvPr/>
        </p:nvCxnSpPr>
        <p:spPr>
          <a:xfrm rot="16200000" flipH="1">
            <a:off x="8373783" y="4400561"/>
            <a:ext cx="12700" cy="3984602"/>
          </a:xfrm>
          <a:prstGeom prst="bentConnector3">
            <a:avLst>
              <a:gd name="adj1" fmla="val 2623882"/>
            </a:avLst>
          </a:prstGeom>
          <a:ln w="57150">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656233" y="6505794"/>
            <a:ext cx="1447800" cy="233065"/>
          </a:xfrm>
          <a:prstGeom prst="rect">
            <a:avLst/>
          </a:prstGeom>
          <a:noFill/>
        </p:spPr>
        <p:txBody>
          <a:bodyPr wrap="square" lIns="182880" tIns="146304" rIns="182880" bIns="146304" rtlCol="0" anchor="ctr">
            <a:noAutofit/>
          </a:bodyPr>
          <a:lstStyle/>
          <a:p>
            <a:pP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Replication Traffic</a:t>
            </a:r>
          </a:p>
        </p:txBody>
      </p:sp>
      <p:cxnSp>
        <p:nvCxnSpPr>
          <p:cNvPr id="29" name="Straight Arrow Connector 7"/>
          <p:cNvCxnSpPr/>
          <p:nvPr/>
        </p:nvCxnSpPr>
        <p:spPr>
          <a:xfrm rot="16200000" flipH="1">
            <a:off x="9040533" y="1714511"/>
            <a:ext cx="609600" cy="2041502"/>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297028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6037" y="1212850"/>
            <a:ext cx="4260637" cy="5713412"/>
          </a:xfrm>
        </p:spPr>
        <p:txBody>
          <a:bodyPr>
            <a:normAutofit/>
          </a:bodyPr>
          <a:lstStyle/>
          <a:p>
            <a:r>
              <a:rPr lang="en-US" dirty="0"/>
              <a:t>Two regionally separated DCs</a:t>
            </a:r>
          </a:p>
          <a:p>
            <a:r>
              <a:rPr lang="en-US" dirty="0"/>
              <a:t>Can read from or write to either storage (RA-GRS), but default is local DC</a:t>
            </a:r>
          </a:p>
        </p:txBody>
      </p:sp>
      <p:sp>
        <p:nvSpPr>
          <p:cNvPr id="3" name="Title 2"/>
          <p:cNvSpPr>
            <a:spLocks noGrp="1"/>
          </p:cNvSpPr>
          <p:nvPr>
            <p:ph type="title"/>
          </p:nvPr>
        </p:nvSpPr>
        <p:spPr>
          <a:xfrm>
            <a:off x="274639" y="41838"/>
            <a:ext cx="11889564" cy="910953"/>
          </a:xfrm>
        </p:spPr>
        <p:txBody>
          <a:bodyPr/>
          <a:lstStyle/>
          <a:p>
            <a:r>
              <a:rPr lang="en-US" dirty="0"/>
              <a:t>Availability and Reliability – Real Example </a:t>
            </a:r>
          </a:p>
        </p:txBody>
      </p:sp>
      <p:grpSp>
        <p:nvGrpSpPr>
          <p:cNvPr id="6" name="Group 5"/>
          <p:cNvGrpSpPr/>
          <p:nvPr/>
        </p:nvGrpSpPr>
        <p:grpSpPr>
          <a:xfrm>
            <a:off x="4550091" y="2609501"/>
            <a:ext cx="2465655" cy="2286000"/>
            <a:chOff x="198437" y="3484776"/>
            <a:chExt cx="3886200" cy="3352800"/>
          </a:xfrm>
        </p:grpSpPr>
        <p:sp>
          <p:nvSpPr>
            <p:cNvPr id="7"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a:t>
              </a:r>
            </a:p>
          </p:txBody>
        </p:sp>
        <p:sp>
          <p:nvSpPr>
            <p:cNvPr id="8" name="Oval 7"/>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 name="Oval 8"/>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0" name="Oval 9"/>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1" name="Oval 10"/>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2" name="Oval 11"/>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3" name="Oval 12"/>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14" name="Group 13"/>
          <p:cNvGrpSpPr/>
          <p:nvPr/>
        </p:nvGrpSpPr>
        <p:grpSpPr>
          <a:xfrm>
            <a:off x="9674072" y="2608823"/>
            <a:ext cx="2465655" cy="2286000"/>
            <a:chOff x="198437" y="3484776"/>
            <a:chExt cx="3886200" cy="3352800"/>
          </a:xfrm>
        </p:grpSpPr>
        <p:sp>
          <p:nvSpPr>
            <p:cNvPr id="15" name="Rectangle 14"/>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a:t>
              </a:r>
            </a:p>
          </p:txBody>
        </p:sp>
        <p:sp>
          <p:nvSpPr>
            <p:cNvPr id="16" name="Oval 15"/>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7" name="Oval 16"/>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8" name="Oval 17"/>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19" name="Oval 18"/>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0" name="Oval 1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1" name="Oval 2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sp>
        <p:nvSpPr>
          <p:cNvPr id="22" name="Rectangle 21"/>
          <p:cNvSpPr/>
          <p:nvPr/>
        </p:nvSpPr>
        <p:spPr bwMode="auto">
          <a:xfrm>
            <a:off x="7056437" y="2172554"/>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sp>
        <p:nvSpPr>
          <p:cNvPr id="36" name="Rectangle 35"/>
          <p:cNvSpPr/>
          <p:nvPr/>
        </p:nvSpPr>
        <p:spPr bwMode="auto">
          <a:xfrm>
            <a:off x="5250382" y="5401445"/>
            <a:ext cx="1066800" cy="457200"/>
          </a:xfrm>
          <a:prstGeom prst="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A</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(RA-GRS)</a:t>
            </a:r>
          </a:p>
        </p:txBody>
      </p:sp>
      <p:sp>
        <p:nvSpPr>
          <p:cNvPr id="37" name="Rectangle 36"/>
          <p:cNvSpPr/>
          <p:nvPr/>
        </p:nvSpPr>
        <p:spPr bwMode="auto">
          <a:xfrm>
            <a:off x="10374551" y="5470018"/>
            <a:ext cx="1066800" cy="457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B</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(RA-GRS)</a:t>
            </a:r>
          </a:p>
        </p:txBody>
      </p:sp>
      <p:sp>
        <p:nvSpPr>
          <p:cNvPr id="38" name="Rectangle 37"/>
          <p:cNvSpPr/>
          <p:nvPr/>
        </p:nvSpPr>
        <p:spPr bwMode="auto">
          <a:xfrm>
            <a:off x="10374551" y="5978703"/>
            <a:ext cx="1066800" cy="457200"/>
          </a:xfrm>
          <a:prstGeom prst="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A</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(read only)</a:t>
            </a:r>
          </a:p>
        </p:txBody>
      </p:sp>
      <p:sp>
        <p:nvSpPr>
          <p:cNvPr id="39" name="Rectangle 38"/>
          <p:cNvSpPr/>
          <p:nvPr/>
        </p:nvSpPr>
        <p:spPr bwMode="auto">
          <a:xfrm>
            <a:off x="5270983" y="5906354"/>
            <a:ext cx="1066800" cy="457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B</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(read only)</a:t>
            </a:r>
          </a:p>
        </p:txBody>
      </p:sp>
      <p:sp>
        <p:nvSpPr>
          <p:cNvPr id="41" name="Rectangle 40"/>
          <p:cNvSpPr/>
          <p:nvPr/>
        </p:nvSpPr>
        <p:spPr bwMode="auto">
          <a:xfrm>
            <a:off x="4389437" y="2477354"/>
            <a:ext cx="2850061" cy="4419599"/>
          </a:xfrm>
          <a:prstGeom prst="rect">
            <a:avLst/>
          </a:prstGeom>
          <a:noFill/>
          <a:ln w="19050">
            <a:solidFill>
              <a:schemeClr val="accent4"/>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1" name="Rectangle 50"/>
          <p:cNvSpPr/>
          <p:nvPr/>
        </p:nvSpPr>
        <p:spPr bwMode="auto">
          <a:xfrm>
            <a:off x="9418637" y="2477353"/>
            <a:ext cx="2850061" cy="4419599"/>
          </a:xfrm>
          <a:prstGeom prst="rect">
            <a:avLst/>
          </a:prstGeom>
          <a:noFill/>
          <a:ln w="19050">
            <a:solidFill>
              <a:schemeClr val="accent4"/>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52" name="TextBox 51"/>
          <p:cNvSpPr txBox="1"/>
          <p:nvPr/>
        </p:nvSpPr>
        <p:spPr>
          <a:xfrm>
            <a:off x="4389437" y="6693197"/>
            <a:ext cx="2850061" cy="233065"/>
          </a:xfrm>
          <a:prstGeom prst="rect">
            <a:avLst/>
          </a:prstGeom>
          <a:noFill/>
        </p:spPr>
        <p:txBody>
          <a:bodyPr wrap="square" lIns="182880" tIns="146304" rIns="182880" bIns="146304" rtlCol="0" anchor="ctr">
            <a:no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West US</a:t>
            </a:r>
          </a:p>
        </p:txBody>
      </p:sp>
      <p:sp>
        <p:nvSpPr>
          <p:cNvPr id="53" name="TextBox 52"/>
          <p:cNvSpPr txBox="1"/>
          <p:nvPr/>
        </p:nvSpPr>
        <p:spPr>
          <a:xfrm>
            <a:off x="9423235" y="6663889"/>
            <a:ext cx="2850061" cy="233065"/>
          </a:xfrm>
          <a:prstGeom prst="rect">
            <a:avLst/>
          </a:prstGeom>
          <a:noFill/>
        </p:spPr>
        <p:txBody>
          <a:bodyPr wrap="square" lIns="182880" tIns="146304" rIns="182880" bIns="146304" rtlCol="0" anchor="ctr">
            <a:no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East US</a:t>
            </a:r>
          </a:p>
        </p:txBody>
      </p:sp>
      <p:cxnSp>
        <p:nvCxnSpPr>
          <p:cNvPr id="54" name="Straight Arrow Connector 7"/>
          <p:cNvCxnSpPr>
            <a:stCxn id="7" idx="2"/>
            <a:endCxn id="36" idx="0"/>
          </p:cNvCxnSpPr>
          <p:nvPr/>
        </p:nvCxnSpPr>
        <p:spPr>
          <a:xfrm rot="16200000" flipH="1">
            <a:off x="5530378" y="5148041"/>
            <a:ext cx="505944" cy="863"/>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7"/>
          <p:cNvCxnSpPr>
            <a:stCxn id="15" idx="2"/>
            <a:endCxn id="37" idx="0"/>
          </p:cNvCxnSpPr>
          <p:nvPr/>
        </p:nvCxnSpPr>
        <p:spPr>
          <a:xfrm rot="16200000" flipH="1">
            <a:off x="10619828" y="5181894"/>
            <a:ext cx="575195" cy="1051"/>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7"/>
          <p:cNvCxnSpPr>
            <a:endCxn id="37" idx="0"/>
          </p:cNvCxnSpPr>
          <p:nvPr/>
        </p:nvCxnSpPr>
        <p:spPr>
          <a:xfrm>
            <a:off x="5783784" y="5041249"/>
            <a:ext cx="5124167" cy="428769"/>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5"/>
          <p:cNvGrpSpPr/>
          <p:nvPr/>
        </p:nvGrpSpPr>
        <p:grpSpPr>
          <a:xfrm>
            <a:off x="4550091" y="2609501"/>
            <a:ext cx="2465655" cy="2286000"/>
            <a:chOff x="198437" y="3484776"/>
            <a:chExt cx="3886200" cy="3352800"/>
          </a:xfrm>
        </p:grpSpPr>
        <p:sp>
          <p:nvSpPr>
            <p:cNvPr id="2" name="Rectangle 6"/>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a:t>
              </a:r>
            </a:p>
          </p:txBody>
        </p:sp>
        <p:sp>
          <p:nvSpPr>
            <p:cNvPr id="4" name="Oval 7"/>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26" name="Oval 8"/>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7" name="Oval 9"/>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8" name="Oval 10"/>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29" name="Oval 11"/>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30" name="Oval 12"/>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grpSp>
        <p:nvGrpSpPr>
          <p:cNvPr id="48" name="Group 13"/>
          <p:cNvGrpSpPr/>
          <p:nvPr/>
        </p:nvGrpSpPr>
        <p:grpSpPr>
          <a:xfrm>
            <a:off x="9674072" y="2608823"/>
            <a:ext cx="2465655" cy="2286000"/>
            <a:chOff x="198437" y="3484776"/>
            <a:chExt cx="3886200" cy="3352800"/>
          </a:xfrm>
        </p:grpSpPr>
        <p:sp>
          <p:nvSpPr>
            <p:cNvPr id="33" name="Rectangle 14"/>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B</a:t>
              </a:r>
            </a:p>
          </p:txBody>
        </p:sp>
        <p:sp>
          <p:nvSpPr>
            <p:cNvPr id="34" name="Oval 15"/>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5" name="Oval 16"/>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40" name="Oval 17"/>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43" name="Oval 18"/>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44" name="Oval 19"/>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sp>
          <p:nvSpPr>
            <p:cNvPr id="47" name="Oval 20"/>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Node</a:t>
              </a:r>
            </a:p>
          </p:txBody>
        </p:sp>
      </p:grpSp>
      <p:sp>
        <p:nvSpPr>
          <p:cNvPr id="49" name="Rectangle 21"/>
          <p:cNvSpPr/>
          <p:nvPr/>
        </p:nvSpPr>
        <p:spPr bwMode="auto">
          <a:xfrm>
            <a:off x="7056437" y="2172554"/>
            <a:ext cx="2590800" cy="194859"/>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Traffic Manager</a:t>
            </a:r>
          </a:p>
        </p:txBody>
      </p:sp>
      <p:pic>
        <p:nvPicPr>
          <p:cNvPr id="55" name="Picture 2" descr="C:\Users\Jeffrey\AppData\Local\Microsoft\Windows\Temporary Internet Files\Content.IE5\Z5GQZJYD\MC900432569[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74808" y="862346"/>
            <a:ext cx="1164690" cy="1164690"/>
          </a:xfrm>
          <a:prstGeom prst="rect">
            <a:avLst/>
          </a:prstGeom>
          <a:noFill/>
          <a:extLst>
            <a:ext uri="{909E8E84-426E-40DD-AFC4-6F175D3DCCD1}">
              <a14:hiddenFill xmlns:a14="http://schemas.microsoft.com/office/drawing/2010/main">
                <a:solidFill>
                  <a:srgbClr val="FFFFFF"/>
                </a:solidFill>
              </a14:hiddenFill>
            </a:ext>
          </a:extLst>
        </p:spPr>
      </p:pic>
      <p:cxnSp>
        <p:nvCxnSpPr>
          <p:cNvPr id="56" name="Straight Arrow Connector 7"/>
          <p:cNvCxnSpPr>
            <a:stCxn id="49" idx="1"/>
            <a:endCxn id="2" idx="0"/>
          </p:cNvCxnSpPr>
          <p:nvPr/>
        </p:nvCxnSpPr>
        <p:spPr>
          <a:xfrm rot="10800000" flipV="1">
            <a:off x="5782919" y="2269983"/>
            <a:ext cx="1273518" cy="339517"/>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7"/>
          <p:cNvCxnSpPr>
            <a:stCxn id="49" idx="3"/>
            <a:endCxn id="33" idx="0"/>
          </p:cNvCxnSpPr>
          <p:nvPr/>
        </p:nvCxnSpPr>
        <p:spPr>
          <a:xfrm>
            <a:off x="9647237" y="2269984"/>
            <a:ext cx="1259663" cy="338839"/>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7"/>
          <p:cNvCxnSpPr>
            <a:stCxn id="55" idx="3"/>
            <a:endCxn id="49" idx="0"/>
          </p:cNvCxnSpPr>
          <p:nvPr/>
        </p:nvCxnSpPr>
        <p:spPr>
          <a:xfrm>
            <a:off x="7239498" y="1444691"/>
            <a:ext cx="1112339" cy="727863"/>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35"/>
          <p:cNvSpPr/>
          <p:nvPr/>
        </p:nvSpPr>
        <p:spPr bwMode="auto">
          <a:xfrm>
            <a:off x="5250382" y="5401445"/>
            <a:ext cx="1066800" cy="457200"/>
          </a:xfrm>
          <a:prstGeom prst="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A</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(RA-GRS)</a:t>
            </a:r>
          </a:p>
        </p:txBody>
      </p:sp>
      <p:sp>
        <p:nvSpPr>
          <p:cNvPr id="62" name="Rectangle 36"/>
          <p:cNvSpPr/>
          <p:nvPr/>
        </p:nvSpPr>
        <p:spPr bwMode="auto">
          <a:xfrm>
            <a:off x="10374551" y="5470018"/>
            <a:ext cx="1066800" cy="457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B</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(RA-GRS)</a:t>
            </a:r>
          </a:p>
        </p:txBody>
      </p:sp>
      <p:sp>
        <p:nvSpPr>
          <p:cNvPr id="63" name="Rectangle 37"/>
          <p:cNvSpPr/>
          <p:nvPr/>
        </p:nvSpPr>
        <p:spPr bwMode="auto">
          <a:xfrm>
            <a:off x="10374551" y="5978703"/>
            <a:ext cx="1066800" cy="457200"/>
          </a:xfrm>
          <a:prstGeom prst="rect">
            <a:avLst/>
          </a:pr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A</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(read only)</a:t>
            </a:r>
          </a:p>
        </p:txBody>
      </p:sp>
      <p:sp>
        <p:nvSpPr>
          <p:cNvPr id="64" name="Rectangle 38"/>
          <p:cNvSpPr/>
          <p:nvPr/>
        </p:nvSpPr>
        <p:spPr bwMode="auto">
          <a:xfrm>
            <a:off x="5270983" y="5906354"/>
            <a:ext cx="1066800" cy="457200"/>
          </a:xfrm>
          <a:prstGeom prst="rect">
            <a:avLst/>
          </a:prstGeom>
          <a:gradFill flip="none" rotWithShape="1">
            <a:gsLst>
              <a:gs pos="0">
                <a:schemeClr val="accent3">
                  <a:lumMod val="89000"/>
                </a:schemeClr>
              </a:gs>
              <a:gs pos="23000">
                <a:schemeClr val="accent3">
                  <a:lumMod val="89000"/>
                </a:schemeClr>
              </a:gs>
              <a:gs pos="69000">
                <a:schemeClr val="accent3">
                  <a:lumMod val="75000"/>
                </a:schemeClr>
              </a:gs>
              <a:gs pos="97000">
                <a:schemeClr val="accent3">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Azure Storage B</a:t>
            </a:r>
          </a:p>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(read only)</a:t>
            </a:r>
          </a:p>
        </p:txBody>
      </p:sp>
      <p:sp>
        <p:nvSpPr>
          <p:cNvPr id="65" name="Rectangle 40"/>
          <p:cNvSpPr/>
          <p:nvPr/>
        </p:nvSpPr>
        <p:spPr bwMode="auto">
          <a:xfrm>
            <a:off x="4389437" y="2477354"/>
            <a:ext cx="2850061" cy="4419599"/>
          </a:xfrm>
          <a:prstGeom prst="rect">
            <a:avLst/>
          </a:prstGeom>
          <a:noFill/>
          <a:ln w="19050">
            <a:solidFill>
              <a:schemeClr val="accent4"/>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cxnSp>
        <p:nvCxnSpPr>
          <p:cNvPr id="66" name="Straight Arrow Connector 7"/>
          <p:cNvCxnSpPr>
            <a:stCxn id="61" idx="3"/>
            <a:endCxn id="63" idx="1"/>
          </p:cNvCxnSpPr>
          <p:nvPr/>
        </p:nvCxnSpPr>
        <p:spPr>
          <a:xfrm>
            <a:off x="6317182" y="5630045"/>
            <a:ext cx="4057369" cy="577258"/>
          </a:xfrm>
          <a:prstGeom prst="straightConnector1">
            <a:avLst/>
          </a:prstGeom>
          <a:ln w="5715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7"/>
          <p:cNvCxnSpPr>
            <a:cxnSpLocks/>
            <a:stCxn id="62" idx="1"/>
            <a:endCxn id="64" idx="3"/>
          </p:cNvCxnSpPr>
          <p:nvPr/>
        </p:nvCxnSpPr>
        <p:spPr>
          <a:xfrm flipH="1">
            <a:off x="6337783" y="5698618"/>
            <a:ext cx="4036768" cy="436336"/>
          </a:xfrm>
          <a:prstGeom prst="straightConnector1">
            <a:avLst/>
          </a:prstGeom>
          <a:ln w="571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9" name="TextBox 49"/>
          <p:cNvSpPr txBox="1"/>
          <p:nvPr/>
        </p:nvSpPr>
        <p:spPr>
          <a:xfrm>
            <a:off x="7895134" y="6172009"/>
            <a:ext cx="1000404" cy="233065"/>
          </a:xfrm>
          <a:prstGeom prst="rect">
            <a:avLst/>
          </a:prstGeom>
          <a:noFill/>
        </p:spPr>
        <p:txBody>
          <a:bodyPr wrap="square" lIns="182880" tIns="146304" rIns="182880" bIns="146304" rtlCol="0" anchor="ctr">
            <a:noAutofit/>
          </a:bodyPr>
          <a:lstStyle/>
          <a:p>
            <a:pP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Replication</a:t>
            </a:r>
          </a:p>
        </p:txBody>
      </p:sp>
      <p:sp>
        <p:nvSpPr>
          <p:cNvPr id="70" name="Rectangle 50"/>
          <p:cNvSpPr/>
          <p:nvPr/>
        </p:nvSpPr>
        <p:spPr bwMode="auto">
          <a:xfrm>
            <a:off x="9418637" y="2477353"/>
            <a:ext cx="2850061" cy="4419599"/>
          </a:xfrm>
          <a:prstGeom prst="rect">
            <a:avLst/>
          </a:prstGeom>
          <a:noFill/>
          <a:ln w="19050">
            <a:solidFill>
              <a:schemeClr val="accent4"/>
            </a:solidFill>
            <a:prstDash val="sys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71" name="TextBox 51"/>
          <p:cNvSpPr txBox="1"/>
          <p:nvPr/>
        </p:nvSpPr>
        <p:spPr>
          <a:xfrm>
            <a:off x="4389437" y="6693197"/>
            <a:ext cx="2850061" cy="233065"/>
          </a:xfrm>
          <a:prstGeom prst="rect">
            <a:avLst/>
          </a:prstGeom>
          <a:noFill/>
        </p:spPr>
        <p:txBody>
          <a:bodyPr wrap="square" lIns="182880" tIns="146304" rIns="182880" bIns="146304" rtlCol="0" anchor="ctr">
            <a:no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West US</a:t>
            </a:r>
          </a:p>
        </p:txBody>
      </p:sp>
      <p:sp>
        <p:nvSpPr>
          <p:cNvPr id="72" name="TextBox 52"/>
          <p:cNvSpPr txBox="1"/>
          <p:nvPr/>
        </p:nvSpPr>
        <p:spPr>
          <a:xfrm>
            <a:off x="9423235" y="6663889"/>
            <a:ext cx="2850061" cy="233065"/>
          </a:xfrm>
          <a:prstGeom prst="rect">
            <a:avLst/>
          </a:prstGeom>
          <a:noFill/>
        </p:spPr>
        <p:txBody>
          <a:bodyPr wrap="square" lIns="182880" tIns="146304" rIns="182880" bIns="146304" rtlCol="0" anchor="ctr">
            <a:noAutofit/>
          </a:bodyPr>
          <a:lstStyle/>
          <a:p>
            <a:pPr algn="ctr">
              <a:lnSpc>
                <a:spcPct val="90000"/>
              </a:lnSpc>
              <a:spcAft>
                <a:spcPts val="600"/>
              </a:spcAft>
            </a:pPr>
            <a:r>
              <a:rPr lang="en-US" sz="1100" dirty="0">
                <a:gradFill>
                  <a:gsLst>
                    <a:gs pos="2917">
                      <a:schemeClr val="tx1"/>
                    </a:gs>
                    <a:gs pos="30000">
                      <a:schemeClr val="tx1"/>
                    </a:gs>
                  </a:gsLst>
                  <a:lin ang="5400000" scaled="0"/>
                </a:gradFill>
                <a:latin typeface="Calibri" panose="020F0502020204030204" pitchFamily="34" charset="0"/>
              </a:rPr>
              <a:t>East US</a:t>
            </a:r>
          </a:p>
        </p:txBody>
      </p:sp>
      <p:cxnSp>
        <p:nvCxnSpPr>
          <p:cNvPr id="73" name="Straight Arrow Connector 7"/>
          <p:cNvCxnSpPr>
            <a:stCxn id="2" idx="2"/>
            <a:endCxn id="61" idx="0"/>
          </p:cNvCxnSpPr>
          <p:nvPr/>
        </p:nvCxnSpPr>
        <p:spPr>
          <a:xfrm rot="16200000" flipH="1">
            <a:off x="5530378" y="5148041"/>
            <a:ext cx="505944" cy="863"/>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
          <p:cNvCxnSpPr>
            <a:stCxn id="33" idx="2"/>
            <a:endCxn id="62" idx="0"/>
          </p:cNvCxnSpPr>
          <p:nvPr/>
        </p:nvCxnSpPr>
        <p:spPr>
          <a:xfrm rot="16200000" flipH="1">
            <a:off x="10619828" y="5181894"/>
            <a:ext cx="575195" cy="1051"/>
          </a:xfrm>
          <a:prstGeom prst="bentConnector3">
            <a:avLst>
              <a:gd name="adj1" fmla="val 50000"/>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
          <p:cNvCxnSpPr>
            <a:endCxn id="62" idx="0"/>
          </p:cNvCxnSpPr>
          <p:nvPr/>
        </p:nvCxnSpPr>
        <p:spPr>
          <a:xfrm>
            <a:off x="5783784" y="5041249"/>
            <a:ext cx="5124167" cy="428769"/>
          </a:xfrm>
          <a:prstGeom prst="bentConnector2">
            <a:avLst/>
          </a:prstGeom>
          <a:ln w="57150">
            <a:solidFill>
              <a:schemeClr val="tx1">
                <a:lumMod val="75000"/>
                <a:lumOff val="2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22929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3582519"/>
          </a:xfrm>
        </p:spPr>
        <p:txBody>
          <a:bodyPr/>
          <a:lstStyle/>
          <a:p>
            <a:r>
              <a:rPr lang="en-US" dirty="0"/>
              <a:t>One simple failure leads to system-wide failure</a:t>
            </a:r>
          </a:p>
          <a:p>
            <a:pPr lvl="1"/>
            <a:r>
              <a:rPr lang="en-US" dirty="0"/>
              <a:t>Plan for failure and understand the impact of failure on the system and its SLA</a:t>
            </a:r>
          </a:p>
          <a:p>
            <a:pPr lvl="1"/>
            <a:r>
              <a:rPr lang="en-US" dirty="0"/>
              <a:t>When a service fails, clients must retry continuously causing a traffic storm </a:t>
            </a:r>
          </a:p>
          <a:p>
            <a:pPr lvl="1"/>
            <a:r>
              <a:rPr lang="en-US" dirty="0"/>
              <a:t>Can occur across regions, active-active cross region are not immune</a:t>
            </a:r>
            <a:r>
              <a:rPr lang="en-US" baseline="30000" dirty="0"/>
              <a:t> 1</a:t>
            </a:r>
            <a:endParaRPr lang="en-US" dirty="0"/>
          </a:p>
          <a:p>
            <a:pPr lvl="1"/>
            <a:r>
              <a:rPr lang="en-US" dirty="0"/>
              <a:t>Look at using Circuit Breaker patterns</a:t>
            </a:r>
          </a:p>
          <a:p>
            <a:pPr lvl="2"/>
            <a:r>
              <a:rPr lang="en-US" dirty="0"/>
              <a:t>Retry using exponential back-off with a maximum interval</a:t>
            </a:r>
          </a:p>
          <a:p>
            <a:pPr lvl="2"/>
            <a:r>
              <a:rPr lang="en-US" dirty="0"/>
              <a:t>Once connection is reestablished, reset the back-off interval</a:t>
            </a:r>
          </a:p>
          <a:p>
            <a:pPr lvl="2"/>
            <a:r>
              <a:rPr lang="en-US" dirty="0">
                <a:hlinkClick r:id="rId3"/>
              </a:rPr>
              <a:t>https://msdn.microsoft.com/en-us/library/dn589784.aspx</a:t>
            </a:r>
            <a:endParaRPr lang="en-US" dirty="0"/>
          </a:p>
        </p:txBody>
      </p:sp>
      <p:sp>
        <p:nvSpPr>
          <p:cNvPr id="3" name="Title 2"/>
          <p:cNvSpPr>
            <a:spLocks noGrp="1"/>
          </p:cNvSpPr>
          <p:nvPr>
            <p:ph type="title"/>
          </p:nvPr>
        </p:nvSpPr>
        <p:spPr/>
        <p:txBody>
          <a:bodyPr/>
          <a:lstStyle/>
          <a:p>
            <a:r>
              <a:rPr lang="en-US" dirty="0"/>
              <a:t>Cascading Failures</a:t>
            </a:r>
          </a:p>
        </p:txBody>
      </p:sp>
      <p:sp>
        <p:nvSpPr>
          <p:cNvPr id="4" name="Rectangle 3"/>
          <p:cNvSpPr/>
          <p:nvPr/>
        </p:nvSpPr>
        <p:spPr>
          <a:xfrm>
            <a:off x="0" y="6528385"/>
            <a:ext cx="12268201" cy="338554"/>
          </a:xfrm>
          <a:prstGeom prst="rect">
            <a:avLst/>
          </a:prstGeom>
        </p:spPr>
        <p:txBody>
          <a:bodyPr wrap="square">
            <a:spAutoFit/>
          </a:bodyPr>
          <a:lstStyle/>
          <a:p>
            <a:pPr marL="342900" lvl="1" indent="0">
              <a:buNone/>
            </a:pPr>
            <a:r>
              <a:rPr lang="en-US" sz="2400" baseline="30000" dirty="0"/>
              <a:t>1 </a:t>
            </a:r>
            <a:r>
              <a:rPr lang="en-US" sz="1600" dirty="0">
                <a:solidFill>
                  <a:schemeClr val="tx2"/>
                </a:solidFill>
                <a:hlinkClick r:id="rId4"/>
              </a:rPr>
              <a:t>http://www.rightscale.com/blog/cloud-industry-insights/amazon-ec2-outage-summary-and-lessons-learned</a:t>
            </a:r>
            <a:endParaRPr lang="en-US" sz="1600" dirty="0">
              <a:solidFill>
                <a:schemeClr val="tx2"/>
              </a:solidFill>
            </a:endParaRPr>
          </a:p>
        </p:txBody>
      </p:sp>
    </p:spTree>
    <p:extLst>
      <p:ext uri="{BB962C8B-B14F-4D97-AF65-F5344CB8AC3E}">
        <p14:creationId xmlns:p14="http://schemas.microsoft.com/office/powerpoint/2010/main" val="25802807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135062"/>
            <a:ext cx="11887200" cy="5410200"/>
          </a:xfrm>
        </p:spPr>
        <p:txBody>
          <a:bodyPr>
            <a:normAutofit/>
          </a:bodyPr>
          <a:lstStyle/>
          <a:p>
            <a:r>
              <a:rPr lang="en-US" dirty="0"/>
              <a:t>Human error causes 60% to 80% of service outages</a:t>
            </a:r>
            <a:r>
              <a:rPr lang="en-US" baseline="30000" dirty="0"/>
              <a:t> </a:t>
            </a:r>
            <a:r>
              <a:rPr lang="en-US" sz="2400" baseline="30000" dirty="0">
                <a:latin typeface="+mn-lt"/>
              </a:rPr>
              <a:t>1</a:t>
            </a:r>
          </a:p>
          <a:p>
            <a:r>
              <a:rPr lang="en-US" dirty="0"/>
              <a:t>Treat operational procedures like code</a:t>
            </a:r>
          </a:p>
          <a:p>
            <a:pPr lvl="1"/>
            <a:r>
              <a:rPr lang="en-US" dirty="0"/>
              <a:t>Automate as much as feasible</a:t>
            </a:r>
          </a:p>
          <a:p>
            <a:pPr lvl="1"/>
            <a:r>
              <a:rPr lang="en-US" dirty="0"/>
              <a:t>Manual procedures must be one-off processes</a:t>
            </a:r>
          </a:p>
          <a:p>
            <a:pPr lvl="2"/>
            <a:r>
              <a:rPr lang="en-US" dirty="0"/>
              <a:t>Humans are slower than automation</a:t>
            </a:r>
          </a:p>
          <a:p>
            <a:pPr lvl="2"/>
            <a:r>
              <a:rPr lang="en-US" dirty="0"/>
              <a:t>If you can document a manual procedure, why can’t it be automated?</a:t>
            </a:r>
          </a:p>
          <a:p>
            <a:pPr lvl="1"/>
            <a:r>
              <a:rPr lang="en-US" dirty="0"/>
              <a:t>Validate and test automation</a:t>
            </a:r>
          </a:p>
          <a:p>
            <a:r>
              <a:rPr lang="en-US" dirty="0"/>
              <a:t>Automate certificate and key rotation</a:t>
            </a:r>
          </a:p>
          <a:p>
            <a:pPr lvl="1"/>
            <a:r>
              <a:rPr lang="en-US" dirty="0"/>
              <a:t>Always have two certificates/keys and ensure that one is always valid</a:t>
            </a:r>
          </a:p>
          <a:p>
            <a:pPr lvl="1"/>
            <a:r>
              <a:rPr lang="en-US" dirty="0"/>
              <a:t>Rotate regularly</a:t>
            </a:r>
          </a:p>
          <a:p>
            <a:pPr lvl="1"/>
            <a:r>
              <a:rPr lang="en-US" dirty="0"/>
              <a:t>Caused Azure outage in 2013</a:t>
            </a:r>
            <a:r>
              <a:rPr lang="en-US" baseline="30000" dirty="0"/>
              <a:t> 2</a:t>
            </a:r>
            <a:endParaRPr lang="en-US" dirty="0"/>
          </a:p>
          <a:p>
            <a:endParaRPr lang="en-US" dirty="0"/>
          </a:p>
        </p:txBody>
      </p:sp>
      <p:sp>
        <p:nvSpPr>
          <p:cNvPr id="3" name="Title 2"/>
          <p:cNvSpPr>
            <a:spLocks noGrp="1"/>
          </p:cNvSpPr>
          <p:nvPr>
            <p:ph type="title"/>
          </p:nvPr>
        </p:nvSpPr>
        <p:spPr/>
        <p:txBody>
          <a:bodyPr/>
          <a:lstStyle/>
          <a:p>
            <a:r>
              <a:rPr lang="en-US" dirty="0"/>
              <a:t>Humans cause most Problems</a:t>
            </a:r>
          </a:p>
        </p:txBody>
      </p:sp>
      <p:sp>
        <p:nvSpPr>
          <p:cNvPr id="4" name="Rectangle 3"/>
          <p:cNvSpPr/>
          <p:nvPr/>
        </p:nvSpPr>
        <p:spPr>
          <a:xfrm>
            <a:off x="122237" y="6545262"/>
            <a:ext cx="12268201" cy="646331"/>
          </a:xfrm>
          <a:prstGeom prst="rect">
            <a:avLst/>
          </a:prstGeom>
        </p:spPr>
        <p:txBody>
          <a:bodyPr wrap="square">
            <a:spAutoFit/>
          </a:bodyPr>
          <a:lstStyle/>
          <a:p>
            <a:pPr marL="342900" lvl="1" indent="0">
              <a:buNone/>
            </a:pPr>
            <a:r>
              <a:rPr lang="en-US" baseline="30000" dirty="0"/>
              <a:t>1</a:t>
            </a:r>
            <a:r>
              <a:rPr lang="en-US" sz="1200" dirty="0">
                <a:solidFill>
                  <a:schemeClr val="tx2"/>
                </a:solidFill>
              </a:rPr>
              <a:t> </a:t>
            </a:r>
            <a:r>
              <a:rPr lang="en-US" sz="1200" dirty="0">
                <a:solidFill>
                  <a:schemeClr val="tx2"/>
                </a:solidFill>
                <a:hlinkClick r:id="rId2"/>
              </a:rPr>
              <a:t>http://www.facilitiesnet.com/datacenters/article/How-to-Minimize-Human-Error-Prevent-Data-Center-Downtime-Facilities-Management-Data-Centers-Feature-14223</a:t>
            </a:r>
            <a:endParaRPr lang="en-US" sz="1200" dirty="0">
              <a:solidFill>
                <a:schemeClr val="tx2"/>
              </a:solidFill>
            </a:endParaRPr>
          </a:p>
          <a:p>
            <a:pPr marL="342900" lvl="1"/>
            <a:r>
              <a:rPr lang="en-US" baseline="30000" dirty="0"/>
              <a:t>2</a:t>
            </a:r>
            <a:r>
              <a:rPr lang="en-US" sz="1200" baseline="30000" dirty="0"/>
              <a:t> </a:t>
            </a:r>
            <a:r>
              <a:rPr lang="en-US" sz="1200" dirty="0">
                <a:solidFill>
                  <a:schemeClr val="tx2"/>
                </a:solidFill>
                <a:hlinkClick r:id="rId3"/>
              </a:rPr>
              <a:t>https://azure.microsoft.com/en-us/blog/windows-azure-service-disruption-from-expired-certificate</a:t>
            </a:r>
            <a:endParaRPr lang="en-US" sz="1200" dirty="0">
              <a:solidFill>
                <a:schemeClr val="tx2"/>
              </a:solidFill>
            </a:endParaRPr>
          </a:p>
          <a:p>
            <a:pPr marL="342900" lvl="1" indent="0">
              <a:buNone/>
            </a:pPr>
            <a:endParaRPr lang="en-US" sz="1200" dirty="0">
              <a:solidFill>
                <a:schemeClr val="tx2"/>
              </a:solidFill>
            </a:endParaRPr>
          </a:p>
        </p:txBody>
      </p:sp>
    </p:spTree>
    <p:extLst>
      <p:ext uri="{BB962C8B-B14F-4D97-AF65-F5344CB8AC3E}">
        <p14:creationId xmlns:p14="http://schemas.microsoft.com/office/powerpoint/2010/main" val="327820296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2894012"/>
          </a:xfrm>
        </p:spPr>
        <p:txBody>
          <a:bodyPr>
            <a:normAutofit/>
          </a:bodyPr>
          <a:lstStyle/>
          <a:p>
            <a:pPr marL="0" indent="0">
              <a:buNone/>
            </a:pPr>
            <a:r>
              <a:rPr lang="en-US" dirty="0"/>
              <a:t>There is no clear rule that can be followed for all applications. Granularity of a service depends on the application usage patterns</a:t>
            </a:r>
          </a:p>
          <a:p>
            <a:r>
              <a:rPr lang="en-US" dirty="0"/>
              <a:t>Design for predominant read and write patterns</a:t>
            </a:r>
          </a:p>
          <a:p>
            <a:r>
              <a:rPr lang="en-US" dirty="0"/>
              <a:t>Consider replicating data within a service to accommodate conflicting patterns</a:t>
            </a:r>
          </a:p>
          <a:p>
            <a:r>
              <a:rPr lang="en-US" dirty="0"/>
              <a:t>Predominantly for stateful, but can affect stateless</a:t>
            </a:r>
          </a:p>
          <a:p>
            <a:pPr marL="0" indent="0">
              <a:buNone/>
            </a:pPr>
            <a:endParaRPr lang="en-US" dirty="0"/>
          </a:p>
        </p:txBody>
      </p:sp>
      <p:sp>
        <p:nvSpPr>
          <p:cNvPr id="3" name="Title 2"/>
          <p:cNvSpPr>
            <a:spLocks noGrp="1"/>
          </p:cNvSpPr>
          <p:nvPr>
            <p:ph type="title"/>
          </p:nvPr>
        </p:nvSpPr>
        <p:spPr/>
        <p:txBody>
          <a:bodyPr>
            <a:normAutofit/>
          </a:bodyPr>
          <a:lstStyle/>
          <a:p>
            <a:r>
              <a:rPr lang="en-US" dirty="0"/>
              <a:t>Service Granularity – A Goldilocks story</a:t>
            </a:r>
          </a:p>
        </p:txBody>
      </p:sp>
      <p:sp>
        <p:nvSpPr>
          <p:cNvPr id="4" name="TextBox 3"/>
          <p:cNvSpPr txBox="1"/>
          <p:nvPr/>
        </p:nvSpPr>
        <p:spPr>
          <a:xfrm>
            <a:off x="198437" y="4030662"/>
            <a:ext cx="3809998" cy="2514600"/>
          </a:xfrm>
          <a:prstGeom prst="rect">
            <a:avLst/>
          </a:prstGeom>
          <a:noFill/>
        </p:spPr>
        <p:txBody>
          <a:bodyPr wrap="square" lIns="182880" tIns="146304" rIns="182880" bIns="146304" rtlCol="0">
            <a:normAutofit/>
          </a:bodyPr>
          <a:lstStyle/>
          <a:p>
            <a:pPr>
              <a:lnSpc>
                <a:spcPct val="90000"/>
              </a:lnSpc>
              <a:spcAft>
                <a:spcPts val="600"/>
              </a:spcAft>
            </a:pPr>
            <a:r>
              <a:rPr lang="en-US" sz="2000" dirty="0">
                <a:solidFill>
                  <a:schemeClr val="accent4"/>
                </a:solidFill>
              </a:rPr>
              <a:t>Too fine grain</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Excessive traffic</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Multiple calls to assemble information</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May replicate data to </a:t>
            </a:r>
            <a:r>
              <a:rPr lang="en-US" sz="2000" b="1" i="1" dirty="0">
                <a:gradFill>
                  <a:gsLst>
                    <a:gs pos="2917">
                      <a:schemeClr val="tx1"/>
                    </a:gs>
                    <a:gs pos="30000">
                      <a:schemeClr val="tx1"/>
                    </a:gs>
                  </a:gsLst>
                  <a:lin ang="5400000" scaled="0"/>
                </a:gradFill>
              </a:rPr>
              <a:t>other</a:t>
            </a:r>
            <a:r>
              <a:rPr lang="en-US" sz="2000" dirty="0">
                <a:gradFill>
                  <a:gsLst>
                    <a:gs pos="2917">
                      <a:schemeClr val="tx1"/>
                    </a:gs>
                    <a:gs pos="30000">
                      <a:schemeClr val="tx1"/>
                    </a:gs>
                  </a:gsLst>
                  <a:lin ang="5400000" scaled="0"/>
                </a:gradFill>
              </a:rPr>
              <a:t> services</a:t>
            </a:r>
          </a:p>
        </p:txBody>
      </p:sp>
      <p:sp>
        <p:nvSpPr>
          <p:cNvPr id="5" name="TextBox 4"/>
          <p:cNvSpPr txBox="1"/>
          <p:nvPr/>
        </p:nvSpPr>
        <p:spPr>
          <a:xfrm>
            <a:off x="8428037" y="4030662"/>
            <a:ext cx="3809998" cy="2514600"/>
          </a:xfrm>
          <a:prstGeom prst="rect">
            <a:avLst/>
          </a:prstGeom>
          <a:noFill/>
        </p:spPr>
        <p:txBody>
          <a:bodyPr wrap="square" lIns="182880" tIns="146304" rIns="182880" bIns="146304" rtlCol="0">
            <a:normAutofit/>
          </a:bodyPr>
          <a:lstStyle/>
          <a:p>
            <a:pPr>
              <a:lnSpc>
                <a:spcPct val="90000"/>
              </a:lnSpc>
              <a:spcAft>
                <a:spcPts val="600"/>
              </a:spcAft>
            </a:pPr>
            <a:r>
              <a:rPr lang="en-US" sz="2000" dirty="0">
                <a:solidFill>
                  <a:schemeClr val="accent4"/>
                </a:solidFill>
              </a:rPr>
              <a:t>Too coarse grain</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Service hotspots</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More data than necessary is returned</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May replicate data to </a:t>
            </a:r>
            <a:r>
              <a:rPr lang="en-US" sz="2000" b="1" i="1" dirty="0">
                <a:gradFill>
                  <a:gsLst>
                    <a:gs pos="2917">
                      <a:schemeClr val="tx1"/>
                    </a:gs>
                    <a:gs pos="30000">
                      <a:schemeClr val="tx1"/>
                    </a:gs>
                  </a:gsLst>
                  <a:lin ang="5400000" scaled="0"/>
                </a:gradFill>
              </a:rPr>
              <a:t>other</a:t>
            </a:r>
            <a:r>
              <a:rPr lang="en-US" sz="2000" dirty="0">
                <a:gradFill>
                  <a:gsLst>
                    <a:gs pos="2917">
                      <a:schemeClr val="tx1"/>
                    </a:gs>
                    <a:gs pos="30000">
                      <a:schemeClr val="tx1"/>
                    </a:gs>
                  </a:gsLst>
                  <a:lin ang="5400000" scaled="0"/>
                </a:gradFill>
              </a:rPr>
              <a:t> services</a:t>
            </a:r>
          </a:p>
        </p:txBody>
      </p:sp>
      <p:sp>
        <p:nvSpPr>
          <p:cNvPr id="6" name="TextBox 5"/>
          <p:cNvSpPr txBox="1"/>
          <p:nvPr/>
        </p:nvSpPr>
        <p:spPr>
          <a:xfrm>
            <a:off x="4313237" y="4030662"/>
            <a:ext cx="3809998" cy="2514600"/>
          </a:xfrm>
          <a:prstGeom prst="rect">
            <a:avLst/>
          </a:prstGeom>
          <a:noFill/>
        </p:spPr>
        <p:txBody>
          <a:bodyPr wrap="square" lIns="182880" tIns="146304" rIns="182880" bIns="146304" rtlCol="0">
            <a:normAutofit/>
          </a:bodyPr>
          <a:lstStyle/>
          <a:p>
            <a:pPr>
              <a:lnSpc>
                <a:spcPct val="90000"/>
              </a:lnSpc>
              <a:spcAft>
                <a:spcPts val="600"/>
              </a:spcAft>
            </a:pPr>
            <a:r>
              <a:rPr lang="en-US" sz="2000" dirty="0">
                <a:solidFill>
                  <a:schemeClr val="accent4"/>
                </a:solidFill>
              </a:rPr>
              <a:t>Just Right</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Traffic is balances</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Entity size is “just right”</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Services are authoritative</a:t>
            </a:r>
          </a:p>
        </p:txBody>
      </p:sp>
    </p:spTree>
    <p:extLst>
      <p:ext uri="{BB962C8B-B14F-4D97-AF65-F5344CB8AC3E}">
        <p14:creationId xmlns:p14="http://schemas.microsoft.com/office/powerpoint/2010/main" val="403579413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275481" y="1212850"/>
            <a:ext cx="11885514" cy="5201424"/>
          </a:xfrm>
        </p:spPr>
        <p:txBody>
          <a:bodyPr/>
          <a:lstStyle/>
          <a:p>
            <a:r>
              <a:rPr lang="en-US" dirty="0"/>
              <a:t>.NET collections hold </a:t>
            </a:r>
            <a:r>
              <a:rPr lang="en-US" b="1" i="1" dirty="0"/>
              <a:t>references</a:t>
            </a:r>
          </a:p>
          <a:p>
            <a:r>
              <a:rPr lang="en-US" dirty="0"/>
              <a:t>Reliable Collections hold </a:t>
            </a:r>
            <a:r>
              <a:rPr lang="en-US" b="1" i="1" dirty="0"/>
              <a:t>objects</a:t>
            </a:r>
            <a:r>
              <a:rPr lang="en-US" dirty="0"/>
              <a:t> (think database hand-offs)</a:t>
            </a:r>
          </a:p>
          <a:p>
            <a:pPr lvl="1"/>
            <a:r>
              <a:rPr lang="en-US" dirty="0"/>
              <a:t>Misusing a reliable collection </a:t>
            </a:r>
            <a:r>
              <a:rPr lang="en-US" b="1" i="1" dirty="0"/>
              <a:t>will corrupt your data!</a:t>
            </a:r>
            <a:br>
              <a:rPr lang="en-US" b="1" i="1" dirty="0"/>
            </a:br>
            <a:r>
              <a:rPr lang="en-US" b="1" i="1" dirty="0"/>
              <a:t/>
            </a:r>
            <a:br>
              <a:rPr lang="en-US" b="1" i="1" dirty="0"/>
            </a:br>
            <a:r>
              <a:rPr lang="en-US" b="1" i="1" dirty="0"/>
              <a:t/>
            </a:r>
            <a:br>
              <a:rPr lang="en-US" b="1" i="1"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US" dirty="0"/>
          </a:p>
          <a:p>
            <a:pPr lvl="1"/>
            <a:endParaRPr lang="en-US" dirty="0"/>
          </a:p>
          <a:p>
            <a:r>
              <a:rPr lang="en-US" dirty="0"/>
              <a:t>Correct: Get reference, copy/change object, write new object</a:t>
            </a:r>
          </a:p>
        </p:txBody>
      </p:sp>
      <p:sp>
        <p:nvSpPr>
          <p:cNvPr id="2" name="Title 1"/>
          <p:cNvSpPr>
            <a:spLocks noGrp="1"/>
          </p:cNvSpPr>
          <p:nvPr>
            <p:ph type="title"/>
          </p:nvPr>
        </p:nvSpPr>
        <p:spPr/>
        <p:txBody>
          <a:bodyPr/>
          <a:lstStyle/>
          <a:p>
            <a:r>
              <a:rPr lang="en-US" dirty="0"/>
              <a:t>NOT Your Typical .NET Collections</a:t>
            </a:r>
          </a:p>
        </p:txBody>
      </p:sp>
      <p:sp>
        <p:nvSpPr>
          <p:cNvPr id="4" name="Rectangle 1"/>
          <p:cNvSpPr>
            <a:spLocks noChangeArrowheads="1"/>
          </p:cNvSpPr>
          <p:nvPr/>
        </p:nvSpPr>
        <p:spPr bwMode="auto">
          <a:xfrm>
            <a:off x="657758" y="2722073"/>
            <a:ext cx="11329317" cy="3233492"/>
          </a:xfrm>
          <a:prstGeom prst="rect">
            <a:avLst/>
          </a:prstGeom>
          <a:solidFill>
            <a:schemeClr val="bg1">
              <a:lumMod val="95000"/>
            </a:schemeClr>
          </a:solidFill>
          <a:ln>
            <a:noFill/>
          </a:ln>
          <a:effectLst/>
          <a:extLst/>
        </p:spPr>
        <p:txBody>
          <a:bodyPr vert="horz" wrap="square" lIns="93260" tIns="46630" rIns="93260" bIns="46630" numCol="1" anchor="ctr" anchorCtr="0" compatLnSpc="1">
            <a:prstTxWarp prst="textNoShape">
              <a:avLst/>
            </a:prstTxWarp>
            <a:spAutoFit/>
          </a:bodyPr>
          <a:lstStyle/>
          <a:p>
            <a:pPr defTabSz="932597" eaLnBrk="0" fontAlgn="base" hangingPunct="0">
              <a:spcBef>
                <a:spcPct val="0"/>
              </a:spcBef>
              <a:spcAft>
                <a:spcPct val="0"/>
              </a:spcAft>
            </a:pPr>
            <a:r>
              <a:rPr lang="en-US" altLang="en-US" sz="2040" dirty="0">
                <a:solidFill>
                  <a:srgbClr val="0000FF"/>
                </a:solidFill>
                <a:latin typeface="Consolas" panose="020B0609020204030204" pitchFamily="49" charset="0"/>
              </a:rPr>
              <a:t>using</a:t>
            </a:r>
            <a:r>
              <a:rPr lang="en-US" altLang="en-US" sz="2040" dirty="0">
                <a:solidFill>
                  <a:srgbClr val="000000"/>
                </a:solidFill>
                <a:latin typeface="Consolas" panose="020B0609020204030204" pitchFamily="49" charset="0"/>
              </a:rPr>
              <a:t> (</a:t>
            </a:r>
            <a:r>
              <a:rPr lang="en-US" altLang="en-US" sz="2040" dirty="0" err="1">
                <a:solidFill>
                  <a:srgbClr val="2B91AF"/>
                </a:solidFill>
                <a:latin typeface="Consolas" panose="020B0609020204030204" pitchFamily="49" charset="0"/>
              </a:rPr>
              <a:t>ITransaction</a:t>
            </a:r>
            <a:r>
              <a:rPr lang="en-US" altLang="en-US" sz="2040" dirty="0">
                <a:solidFill>
                  <a:srgbClr val="000000"/>
                </a:solidFill>
                <a:latin typeface="Consolas" panose="020B0609020204030204" pitchFamily="49" charset="0"/>
              </a:rPr>
              <a:t> </a:t>
            </a:r>
            <a:r>
              <a:rPr lang="en-US" altLang="en-US" sz="2040" dirty="0" err="1">
                <a:solidFill>
                  <a:srgbClr val="000000"/>
                </a:solidFill>
                <a:latin typeface="Consolas" panose="020B0609020204030204" pitchFamily="49" charset="0"/>
              </a:rPr>
              <a:t>tx</a:t>
            </a:r>
            <a:r>
              <a:rPr lang="en-US" altLang="en-US" sz="2040" dirty="0">
                <a:solidFill>
                  <a:srgbClr val="000000"/>
                </a:solidFill>
                <a:latin typeface="Consolas" panose="020B0609020204030204" pitchFamily="49" charset="0"/>
              </a:rPr>
              <a:t> = </a:t>
            </a:r>
            <a:r>
              <a:rPr lang="en-US" altLang="en-US" sz="2040" dirty="0" err="1">
                <a:solidFill>
                  <a:srgbClr val="000000"/>
                </a:solidFill>
                <a:latin typeface="Consolas" panose="020B0609020204030204" pitchFamily="49" charset="0"/>
              </a:rPr>
              <a:t>StateManager.CreateTransaction</a:t>
            </a:r>
            <a:r>
              <a:rPr lang="en-US" altLang="en-US" sz="2040" dirty="0">
                <a:solidFill>
                  <a:srgbClr val="000000"/>
                </a:solidFill>
                <a:latin typeface="Consolas" panose="020B0609020204030204" pitchFamily="49" charset="0"/>
              </a:rPr>
              <a:t>()) {</a:t>
            </a: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a:t>
            </a:r>
            <a:r>
              <a:rPr lang="en-US" altLang="en-US" sz="2040" dirty="0">
                <a:solidFill>
                  <a:srgbClr val="0000FF"/>
                </a:solidFill>
                <a:latin typeface="Consolas" panose="020B0609020204030204" pitchFamily="49" charset="0"/>
              </a:rPr>
              <a:t>await</a:t>
            </a:r>
            <a:r>
              <a:rPr lang="en-US" altLang="en-US" sz="2040" dirty="0">
                <a:solidFill>
                  <a:srgbClr val="000000"/>
                </a:solidFill>
                <a:latin typeface="Consolas" panose="020B0609020204030204" pitchFamily="49" charset="0"/>
              </a:rPr>
              <a:t> </a:t>
            </a:r>
            <a:r>
              <a:rPr lang="en-US" altLang="en-US" sz="2040" dirty="0" err="1">
                <a:solidFill>
                  <a:srgbClr val="000000"/>
                </a:solidFill>
                <a:latin typeface="Consolas" panose="020B0609020204030204" pitchFamily="49" charset="0"/>
              </a:rPr>
              <a:t>m_dic.AddAsync</a:t>
            </a:r>
            <a:r>
              <a:rPr lang="en-US" altLang="en-US" sz="2040" dirty="0">
                <a:solidFill>
                  <a:srgbClr val="000000"/>
                </a:solidFill>
                <a:latin typeface="Consolas" panose="020B0609020204030204" pitchFamily="49" charset="0"/>
              </a:rPr>
              <a:t>(</a:t>
            </a:r>
            <a:r>
              <a:rPr lang="en-US" altLang="en-US" sz="2040" dirty="0" err="1">
                <a:solidFill>
                  <a:srgbClr val="000000"/>
                </a:solidFill>
                <a:latin typeface="Consolas" panose="020B0609020204030204" pitchFamily="49" charset="0"/>
              </a:rPr>
              <a:t>tx</a:t>
            </a:r>
            <a:r>
              <a:rPr lang="en-US" altLang="en-US" sz="2040" dirty="0">
                <a:solidFill>
                  <a:srgbClr val="000000"/>
                </a:solidFill>
                <a:latin typeface="Consolas" panose="020B0609020204030204" pitchFamily="49" charset="0"/>
              </a:rPr>
              <a:t>, name, user1);</a:t>
            </a: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user1.LastLogin = </a:t>
            </a:r>
            <a:r>
              <a:rPr lang="en-US" altLang="en-US" sz="2040" dirty="0" err="1">
                <a:solidFill>
                  <a:srgbClr val="2B91AF"/>
                </a:solidFill>
                <a:latin typeface="Consolas" panose="020B0609020204030204" pitchFamily="49" charset="0"/>
              </a:rPr>
              <a:t>DateTime</a:t>
            </a:r>
            <a:r>
              <a:rPr lang="en-US" altLang="en-US" sz="2040" dirty="0" err="1">
                <a:solidFill>
                  <a:srgbClr val="000000"/>
                </a:solidFill>
                <a:latin typeface="Consolas" panose="020B0609020204030204" pitchFamily="49" charset="0"/>
              </a:rPr>
              <a:t>.UtcNow</a:t>
            </a:r>
            <a:r>
              <a:rPr lang="en-US" altLang="en-US" sz="2040" dirty="0">
                <a:solidFill>
                  <a:srgbClr val="000000"/>
                </a:solidFill>
                <a:latin typeface="Consolas" panose="020B0609020204030204" pitchFamily="49" charset="0"/>
              </a:rPr>
              <a:t>;  </a:t>
            </a:r>
            <a:r>
              <a:rPr lang="en-US" altLang="en-US" sz="2040" dirty="0">
                <a:solidFill>
                  <a:srgbClr val="008000"/>
                </a:solidFill>
                <a:latin typeface="Consolas" panose="020B0609020204030204" pitchFamily="49" charset="0"/>
              </a:rPr>
              <a:t>// Corruption!</a:t>
            </a:r>
          </a:p>
          <a:p>
            <a:pPr defTabSz="932597" eaLnBrk="0" fontAlgn="base" hangingPunct="0">
              <a:spcBef>
                <a:spcPct val="0"/>
              </a:spcBef>
              <a:spcAft>
                <a:spcPct val="0"/>
              </a:spcAft>
            </a:pPr>
            <a:endParaRPr lang="en-US" altLang="en-US" sz="2040" dirty="0">
              <a:solidFill>
                <a:srgbClr val="008000"/>
              </a:solidFill>
              <a:latin typeface="Consolas" panose="020B0609020204030204" pitchFamily="49" charset="0"/>
            </a:endParaRP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a:t>
            </a:r>
            <a:r>
              <a:rPr lang="en-US" altLang="en-US" sz="2040" dirty="0" err="1">
                <a:solidFill>
                  <a:srgbClr val="2B91AF"/>
                </a:solidFill>
                <a:latin typeface="Consolas" panose="020B0609020204030204" pitchFamily="49" charset="0"/>
              </a:rPr>
              <a:t>ConditionalResult</a:t>
            </a:r>
            <a:r>
              <a:rPr lang="en-US" altLang="en-US" sz="2040" dirty="0">
                <a:solidFill>
                  <a:srgbClr val="000000"/>
                </a:solidFill>
                <a:latin typeface="Consolas" panose="020B0609020204030204" pitchFamily="49" charset="0"/>
              </a:rPr>
              <a:t>&lt;</a:t>
            </a:r>
            <a:r>
              <a:rPr lang="en-US" altLang="en-US" sz="2040" dirty="0">
                <a:solidFill>
                  <a:srgbClr val="2B91AF"/>
                </a:solidFill>
                <a:latin typeface="Consolas" panose="020B0609020204030204" pitchFamily="49" charset="0"/>
              </a:rPr>
              <a:t>User</a:t>
            </a:r>
            <a:r>
              <a:rPr lang="en-US" altLang="en-US" sz="2040" dirty="0">
                <a:solidFill>
                  <a:srgbClr val="000000"/>
                </a:solidFill>
                <a:latin typeface="Consolas" panose="020B0609020204030204" pitchFamily="49" charset="0"/>
              </a:rPr>
              <a:t>&gt; user2 = </a:t>
            </a:r>
            <a:r>
              <a:rPr lang="en-US" altLang="en-US" sz="2040" dirty="0">
                <a:solidFill>
                  <a:srgbClr val="0000FF"/>
                </a:solidFill>
                <a:latin typeface="Consolas" panose="020B0609020204030204" pitchFamily="49" charset="0"/>
              </a:rPr>
              <a:t>await</a:t>
            </a:r>
            <a:r>
              <a:rPr lang="en-US" altLang="en-US" sz="2040" dirty="0">
                <a:solidFill>
                  <a:srgbClr val="000000"/>
                </a:solidFill>
                <a:latin typeface="Consolas" panose="020B0609020204030204" pitchFamily="49" charset="0"/>
              </a:rPr>
              <a:t> </a:t>
            </a:r>
            <a:r>
              <a:rPr lang="en-US" altLang="en-US" sz="2040" dirty="0" err="1">
                <a:solidFill>
                  <a:srgbClr val="000000"/>
                </a:solidFill>
                <a:latin typeface="Consolas" panose="020B0609020204030204" pitchFamily="49" charset="0"/>
              </a:rPr>
              <a:t>m_dic.TryGetValueAsync</a:t>
            </a:r>
            <a:r>
              <a:rPr lang="en-US" altLang="en-US" sz="2040" dirty="0">
                <a:solidFill>
                  <a:srgbClr val="000000"/>
                </a:solidFill>
                <a:latin typeface="Consolas" panose="020B0609020204030204" pitchFamily="49" charset="0"/>
              </a:rPr>
              <a:t>(</a:t>
            </a:r>
            <a:r>
              <a:rPr lang="en-US" altLang="en-US" sz="2040" dirty="0" err="1">
                <a:solidFill>
                  <a:srgbClr val="000000"/>
                </a:solidFill>
                <a:latin typeface="Consolas" panose="020B0609020204030204" pitchFamily="49" charset="0"/>
              </a:rPr>
              <a:t>tx</a:t>
            </a:r>
            <a:r>
              <a:rPr lang="en-US" altLang="en-US" sz="2040" dirty="0">
                <a:solidFill>
                  <a:srgbClr val="000000"/>
                </a:solidFill>
                <a:latin typeface="Consolas" panose="020B0609020204030204" pitchFamily="49" charset="0"/>
              </a:rPr>
              <a:t>, name);</a:t>
            </a: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a:t>
            </a:r>
            <a:r>
              <a:rPr lang="en-US" altLang="en-US" sz="2040" dirty="0">
                <a:solidFill>
                  <a:srgbClr val="0000FF"/>
                </a:solidFill>
                <a:latin typeface="Consolas" panose="020B0609020204030204" pitchFamily="49" charset="0"/>
              </a:rPr>
              <a:t>if</a:t>
            </a:r>
            <a:r>
              <a:rPr lang="en-US" altLang="en-US" sz="2040" dirty="0">
                <a:solidFill>
                  <a:srgbClr val="000000"/>
                </a:solidFill>
                <a:latin typeface="Consolas" panose="020B0609020204030204" pitchFamily="49" charset="0"/>
              </a:rPr>
              <a:t> (user2.HasValue) user2.Value.LastLogin = </a:t>
            </a:r>
            <a:r>
              <a:rPr lang="en-US" altLang="en-US" sz="2040" dirty="0" err="1">
                <a:solidFill>
                  <a:srgbClr val="2B91AF"/>
                </a:solidFill>
                <a:latin typeface="Consolas" panose="020B0609020204030204" pitchFamily="49" charset="0"/>
              </a:rPr>
              <a:t>DateTime</a:t>
            </a:r>
            <a:r>
              <a:rPr lang="en-US" altLang="en-US" sz="2040" dirty="0" err="1">
                <a:solidFill>
                  <a:srgbClr val="000000"/>
                </a:solidFill>
                <a:latin typeface="Consolas" panose="020B0609020204030204" pitchFamily="49" charset="0"/>
              </a:rPr>
              <a:t>.UtcNow</a:t>
            </a:r>
            <a:r>
              <a:rPr lang="en-US" altLang="en-US" sz="2040" dirty="0">
                <a:solidFill>
                  <a:srgbClr val="000000"/>
                </a:solidFill>
                <a:latin typeface="Consolas" panose="020B0609020204030204" pitchFamily="49" charset="0"/>
              </a:rPr>
              <a:t>; </a:t>
            </a:r>
            <a:r>
              <a:rPr lang="en-US" altLang="en-US" sz="2040" dirty="0">
                <a:solidFill>
                  <a:srgbClr val="008000"/>
                </a:solidFill>
                <a:latin typeface="Consolas" panose="020B0609020204030204" pitchFamily="49" charset="0"/>
              </a:rPr>
              <a:t>// Corruption!</a:t>
            </a:r>
          </a:p>
          <a:p>
            <a:pPr defTabSz="932597" eaLnBrk="0" fontAlgn="base" hangingPunct="0">
              <a:spcBef>
                <a:spcPct val="0"/>
              </a:spcBef>
              <a:spcAft>
                <a:spcPct val="0"/>
              </a:spcAft>
            </a:pPr>
            <a:endParaRPr lang="en-US" altLang="en-US" sz="2040" dirty="0">
              <a:solidFill>
                <a:srgbClr val="008000"/>
              </a:solidFill>
              <a:latin typeface="Consolas" panose="020B0609020204030204" pitchFamily="49" charset="0"/>
            </a:endParaRP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a:t>
            </a:r>
            <a:r>
              <a:rPr lang="en-US" altLang="en-US" sz="2040" dirty="0">
                <a:solidFill>
                  <a:srgbClr val="0000FF"/>
                </a:solidFill>
                <a:latin typeface="Consolas" panose="020B0609020204030204" pitchFamily="49" charset="0"/>
              </a:rPr>
              <a:t>await</a:t>
            </a:r>
            <a:r>
              <a:rPr lang="en-US" altLang="en-US" sz="2040" dirty="0">
                <a:solidFill>
                  <a:srgbClr val="000000"/>
                </a:solidFill>
                <a:latin typeface="Consolas" panose="020B0609020204030204" pitchFamily="49" charset="0"/>
              </a:rPr>
              <a:t> </a:t>
            </a:r>
            <a:r>
              <a:rPr lang="en-US" altLang="en-US" sz="2040" dirty="0" err="1">
                <a:solidFill>
                  <a:srgbClr val="000000"/>
                </a:solidFill>
                <a:latin typeface="Consolas" panose="020B0609020204030204" pitchFamily="49" charset="0"/>
              </a:rPr>
              <a:t>tx.CommitAsync</a:t>
            </a:r>
            <a:r>
              <a:rPr lang="en-US" altLang="en-US" sz="2040" dirty="0">
                <a:solidFill>
                  <a:srgbClr val="000000"/>
                </a:solidFill>
                <a:latin typeface="Consolas" panose="020B0609020204030204" pitchFamily="49" charset="0"/>
              </a:rPr>
              <a:t>(); </a:t>
            </a:r>
          </a:p>
          <a:p>
            <a:pPr defTabSz="932597" eaLnBrk="0" fontAlgn="base" hangingPunct="0">
              <a:spcBef>
                <a:spcPct val="0"/>
              </a:spcBef>
              <a:spcAft>
                <a:spcPct val="0"/>
              </a:spcAft>
            </a:pPr>
            <a:r>
              <a:rPr lang="en-US" altLang="en-US" sz="2040" dirty="0">
                <a:solidFill>
                  <a:srgbClr val="000000"/>
                </a:solidFill>
                <a:latin typeface="Consolas" panose="020B0609020204030204" pitchFamily="49" charset="0"/>
              </a:rPr>
              <a:t>}   </a:t>
            </a:r>
            <a:r>
              <a:rPr lang="en-US" altLang="en-US" sz="2040" dirty="0">
                <a:solidFill>
                  <a:srgbClr val="008000"/>
                </a:solidFill>
                <a:latin typeface="Consolas" panose="020B0609020204030204" pitchFamily="49" charset="0"/>
              </a:rPr>
              <a:t>// Of course, if you modify an object after </a:t>
            </a:r>
            <a:r>
              <a:rPr lang="en-US" altLang="en-US" sz="2040" dirty="0" err="1">
                <a:solidFill>
                  <a:srgbClr val="008000"/>
                </a:solidFill>
                <a:latin typeface="Consolas" panose="020B0609020204030204" pitchFamily="49" charset="0"/>
              </a:rPr>
              <a:t>CommitAsync</a:t>
            </a:r>
            <a:r>
              <a:rPr lang="en-US" altLang="en-US" sz="2040" dirty="0">
                <a:solidFill>
                  <a:srgbClr val="008000"/>
                </a:solidFill>
                <a:latin typeface="Consolas" panose="020B0609020204030204" pitchFamily="49" charset="0"/>
              </a:rPr>
              <a:t>, corruption!</a:t>
            </a:r>
            <a:r>
              <a:rPr lang="en-US" altLang="en-US" sz="2040" dirty="0">
                <a:solidFill>
                  <a:srgbClr val="000000"/>
                </a:solidFill>
                <a:latin typeface="Consolas" panose="020B0609020204030204" pitchFamily="49" charset="0"/>
              </a:rPr>
              <a:t> </a:t>
            </a:r>
            <a:endParaRPr lang="en-US" altLang="en-US" sz="2040" dirty="0">
              <a:latin typeface="Arial" panose="020B0604020202020204" pitchFamily="34" charset="0"/>
            </a:endParaRPr>
          </a:p>
        </p:txBody>
      </p:sp>
    </p:spTree>
    <p:extLst>
      <p:ext uri="{BB962C8B-B14F-4D97-AF65-F5344CB8AC3E}">
        <p14:creationId xmlns:p14="http://schemas.microsoft.com/office/powerpoint/2010/main" val="4062055547"/>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639" y="68263"/>
            <a:ext cx="11889564" cy="762000"/>
          </a:xfrm>
        </p:spPr>
        <p:txBody>
          <a:bodyPr/>
          <a:lstStyle/>
          <a:p>
            <a:r>
              <a:rPr lang="en-US" dirty="0"/>
              <a:t>Define Immutable Types to Force Correct Behavior</a:t>
            </a:r>
          </a:p>
        </p:txBody>
      </p:sp>
      <p:sp>
        <p:nvSpPr>
          <p:cNvPr id="3" name="Rectangle 2"/>
          <p:cNvSpPr/>
          <p:nvPr/>
        </p:nvSpPr>
        <p:spPr>
          <a:xfrm>
            <a:off x="396626" y="6392862"/>
            <a:ext cx="11645590" cy="553998"/>
          </a:xfrm>
          <a:prstGeom prst="rect">
            <a:avLst/>
          </a:prstGeom>
        </p:spPr>
        <p:txBody>
          <a:bodyPr wrap="square">
            <a:spAutoFit/>
          </a:bodyPr>
          <a:lstStyle/>
          <a:p>
            <a:r>
              <a:rPr lang="en-US" dirty="0"/>
              <a:t>Read Jeffrey Richter’s article on collections</a:t>
            </a:r>
          </a:p>
          <a:p>
            <a:pPr marL="342900" lvl="1" indent="0">
              <a:buNone/>
            </a:pPr>
            <a:r>
              <a:rPr lang="en-US" sz="1200" dirty="0">
                <a:hlinkClick r:id="rId3"/>
              </a:rPr>
              <a:t>https://azure.microsoft.com/en-us/documentation/articles/service-fabric-work-with-reliable-collections/#define-immutable-data-types-to-prevent-programmer-error</a:t>
            </a:r>
            <a:endParaRPr lang="en-US" sz="1200" dirty="0"/>
          </a:p>
        </p:txBody>
      </p:sp>
      <p:sp>
        <p:nvSpPr>
          <p:cNvPr id="6" name="Rectangle 5"/>
          <p:cNvSpPr/>
          <p:nvPr/>
        </p:nvSpPr>
        <p:spPr>
          <a:xfrm>
            <a:off x="433138" y="883662"/>
            <a:ext cx="11430000" cy="5509200"/>
          </a:xfrm>
          <a:prstGeom prst="rect">
            <a:avLst/>
          </a:prstGeom>
          <a:solidFill>
            <a:schemeClr val="bg1">
              <a:lumMod val="95000"/>
            </a:schemeClr>
          </a:solidFill>
        </p:spPr>
        <p:txBody>
          <a:bodyPr wrap="square">
            <a:spAutoFit/>
          </a:bodyPr>
          <a:lstStyle/>
          <a:p>
            <a:r>
              <a:rPr lang="en-US" sz="1600" dirty="0">
                <a:solidFill>
                  <a:srgbClr val="008000"/>
                </a:solidFill>
                <a:latin typeface="Consolas" panose="020B0609020204030204" pitchFamily="49" charset="0"/>
              </a:rPr>
              <a:t>// If you don’t seal, derived classes must also be immutable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r>
              <a:rPr lang="en-US" sz="1600" dirty="0" err="1">
                <a:solidFill>
                  <a:srgbClr val="2B91AF"/>
                </a:solidFill>
                <a:latin typeface="Consolas" panose="020B0609020204030204" pitchFamily="49" charset="0"/>
              </a:rPr>
              <a:t>DataContract</a:t>
            </a:r>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sealed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UserInfo</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UserInfo</a:t>
            </a:r>
            <a:r>
              <a:rPr lang="en-US" sz="1600" dirty="0">
                <a:solidFill>
                  <a:srgbClr val="000000"/>
                </a:solidFill>
                <a:latin typeface="Consolas" panose="020B0609020204030204" pitchFamily="49" charset="0"/>
              </a:rPr>
              <a:t>(</a:t>
            </a:r>
            <a:r>
              <a:rPr lang="en-US" sz="1600" dirty="0">
                <a:solidFill>
                  <a:srgbClr val="2B91AF"/>
                </a:solidFill>
                <a:latin typeface="Consolas" panose="020B0609020204030204" pitchFamily="49" charset="0"/>
              </a:rPr>
              <a:t>Email</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email</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IEnumerable</a:t>
            </a:r>
            <a:r>
              <a:rPr lang="en-US" sz="1600" dirty="0">
                <a:solidFill>
                  <a:srgbClr val="000000"/>
                </a:solidFill>
                <a:latin typeface="Consolas" panose="020B0609020204030204" pitchFamily="49" charset="0"/>
              </a:rPr>
              <a:t>&lt;</a:t>
            </a:r>
            <a:r>
              <a:rPr lang="en-US" sz="1600" dirty="0" err="1">
                <a:solidFill>
                  <a:srgbClr val="2B91AF"/>
                </a:solidFill>
                <a:latin typeface="Consolas" panose="020B0609020204030204" pitchFamily="49" charset="0"/>
              </a:rPr>
              <a:t>ItemId</a:t>
            </a:r>
            <a:r>
              <a:rPr lang="en-US" sz="1600" dirty="0">
                <a:solidFill>
                  <a:srgbClr val="000000"/>
                </a:solidFill>
                <a:latin typeface="Consolas" panose="020B0609020204030204" pitchFamily="49" charset="0"/>
              </a:rPr>
              <a:t>&gt; </a:t>
            </a:r>
            <a:r>
              <a:rPr lang="en-US" sz="1600" dirty="0" err="1">
                <a:solidFill>
                  <a:srgbClr val="000000"/>
                </a:solidFill>
                <a:latin typeface="Consolas" panose="020B0609020204030204" pitchFamily="49" charset="0"/>
              </a:rPr>
              <a:t>itemsBidding</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null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We can assign to the read-only properties only in the </a:t>
            </a:r>
            <a:r>
              <a:rPr lang="en-US" sz="1600" dirty="0" err="1">
                <a:solidFill>
                  <a:srgbClr val="008000"/>
                </a:solidFill>
                <a:latin typeface="Consolas" panose="020B0609020204030204" pitchFamily="49" charset="0"/>
              </a:rPr>
              <a:t>ctor</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Email = email;</a:t>
            </a:r>
          </a:p>
          <a:p>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ItemsBidding</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itemsBidding</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ItemId</a:t>
            </a:r>
            <a:r>
              <a:rPr lang="en-US" sz="1600" dirty="0">
                <a:solidFill>
                  <a:srgbClr val="000000"/>
                </a:solidFill>
                <a:latin typeface="Consolas" panose="020B0609020204030204" pitchFamily="49" charset="0"/>
              </a:rPr>
              <a:t>[0];</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Read-only properties (you can set default values):   </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DataMember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readonly</a:t>
            </a:r>
            <a:r>
              <a:rPr lang="en-US" sz="1600" dirty="0">
                <a:solidFill>
                  <a:srgbClr val="000000"/>
                </a:solidFill>
                <a:latin typeface="Consolas" panose="020B0609020204030204" pitchFamily="49" charset="0"/>
              </a:rPr>
              <a:t> </a:t>
            </a:r>
            <a:r>
              <a:rPr lang="en-US" sz="1600" dirty="0">
                <a:solidFill>
                  <a:srgbClr val="2B91AF"/>
                </a:solidFill>
                <a:latin typeface="Consolas" panose="020B0609020204030204" pitchFamily="49" charset="0"/>
              </a:rPr>
              <a:t>Email</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Email</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Value type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DataMember</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readonly</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IEnumerable</a:t>
            </a:r>
            <a:r>
              <a:rPr lang="en-US" sz="1600" dirty="0">
                <a:solidFill>
                  <a:srgbClr val="000000"/>
                </a:solidFill>
                <a:latin typeface="Consolas" panose="020B0609020204030204" pitchFamily="49" charset="0"/>
              </a:rPr>
              <a:t>&lt;</a:t>
            </a:r>
            <a:r>
              <a:rPr lang="en-US" sz="1600" dirty="0" err="1">
                <a:solidFill>
                  <a:srgbClr val="2B91AF"/>
                </a:solidFill>
                <a:latin typeface="Consolas" panose="020B0609020204030204" pitchFamily="49" charset="0"/>
              </a:rPr>
              <a:t>ItemId</a:t>
            </a:r>
            <a:r>
              <a:rPr lang="en-US" sz="1600" dirty="0">
                <a:solidFill>
                  <a:srgbClr val="000000"/>
                </a:solidFill>
                <a:latin typeface="Consolas" panose="020B0609020204030204" pitchFamily="49" charset="0"/>
              </a:rPr>
              <a:t>&gt; </a:t>
            </a:r>
            <a:r>
              <a:rPr lang="en-US" sz="1600" dirty="0" err="1">
                <a:solidFill>
                  <a:srgbClr val="000000"/>
                </a:solidFill>
                <a:latin typeface="Consolas" panose="020B0609020204030204" pitchFamily="49" charset="0"/>
              </a:rPr>
              <a:t>ItemsBidding</a:t>
            </a:r>
            <a:r>
              <a:rPr lang="en-US" sz="1600" dirty="0">
                <a:solidFill>
                  <a:srgbClr val="000000"/>
                </a:solidFill>
                <a:latin typeface="Consolas" panose="020B0609020204030204" pitchFamily="49" charset="0"/>
              </a:rPr>
              <a:t> = </a:t>
            </a:r>
            <a:r>
              <a:rPr lang="en-US" sz="1600" dirty="0">
                <a:solidFill>
                  <a:srgbClr val="0000FF"/>
                </a:solidFill>
                <a:latin typeface="Consolas" panose="020B0609020204030204" pitchFamily="49" charset="0"/>
              </a:rPr>
              <a:t>null</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"Modify" the object by creating a new one with the desired new state</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UserInfo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AddItemBidding</a:t>
            </a:r>
            <a:r>
              <a:rPr lang="en-US" sz="1600" dirty="0">
                <a:solidFill>
                  <a:srgbClr val="000000"/>
                </a:solidFill>
                <a:latin typeface="Consolas" panose="020B0609020204030204" pitchFamily="49" charset="0"/>
              </a:rPr>
              <a:t>(</a:t>
            </a:r>
            <a:r>
              <a:rPr lang="en-US" sz="1600" dirty="0" err="1">
                <a:solidFill>
                  <a:srgbClr val="2B91AF"/>
                </a:solidFill>
                <a:latin typeface="Consolas" panose="020B0609020204030204" pitchFamily="49" charset="0"/>
              </a:rPr>
              <a:t>ItemId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itemId</a:t>
            </a:r>
            <a:r>
              <a:rPr lang="en-US" sz="1600" dirty="0">
                <a:solidFill>
                  <a:srgbClr val="000000"/>
                </a:solidFill>
                <a:latin typeface="Consolas" panose="020B0609020204030204" pitchFamily="49" charset="0"/>
              </a:rPr>
              <a:t>) =&gt;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UserInfo</a:t>
            </a:r>
            <a:r>
              <a:rPr lang="en-US" sz="1600" dirty="0">
                <a:solidFill>
                  <a:srgbClr val="000000"/>
                </a:solidFill>
                <a:latin typeface="Consolas" panose="020B0609020204030204" pitchFamily="49" charset="0"/>
              </a:rPr>
              <a:t>(Email, </a:t>
            </a:r>
            <a:r>
              <a:rPr lang="en-US" sz="1600" dirty="0" err="1">
                <a:solidFill>
                  <a:srgbClr val="000000"/>
                </a:solidFill>
                <a:latin typeface="Consolas" panose="020B0609020204030204" pitchFamily="49" charset="0"/>
              </a:rPr>
              <a:t>ItemsBidding.Concat</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 </a:t>
            </a:r>
            <a:r>
              <a:rPr lang="en-US" sz="1600" dirty="0" err="1">
                <a:solidFill>
                  <a:srgbClr val="000000"/>
                </a:solidFill>
                <a:latin typeface="Consolas" panose="020B0609020204030204" pitchFamily="49" charset="0"/>
              </a:rPr>
              <a:t>itemId</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Use </a:t>
            </a:r>
            <a:r>
              <a:rPr lang="en-US" sz="1600" dirty="0" err="1">
                <a:solidFill>
                  <a:srgbClr val="008000"/>
                </a:solidFill>
                <a:latin typeface="Consolas" panose="020B0609020204030204" pitchFamily="49" charset="0"/>
              </a:rPr>
              <a:t>UpdateWith</a:t>
            </a:r>
            <a:r>
              <a:rPr lang="en-US" sz="1600" dirty="0">
                <a:solidFill>
                  <a:srgbClr val="008000"/>
                </a:solidFill>
                <a:latin typeface="Consolas" panose="020B0609020204030204" pitchFamily="49" charset="0"/>
              </a:rPr>
              <a:t> to update a subset of values </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UserInfo</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UpdateWith</a:t>
            </a:r>
            <a:r>
              <a:rPr lang="en-US" sz="1600" dirty="0">
                <a:solidFill>
                  <a:srgbClr val="000000"/>
                </a:solidFill>
                <a:latin typeface="Consolas" panose="020B0609020204030204" pitchFamily="49" charset="0"/>
              </a:rPr>
              <a:t>(</a:t>
            </a:r>
            <a:r>
              <a:rPr lang="en-US" sz="1600" dirty="0">
                <a:solidFill>
                  <a:srgbClr val="2B91AF"/>
                </a:solidFill>
                <a:latin typeface="Consolas" panose="020B0609020204030204" pitchFamily="49" charset="0"/>
              </a:rPr>
              <a:t>Email</a:t>
            </a:r>
            <a:r>
              <a:rPr lang="en-US" sz="1600" dirty="0">
                <a:solidFill>
                  <a:srgbClr val="000000"/>
                </a:solidFill>
                <a:latin typeface="Consolas" panose="020B0609020204030204" pitchFamily="49" charset="0"/>
              </a:rPr>
              <a:t> email)</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new</a:t>
            </a:r>
            <a:r>
              <a:rPr lang="en-US" sz="1600" dirty="0">
                <a:solidFill>
                  <a:srgbClr val="000000"/>
                </a:solidFill>
                <a:latin typeface="Consolas" panose="020B0609020204030204" pitchFamily="49" charset="0"/>
              </a:rPr>
              <a:t> </a:t>
            </a:r>
            <a:r>
              <a:rPr lang="en-US" sz="1600" dirty="0" err="1">
                <a:solidFill>
                  <a:srgbClr val="2B91AF"/>
                </a:solidFill>
                <a:latin typeface="Consolas" panose="020B0609020204030204" pitchFamily="49" charset="0"/>
              </a:rPr>
              <a:t>UserInfo</a:t>
            </a:r>
            <a:r>
              <a:rPr lang="en-US" sz="1600" dirty="0">
                <a:solidFill>
                  <a:srgbClr val="000000"/>
                </a:solidFill>
                <a:latin typeface="Consolas" panose="020B0609020204030204" pitchFamily="49" charset="0"/>
              </a:rPr>
              <a:t>(email, </a:t>
            </a:r>
            <a:r>
              <a:rPr lang="en-US" sz="1600" dirty="0" err="1">
                <a:solidFill>
                  <a:srgbClr val="000000"/>
                </a:solidFill>
                <a:latin typeface="Consolas" panose="020B0609020204030204" pitchFamily="49" charset="0"/>
              </a:rPr>
              <a:t>ItemsBidding</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endParaRPr lang="en-US" sz="1600" dirty="0"/>
          </a:p>
        </p:txBody>
      </p:sp>
    </p:spTree>
    <p:extLst>
      <p:ext uri="{BB962C8B-B14F-4D97-AF65-F5344CB8AC3E}">
        <p14:creationId xmlns:p14="http://schemas.microsoft.com/office/powerpoint/2010/main" val="299206489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74638" y="1212849"/>
            <a:ext cx="11887200" cy="5637213"/>
          </a:xfrm>
        </p:spPr>
        <p:txBody>
          <a:bodyPr>
            <a:normAutofit/>
          </a:bodyPr>
          <a:lstStyle/>
          <a:p>
            <a:pPr marL="0" indent="0" algn="ctr">
              <a:buNone/>
            </a:pPr>
            <a:r>
              <a:rPr lang="en-US" i="1" dirty="0" err="1">
                <a:solidFill>
                  <a:schemeClr val="accent4"/>
                </a:solidFill>
              </a:rPr>
              <a:t>Idempotence</a:t>
            </a:r>
            <a:r>
              <a:rPr lang="en-US" i="1" dirty="0"/>
              <a:t> is the property of certain operations in mathematics and computer science, that can be applied multiple times without changing the result beyond the initial application</a:t>
            </a:r>
          </a:p>
          <a:p>
            <a:pPr marL="0" indent="0" algn="ctr">
              <a:buNone/>
            </a:pPr>
            <a:endParaRPr lang="en-US" i="1" dirty="0"/>
          </a:p>
          <a:p>
            <a:r>
              <a:rPr lang="en-US" dirty="0"/>
              <a:t>Retrying an operation is a critical pattern for services</a:t>
            </a:r>
          </a:p>
          <a:p>
            <a:r>
              <a:rPr lang="en-US" dirty="0"/>
              <a:t>Making an operation idempotent is easier than tracking duplicate requests</a:t>
            </a:r>
          </a:p>
          <a:p>
            <a:r>
              <a:rPr lang="en-US" dirty="0" err="1"/>
              <a:t>Idempotency</a:t>
            </a:r>
            <a:r>
              <a:rPr lang="en-US" dirty="0"/>
              <a:t> with respect to HTTP verbs</a:t>
            </a:r>
          </a:p>
          <a:p>
            <a:pPr lvl="1"/>
            <a:r>
              <a:rPr lang="en-US" dirty="0"/>
              <a:t>GET, HEAD, OPTIONS, TRACE should be idempotent (read only)</a:t>
            </a:r>
          </a:p>
          <a:p>
            <a:pPr lvl="1"/>
            <a:r>
              <a:rPr lang="en-US" dirty="0"/>
              <a:t>POST is not idempotent, make it so using a two phase protocol</a:t>
            </a:r>
          </a:p>
          <a:p>
            <a:pPr lvl="2"/>
            <a:r>
              <a:rPr lang="en-US" dirty="0"/>
              <a:t>POST to get a unique identifier for a resource and create a provisional item</a:t>
            </a:r>
          </a:p>
          <a:p>
            <a:pPr lvl="2"/>
            <a:r>
              <a:rPr lang="en-US" dirty="0"/>
              <a:t>PUT to make the item permanent</a:t>
            </a:r>
          </a:p>
          <a:p>
            <a:pPr lvl="2"/>
            <a:r>
              <a:rPr lang="en-US" dirty="0"/>
              <a:t>Background process to remove older provisional items</a:t>
            </a:r>
          </a:p>
          <a:p>
            <a:pPr lvl="1"/>
            <a:r>
              <a:rPr lang="en-US" dirty="0"/>
              <a:t>PUT, DELETE are defined as idempotent</a:t>
            </a:r>
          </a:p>
          <a:p>
            <a:pPr lvl="1"/>
            <a:r>
              <a:rPr lang="en-US" dirty="0"/>
              <a:t>PATCH is not defined as idempotent, but can be used that way. Please do so.</a:t>
            </a:r>
          </a:p>
        </p:txBody>
      </p:sp>
      <p:sp>
        <p:nvSpPr>
          <p:cNvPr id="2" name="Title 1"/>
          <p:cNvSpPr>
            <a:spLocks noGrp="1"/>
          </p:cNvSpPr>
          <p:nvPr>
            <p:ph type="title"/>
          </p:nvPr>
        </p:nvSpPr>
        <p:spPr/>
        <p:txBody>
          <a:bodyPr/>
          <a:lstStyle/>
          <a:p>
            <a:r>
              <a:rPr lang="en-US" dirty="0"/>
              <a:t>Idempotent Operations</a:t>
            </a:r>
          </a:p>
        </p:txBody>
      </p:sp>
    </p:spTree>
    <p:extLst>
      <p:ext uri="{BB962C8B-B14F-4D97-AF65-F5344CB8AC3E}">
        <p14:creationId xmlns:p14="http://schemas.microsoft.com/office/powerpoint/2010/main" val="125558935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5416868"/>
          </a:xfrm>
        </p:spPr>
        <p:txBody>
          <a:bodyPr/>
          <a:lstStyle/>
          <a:p>
            <a:pPr marL="0" indent="0">
              <a:buNone/>
            </a:pPr>
            <a:r>
              <a:rPr lang="en-US" dirty="0"/>
              <a:t>Read: </a:t>
            </a:r>
            <a:r>
              <a:rPr lang="en-US" sz="1800" dirty="0">
                <a:hlinkClick r:id="rId2"/>
              </a:rPr>
              <a:t>https://azure.microsoft.com/en-us/documentation/articles/service-fabric-reliable-services-reliable-collections/</a:t>
            </a:r>
            <a:endParaRPr lang="en-US" sz="1400" dirty="0"/>
          </a:p>
          <a:p>
            <a:r>
              <a:rPr lang="en-US" dirty="0"/>
              <a:t>Minimize duration of a transaction</a:t>
            </a:r>
          </a:p>
          <a:p>
            <a:r>
              <a:rPr lang="en-US" dirty="0"/>
              <a:t>Dictionary Count: enumerates all items</a:t>
            </a:r>
          </a:p>
          <a:p>
            <a:r>
              <a:rPr lang="en-US" dirty="0"/>
              <a:t>Queue locking: enqueue/</a:t>
            </a:r>
            <a:r>
              <a:rPr lang="en-US" dirty="0" err="1"/>
              <a:t>dequeue</a:t>
            </a:r>
            <a:r>
              <a:rPr lang="en-US" dirty="0"/>
              <a:t> operations lock the entire queue</a:t>
            </a:r>
          </a:p>
          <a:p>
            <a:r>
              <a:rPr lang="en-US" dirty="0"/>
              <a:t>Use a custom </a:t>
            </a:r>
            <a:r>
              <a:rPr lang="en-US" dirty="0" err="1"/>
              <a:t>serializer</a:t>
            </a:r>
            <a:endParaRPr lang="en-US" dirty="0"/>
          </a:p>
          <a:p>
            <a:r>
              <a:rPr lang="en-US" dirty="0"/>
              <a:t>Smaller data is better than bigger data</a:t>
            </a:r>
          </a:p>
          <a:p>
            <a:pPr lvl="1"/>
            <a:r>
              <a:rPr lang="en-US" dirty="0"/>
              <a:t>Multiple transactions with smaller data may perform better than a single transaction with a single large item</a:t>
            </a:r>
          </a:p>
        </p:txBody>
      </p:sp>
      <p:sp>
        <p:nvSpPr>
          <p:cNvPr id="3" name="Title 2"/>
          <p:cNvSpPr>
            <a:spLocks noGrp="1"/>
          </p:cNvSpPr>
          <p:nvPr>
            <p:ph type="title"/>
          </p:nvPr>
        </p:nvSpPr>
        <p:spPr/>
        <p:txBody>
          <a:bodyPr/>
          <a:lstStyle/>
          <a:p>
            <a:r>
              <a:rPr lang="en-US" dirty="0"/>
              <a:t>Optimizing Collection Performance</a:t>
            </a:r>
          </a:p>
        </p:txBody>
      </p:sp>
    </p:spTree>
    <p:extLst>
      <p:ext uri="{BB962C8B-B14F-4D97-AF65-F5344CB8AC3E}">
        <p14:creationId xmlns:p14="http://schemas.microsoft.com/office/powerpoint/2010/main" val="14886720"/>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Partitioning</a:t>
            </a:r>
          </a:p>
        </p:txBody>
      </p:sp>
      <p:sp>
        <p:nvSpPr>
          <p:cNvPr id="4" name="Text Placeholder 1"/>
          <p:cNvSpPr txBox="1">
            <a:spLocks/>
          </p:cNvSpPr>
          <p:nvPr/>
        </p:nvSpPr>
        <p:spPr>
          <a:xfrm>
            <a:off x="46038" y="1212850"/>
            <a:ext cx="8077200" cy="5637212"/>
          </a:xfrm>
          <a:prstGeom prst="rect">
            <a:avLst/>
          </a:prstGeom>
        </p:spPr>
        <p:txBody>
          <a:bodyPr vert="horz" wrap="square" lIns="146304" tIns="91440" rIns="146304" bIns="91440" rtlCol="0">
            <a:normAutofit/>
          </a:bodyPr>
          <a:lstStyle>
            <a:lvl1pPr marL="342900" marR="0" indent="-3429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dirty="0"/>
              <a:t>Read the article</a:t>
            </a:r>
          </a:p>
          <a:p>
            <a:pPr marL="342900" lvl="1" indent="0">
              <a:buNone/>
            </a:pPr>
            <a:r>
              <a:rPr lang="en-US" sz="2000" dirty="0">
                <a:hlinkClick r:id="rId2"/>
              </a:rPr>
              <a:t>https://azure.microsoft.com/documentation/articles/service-fabric-concepts-partitioning/</a:t>
            </a:r>
            <a:endParaRPr lang="en-US" sz="2000" dirty="0"/>
          </a:p>
          <a:p>
            <a:r>
              <a:rPr lang="en-US" sz="2000" dirty="0"/>
              <a:t>Remember: A named service’s partitioning cannot be changed</a:t>
            </a:r>
          </a:p>
          <a:p>
            <a:r>
              <a:rPr lang="en-US" sz="2000" dirty="0"/>
              <a:t>Choose as many partitions as you will end up needing </a:t>
            </a:r>
            <a:r>
              <a:rPr lang="en-US" sz="2000" b="1" i="1" dirty="0"/>
              <a:t>in the future</a:t>
            </a:r>
          </a:p>
          <a:p>
            <a:r>
              <a:rPr lang="en-US" sz="2000" dirty="0"/>
              <a:t>Keep related data within the same partition</a:t>
            </a:r>
          </a:p>
          <a:p>
            <a:r>
              <a:rPr lang="en-US" sz="2000" dirty="0"/>
              <a:t>10’s, 100’s or 1,000’s of partitions are OK</a:t>
            </a:r>
          </a:p>
          <a:p>
            <a:r>
              <a:rPr lang="en-US" sz="2000" dirty="0"/>
              <a:t>Consider independent scale units</a:t>
            </a:r>
          </a:p>
          <a:p>
            <a:pPr lvl="1"/>
            <a:r>
              <a:rPr lang="en-US" sz="2000" dirty="0"/>
              <a:t>Are regional scale units required?</a:t>
            </a:r>
          </a:p>
          <a:p>
            <a:pPr lvl="1"/>
            <a:r>
              <a:rPr lang="en-US" sz="2000" dirty="0"/>
              <a:t>Can a tenant’s data be split across multiple scale units?</a:t>
            </a:r>
          </a:p>
          <a:p>
            <a:pPr lvl="1"/>
            <a:r>
              <a:rPr lang="en-US" sz="2000" dirty="0"/>
              <a:t>What is the minimum capacity needed for a single scale unit?</a:t>
            </a:r>
          </a:p>
          <a:p>
            <a:pPr lvl="1"/>
            <a:r>
              <a:rPr lang="en-US" sz="2000" dirty="0"/>
              <a:t>How many partitions per scale unit?</a:t>
            </a:r>
          </a:p>
        </p:txBody>
      </p:sp>
      <p:grpSp>
        <p:nvGrpSpPr>
          <p:cNvPr id="5" name="Group 4"/>
          <p:cNvGrpSpPr/>
          <p:nvPr/>
        </p:nvGrpSpPr>
        <p:grpSpPr>
          <a:xfrm>
            <a:off x="8428037" y="117339"/>
            <a:ext cx="3886200" cy="3352800"/>
            <a:chOff x="198437" y="3484776"/>
            <a:chExt cx="3886200" cy="3352800"/>
          </a:xfrm>
        </p:grpSpPr>
        <p:sp>
          <p:nvSpPr>
            <p:cNvPr id="6" name="Rectangle 5"/>
            <p:cNvSpPr/>
            <p:nvPr/>
          </p:nvSpPr>
          <p:spPr bwMode="auto">
            <a:xfrm>
              <a:off x="198437" y="3484776"/>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 – 5 nodes and 20 Partitions</a:t>
              </a:r>
            </a:p>
          </p:txBody>
        </p:sp>
        <p:sp>
          <p:nvSpPr>
            <p:cNvPr id="7" name="Oval 6"/>
            <p:cNvSpPr/>
            <p:nvPr/>
          </p:nvSpPr>
          <p:spPr bwMode="auto">
            <a:xfrm>
              <a:off x="1112244" y="4042780"/>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8" name="Oval 7"/>
            <p:cNvSpPr/>
            <p:nvPr/>
          </p:nvSpPr>
          <p:spPr bwMode="auto">
            <a:xfrm>
              <a:off x="730651" y="449391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P5, P10, P15, P20</a:t>
              </a:r>
            </a:p>
          </p:txBody>
        </p:sp>
        <p:sp>
          <p:nvSpPr>
            <p:cNvPr id="9" name="Oval 8"/>
            <p:cNvSpPr/>
            <p:nvPr/>
          </p:nvSpPr>
          <p:spPr bwMode="auto">
            <a:xfrm>
              <a:off x="2865437" y="4487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P2, P7, P12, P17</a:t>
              </a:r>
            </a:p>
          </p:txBody>
        </p:sp>
        <p:sp>
          <p:nvSpPr>
            <p:cNvPr id="10" name="Oval 9"/>
            <p:cNvSpPr/>
            <p:nvPr/>
          </p:nvSpPr>
          <p:spPr bwMode="auto">
            <a:xfrm>
              <a:off x="1760537" y="369953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P1, P6, P11, P16</a:t>
              </a:r>
            </a:p>
          </p:txBody>
        </p:sp>
        <p:sp>
          <p:nvSpPr>
            <p:cNvPr id="11" name="Oval 10"/>
            <p:cNvSpPr/>
            <p:nvPr/>
          </p:nvSpPr>
          <p:spPr bwMode="auto">
            <a:xfrm>
              <a:off x="1112838" y="563086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P4, P9, P14, P19</a:t>
              </a:r>
            </a:p>
          </p:txBody>
        </p:sp>
        <p:sp>
          <p:nvSpPr>
            <p:cNvPr id="12" name="Oval 11"/>
            <p:cNvSpPr/>
            <p:nvPr/>
          </p:nvSpPr>
          <p:spPr bwMode="auto">
            <a:xfrm>
              <a:off x="2484437" y="5630861"/>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P3, P8, P13, P18</a:t>
              </a:r>
            </a:p>
          </p:txBody>
        </p:sp>
      </p:grpSp>
      <p:grpSp>
        <p:nvGrpSpPr>
          <p:cNvPr id="13" name="Group 12"/>
          <p:cNvGrpSpPr/>
          <p:nvPr/>
        </p:nvGrpSpPr>
        <p:grpSpPr>
          <a:xfrm>
            <a:off x="8428037" y="3532335"/>
            <a:ext cx="3886200" cy="3352800"/>
            <a:chOff x="7171921" y="1031525"/>
            <a:chExt cx="3886200" cy="3352800"/>
          </a:xfrm>
        </p:grpSpPr>
        <p:sp>
          <p:nvSpPr>
            <p:cNvPr id="14" name="Rectangle 13"/>
            <p:cNvSpPr/>
            <p:nvPr/>
          </p:nvSpPr>
          <p:spPr bwMode="auto">
            <a:xfrm>
              <a:off x="7171921" y="1031525"/>
              <a:ext cx="3886200" cy="335280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w="3175">
              <a:solidFill>
                <a:schemeClr val="bg1">
                  <a:lumMod val="5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b"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Cluster A – 8 nodes and 20 Partitions</a:t>
              </a:r>
            </a:p>
          </p:txBody>
        </p:sp>
        <p:sp>
          <p:nvSpPr>
            <p:cNvPr id="15" name="Oval 14"/>
            <p:cNvSpPr/>
            <p:nvPr/>
          </p:nvSpPr>
          <p:spPr bwMode="auto">
            <a:xfrm>
              <a:off x="8085728" y="1589529"/>
              <a:ext cx="2133600" cy="2133600"/>
            </a:xfrm>
            <a:prstGeom prst="ellipse">
              <a:avLst/>
            </a:prstGeom>
            <a:noFill/>
            <a:ln w="28575">
              <a:solidFill>
                <a:schemeClr val="bg2">
                  <a:lumMod val="20000"/>
                  <a:lumOff val="80000"/>
                </a:schemeClr>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6" name="Oval 15"/>
            <p:cNvSpPr/>
            <p:nvPr/>
          </p:nvSpPr>
          <p:spPr bwMode="auto">
            <a:xfrm>
              <a:off x="8008642" y="308728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P6, P14</a:t>
              </a:r>
            </a:p>
          </p:txBody>
        </p:sp>
        <p:sp>
          <p:nvSpPr>
            <p:cNvPr id="17" name="Oval 16"/>
            <p:cNvSpPr/>
            <p:nvPr/>
          </p:nvSpPr>
          <p:spPr bwMode="auto">
            <a:xfrm>
              <a:off x="9567592" y="1495730"/>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P2, P10</a:t>
              </a:r>
            </a:p>
          </p:txBody>
        </p:sp>
        <p:sp>
          <p:nvSpPr>
            <p:cNvPr id="18" name="Oval 17"/>
            <p:cNvSpPr/>
            <p:nvPr/>
          </p:nvSpPr>
          <p:spPr bwMode="auto">
            <a:xfrm>
              <a:off x="8771528" y="121621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P1, P9</a:t>
              </a:r>
            </a:p>
          </p:txBody>
        </p:sp>
        <p:sp>
          <p:nvSpPr>
            <p:cNvPr id="19" name="Oval 18"/>
            <p:cNvSpPr/>
            <p:nvPr/>
          </p:nvSpPr>
          <p:spPr bwMode="auto">
            <a:xfrm>
              <a:off x="7742237" y="230112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P7, P15</a:t>
              </a:r>
            </a:p>
          </p:txBody>
        </p:sp>
        <p:sp>
          <p:nvSpPr>
            <p:cNvPr id="20" name="Oval 19"/>
            <p:cNvSpPr/>
            <p:nvPr/>
          </p:nvSpPr>
          <p:spPr bwMode="auto">
            <a:xfrm>
              <a:off x="9876724" y="230112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P3, P11</a:t>
              </a:r>
            </a:p>
          </p:txBody>
        </p:sp>
        <p:sp>
          <p:nvSpPr>
            <p:cNvPr id="21" name="Oval 20"/>
            <p:cNvSpPr/>
            <p:nvPr/>
          </p:nvSpPr>
          <p:spPr bwMode="auto">
            <a:xfrm>
              <a:off x="8008642" y="1495730"/>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P8, P16</a:t>
              </a:r>
            </a:p>
          </p:txBody>
        </p:sp>
        <p:sp>
          <p:nvSpPr>
            <p:cNvPr id="22" name="Oval 21"/>
            <p:cNvSpPr/>
            <p:nvPr/>
          </p:nvSpPr>
          <p:spPr bwMode="auto">
            <a:xfrm>
              <a:off x="8771528" y="3313247"/>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P5, P13</a:t>
              </a:r>
            </a:p>
          </p:txBody>
        </p:sp>
        <p:sp>
          <p:nvSpPr>
            <p:cNvPr id="23" name="Oval 22"/>
            <p:cNvSpPr/>
            <p:nvPr/>
          </p:nvSpPr>
          <p:spPr bwMode="auto">
            <a:xfrm>
              <a:off x="9567592" y="3087282"/>
              <a:ext cx="762000" cy="761999"/>
            </a:xfrm>
            <a:prstGeom prst="ellipse">
              <a:avLst/>
            </a:pr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3175">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r>
                <a:rPr lang="en-US" sz="1200" dirty="0">
                  <a:gradFill>
                    <a:gsLst>
                      <a:gs pos="0">
                        <a:srgbClr val="FFFFFF"/>
                      </a:gs>
                      <a:gs pos="100000">
                        <a:srgbClr val="FFFFFF"/>
                      </a:gs>
                    </a:gsLst>
                    <a:lin ang="5400000" scaled="0"/>
                  </a:gradFill>
                  <a:latin typeface="Calibri" panose="020F0502020204030204" pitchFamily="34" charset="0"/>
                </a:rPr>
                <a:t>P4, P12</a:t>
              </a:r>
            </a:p>
          </p:txBody>
        </p:sp>
      </p:grpSp>
    </p:spTree>
    <p:extLst>
      <p:ext uri="{BB962C8B-B14F-4D97-AF65-F5344CB8AC3E}">
        <p14:creationId xmlns:p14="http://schemas.microsoft.com/office/powerpoint/2010/main" val="427130030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4105739"/>
          </a:xfrm>
        </p:spPr>
        <p:txBody>
          <a:bodyPr/>
          <a:lstStyle/>
          <a:p>
            <a:r>
              <a:rPr lang="en-US" dirty="0"/>
              <a:t>Don’t use the result of the native </a:t>
            </a:r>
            <a:r>
              <a:rPr lang="en-US" dirty="0" err="1"/>
              <a:t>GetHashCode</a:t>
            </a:r>
            <a:r>
              <a:rPr lang="en-US" dirty="0"/>
              <a:t> as a partition key. The </a:t>
            </a:r>
            <a:r>
              <a:rPr lang="en-US" dirty="0" err="1"/>
              <a:t>.Net</a:t>
            </a:r>
            <a:r>
              <a:rPr lang="en-US" dirty="0"/>
              <a:t> documentation states</a:t>
            </a:r>
          </a:p>
          <a:p>
            <a:pPr marL="0" indent="0" algn="ctr">
              <a:buNone/>
            </a:pPr>
            <a:r>
              <a:rPr lang="en-US" sz="2000" dirty="0"/>
              <a:t> </a:t>
            </a:r>
            <a:r>
              <a:rPr lang="en-US" sz="1600" i="1" dirty="0"/>
              <a:t>The hash code itself </a:t>
            </a:r>
            <a:r>
              <a:rPr lang="en-US" sz="1600" i="1" dirty="0">
                <a:solidFill>
                  <a:schemeClr val="accent1">
                    <a:lumMod val="60000"/>
                    <a:lumOff val="40000"/>
                  </a:schemeClr>
                </a:solidFill>
              </a:rPr>
              <a:t>is not guaranteed to be stable. </a:t>
            </a:r>
            <a:r>
              <a:rPr lang="en-US" sz="1600" i="1" dirty="0"/>
              <a:t>Hash codes for identical strings </a:t>
            </a:r>
            <a:r>
              <a:rPr lang="en-US" sz="1600" dirty="0"/>
              <a:t>states </a:t>
            </a:r>
            <a:r>
              <a:rPr lang="en-US" sz="1600" i="1" dirty="0"/>
              <a:t>can differ across versions of the .NET Framework and across platforms (such as 32-bit and 64-bit) for a single version of the .NET Framework. In some cases, they can even differ by application domain</a:t>
            </a:r>
          </a:p>
          <a:p>
            <a:r>
              <a:rPr lang="en-US" dirty="0"/>
              <a:t>If the hash changes, your data will not be retrievable</a:t>
            </a:r>
          </a:p>
          <a:p>
            <a:r>
              <a:rPr lang="en-US" dirty="0"/>
              <a:t>Override to use</a:t>
            </a:r>
          </a:p>
          <a:p>
            <a:endParaRPr lang="en-US" dirty="0"/>
          </a:p>
        </p:txBody>
      </p:sp>
      <p:sp>
        <p:nvSpPr>
          <p:cNvPr id="3" name="Title 2"/>
          <p:cNvSpPr>
            <a:spLocks noGrp="1"/>
          </p:cNvSpPr>
          <p:nvPr>
            <p:ph type="title"/>
          </p:nvPr>
        </p:nvSpPr>
        <p:spPr/>
        <p:txBody>
          <a:bodyPr/>
          <a:lstStyle/>
          <a:p>
            <a:r>
              <a:rPr lang="en-US" dirty="0"/>
              <a:t>Beware of </a:t>
            </a:r>
            <a:r>
              <a:rPr lang="en-US" dirty="0" err="1"/>
              <a:t>GetHashCode</a:t>
            </a:r>
            <a:endParaRPr lang="en-US" dirty="0"/>
          </a:p>
        </p:txBody>
      </p:sp>
    </p:spTree>
    <p:extLst>
      <p:ext uri="{BB962C8B-B14F-4D97-AF65-F5344CB8AC3E}">
        <p14:creationId xmlns:p14="http://schemas.microsoft.com/office/powerpoint/2010/main" val="162641539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5613845"/>
          </a:xfrm>
        </p:spPr>
        <p:txBody>
          <a:bodyPr/>
          <a:lstStyle/>
          <a:p>
            <a:r>
              <a:rPr lang="en-US" dirty="0"/>
              <a:t>Important to retying operations</a:t>
            </a:r>
          </a:p>
          <a:p>
            <a:pPr lvl="1"/>
            <a:r>
              <a:rPr lang="en-US" dirty="0"/>
              <a:t>Initial retry should be quick</a:t>
            </a:r>
          </a:p>
          <a:p>
            <a:pPr lvl="1"/>
            <a:r>
              <a:rPr lang="en-US" dirty="0"/>
              <a:t>Subsequent retries should not overly impact your service. Don’t DDOS yourself</a:t>
            </a:r>
          </a:p>
          <a:p>
            <a:r>
              <a:rPr lang="en-US" dirty="0"/>
              <a:t>Exponential back off</a:t>
            </a:r>
          </a:p>
          <a:p>
            <a:r>
              <a:rPr lang="en-US" dirty="0"/>
              <a:t>Circuit Breaker pattern</a:t>
            </a:r>
          </a:p>
          <a:p>
            <a:pPr lvl="1"/>
            <a:r>
              <a:rPr lang="en-US" dirty="0"/>
              <a:t>Very good, but consider where to use </a:t>
            </a:r>
          </a:p>
          <a:p>
            <a:pPr lvl="1"/>
            <a:r>
              <a:rPr lang="en-US" dirty="0"/>
              <a:t>Exponential back off, continuous retry until success</a:t>
            </a:r>
          </a:p>
          <a:p>
            <a:pPr lvl="1"/>
            <a:r>
              <a:rPr lang="en-US" dirty="0">
                <a:hlinkClick r:id="rId3"/>
              </a:rPr>
              <a:t>https://msdn.microsoft.com/en-us/library/dn589784.aspx</a:t>
            </a:r>
            <a:endParaRPr lang="en-US" dirty="0"/>
          </a:p>
          <a:p>
            <a:r>
              <a:rPr lang="en-US" dirty="0"/>
              <a:t>Consider startup</a:t>
            </a:r>
          </a:p>
          <a:p>
            <a:pPr lvl="1"/>
            <a:r>
              <a:rPr lang="en-US" dirty="0"/>
              <a:t>Don’t want to order service start up</a:t>
            </a:r>
          </a:p>
          <a:p>
            <a:pPr lvl="1"/>
            <a:r>
              <a:rPr lang="en-US" dirty="0">
                <a:hlinkClick r:id="rId4"/>
              </a:rPr>
              <a:t>https://aws.amazon.com/message/67457/</a:t>
            </a:r>
            <a:r>
              <a:rPr lang="en-US" dirty="0"/>
              <a:t> see section on Elastic Load Balancing</a:t>
            </a:r>
          </a:p>
        </p:txBody>
      </p:sp>
      <p:sp>
        <p:nvSpPr>
          <p:cNvPr id="3" name="Title 2"/>
          <p:cNvSpPr>
            <a:spLocks noGrp="1"/>
          </p:cNvSpPr>
          <p:nvPr>
            <p:ph type="title"/>
          </p:nvPr>
        </p:nvSpPr>
        <p:spPr/>
        <p:txBody>
          <a:bodyPr/>
          <a:lstStyle/>
          <a:p>
            <a:r>
              <a:rPr lang="en-US" dirty="0"/>
              <a:t>Retrying Operations</a:t>
            </a:r>
          </a:p>
        </p:txBody>
      </p:sp>
    </p:spTree>
    <p:extLst>
      <p:ext uri="{BB962C8B-B14F-4D97-AF65-F5344CB8AC3E}">
        <p14:creationId xmlns:p14="http://schemas.microsoft.com/office/powerpoint/2010/main" val="310309947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365760" y="1097280"/>
            <a:ext cx="7315200" cy="2179058"/>
          </a:xfrm>
        </p:spPr>
        <p:txBody>
          <a:bodyPr/>
          <a:lstStyle/>
          <a:p>
            <a:r>
              <a:rPr lang="en-US" dirty="0"/>
              <a:t>Monitoring and Diagnostics</a:t>
            </a:r>
          </a:p>
        </p:txBody>
      </p:sp>
    </p:spTree>
    <p:extLst>
      <p:ext uri="{BB962C8B-B14F-4D97-AF65-F5344CB8AC3E}">
        <p14:creationId xmlns:p14="http://schemas.microsoft.com/office/powerpoint/2010/main" val="255458807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type="body" sz="quarter" idx="10"/>
          </p:nvPr>
        </p:nvSpPr>
        <p:spPr/>
        <p:txBody>
          <a:bodyPr>
            <a:noAutofit/>
          </a:bodyPr>
          <a:lstStyle/>
          <a:p>
            <a:pPr marL="0" indent="0">
              <a:buNone/>
            </a:pPr>
            <a:r>
              <a:rPr lang="en-US" b="1" dirty="0"/>
              <a:t>Service Fabric logs</a:t>
            </a:r>
          </a:p>
          <a:p>
            <a:r>
              <a:rPr lang="en-US" dirty="0"/>
              <a:t>Required for support</a:t>
            </a:r>
          </a:p>
          <a:p>
            <a:r>
              <a:rPr lang="en-US" dirty="0"/>
              <a:t>Not useful for your diagnostics</a:t>
            </a:r>
          </a:p>
          <a:p>
            <a:pPr marL="0" indent="0">
              <a:buNone/>
            </a:pPr>
            <a:endParaRPr lang="en-US" dirty="0"/>
          </a:p>
          <a:p>
            <a:pPr marL="0" indent="0">
              <a:buNone/>
            </a:pPr>
            <a:r>
              <a:rPr lang="en-US" b="1" dirty="0"/>
              <a:t>Service Fabric Diagnostic Events</a:t>
            </a:r>
          </a:p>
          <a:p>
            <a:r>
              <a:rPr lang="en-US" dirty="0"/>
              <a:t>Reliable Actor </a:t>
            </a:r>
            <a:r>
              <a:rPr lang="en-US" dirty="0">
                <a:hlinkClick r:id="rId3"/>
              </a:rPr>
              <a:t>https://azure.microsoft.com/en-us/documentation/articles/service-fabric-reliable-actors-diagnostics/</a:t>
            </a:r>
            <a:endParaRPr lang="en-US" dirty="0"/>
          </a:p>
          <a:p>
            <a:r>
              <a:rPr lang="en-US" dirty="0"/>
              <a:t>Reliable Services </a:t>
            </a:r>
            <a:r>
              <a:rPr lang="en-US" dirty="0">
                <a:hlinkClick r:id="rId4"/>
              </a:rPr>
              <a:t>https://azure.microsoft.com/en-us/documentation/articles/service-fabric-reliable-services-diagnostics/</a:t>
            </a:r>
            <a:endParaRPr lang="en-US" dirty="0"/>
          </a:p>
          <a:p>
            <a:r>
              <a:rPr lang="en-US" dirty="0"/>
              <a:t>Operational Events</a:t>
            </a:r>
          </a:p>
        </p:txBody>
      </p:sp>
      <p:sp>
        <p:nvSpPr>
          <p:cNvPr id="4" name="Title 3"/>
          <p:cNvSpPr>
            <a:spLocks noGrp="1"/>
          </p:cNvSpPr>
          <p:nvPr>
            <p:ph type="title"/>
          </p:nvPr>
        </p:nvSpPr>
        <p:spPr/>
        <p:txBody>
          <a:bodyPr/>
          <a:lstStyle/>
          <a:p>
            <a:r>
              <a:rPr lang="en-US" dirty="0"/>
              <a:t>Service Fabric Generated Logs</a:t>
            </a:r>
          </a:p>
        </p:txBody>
      </p:sp>
    </p:spTree>
    <p:extLst>
      <p:ext uri="{BB962C8B-B14F-4D97-AF65-F5344CB8AC3E}">
        <p14:creationId xmlns:p14="http://schemas.microsoft.com/office/powerpoint/2010/main" val="393196565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a:t>Azure Monitoring</a:t>
            </a:r>
          </a:p>
          <a:p>
            <a:pPr lvl="1"/>
            <a:r>
              <a:rPr lang="en-US" dirty="0"/>
              <a:t>Free offering integrated with the Azure portal</a:t>
            </a:r>
          </a:p>
          <a:p>
            <a:pPr lvl="1"/>
            <a:r>
              <a:rPr lang="en-US" dirty="0"/>
              <a:t>Shows resource usage by node type (VMSS)</a:t>
            </a:r>
          </a:p>
          <a:p>
            <a:pPr lvl="1"/>
            <a:r>
              <a:rPr lang="en-US" sz="2000" dirty="0"/>
              <a:t>https://azure.microsoft.com/en-us/blog/announcing-the-public-preview-of-azure-monitor/</a:t>
            </a:r>
          </a:p>
          <a:p>
            <a:r>
              <a:rPr lang="en-US" dirty="0"/>
              <a:t>OMS (Log Analytics)</a:t>
            </a:r>
          </a:p>
          <a:p>
            <a:pPr lvl="1"/>
            <a:r>
              <a:rPr lang="en-US" dirty="0"/>
              <a:t>Builds on Azure Monitoring</a:t>
            </a:r>
          </a:p>
          <a:p>
            <a:pPr lvl="1"/>
            <a:r>
              <a:rPr lang="en-US" sz="2000" dirty="0"/>
              <a:t>https://azure.microsoft.com/en-us/documentation/articles/log-analytics-service-fabric/</a:t>
            </a:r>
          </a:p>
        </p:txBody>
      </p:sp>
      <p:sp>
        <p:nvSpPr>
          <p:cNvPr id="2" name="Title 1"/>
          <p:cNvSpPr>
            <a:spLocks noGrp="1"/>
          </p:cNvSpPr>
          <p:nvPr>
            <p:ph type="title"/>
          </p:nvPr>
        </p:nvSpPr>
        <p:spPr/>
        <p:txBody>
          <a:bodyPr/>
          <a:lstStyle/>
          <a:p>
            <a:r>
              <a:rPr lang="en-US" dirty="0"/>
              <a:t>Cluster Management</a:t>
            </a:r>
          </a:p>
        </p:txBody>
      </p:sp>
    </p:spTree>
    <p:extLst>
      <p:ext uri="{BB962C8B-B14F-4D97-AF65-F5344CB8AC3E}">
        <p14:creationId xmlns:p14="http://schemas.microsoft.com/office/powerpoint/2010/main" val="8984434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pPr marL="0" indent="0">
              <a:buNone/>
            </a:pPr>
            <a:r>
              <a:rPr lang="en-US" b="1" dirty="0" err="1"/>
              <a:t>EventSource</a:t>
            </a:r>
            <a:r>
              <a:rPr lang="en-US" b="1" dirty="0"/>
              <a:t> as Structured Events</a:t>
            </a:r>
          </a:p>
          <a:p>
            <a:r>
              <a:rPr lang="en-US" dirty="0"/>
              <a:t>Use for high performance low latency</a:t>
            </a:r>
          </a:p>
          <a:p>
            <a:r>
              <a:rPr lang="en-US" dirty="0"/>
              <a:t>Create events that fit specific situations e.g. start/stop, specific business requirements created order, created entry, updated entry</a:t>
            </a:r>
          </a:p>
          <a:p>
            <a:pPr marL="0" indent="0">
              <a:buNone/>
            </a:pPr>
            <a:endParaRPr lang="en-US" b="1" dirty="0"/>
          </a:p>
          <a:p>
            <a:pPr marL="0" indent="0">
              <a:buNone/>
            </a:pPr>
            <a:r>
              <a:rPr lang="en-US" b="1" dirty="0" err="1"/>
              <a:t>EventSource</a:t>
            </a:r>
            <a:r>
              <a:rPr lang="en-US" b="1" dirty="0"/>
              <a:t> as Generic Events</a:t>
            </a:r>
          </a:p>
          <a:p>
            <a:r>
              <a:rPr lang="en-US" dirty="0"/>
              <a:t>Use for high performance low latency</a:t>
            </a:r>
          </a:p>
          <a:p>
            <a:r>
              <a:rPr lang="en-US" dirty="0"/>
              <a:t>Generic categories e.g. Debug, Trace, Error, Warning…</a:t>
            </a:r>
          </a:p>
          <a:p>
            <a:endParaRPr lang="en-US" b="1" dirty="0"/>
          </a:p>
          <a:p>
            <a:endParaRPr lang="en-US" dirty="0"/>
          </a:p>
        </p:txBody>
      </p:sp>
      <p:sp>
        <p:nvSpPr>
          <p:cNvPr id="2" name="Title 1"/>
          <p:cNvSpPr>
            <a:spLocks noGrp="1"/>
          </p:cNvSpPr>
          <p:nvPr>
            <p:ph type="title"/>
          </p:nvPr>
        </p:nvSpPr>
        <p:spPr/>
        <p:txBody>
          <a:bodyPr/>
          <a:lstStyle/>
          <a:p>
            <a:r>
              <a:rPr lang="en-US" dirty="0"/>
              <a:t>Application Instrumentation - </a:t>
            </a:r>
            <a:r>
              <a:rPr lang="en-US" dirty="0" err="1"/>
              <a:t>EventSource</a:t>
            </a:r>
            <a:endParaRPr lang="en-US" dirty="0"/>
          </a:p>
        </p:txBody>
      </p:sp>
    </p:spTree>
    <p:extLst>
      <p:ext uri="{BB962C8B-B14F-4D97-AF65-F5344CB8AC3E}">
        <p14:creationId xmlns:p14="http://schemas.microsoft.com/office/powerpoint/2010/main" val="248450747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noAutofit/>
          </a:bodyPr>
          <a:lstStyle/>
          <a:p>
            <a:r>
              <a:rPr lang="en-US" dirty="0"/>
              <a:t>Use when performance requirements are not as demanding</a:t>
            </a:r>
          </a:p>
          <a:p>
            <a:r>
              <a:rPr lang="en-US" dirty="0"/>
              <a:t>Represents logged data a structure that can be more easily searched</a:t>
            </a:r>
          </a:p>
          <a:p>
            <a:r>
              <a:rPr lang="en-US" dirty="0" err="1">
                <a:hlinkClick r:id="rId2"/>
              </a:rPr>
              <a:t>.Net</a:t>
            </a:r>
            <a:r>
              <a:rPr lang="en-US" dirty="0">
                <a:hlinkClick r:id="rId2"/>
              </a:rPr>
              <a:t> Core logging</a:t>
            </a:r>
            <a:endParaRPr lang="en-US" dirty="0"/>
          </a:p>
          <a:p>
            <a:pPr lvl="1"/>
            <a:r>
              <a:rPr lang="en-US" dirty="0"/>
              <a:t>Useful not just in .NET Core</a:t>
            </a:r>
          </a:p>
          <a:p>
            <a:pPr lvl="1"/>
            <a:r>
              <a:rPr lang="en-US" dirty="0"/>
              <a:t>Leverages </a:t>
            </a:r>
            <a:r>
              <a:rPr lang="en-US" dirty="0" err="1"/>
              <a:t>ILogger</a:t>
            </a:r>
            <a:r>
              <a:rPr lang="en-US" dirty="0"/>
              <a:t> interface</a:t>
            </a:r>
          </a:p>
          <a:p>
            <a:pPr lvl="1"/>
            <a:r>
              <a:rPr lang="en-US" dirty="0"/>
              <a:t>Plug in other providers</a:t>
            </a:r>
          </a:p>
          <a:p>
            <a:pPr lvl="2"/>
            <a:r>
              <a:rPr lang="en-US" dirty="0" err="1"/>
              <a:t>Loggr</a:t>
            </a:r>
            <a:r>
              <a:rPr lang="en-US" dirty="0"/>
              <a:t> - </a:t>
            </a:r>
            <a:r>
              <a:rPr lang="en-US" dirty="0">
                <a:hlinkClick r:id="rId3"/>
              </a:rPr>
              <a:t>http://loggr.net/</a:t>
            </a:r>
            <a:endParaRPr lang="en-US" dirty="0"/>
          </a:p>
          <a:p>
            <a:pPr lvl="2"/>
            <a:r>
              <a:rPr lang="en-US" dirty="0" err="1"/>
              <a:t>Nlog</a:t>
            </a:r>
            <a:r>
              <a:rPr lang="en-US" dirty="0"/>
              <a:t> - </a:t>
            </a:r>
            <a:r>
              <a:rPr lang="en-US" dirty="0">
                <a:hlinkClick r:id="rId4"/>
              </a:rPr>
              <a:t>http://nlog-project.org/</a:t>
            </a:r>
            <a:endParaRPr lang="en-US" dirty="0"/>
          </a:p>
          <a:p>
            <a:pPr lvl="2"/>
            <a:r>
              <a:rPr lang="en-US" dirty="0" err="1"/>
              <a:t>Serilog</a:t>
            </a:r>
            <a:r>
              <a:rPr lang="en-US" dirty="0"/>
              <a:t> - </a:t>
            </a:r>
            <a:r>
              <a:rPr lang="en-US" dirty="0">
                <a:hlinkClick r:id="rId5"/>
              </a:rPr>
              <a:t>https://serilog.net/</a:t>
            </a:r>
            <a:endParaRPr lang="en-US" dirty="0"/>
          </a:p>
          <a:p>
            <a:endParaRPr lang="en-US" dirty="0"/>
          </a:p>
        </p:txBody>
      </p:sp>
      <p:sp>
        <p:nvSpPr>
          <p:cNvPr id="2" name="Title 1"/>
          <p:cNvSpPr>
            <a:spLocks noGrp="1"/>
          </p:cNvSpPr>
          <p:nvPr>
            <p:ph type="title"/>
          </p:nvPr>
        </p:nvSpPr>
        <p:spPr/>
        <p:txBody>
          <a:bodyPr/>
          <a:lstStyle/>
          <a:p>
            <a:r>
              <a:rPr lang="en-US" dirty="0"/>
              <a:t>Structured Logging</a:t>
            </a:r>
          </a:p>
        </p:txBody>
      </p:sp>
    </p:spTree>
    <p:extLst>
      <p:ext uri="{BB962C8B-B14F-4D97-AF65-F5344CB8AC3E}">
        <p14:creationId xmlns:p14="http://schemas.microsoft.com/office/powerpoint/2010/main" val="70446609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a:xfrm>
            <a:off x="855008" y="1516062"/>
            <a:ext cx="10726460" cy="4783868"/>
          </a:xfrm>
        </p:spPr>
        <p:txBody>
          <a:bodyPr>
            <a:normAutofit lnSpcReduction="10000"/>
          </a:bodyPr>
          <a:lstStyle/>
          <a:p>
            <a:pPr marL="0" indent="0">
              <a:buNone/>
            </a:pPr>
            <a:r>
              <a:rPr lang="en-US" b="1" dirty="0"/>
              <a:t>WAD / LAD</a:t>
            </a:r>
          </a:p>
          <a:p>
            <a:r>
              <a:rPr lang="en-US" dirty="0"/>
              <a:t>Standard mechanism used to move events, log and counters</a:t>
            </a:r>
          </a:p>
          <a:p>
            <a:r>
              <a:rPr lang="en-US" dirty="0"/>
              <a:t>Uses agent configured on the node. Configure using ARM</a:t>
            </a:r>
          </a:p>
          <a:p>
            <a:pPr marL="466298" lvl="1" indent="0">
              <a:buNone/>
            </a:pPr>
            <a:r>
              <a:rPr lang="en-US" sz="1800" dirty="0"/>
              <a:t>https://azure.microsoft.com/en-us/documentation/articles/service-fabric-diagnostics-how-to-setup-wad/</a:t>
            </a:r>
          </a:p>
          <a:p>
            <a:pPr marL="0" indent="0">
              <a:buNone/>
            </a:pPr>
            <a:r>
              <a:rPr lang="en-US" b="1" dirty="0"/>
              <a:t>ELK Stack</a:t>
            </a:r>
          </a:p>
          <a:p>
            <a:r>
              <a:rPr lang="en-US" dirty="0"/>
              <a:t>Moves events directly to Elastic Search</a:t>
            </a:r>
          </a:p>
          <a:p>
            <a:pPr marL="466298" lvl="1" indent="0">
              <a:buNone/>
            </a:pPr>
            <a:r>
              <a:rPr lang="en-US" sz="1600" dirty="0"/>
              <a:t>https://azure.microsoft.com/en-us/documentation/articles/service-fabric-diagnostic-how-to-use-elasticsearch/</a:t>
            </a:r>
          </a:p>
          <a:p>
            <a:pPr marL="0" indent="0">
              <a:buNone/>
            </a:pPr>
            <a:r>
              <a:rPr lang="en-US" b="1" dirty="0" err="1"/>
              <a:t>EventFlow</a:t>
            </a:r>
            <a:endParaRPr lang="en-US" b="1" dirty="0"/>
          </a:p>
          <a:p>
            <a:r>
              <a:rPr lang="en-US" dirty="0"/>
              <a:t>Currently in preview, looking for feedback and PRs</a:t>
            </a:r>
          </a:p>
          <a:p>
            <a:r>
              <a:rPr lang="en-US" dirty="0"/>
              <a:t>Moves events directly to multiple outputs (AI, EventHub, ELK, console)</a:t>
            </a:r>
          </a:p>
          <a:p>
            <a:r>
              <a:rPr lang="en-US" dirty="0"/>
              <a:t>Allows local filtering</a:t>
            </a:r>
          </a:p>
          <a:p>
            <a:r>
              <a:rPr lang="en-US" dirty="0"/>
              <a:t>Configuration travels with service</a:t>
            </a:r>
            <a:endParaRPr lang="en-US" dirty="0">
              <a:hlinkClick r:id="rId2"/>
            </a:endParaRPr>
          </a:p>
          <a:p>
            <a:pPr marL="466298" lvl="1" indent="0">
              <a:buNone/>
            </a:pPr>
            <a:r>
              <a:rPr lang="en-US" sz="1800" dirty="0"/>
              <a:t>https://www.nuget.org/packages/Microsoft.Diagnostics.EventFlow/1.0.0-preview</a:t>
            </a:r>
          </a:p>
          <a:p>
            <a:pPr marL="466298" lvl="1" indent="0">
              <a:buNone/>
            </a:pPr>
            <a:r>
              <a:rPr lang="en-US" sz="1800" dirty="0"/>
              <a:t>https://github.com/Azure/diagnostics-eventflow</a:t>
            </a:r>
          </a:p>
          <a:p>
            <a:endParaRPr lang="en-US" dirty="0"/>
          </a:p>
        </p:txBody>
      </p:sp>
      <p:sp>
        <p:nvSpPr>
          <p:cNvPr id="2" name="Title 1"/>
          <p:cNvSpPr>
            <a:spLocks noGrp="1"/>
          </p:cNvSpPr>
          <p:nvPr>
            <p:ph type="title"/>
          </p:nvPr>
        </p:nvSpPr>
        <p:spPr/>
        <p:txBody>
          <a:bodyPr/>
          <a:lstStyle/>
          <a:p>
            <a:r>
              <a:rPr lang="en-US" dirty="0"/>
              <a:t>Move Events off the node</a:t>
            </a:r>
          </a:p>
        </p:txBody>
      </p:sp>
    </p:spTree>
    <p:extLst>
      <p:ext uri="{BB962C8B-B14F-4D97-AF65-F5344CB8AC3E}">
        <p14:creationId xmlns:p14="http://schemas.microsoft.com/office/powerpoint/2010/main" val="3131135802"/>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ealth entit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4931" y="126215"/>
            <a:ext cx="7541533" cy="493264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13379" y="5416273"/>
            <a:ext cx="11783084" cy="1118805"/>
          </a:xfrm>
          <a:prstGeom prst="rect">
            <a:avLst/>
          </a:prstGeom>
          <a:noFill/>
        </p:spPr>
        <p:txBody>
          <a:bodyPr wrap="square" rtlCol="0">
            <a:spAutoFit/>
          </a:bodyPr>
          <a:lstStyle/>
          <a:p>
            <a:pPr defTabSz="932597"/>
            <a:r>
              <a:rPr lang="en-US" sz="1632" dirty="0">
                <a:solidFill>
                  <a:prstClr val="black"/>
                </a:solidFill>
                <a:latin typeface="Calibri" panose="020F0502020204030204"/>
                <a:hlinkClick r:id="rId3"/>
              </a:rPr>
              <a:t>https://azure.microsoft.com/en-us/documentation/articles/service-fabric-diagnostics-how-to-report-and-check-service-health/</a:t>
            </a:r>
            <a:endParaRPr lang="en-US" sz="1632" dirty="0">
              <a:solidFill>
                <a:prstClr val="black"/>
              </a:solidFill>
              <a:latin typeface="Calibri" panose="020F0502020204030204"/>
            </a:endParaRPr>
          </a:p>
          <a:p>
            <a:pPr defTabSz="932597"/>
            <a:r>
              <a:rPr lang="en-US" sz="1632" dirty="0">
                <a:solidFill>
                  <a:prstClr val="black"/>
                </a:solidFill>
                <a:latin typeface="Calibri" panose="020F0502020204030204"/>
                <a:hlinkClick r:id="rId4"/>
              </a:rPr>
              <a:t>https://azure.microsoft.com/en-us/documentation/articles/service-fabric-report-health/</a:t>
            </a:r>
            <a:endParaRPr lang="en-US" sz="1632" dirty="0">
              <a:solidFill>
                <a:prstClr val="black"/>
              </a:solidFill>
              <a:latin typeface="Calibri" panose="020F0502020204030204"/>
            </a:endParaRPr>
          </a:p>
          <a:p>
            <a:pPr defTabSz="932597"/>
            <a:r>
              <a:rPr lang="en-US" sz="1632" dirty="0">
                <a:solidFill>
                  <a:prstClr val="black"/>
                </a:solidFill>
                <a:latin typeface="Calibri" panose="020F0502020204030204"/>
                <a:hlinkClick r:id="rId5"/>
              </a:rPr>
              <a:t>https://azure.microsoft.com/en-us/documentation/articles/service-fabric-view-entities-aggregated-health/</a:t>
            </a:r>
            <a:endParaRPr lang="en-US" sz="1632" dirty="0">
              <a:solidFill>
                <a:prstClr val="black"/>
              </a:solidFill>
              <a:latin typeface="Calibri" panose="020F0502020204030204"/>
            </a:endParaRPr>
          </a:p>
          <a:p>
            <a:pPr defTabSz="932597"/>
            <a:endParaRPr lang="en-US" sz="1632" dirty="0">
              <a:solidFill>
                <a:prstClr val="black"/>
              </a:solidFill>
              <a:latin typeface="Calibri" panose="020F0502020204030204"/>
            </a:endParaRPr>
          </a:p>
        </p:txBody>
      </p:sp>
      <p:sp>
        <p:nvSpPr>
          <p:cNvPr id="5" name="TextBox 4"/>
          <p:cNvSpPr txBox="1"/>
          <p:nvPr/>
        </p:nvSpPr>
        <p:spPr>
          <a:xfrm>
            <a:off x="171261" y="313857"/>
            <a:ext cx="4259486" cy="1631216"/>
          </a:xfrm>
          <a:prstGeom prst="rect">
            <a:avLst/>
          </a:prstGeom>
          <a:noFill/>
        </p:spPr>
        <p:txBody>
          <a:bodyPr wrap="square" rtlCol="0">
            <a:spAutoFit/>
          </a:bodyPr>
          <a:lstStyle/>
          <a:p>
            <a:pPr marL="291436" indent="-291436" defTabSz="932597">
              <a:buFont typeface="Arial" panose="020B0604020202020204" pitchFamily="34" charset="0"/>
              <a:buChar char="•"/>
            </a:pPr>
            <a:r>
              <a:rPr lang="en-US" sz="2000" dirty="0">
                <a:solidFill>
                  <a:prstClr val="black"/>
                </a:solidFill>
                <a:latin typeface="+mj-lt"/>
              </a:rPr>
              <a:t>Critical for deployment and rollback</a:t>
            </a:r>
          </a:p>
          <a:p>
            <a:pPr marL="291436" indent="-291436" defTabSz="932597">
              <a:buFont typeface="Arial" panose="020B0604020202020204" pitchFamily="34" charset="0"/>
              <a:buChar char="•"/>
            </a:pPr>
            <a:r>
              <a:rPr lang="en-US" sz="2000" dirty="0">
                <a:solidFill>
                  <a:prstClr val="black"/>
                </a:solidFill>
                <a:latin typeface="+mj-lt"/>
              </a:rPr>
              <a:t>Think about having majority of verification checked done using health</a:t>
            </a:r>
          </a:p>
        </p:txBody>
      </p:sp>
    </p:spTree>
    <p:extLst>
      <p:ext uri="{BB962C8B-B14F-4D97-AF65-F5344CB8AC3E}">
        <p14:creationId xmlns:p14="http://schemas.microsoft.com/office/powerpoint/2010/main" val="348138986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View of the cluster with Service Fabric Explor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703" y="1640932"/>
            <a:ext cx="12059069" cy="519218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Health in Service Fabric Explorer</a:t>
            </a:r>
          </a:p>
        </p:txBody>
      </p:sp>
    </p:spTree>
    <p:extLst>
      <p:ext uri="{BB962C8B-B14F-4D97-AF65-F5344CB8AC3E}">
        <p14:creationId xmlns:p14="http://schemas.microsoft.com/office/powerpoint/2010/main" val="83468012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type="body" sz="quarter" idx="10"/>
          </p:nvPr>
        </p:nvSpPr>
        <p:spPr/>
        <p:txBody>
          <a:bodyPr/>
          <a:lstStyle/>
          <a:p>
            <a:r>
              <a:rPr lang="en-US" dirty="0"/>
              <a:t>Please report metrics that are relevant to your service</a:t>
            </a:r>
          </a:p>
          <a:p>
            <a:r>
              <a:rPr lang="en-US" dirty="0"/>
              <a:t>Viewable in SFX</a:t>
            </a:r>
          </a:p>
          <a:p>
            <a:r>
              <a:rPr lang="en-US" dirty="0"/>
              <a:t>Can be queried to build your own dashboard</a:t>
            </a:r>
          </a:p>
          <a:p>
            <a:r>
              <a:rPr lang="en-US" dirty="0"/>
              <a:t>Will start being sent via health and metric channel in next release</a:t>
            </a:r>
          </a:p>
          <a:p>
            <a:r>
              <a:rPr lang="en-US" dirty="0"/>
              <a:t>Can be used for balancing</a:t>
            </a:r>
          </a:p>
          <a:p>
            <a:pPr marL="0" indent="0">
              <a:buNone/>
            </a:pPr>
            <a:r>
              <a:rPr lang="en-US" sz="1836" dirty="0"/>
              <a:t>https://azure.microsoft.com/en-us/documentation/articles/service-fabric-cluster-resource-manager-metrics/</a:t>
            </a:r>
          </a:p>
        </p:txBody>
      </p:sp>
      <p:sp>
        <p:nvSpPr>
          <p:cNvPr id="3" name="Title 2"/>
          <p:cNvSpPr>
            <a:spLocks noGrp="1"/>
          </p:cNvSpPr>
          <p:nvPr>
            <p:ph type="title"/>
          </p:nvPr>
        </p:nvSpPr>
        <p:spPr/>
        <p:txBody>
          <a:bodyPr/>
          <a:lstStyle/>
          <a:p>
            <a:r>
              <a:rPr lang="en-US" dirty="0"/>
              <a:t>Metrics</a:t>
            </a:r>
          </a:p>
        </p:txBody>
      </p:sp>
    </p:spTree>
    <p:extLst>
      <p:ext uri="{BB962C8B-B14F-4D97-AF65-F5344CB8AC3E}">
        <p14:creationId xmlns:p14="http://schemas.microsoft.com/office/powerpoint/2010/main" val="305521039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type="body" sz="quarter" idx="10"/>
          </p:nvPr>
        </p:nvSpPr>
        <p:spPr/>
        <p:txBody>
          <a:bodyPr/>
          <a:lstStyle/>
          <a:p>
            <a:r>
              <a:rPr lang="en-US" dirty="0"/>
              <a:t>Incorporate knowledge gained while operating service</a:t>
            </a:r>
          </a:p>
          <a:p>
            <a:r>
              <a:rPr lang="en-US" dirty="0"/>
              <a:t>Watches across services</a:t>
            </a:r>
          </a:p>
          <a:p>
            <a:r>
              <a:rPr lang="en-US" dirty="0"/>
              <a:t>Can run functional level tests</a:t>
            </a:r>
          </a:p>
          <a:p>
            <a:r>
              <a:rPr lang="en-US" dirty="0"/>
              <a:t>Can watch random traffic</a:t>
            </a:r>
          </a:p>
          <a:p>
            <a:r>
              <a:rPr lang="en-US" dirty="0"/>
              <a:t>Can help with auto scale</a:t>
            </a:r>
          </a:p>
          <a:p>
            <a:endParaRPr lang="en-US" dirty="0"/>
          </a:p>
        </p:txBody>
      </p:sp>
      <p:sp>
        <p:nvSpPr>
          <p:cNvPr id="2" name="Title 1"/>
          <p:cNvSpPr>
            <a:spLocks noGrp="1"/>
          </p:cNvSpPr>
          <p:nvPr>
            <p:ph type="title"/>
          </p:nvPr>
        </p:nvSpPr>
        <p:spPr/>
        <p:txBody>
          <a:bodyPr/>
          <a:lstStyle/>
          <a:p>
            <a:r>
              <a:rPr lang="en-US" dirty="0"/>
              <a:t>Watchdog Service</a:t>
            </a:r>
          </a:p>
        </p:txBody>
      </p:sp>
    </p:spTree>
    <p:extLst>
      <p:ext uri="{BB962C8B-B14F-4D97-AF65-F5344CB8AC3E}">
        <p14:creationId xmlns:p14="http://schemas.microsoft.com/office/powerpoint/2010/main" val="406891215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1"/>
            <a:ext cx="11887200" cy="5637212"/>
          </a:xfrm>
        </p:spPr>
        <p:txBody>
          <a:bodyPr>
            <a:normAutofit/>
          </a:bodyPr>
          <a:lstStyle/>
          <a:p>
            <a:r>
              <a:rPr lang="en-US" b="1" i="1" dirty="0"/>
              <a:t>Configuration is code -</a:t>
            </a:r>
            <a:r>
              <a:rPr lang="en-US" dirty="0"/>
              <a:t> treat it like code</a:t>
            </a:r>
          </a:p>
          <a:p>
            <a:r>
              <a:rPr lang="en-US" dirty="0"/>
              <a:t>Don’t have a central configuration service</a:t>
            </a:r>
          </a:p>
          <a:p>
            <a:pPr lvl="1"/>
            <a:r>
              <a:rPr lang="en-US" dirty="0"/>
              <a:t>Code and configuration should be versioned together. Not doing so creates an ordering for deployment</a:t>
            </a:r>
          </a:p>
          <a:p>
            <a:pPr lvl="1"/>
            <a:r>
              <a:rPr lang="en-US" dirty="0"/>
              <a:t>Configuration, like code, should be immutable and follow the same lifecycle</a:t>
            </a:r>
          </a:p>
          <a:p>
            <a:pPr lvl="1"/>
            <a:r>
              <a:rPr lang="en-US" dirty="0"/>
              <a:t>Issues with accessing remote store can cause your service to fail</a:t>
            </a:r>
          </a:p>
          <a:p>
            <a:pPr lvl="1"/>
            <a:r>
              <a:rPr lang="en-US" dirty="0"/>
              <a:t>Changes are global</a:t>
            </a:r>
          </a:p>
          <a:p>
            <a:pPr lvl="1"/>
            <a:r>
              <a:rPr lang="en-US" dirty="0"/>
              <a:t>Typical to poll for changes which adds additional requests and latency</a:t>
            </a:r>
          </a:p>
          <a:p>
            <a:pPr lvl="1"/>
            <a:r>
              <a:rPr lang="en-US" dirty="0"/>
              <a:t>May have to handle multiple writers changing configuration</a:t>
            </a:r>
          </a:p>
          <a:p>
            <a:r>
              <a:rPr lang="en-US" dirty="0"/>
              <a:t>Service Fabric configuration can help, but</a:t>
            </a:r>
          </a:p>
          <a:p>
            <a:pPr lvl="1"/>
            <a:r>
              <a:rPr lang="en-US" dirty="0"/>
              <a:t>Individual key-value pairs are too fine grained, wrap in class</a:t>
            </a:r>
          </a:p>
          <a:p>
            <a:pPr lvl="1"/>
            <a:r>
              <a:rPr lang="en-US" dirty="0"/>
              <a:t>Difficult to validate that configuration is valid. Wrapped configuration can be validated</a:t>
            </a:r>
          </a:p>
        </p:txBody>
      </p:sp>
      <p:sp>
        <p:nvSpPr>
          <p:cNvPr id="3" name="Title 2"/>
          <p:cNvSpPr>
            <a:spLocks noGrp="1"/>
          </p:cNvSpPr>
          <p:nvPr>
            <p:ph type="title"/>
          </p:nvPr>
        </p:nvSpPr>
        <p:spPr/>
        <p:txBody>
          <a:bodyPr/>
          <a:lstStyle/>
          <a:p>
            <a:r>
              <a:rPr lang="en-US" dirty="0"/>
              <a:t>Configuration</a:t>
            </a:r>
          </a:p>
        </p:txBody>
      </p:sp>
    </p:spTree>
    <p:extLst>
      <p:ext uri="{BB962C8B-B14F-4D97-AF65-F5344CB8AC3E}">
        <p14:creationId xmlns:p14="http://schemas.microsoft.com/office/powerpoint/2010/main" val="2280116972"/>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5404556"/>
          </a:xfrm>
        </p:spPr>
        <p:txBody>
          <a:bodyPr/>
          <a:lstStyle/>
          <a:p>
            <a:r>
              <a:rPr lang="en-US" dirty="0"/>
              <a:t>Why do we need this, it’s complex and hard</a:t>
            </a:r>
          </a:p>
          <a:p>
            <a:pPr lvl="1"/>
            <a:r>
              <a:rPr lang="en-US" dirty="0"/>
              <a:t>Service aren’t independent if they break due to changes in other services</a:t>
            </a:r>
          </a:p>
          <a:p>
            <a:pPr lvl="1"/>
            <a:r>
              <a:rPr lang="en-US" dirty="0"/>
              <a:t>Without versioning you have to coordinate with all dependencies when releasing</a:t>
            </a:r>
          </a:p>
          <a:p>
            <a:r>
              <a:rPr lang="en-US" dirty="0"/>
              <a:t>Do</a:t>
            </a:r>
          </a:p>
          <a:p>
            <a:pPr lvl="1"/>
            <a:r>
              <a:rPr lang="en-US" dirty="0"/>
              <a:t>Add version to all requests and stored data</a:t>
            </a:r>
          </a:p>
          <a:p>
            <a:pPr lvl="1"/>
            <a:r>
              <a:rPr lang="en-US" dirty="0"/>
              <a:t>You cannot add/remove property, change an API signature or behavior (e.g. enumerations) without incrementing the version</a:t>
            </a:r>
          </a:p>
          <a:p>
            <a:pPr lvl="1"/>
            <a:r>
              <a:rPr lang="en-US" dirty="0"/>
              <a:t>Stateful services must be able to read all </a:t>
            </a:r>
            <a:r>
              <a:rPr lang="en-US"/>
              <a:t>previous versions</a:t>
            </a:r>
            <a:endParaRPr lang="en-US" dirty="0"/>
          </a:p>
          <a:p>
            <a:pPr lvl="1"/>
            <a:r>
              <a:rPr lang="en-US" dirty="0"/>
              <a:t>Do use a serialization framework that versions</a:t>
            </a:r>
          </a:p>
          <a:p>
            <a:pPr lvl="2"/>
            <a:r>
              <a:rPr lang="en-US" dirty="0"/>
              <a:t>Avro - </a:t>
            </a:r>
            <a:r>
              <a:rPr lang="en-US" dirty="0">
                <a:hlinkClick r:id="rId2"/>
              </a:rPr>
              <a:t>https://avro.apache.org/</a:t>
            </a:r>
            <a:endParaRPr lang="en-US" dirty="0"/>
          </a:p>
          <a:p>
            <a:pPr lvl="2"/>
            <a:r>
              <a:rPr lang="en-US" dirty="0"/>
              <a:t>Bond - </a:t>
            </a:r>
            <a:r>
              <a:rPr lang="en-US" dirty="0">
                <a:hlinkClick r:id="rId3"/>
              </a:rPr>
              <a:t>https://github.com/Microsoft/bond</a:t>
            </a:r>
            <a:endParaRPr lang="en-US" dirty="0"/>
          </a:p>
          <a:p>
            <a:pPr lvl="2"/>
            <a:r>
              <a:rPr lang="en-US" dirty="0" err="1"/>
              <a:t>ProtoBuf</a:t>
            </a:r>
            <a:r>
              <a:rPr lang="en-US" dirty="0"/>
              <a:t> - </a:t>
            </a:r>
            <a:r>
              <a:rPr lang="en-US" dirty="0">
                <a:hlinkClick r:id="rId4"/>
              </a:rPr>
              <a:t>https://developers.google.com/protocol-buffers/</a:t>
            </a:r>
            <a:endParaRPr lang="en-US" dirty="0"/>
          </a:p>
        </p:txBody>
      </p:sp>
      <p:sp>
        <p:nvSpPr>
          <p:cNvPr id="3" name="Title 2"/>
          <p:cNvSpPr>
            <a:spLocks noGrp="1"/>
          </p:cNvSpPr>
          <p:nvPr>
            <p:ph type="title"/>
          </p:nvPr>
        </p:nvSpPr>
        <p:spPr/>
        <p:txBody>
          <a:bodyPr/>
          <a:lstStyle/>
          <a:p>
            <a:r>
              <a:rPr lang="en-US"/>
              <a:t>Versioning Code and Data</a:t>
            </a:r>
            <a:endParaRPr lang="en-US" dirty="0"/>
          </a:p>
        </p:txBody>
      </p:sp>
    </p:spTree>
    <p:extLst>
      <p:ext uri="{BB962C8B-B14F-4D97-AF65-F5344CB8AC3E}">
        <p14:creationId xmlns:p14="http://schemas.microsoft.com/office/powerpoint/2010/main" val="3749532844"/>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274638" y="1212850"/>
            <a:ext cx="11887200" cy="5343001"/>
          </a:xfrm>
        </p:spPr>
        <p:txBody>
          <a:bodyPr/>
          <a:lstStyle/>
          <a:p>
            <a:r>
              <a:rPr lang="en-US" dirty="0"/>
              <a:t>Clients calls must continue to succeed</a:t>
            </a:r>
          </a:p>
          <a:p>
            <a:pPr lvl="1"/>
            <a:r>
              <a:rPr lang="en-US" dirty="0"/>
              <a:t>No control of when clients are upgraded vs. service interfaces</a:t>
            </a:r>
          </a:p>
          <a:p>
            <a:pPr lvl="1"/>
            <a:r>
              <a:rPr lang="en-US" dirty="0"/>
              <a:t>Support multiple versions of clients</a:t>
            </a:r>
          </a:p>
          <a:p>
            <a:pPr lvl="1"/>
            <a:r>
              <a:rPr lang="en-US" dirty="0"/>
              <a:t>Negotiate client version and disallow incompatible clients</a:t>
            </a:r>
          </a:p>
          <a:p>
            <a:r>
              <a:rPr lang="en-US" dirty="0"/>
              <a:t>Service Fabric upgrades by upgrade domain</a:t>
            </a:r>
          </a:p>
          <a:p>
            <a:pPr lvl="1"/>
            <a:r>
              <a:rPr lang="en-US" dirty="0" err="1"/>
              <a:t>v.Next</a:t>
            </a:r>
            <a:r>
              <a:rPr lang="en-US" dirty="0"/>
              <a:t> of the service must be backwards compatible for APIs and data</a:t>
            </a:r>
          </a:p>
          <a:p>
            <a:pPr lvl="1"/>
            <a:r>
              <a:rPr lang="en-US" dirty="0"/>
              <a:t>Don’t expose types outside a service</a:t>
            </a:r>
          </a:p>
          <a:p>
            <a:pPr lvl="1"/>
            <a:r>
              <a:rPr lang="en-US" dirty="0"/>
              <a:t>Two phase upgrade</a:t>
            </a:r>
          </a:p>
          <a:p>
            <a:pPr lvl="2"/>
            <a:r>
              <a:rPr lang="en-US" dirty="0"/>
              <a:t>Upgrade code first, telling new code to behave exactly like old code</a:t>
            </a:r>
          </a:p>
          <a:p>
            <a:pPr lvl="2"/>
            <a:r>
              <a:rPr lang="en-US" dirty="0"/>
              <a:t>Deploy new configuration allowing new code to behave like new version</a:t>
            </a:r>
          </a:p>
          <a:p>
            <a:pPr lvl="3"/>
            <a:r>
              <a:rPr lang="en-US" dirty="0"/>
              <a:t>Front end nodes must wait for configuration</a:t>
            </a:r>
          </a:p>
          <a:p>
            <a:pPr lvl="3"/>
            <a:r>
              <a:rPr lang="en-US" dirty="0"/>
              <a:t>Other nodes can assume new configuration has been deployed when they receive a new request</a:t>
            </a:r>
          </a:p>
        </p:txBody>
      </p:sp>
      <p:sp>
        <p:nvSpPr>
          <p:cNvPr id="2" name="Title 1"/>
          <p:cNvSpPr>
            <a:spLocks noGrp="1"/>
          </p:cNvSpPr>
          <p:nvPr>
            <p:ph type="title"/>
          </p:nvPr>
        </p:nvSpPr>
        <p:spPr/>
        <p:txBody>
          <a:bodyPr/>
          <a:lstStyle/>
          <a:p>
            <a:r>
              <a:rPr lang="en-US" dirty="0"/>
              <a:t>Application Upgrades</a:t>
            </a:r>
          </a:p>
        </p:txBody>
      </p:sp>
    </p:spTree>
    <p:extLst>
      <p:ext uri="{BB962C8B-B14F-4D97-AF65-F5344CB8AC3E}">
        <p14:creationId xmlns:p14="http://schemas.microsoft.com/office/powerpoint/2010/main" val="68909841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7734943"/>
      </p:ext>
    </p:extLst>
  </p:cSld>
  <p:clrMapOvr>
    <a:masterClrMapping/>
  </p:clrMapOvr>
  <p:transition>
    <p:fade/>
  </p:transition>
</p:sld>
</file>

<file path=ppt/theme/theme1.xml><?xml version="1.0" encoding="utf-8"?>
<a:theme xmlns:a="http://schemas.openxmlformats.org/drawingml/2006/main" name="5-30711_TR22_ILL_Template">
  <a:themeElements>
    <a:clrScheme name="TR20 - BO">
      <a:dk1>
        <a:srgbClr val="505050"/>
      </a:dk1>
      <a:lt1>
        <a:srgbClr val="FFFFFF"/>
      </a:lt1>
      <a:dk2>
        <a:srgbClr val="0078D7"/>
      </a:dk2>
      <a:lt2>
        <a:srgbClr val="D2D2D2"/>
      </a:lt2>
      <a:accent1>
        <a:srgbClr val="D83B01"/>
      </a:accent1>
      <a:accent2>
        <a:srgbClr val="0078D7"/>
      </a:accent2>
      <a:accent3>
        <a:srgbClr val="BAD80A"/>
      </a:accent3>
      <a:accent4>
        <a:srgbClr val="FFB900"/>
      </a:accent4>
      <a:accent5>
        <a:srgbClr val="5C2D91"/>
      </a:accent5>
      <a:accent6>
        <a:srgbClr val="002050"/>
      </a:accent6>
      <a:hlink>
        <a:srgbClr val="002050"/>
      </a:hlink>
      <a:folHlink>
        <a:srgbClr val="00205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3175">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000E5BC6-9FD5-4E18-9160-96A5898B37F7}" vid="{9ED73B22-1410-4A8C-8D26-F3B26235226C}"/>
    </a:ext>
  </a:extLst>
</a:theme>
</file>

<file path=ppt/theme/theme2.xml><?xml version="1.0" encoding="utf-8"?>
<a:theme xmlns:a="http://schemas.openxmlformats.org/drawingml/2006/main" name="Jeffrey Richter">
  <a:themeElements>
    <a:clrScheme name="TR20 - BO">
      <a:dk1>
        <a:srgbClr val="505050"/>
      </a:dk1>
      <a:lt1>
        <a:srgbClr val="FFFFFF"/>
      </a:lt1>
      <a:dk2>
        <a:srgbClr val="0078D7"/>
      </a:dk2>
      <a:lt2>
        <a:srgbClr val="D2D2D2"/>
      </a:lt2>
      <a:accent1>
        <a:srgbClr val="D83B01"/>
      </a:accent1>
      <a:accent2>
        <a:srgbClr val="0078D7"/>
      </a:accent2>
      <a:accent3>
        <a:srgbClr val="BAD80A"/>
      </a:accent3>
      <a:accent4>
        <a:srgbClr val="FFB900"/>
      </a:accent4>
      <a:accent5>
        <a:srgbClr val="5C2D91"/>
      </a:accent5>
      <a:accent6>
        <a:srgbClr val="002050"/>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3175">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Jeffrey Richter PPT Template.potx" id="{0EC3B29B-1691-4021-B91F-DD4F9F467C43}" vid="{219876D6-05DE-4F5A-B736-86EA333E6746}"/>
    </a:ext>
  </a:extLst>
</a:theme>
</file>

<file path=ppt/theme/theme3.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TR22_ILL_Template</Template>
  <TotalTime>0</TotalTime>
  <Words>3150</Words>
  <Application>Microsoft Office PowerPoint</Application>
  <PresentationFormat>自定义</PresentationFormat>
  <Paragraphs>443</Paragraphs>
  <Slides>34</Slides>
  <Notes>8</Notes>
  <HiddenSlides>0</HiddenSlides>
  <MMClips>0</MMClips>
  <ScaleCrop>false</ScaleCrop>
  <HeadingPairs>
    <vt:vector size="6" baseType="variant">
      <vt:variant>
        <vt:lpstr>已用的字体</vt:lpstr>
      </vt:variant>
      <vt:variant>
        <vt:i4>7</vt:i4>
      </vt:variant>
      <vt:variant>
        <vt:lpstr>主题</vt:lpstr>
      </vt:variant>
      <vt:variant>
        <vt:i4>3</vt:i4>
      </vt:variant>
      <vt:variant>
        <vt:lpstr>幻灯片标题</vt:lpstr>
      </vt:variant>
      <vt:variant>
        <vt:i4>34</vt:i4>
      </vt:variant>
    </vt:vector>
  </HeadingPairs>
  <TitlesOfParts>
    <vt:vector size="44" baseType="lpstr">
      <vt:lpstr>Core Sans NR 35 Light</vt:lpstr>
      <vt:lpstr>Arial</vt:lpstr>
      <vt:lpstr>Calibri</vt:lpstr>
      <vt:lpstr>Consolas</vt:lpstr>
      <vt:lpstr>Segoe UI</vt:lpstr>
      <vt:lpstr>Segoe UI Light</vt:lpstr>
      <vt:lpstr>Wingdings</vt:lpstr>
      <vt:lpstr>5-30711_TR22_ILL_Template</vt:lpstr>
      <vt:lpstr>Jeffrey Richter</vt:lpstr>
      <vt:lpstr>WHITE TEMPLATE</vt:lpstr>
      <vt:lpstr>Service Fabric Patterns &amp; Best Practices</vt:lpstr>
      <vt:lpstr>Hyper-scale web</vt:lpstr>
      <vt:lpstr>“It depends…”</vt:lpstr>
      <vt:lpstr>Debugging in Production</vt:lpstr>
      <vt:lpstr>Data Loss</vt:lpstr>
      <vt:lpstr>Availability and Reliability – Active/Passive</vt:lpstr>
      <vt:lpstr>Availability and Reliability – Active/Passive</vt:lpstr>
      <vt:lpstr>Availability and Reliability – Active/Active</vt:lpstr>
      <vt:lpstr>Availability and Reliability – Active/Active</vt:lpstr>
      <vt:lpstr>Availability and Reliability – Real Example </vt:lpstr>
      <vt:lpstr>Cascading Failures</vt:lpstr>
      <vt:lpstr>Humans cause most Problems</vt:lpstr>
      <vt:lpstr>Service Granularity – A Goldilocks story</vt:lpstr>
      <vt:lpstr>NOT Your Typical .NET Collections</vt:lpstr>
      <vt:lpstr>Define Immutable Types to Force Correct Behavior</vt:lpstr>
      <vt:lpstr>Idempotent Operations</vt:lpstr>
      <vt:lpstr>Optimizing Collection Performance</vt:lpstr>
      <vt:lpstr>Partitioning</vt:lpstr>
      <vt:lpstr>Beware of GetHashCode</vt:lpstr>
      <vt:lpstr>Retrying Operations</vt:lpstr>
      <vt:lpstr>Monitoring and Diagnostics</vt:lpstr>
      <vt:lpstr>Service Fabric Generated Logs</vt:lpstr>
      <vt:lpstr>Cluster Management</vt:lpstr>
      <vt:lpstr>Application Instrumentation - EventSource</vt:lpstr>
      <vt:lpstr>Structured Logging</vt:lpstr>
      <vt:lpstr>Move Events off the node</vt:lpstr>
      <vt:lpstr>PowerPoint 演示文稿</vt:lpstr>
      <vt:lpstr>Health in Service Fabric Explorer</vt:lpstr>
      <vt:lpstr>Metrics</vt:lpstr>
      <vt:lpstr>Watchdog Service</vt:lpstr>
      <vt:lpstr>Configuration</vt:lpstr>
      <vt:lpstr>Versioning Code and Data</vt:lpstr>
      <vt:lpstr>Application Upgrades</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2016-11-13T16:27:25Z</dcterms:created>
  <dcterms:modified xsi:type="dcterms:W3CDTF">2018-07-18T13:25:51Z</dcterms:modified>
</cp:coreProperties>
</file>