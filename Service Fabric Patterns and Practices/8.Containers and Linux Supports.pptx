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20"/>
  </p:notesMasterIdLst>
  <p:handoutMasterIdLst>
    <p:handoutMasterId r:id="rId21"/>
  </p:handoutMasterIdLst>
  <p:sldIdLst>
    <p:sldId id="283" r:id="rId2"/>
    <p:sldId id="279" r:id="rId3"/>
    <p:sldId id="346" r:id="rId4"/>
    <p:sldId id="347" r:id="rId5"/>
    <p:sldId id="349" r:id="rId6"/>
    <p:sldId id="350" r:id="rId7"/>
    <p:sldId id="333" r:id="rId8"/>
    <p:sldId id="335" r:id="rId9"/>
    <p:sldId id="334" r:id="rId10"/>
    <p:sldId id="336" r:id="rId11"/>
    <p:sldId id="332" r:id="rId12"/>
    <p:sldId id="340" r:id="rId13"/>
    <p:sldId id="337" r:id="rId14"/>
    <p:sldId id="338" r:id="rId15"/>
    <p:sldId id="339" r:id="rId16"/>
    <p:sldId id="341" r:id="rId17"/>
    <p:sldId id="348" r:id="rId18"/>
    <p:sldId id="257" r:id="rId19"/>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lides" id="{73C69594-0ADE-4BE2-8ADD-1BD08A5CD6F4}">
          <p14:sldIdLst>
            <p14:sldId id="283"/>
          </p14:sldIdLst>
        </p14:section>
        <p14:section name="Jumpstart" id="{44E445C4-3E2C-4D9C-90F6-0610BC1E1F41}">
          <p14:sldIdLst>
            <p14:sldId id="279"/>
            <p14:sldId id="346"/>
            <p14:sldId id="347"/>
            <p14:sldId id="349"/>
            <p14:sldId id="350"/>
            <p14:sldId id="333"/>
            <p14:sldId id="335"/>
            <p14:sldId id="334"/>
            <p14:sldId id="336"/>
            <p14:sldId id="332"/>
            <p14:sldId id="340"/>
            <p14:sldId id="337"/>
            <p14:sldId id="338"/>
            <p14:sldId id="339"/>
            <p14:sldId id="341"/>
            <p14:sldId id="348"/>
            <p14:sldId id="257"/>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303" autoAdjust="0"/>
    <p:restoredTop sz="95742" autoAdjust="0"/>
  </p:normalViewPr>
  <p:slideViewPr>
    <p:cSldViewPr>
      <p:cViewPr varScale="1">
        <p:scale>
          <a:sx n="55" d="100"/>
          <a:sy n="55" d="100"/>
        </p:scale>
        <p:origin x="67" y="149"/>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9:28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75819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68753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s://wiki.jenkins-ci.org/display/JENKINS/Jenkins+Best+Practices"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Subramanian Ramaswamy (Mani)</a:t>
            </a:r>
          </a:p>
          <a:p>
            <a:pPr lvl="0"/>
            <a:endParaRPr lang="en-US" dirty="0"/>
          </a:p>
        </p:txBody>
      </p:sp>
      <p:sp>
        <p:nvSpPr>
          <p:cNvPr id="17" name="Title 1"/>
          <p:cNvSpPr>
            <a:spLocks noGrp="1"/>
          </p:cNvSpPr>
          <p:nvPr>
            <p:ph type="title"/>
          </p:nvPr>
        </p:nvSpPr>
        <p:spPr>
          <a:xfrm>
            <a:off x="274637" y="1677399"/>
            <a:ext cx="9296400" cy="1097280"/>
          </a:xfrm>
          <a:noFill/>
        </p:spPr>
        <p:txBody>
          <a:bodyPr lIns="91440" tIns="91440" rIns="91440" bIns="91440" anchor="t" anchorCtr="0"/>
          <a:lstStyle>
            <a:lvl1pPr>
              <a:defRPr sz="6000" spc="-80" baseline="0">
                <a:solidFill>
                  <a:srgbClr val="0072C6"/>
                </a:solidFill>
              </a:defRPr>
            </a:lvl1pPr>
          </a:lstStyle>
          <a:p>
            <a:r>
              <a:rPr lang="en-US" dirty="0"/>
              <a:t>SF on Linux, Containers</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Fabric on Linux: Principles</a:t>
            </a:r>
          </a:p>
        </p:txBody>
      </p:sp>
      <p:sp>
        <p:nvSpPr>
          <p:cNvPr id="3" name="Text Placeholder 2"/>
          <p:cNvSpPr>
            <a:spLocks noGrp="1"/>
          </p:cNvSpPr>
          <p:nvPr>
            <p:ph type="body" sz="quarter" idx="10"/>
          </p:nvPr>
        </p:nvSpPr>
        <p:spPr>
          <a:xfrm>
            <a:off x="365760" y="1371600"/>
            <a:ext cx="11704320" cy="4687437"/>
          </a:xfrm>
        </p:spPr>
        <p:txBody>
          <a:bodyPr/>
          <a:lstStyle/>
          <a:p>
            <a:endParaRPr lang="en-US" dirty="0"/>
          </a:p>
          <a:p>
            <a:r>
              <a:rPr lang="en-US" dirty="0"/>
              <a:t>Don’t change what’s unnecessary</a:t>
            </a:r>
          </a:p>
          <a:p>
            <a:pPr lvl="1"/>
            <a:r>
              <a:rPr lang="en-US" dirty="0"/>
              <a:t>Runtime behavior &amp; concepts remain the same, same portal experience, SFX</a:t>
            </a:r>
          </a:p>
          <a:p>
            <a:pPr lvl="1"/>
            <a:endParaRPr lang="en-US" dirty="0"/>
          </a:p>
          <a:p>
            <a:pPr lvl="1"/>
            <a:endParaRPr lang="en-US" dirty="0"/>
          </a:p>
          <a:p>
            <a:r>
              <a:rPr lang="en-US" dirty="0"/>
              <a:t>Change what’s necessary</a:t>
            </a:r>
          </a:p>
          <a:p>
            <a:pPr lvl="1"/>
            <a:r>
              <a:rPr lang="en-US" dirty="0"/>
              <a:t>Provide a dev experience tuned for Linux</a:t>
            </a:r>
          </a:p>
          <a:p>
            <a:pPr lvl="1"/>
            <a:r>
              <a:rPr lang="en-US" dirty="0"/>
              <a:t>Azure CLI, Eclipse, Yeoman, Jenkins, apt-get install, </a:t>
            </a:r>
            <a:r>
              <a:rPr lang="en-US" dirty="0" err="1"/>
              <a:t>LTTng</a:t>
            </a:r>
            <a:r>
              <a:rPr lang="en-US" dirty="0"/>
              <a:t> for tracing…</a:t>
            </a:r>
          </a:p>
          <a:p>
            <a:pPr lvl="1"/>
            <a:r>
              <a:rPr lang="en-US" dirty="0"/>
              <a:t>One-box on Mac and on Linux </a:t>
            </a:r>
          </a:p>
          <a:p>
            <a:pPr lvl="1"/>
            <a:r>
              <a:rPr lang="en-US" dirty="0"/>
              <a:t>Java, C# integrated as first class languages</a:t>
            </a:r>
          </a:p>
          <a:p>
            <a:pPr lvl="1"/>
            <a:r>
              <a:rPr lang="en-US" dirty="0"/>
              <a:t>Support orchestrating containers</a:t>
            </a:r>
          </a:p>
          <a:p>
            <a:pPr lvl="1"/>
            <a:endParaRPr lang="en-US" dirty="0"/>
          </a:p>
        </p:txBody>
      </p:sp>
    </p:spTree>
    <p:extLst>
      <p:ext uri="{BB962C8B-B14F-4D97-AF65-F5344CB8AC3E}">
        <p14:creationId xmlns:p14="http://schemas.microsoft.com/office/powerpoint/2010/main" val="30009753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Tracing application events</a:t>
            </a:r>
          </a:p>
        </p:txBody>
      </p:sp>
      <p:sp>
        <p:nvSpPr>
          <p:cNvPr id="3" name="Text Placeholder 2"/>
          <p:cNvSpPr>
            <a:spLocks noGrp="1"/>
          </p:cNvSpPr>
          <p:nvPr>
            <p:ph type="body" sz="quarter" idx="10"/>
          </p:nvPr>
        </p:nvSpPr>
        <p:spPr>
          <a:xfrm>
            <a:off x="365760" y="1371600"/>
            <a:ext cx="11704320" cy="4068806"/>
          </a:xfrm>
        </p:spPr>
        <p:txBody>
          <a:bodyPr/>
          <a:lstStyle/>
          <a:p>
            <a:endParaRPr lang="en-US" dirty="0"/>
          </a:p>
          <a:p>
            <a:r>
              <a:rPr lang="en-US" dirty="0"/>
              <a:t>Use EventSource for .NET Core apps</a:t>
            </a:r>
          </a:p>
          <a:p>
            <a:pPr lvl="1"/>
            <a:r>
              <a:rPr lang="en-US" dirty="0"/>
              <a:t>Plugged into LTTNg for Linux (similar to ETW for Windows)</a:t>
            </a:r>
          </a:p>
          <a:p>
            <a:pPr lvl="1"/>
            <a:endParaRPr lang="en-US" dirty="0"/>
          </a:p>
          <a:p>
            <a:endParaRPr lang="en-US" dirty="0"/>
          </a:p>
          <a:p>
            <a:r>
              <a:rPr lang="en-US" dirty="0"/>
              <a:t>Use Java logging libraries for Java apps</a:t>
            </a:r>
          </a:p>
          <a:p>
            <a:endParaRPr lang="en-US" dirty="0"/>
          </a:p>
          <a:p>
            <a:endParaRPr lang="en-US" dirty="0"/>
          </a:p>
          <a:p>
            <a:r>
              <a:rPr lang="en-US" dirty="0"/>
              <a:t>Plug into Azure LAD for tracing code running on Azure clusters</a:t>
            </a:r>
          </a:p>
        </p:txBody>
      </p:sp>
    </p:spTree>
    <p:extLst>
      <p:ext uri="{BB962C8B-B14F-4D97-AF65-F5344CB8AC3E}">
        <p14:creationId xmlns:p14="http://schemas.microsoft.com/office/powerpoint/2010/main" val="113815628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CI/CD on Linux</a:t>
            </a:r>
          </a:p>
        </p:txBody>
      </p:sp>
      <p:sp>
        <p:nvSpPr>
          <p:cNvPr id="3" name="Text Placeholder 2"/>
          <p:cNvSpPr>
            <a:spLocks noGrp="1"/>
          </p:cNvSpPr>
          <p:nvPr>
            <p:ph type="body" sz="quarter" idx="10"/>
          </p:nvPr>
        </p:nvSpPr>
        <p:spPr>
          <a:xfrm>
            <a:off x="365760" y="1371600"/>
            <a:ext cx="11704320" cy="2674578"/>
          </a:xfrm>
        </p:spPr>
        <p:txBody>
          <a:bodyPr/>
          <a:lstStyle/>
          <a:p>
            <a:endParaRPr lang="en-US" dirty="0"/>
          </a:p>
          <a:p>
            <a:r>
              <a:rPr lang="en-US" dirty="0"/>
              <a:t>Use Service Fabric Jenkins Plugin for CI/CD on Linux</a:t>
            </a:r>
          </a:p>
          <a:p>
            <a:endParaRPr lang="en-US" dirty="0"/>
          </a:p>
          <a:p>
            <a:r>
              <a:rPr lang="en-US" dirty="0"/>
              <a:t>Jenkins provides a set of “Best Practices”</a:t>
            </a:r>
          </a:p>
          <a:p>
            <a:pPr lvl="1"/>
            <a:r>
              <a:rPr lang="en-US" dirty="0">
                <a:hlinkClick r:id="rId2"/>
              </a:rPr>
              <a:t>https://wiki.jenkins-ci.org/display/JENKINS/Jenkins+Best+Practices</a:t>
            </a:r>
            <a:endParaRPr lang="en-US" dirty="0"/>
          </a:p>
          <a:p>
            <a:pPr lvl="1"/>
            <a:endParaRPr lang="en-US" dirty="0"/>
          </a:p>
        </p:txBody>
      </p:sp>
    </p:spTree>
    <p:extLst>
      <p:ext uri="{BB962C8B-B14F-4D97-AF65-F5344CB8AC3E}">
        <p14:creationId xmlns:p14="http://schemas.microsoft.com/office/powerpoint/2010/main" val="405445758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Demos</a:t>
            </a:r>
          </a:p>
        </p:txBody>
      </p:sp>
      <p:sp>
        <p:nvSpPr>
          <p:cNvPr id="3" name="Text Placeholder 2"/>
          <p:cNvSpPr>
            <a:spLocks noGrp="1"/>
          </p:cNvSpPr>
          <p:nvPr>
            <p:ph type="body" sz="quarter" idx="10"/>
          </p:nvPr>
        </p:nvSpPr>
        <p:spPr>
          <a:xfrm>
            <a:off x="365760" y="1371600"/>
            <a:ext cx="11704320" cy="3825663"/>
          </a:xfrm>
        </p:spPr>
        <p:txBody>
          <a:bodyPr/>
          <a:lstStyle/>
          <a:p>
            <a:endParaRPr lang="en-US" dirty="0"/>
          </a:p>
          <a:p>
            <a:r>
              <a:rPr lang="en-US" dirty="0"/>
              <a:t>Tracing a </a:t>
            </a:r>
            <a:r>
              <a:rPr lang="en-US" dirty="0" err="1"/>
              <a:t>c#</a:t>
            </a:r>
            <a:r>
              <a:rPr lang="en-US" dirty="0"/>
              <a:t> app locally with EventSource</a:t>
            </a:r>
          </a:p>
          <a:p>
            <a:endParaRPr lang="en-US" dirty="0"/>
          </a:p>
          <a:p>
            <a:r>
              <a:rPr lang="en-US" dirty="0"/>
              <a:t>Tracing a Java app locally with Java.Logging.Util </a:t>
            </a:r>
          </a:p>
          <a:p>
            <a:endParaRPr lang="en-US" dirty="0"/>
          </a:p>
          <a:p>
            <a:r>
              <a:rPr lang="en-US" dirty="0"/>
              <a:t>Sending traces from the C# and Java app to a storage account with LAD</a:t>
            </a:r>
          </a:p>
          <a:p>
            <a:endParaRPr lang="en-US" dirty="0"/>
          </a:p>
          <a:p>
            <a:r>
              <a:rPr lang="en-US" dirty="0"/>
              <a:t>An E2E Jenkins Demo showing an update in Eclipse (to a </a:t>
            </a:r>
            <a:r>
              <a:rPr lang="en-US" dirty="0" err="1"/>
              <a:t>git</a:t>
            </a:r>
            <a:r>
              <a:rPr lang="en-US" dirty="0"/>
              <a:t> repo)</a:t>
            </a:r>
          </a:p>
        </p:txBody>
      </p:sp>
    </p:spTree>
    <p:extLst>
      <p:ext uri="{BB962C8B-B14F-4D97-AF65-F5344CB8AC3E}">
        <p14:creationId xmlns:p14="http://schemas.microsoft.com/office/powerpoint/2010/main" val="30611345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155" y="2887662"/>
            <a:ext cx="11704320" cy="822960"/>
          </a:xfrm>
        </p:spPr>
        <p:txBody>
          <a:bodyPr/>
          <a:lstStyle/>
          <a:p>
            <a:r>
              <a:rPr lang="en-US" dirty="0"/>
              <a:t>Containers – What, Why, and How?</a:t>
            </a:r>
          </a:p>
        </p:txBody>
      </p:sp>
    </p:spTree>
    <p:extLst>
      <p:ext uri="{BB962C8B-B14F-4D97-AF65-F5344CB8AC3E}">
        <p14:creationId xmlns:p14="http://schemas.microsoft.com/office/powerpoint/2010/main" val="373912657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 versus VMs</a:t>
            </a:r>
          </a:p>
        </p:txBody>
      </p:sp>
      <p:sp>
        <p:nvSpPr>
          <p:cNvPr id="3" name="Text Placeholder 2"/>
          <p:cNvSpPr>
            <a:spLocks noGrp="1"/>
          </p:cNvSpPr>
          <p:nvPr>
            <p:ph type="body" sz="quarter" idx="10"/>
          </p:nvPr>
        </p:nvSpPr>
        <p:spPr>
          <a:xfrm>
            <a:off x="365760" y="1371600"/>
            <a:ext cx="11704320" cy="3028521"/>
          </a:xfrm>
        </p:spPr>
        <p:txBody>
          <a:bodyPr/>
          <a:lstStyle/>
          <a:p>
            <a:endParaRPr lang="en-US" dirty="0"/>
          </a:p>
          <a:p>
            <a:r>
              <a:rPr lang="en-US" dirty="0"/>
              <a:t>VMs virtualize hardware  (using a hypervisor)</a:t>
            </a:r>
          </a:p>
          <a:p>
            <a:pPr lvl="1"/>
            <a:r>
              <a:rPr lang="en-US" dirty="0"/>
              <a:t>More isolation &amp; security</a:t>
            </a:r>
          </a:p>
          <a:p>
            <a:endParaRPr lang="en-US" dirty="0"/>
          </a:p>
          <a:p>
            <a:r>
              <a:rPr lang="en-US" dirty="0"/>
              <a:t>Containers virtualizes the OS</a:t>
            </a:r>
          </a:p>
          <a:p>
            <a:pPr lvl="1"/>
            <a:r>
              <a:rPr lang="en-US" dirty="0"/>
              <a:t>Share the OS Kernel</a:t>
            </a:r>
          </a:p>
          <a:p>
            <a:pPr lvl="1"/>
            <a:r>
              <a:rPr lang="en-US" dirty="0"/>
              <a:t>Faster to boot, light-weight resource requirements</a:t>
            </a:r>
          </a:p>
        </p:txBody>
      </p:sp>
    </p:spTree>
    <p:extLst>
      <p:ext uri="{BB962C8B-B14F-4D97-AF65-F5344CB8AC3E}">
        <p14:creationId xmlns:p14="http://schemas.microsoft.com/office/powerpoint/2010/main" val="90929911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and Isolation Levels </a:t>
            </a:r>
          </a:p>
        </p:txBody>
      </p:sp>
      <p:pic>
        <p:nvPicPr>
          <p:cNvPr id="1028" name="Picture 4" descr="Service Fabric platfor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030" y="1284948"/>
            <a:ext cx="8365807" cy="551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685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Containers?</a:t>
            </a:r>
          </a:p>
        </p:txBody>
      </p:sp>
      <p:sp>
        <p:nvSpPr>
          <p:cNvPr id="3" name="Text Placeholder 2"/>
          <p:cNvSpPr>
            <a:spLocks noGrp="1"/>
          </p:cNvSpPr>
          <p:nvPr>
            <p:ph type="body" sz="quarter" idx="10"/>
          </p:nvPr>
        </p:nvSpPr>
        <p:spPr>
          <a:xfrm>
            <a:off x="365760" y="1371600"/>
            <a:ext cx="11704320" cy="5219891"/>
          </a:xfrm>
        </p:spPr>
        <p:txBody>
          <a:bodyPr/>
          <a:lstStyle/>
          <a:p>
            <a:endParaRPr lang="en-US" dirty="0"/>
          </a:p>
          <a:p>
            <a:r>
              <a:rPr lang="en-US" dirty="0"/>
              <a:t>Mitigate “noisy neighbors”</a:t>
            </a:r>
          </a:p>
          <a:p>
            <a:endParaRPr lang="en-US" dirty="0"/>
          </a:p>
          <a:p>
            <a:r>
              <a:rPr lang="en-US" dirty="0"/>
              <a:t>Lift and shift of existing container images</a:t>
            </a:r>
          </a:p>
          <a:p>
            <a:endParaRPr lang="en-US" dirty="0"/>
          </a:p>
          <a:p>
            <a:r>
              <a:rPr lang="en-US" dirty="0"/>
              <a:t>IIS lift and shift (Windows) </a:t>
            </a:r>
          </a:p>
          <a:p>
            <a:endParaRPr lang="en-US" dirty="0"/>
          </a:p>
          <a:p>
            <a:r>
              <a:rPr lang="en-US" dirty="0"/>
              <a:t>Portability &amp; agility</a:t>
            </a:r>
          </a:p>
          <a:p>
            <a:endParaRPr lang="en-US" dirty="0"/>
          </a:p>
          <a:p>
            <a:endParaRPr lang="en-US" dirty="0"/>
          </a:p>
          <a:p>
            <a:endParaRPr lang="en-US" dirty="0"/>
          </a:p>
        </p:txBody>
      </p:sp>
    </p:spTree>
    <p:extLst>
      <p:ext uri="{BB962C8B-B14F-4D97-AF65-F5344CB8AC3E}">
        <p14:creationId xmlns:p14="http://schemas.microsoft.com/office/powerpoint/2010/main" val="13752380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a:t>
            </a:r>
          </a:p>
        </p:txBody>
      </p:sp>
      <p:sp>
        <p:nvSpPr>
          <p:cNvPr id="4" name="Text Placeholder 3"/>
          <p:cNvSpPr>
            <a:spLocks noGrp="1"/>
          </p:cNvSpPr>
          <p:nvPr>
            <p:ph type="body" sz="quarter" idx="10"/>
          </p:nvPr>
        </p:nvSpPr>
        <p:spPr>
          <a:xfrm>
            <a:off x="365760" y="1371600"/>
            <a:ext cx="11704320" cy="5352234"/>
          </a:xfrm>
        </p:spPr>
        <p:txBody>
          <a:bodyPr/>
          <a:lstStyle/>
          <a:p>
            <a:endParaRPr lang="en-US" dirty="0"/>
          </a:p>
          <a:p>
            <a:r>
              <a:rPr lang="en-US" dirty="0"/>
              <a:t>Use resource constraints </a:t>
            </a:r>
          </a:p>
          <a:p>
            <a:pPr lvl="1"/>
            <a:r>
              <a:rPr lang="en-US" dirty="0"/>
              <a:t>Limits noisy neighbors, especially when mixing and matching containers</a:t>
            </a:r>
          </a:p>
          <a:p>
            <a:endParaRPr lang="en-US" dirty="0"/>
          </a:p>
          <a:p>
            <a:r>
              <a:rPr lang="en-US" dirty="0"/>
              <a:t>Use placement constraints</a:t>
            </a:r>
          </a:p>
          <a:p>
            <a:pPr lvl="1"/>
            <a:r>
              <a:rPr lang="en-US" dirty="0"/>
              <a:t>Two containers with heavy interaction are better placed on the same node</a:t>
            </a:r>
          </a:p>
          <a:p>
            <a:endParaRPr lang="en-US" dirty="0"/>
          </a:p>
          <a:p>
            <a:r>
              <a:rPr lang="en-US" dirty="0"/>
              <a:t>Health &amp; Load reporting watchdog </a:t>
            </a:r>
          </a:p>
          <a:p>
            <a:pPr lvl="1"/>
            <a:r>
              <a:rPr lang="en-US" dirty="0"/>
              <a:t>Applicable to single-tenant and non-hostile multi-tenant scenarios</a:t>
            </a:r>
          </a:p>
          <a:p>
            <a:endParaRPr lang="en-US" dirty="0"/>
          </a:p>
          <a:p>
            <a:endParaRPr lang="en-US" dirty="0"/>
          </a:p>
          <a:p>
            <a:endParaRPr lang="en-US" dirty="0"/>
          </a:p>
        </p:txBody>
      </p:sp>
    </p:spTree>
    <p:extLst>
      <p:ext uri="{BB962C8B-B14F-4D97-AF65-F5344CB8AC3E}">
        <p14:creationId xmlns:p14="http://schemas.microsoft.com/office/powerpoint/2010/main" val="24927504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Deployment </a:t>
            </a:r>
          </a:p>
        </p:txBody>
      </p:sp>
      <p:sp>
        <p:nvSpPr>
          <p:cNvPr id="3" name="Text Placeholder 2"/>
          <p:cNvSpPr>
            <a:spLocks noGrp="1"/>
          </p:cNvSpPr>
          <p:nvPr>
            <p:ph type="body" sz="quarter" idx="10"/>
          </p:nvPr>
        </p:nvSpPr>
        <p:spPr>
          <a:xfrm>
            <a:off x="365760" y="1371600"/>
            <a:ext cx="11704320" cy="4256550"/>
          </a:xfrm>
        </p:spPr>
        <p:txBody>
          <a:bodyPr/>
          <a:lstStyle/>
          <a:p>
            <a:endParaRPr lang="en-US" dirty="0"/>
          </a:p>
          <a:p>
            <a:r>
              <a:rPr lang="en-US" dirty="0"/>
              <a:t>Deployment just like any other Service Fabric app</a:t>
            </a:r>
          </a:p>
          <a:p>
            <a:pPr marL="457200" indent="-457200">
              <a:buFont typeface="Arial" panose="020B0604020202020204" pitchFamily="34" charset="0"/>
              <a:buChar char="•"/>
            </a:pPr>
            <a:endParaRPr lang="en-US" dirty="0"/>
          </a:p>
          <a:p>
            <a:r>
              <a:rPr lang="en-US" dirty="0"/>
              <a:t>Use environment variables to communicate between containers</a:t>
            </a:r>
          </a:p>
          <a:p>
            <a:pPr marL="457200" indent="-457200">
              <a:buFont typeface="Arial" panose="020B0604020202020204" pitchFamily="34" charset="0"/>
              <a:buChar char="•"/>
            </a:pPr>
            <a:endParaRPr lang="en-US" dirty="0"/>
          </a:p>
          <a:p>
            <a:r>
              <a:rPr lang="en-US" dirty="0"/>
              <a:t>Use resource constraints </a:t>
            </a:r>
          </a:p>
          <a:p>
            <a:pPr lvl="1"/>
            <a:r>
              <a:rPr lang="en-US" dirty="0"/>
              <a:t>Limits noisy neighbors, especially when mixing and matching containers</a:t>
            </a:r>
          </a:p>
          <a:p>
            <a:endParaRPr lang="en-US" dirty="0"/>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183353623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Performance &amp; Monitoring</a:t>
            </a:r>
          </a:p>
        </p:txBody>
      </p:sp>
      <p:sp>
        <p:nvSpPr>
          <p:cNvPr id="3" name="Text Placeholder 2"/>
          <p:cNvSpPr>
            <a:spLocks noGrp="1"/>
          </p:cNvSpPr>
          <p:nvPr>
            <p:ph type="body" sz="quarter" idx="10"/>
          </p:nvPr>
        </p:nvSpPr>
        <p:spPr>
          <a:xfrm>
            <a:off x="365760" y="1371600"/>
            <a:ext cx="11704320" cy="4462760"/>
          </a:xfrm>
        </p:spPr>
        <p:txBody>
          <a:bodyPr/>
          <a:lstStyle/>
          <a:p>
            <a:pPr>
              <a:spcAft>
                <a:spcPts val="600"/>
              </a:spcAft>
            </a:pPr>
            <a:endParaRPr lang="en-US" dirty="0"/>
          </a:p>
          <a:p>
            <a:pPr>
              <a:spcAft>
                <a:spcPts val="600"/>
              </a:spcAft>
            </a:pPr>
            <a:r>
              <a:rPr lang="en-US" dirty="0"/>
              <a:t>Use placement constraints</a:t>
            </a:r>
          </a:p>
          <a:p>
            <a:pPr lvl="1">
              <a:spcAft>
                <a:spcPts val="600"/>
              </a:spcAft>
            </a:pPr>
            <a:r>
              <a:rPr lang="en-US" dirty="0">
                <a:gradFill>
                  <a:gsLst>
                    <a:gs pos="2917">
                      <a:schemeClr val="tx1"/>
                    </a:gs>
                    <a:gs pos="30000">
                      <a:schemeClr val="tx1"/>
                    </a:gs>
                  </a:gsLst>
                  <a:lin ang="5400000" scaled="0"/>
                </a:gradFill>
              </a:rPr>
              <a:t>Two containers with heavy interaction are better placed on the same node</a:t>
            </a:r>
          </a:p>
          <a:p>
            <a:pPr marL="800100" lvl="1" indent="-342900">
              <a:spcAft>
                <a:spcPts val="600"/>
              </a:spcAft>
            </a:pPr>
            <a:endParaRPr lang="en-US" dirty="0">
              <a:gradFill>
                <a:gsLst>
                  <a:gs pos="2917">
                    <a:schemeClr val="tx1"/>
                  </a:gs>
                  <a:gs pos="30000">
                    <a:schemeClr val="tx1"/>
                  </a:gs>
                </a:gsLst>
                <a:lin ang="5400000" scaled="0"/>
              </a:gradFill>
            </a:endParaRPr>
          </a:p>
          <a:p>
            <a:pPr>
              <a:spcAft>
                <a:spcPts val="600"/>
              </a:spcAft>
            </a:pPr>
            <a:r>
              <a:rPr lang="en-US" dirty="0"/>
              <a:t>Health &amp; load reporting watchdog </a:t>
            </a:r>
          </a:p>
          <a:p>
            <a:pPr lvl="1">
              <a:spcAft>
                <a:spcPts val="600"/>
              </a:spcAft>
            </a:pPr>
            <a:r>
              <a:rPr lang="en-US" dirty="0">
                <a:gradFill>
                  <a:gsLst>
                    <a:gs pos="2917">
                      <a:schemeClr val="tx1"/>
                    </a:gs>
                    <a:gs pos="30000">
                      <a:schemeClr val="tx1"/>
                    </a:gs>
                  </a:gsLst>
                  <a:lin ang="5400000" scaled="0"/>
                </a:gradFill>
              </a:rPr>
              <a:t>Applicable to single-tenant and non-hostile multi-tenant scenarios</a:t>
            </a:r>
          </a:p>
          <a:p>
            <a:pPr marL="800100" lvl="1" indent="-342900">
              <a:spcAft>
                <a:spcPts val="600"/>
              </a:spcAft>
            </a:pPr>
            <a:endParaRPr lang="en-US" dirty="0">
              <a:gradFill>
                <a:gsLst>
                  <a:gs pos="2917">
                    <a:schemeClr val="tx1"/>
                  </a:gs>
                  <a:gs pos="30000">
                    <a:schemeClr val="tx1"/>
                  </a:gs>
                </a:gsLst>
                <a:lin ang="5400000" scaled="0"/>
              </a:gradFill>
            </a:endParaRPr>
          </a:p>
          <a:p>
            <a:pPr marL="800100" lvl="1" indent="-342900">
              <a:spcAft>
                <a:spcPts val="600"/>
              </a:spcAft>
            </a:pPr>
            <a:endParaRPr lang="en-US" dirty="0">
              <a:gradFill>
                <a:gsLst>
                  <a:gs pos="2917">
                    <a:schemeClr val="tx1"/>
                  </a:gs>
                  <a:gs pos="30000">
                    <a:schemeClr val="tx1"/>
                  </a:gs>
                </a:gsLst>
                <a:lin ang="5400000" scaled="0"/>
              </a:gradFill>
            </a:endParaRPr>
          </a:p>
          <a:p>
            <a:endParaRPr lang="en-US" dirty="0"/>
          </a:p>
        </p:txBody>
      </p:sp>
    </p:spTree>
    <p:extLst>
      <p:ext uri="{BB962C8B-B14F-4D97-AF65-F5344CB8AC3E}">
        <p14:creationId xmlns:p14="http://schemas.microsoft.com/office/powerpoint/2010/main" val="36089989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Security &amp; Secrets</a:t>
            </a:r>
          </a:p>
        </p:txBody>
      </p:sp>
      <p:sp>
        <p:nvSpPr>
          <p:cNvPr id="3" name="Text Placeholder 2"/>
          <p:cNvSpPr>
            <a:spLocks noGrp="1"/>
          </p:cNvSpPr>
          <p:nvPr>
            <p:ph type="body" sz="quarter" idx="10"/>
          </p:nvPr>
        </p:nvSpPr>
        <p:spPr>
          <a:xfrm>
            <a:off x="365760" y="1371600"/>
            <a:ext cx="11704320" cy="4795159"/>
          </a:xfrm>
        </p:spPr>
        <p:txBody>
          <a:bodyPr/>
          <a:lstStyle/>
          <a:p>
            <a:pPr marL="342900" indent="-342900">
              <a:spcAft>
                <a:spcPts val="600"/>
              </a:spcAft>
              <a:buFont typeface="Arial" panose="020B0604020202020204" pitchFamily="34" charset="0"/>
              <a:buChar char="•"/>
            </a:pPr>
            <a:endParaRPr lang="en-US" dirty="0"/>
          </a:p>
          <a:p>
            <a:pPr>
              <a:spcAft>
                <a:spcPts val="600"/>
              </a:spcAft>
            </a:pPr>
            <a:r>
              <a:rPr lang="en-US" dirty="0"/>
              <a:t>Front-ends &amp; back-ends on separate nodes </a:t>
            </a:r>
          </a:p>
          <a:p>
            <a:pPr lvl="1">
              <a:spcAft>
                <a:spcPts val="600"/>
              </a:spcAft>
            </a:pPr>
            <a:r>
              <a:rPr lang="en-US" dirty="0"/>
              <a:t>Always good to do for more security</a:t>
            </a:r>
          </a:p>
          <a:p>
            <a:pPr marL="342900" indent="-342900">
              <a:spcAft>
                <a:spcPts val="600"/>
              </a:spcAft>
              <a:buFont typeface="Arial" panose="020B0604020202020204" pitchFamily="34" charset="0"/>
              <a:buChar char="•"/>
            </a:pPr>
            <a:endParaRPr lang="en-US" dirty="0"/>
          </a:p>
          <a:p>
            <a:pPr>
              <a:spcAft>
                <a:spcPts val="600"/>
              </a:spcAft>
            </a:pPr>
            <a:r>
              <a:rPr lang="en-US" dirty="0"/>
              <a:t>Use a private repository for IP sensitive images</a:t>
            </a:r>
          </a:p>
          <a:p>
            <a:pPr marL="342900" indent="-342900">
              <a:spcAft>
                <a:spcPts val="600"/>
              </a:spcAft>
              <a:buFont typeface="Arial" panose="020B0604020202020204" pitchFamily="34" charset="0"/>
              <a:buChar char="•"/>
            </a:pPr>
            <a:endParaRPr lang="en-US" dirty="0"/>
          </a:p>
          <a:p>
            <a:pPr>
              <a:spcAft>
                <a:spcPts val="600"/>
              </a:spcAft>
            </a:pPr>
            <a:r>
              <a:rPr lang="en-US" dirty="0"/>
              <a:t>Encrypt credentials for accessing private registry </a:t>
            </a:r>
          </a:p>
          <a:p>
            <a:pPr lvl="1">
              <a:spcAft>
                <a:spcPts val="600"/>
              </a:spcAft>
            </a:pPr>
            <a:r>
              <a:rPr lang="en-US" dirty="0"/>
              <a:t>Manage secrets by using Invoke-</a:t>
            </a:r>
            <a:r>
              <a:rPr lang="en-US" dirty="0" err="1"/>
              <a:t>EncryptText</a:t>
            </a:r>
            <a:endParaRPr lang="en-US" dirty="0"/>
          </a:p>
          <a:p>
            <a:endParaRPr lang="en-US" dirty="0"/>
          </a:p>
        </p:txBody>
      </p:sp>
    </p:spTree>
    <p:extLst>
      <p:ext uri="{BB962C8B-B14F-4D97-AF65-F5344CB8AC3E}">
        <p14:creationId xmlns:p14="http://schemas.microsoft.com/office/powerpoint/2010/main" val="353141026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Demos</a:t>
            </a:r>
          </a:p>
        </p:txBody>
      </p:sp>
      <p:sp>
        <p:nvSpPr>
          <p:cNvPr id="3" name="Text Placeholder 2"/>
          <p:cNvSpPr>
            <a:spLocks noGrp="1"/>
          </p:cNvSpPr>
          <p:nvPr>
            <p:ph type="body" sz="quarter" idx="10"/>
          </p:nvPr>
        </p:nvSpPr>
        <p:spPr>
          <a:xfrm>
            <a:off x="365760" y="1371600"/>
            <a:ext cx="11704320" cy="4755148"/>
          </a:xfrm>
        </p:spPr>
        <p:txBody>
          <a:bodyPr/>
          <a:lstStyle/>
          <a:p>
            <a:endParaRPr lang="en-US" dirty="0"/>
          </a:p>
          <a:p>
            <a:r>
              <a:rPr lang="en-US" dirty="0"/>
              <a:t>Cluster running Windows containers</a:t>
            </a:r>
          </a:p>
          <a:p>
            <a:pPr marL="457200" indent="-457200">
              <a:buFont typeface="Arial" panose="020B0604020202020204" pitchFamily="34" charset="0"/>
              <a:buChar char="•"/>
            </a:pPr>
            <a:endParaRPr lang="en-US" dirty="0"/>
          </a:p>
          <a:p>
            <a:r>
              <a:rPr lang="en-US" dirty="0"/>
              <a:t>Code behind resolving containers</a:t>
            </a:r>
          </a:p>
          <a:p>
            <a:endParaRPr lang="en-US" dirty="0"/>
          </a:p>
          <a:p>
            <a:r>
              <a:rPr lang="en-US" dirty="0"/>
              <a:t>Show placement constraints @ work</a:t>
            </a:r>
          </a:p>
          <a:p>
            <a:endParaRPr lang="en-US" dirty="0"/>
          </a:p>
          <a:p>
            <a:r>
              <a:rPr lang="en-US" dirty="0"/>
              <a:t>Show resource governance @ work</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52813137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Crystal ball says…</a:t>
            </a:r>
          </a:p>
        </p:txBody>
      </p:sp>
      <p:sp>
        <p:nvSpPr>
          <p:cNvPr id="3" name="Text Placeholder 2"/>
          <p:cNvSpPr>
            <a:spLocks noGrp="1"/>
          </p:cNvSpPr>
          <p:nvPr>
            <p:ph type="body" sz="quarter" idx="10"/>
          </p:nvPr>
        </p:nvSpPr>
        <p:spPr>
          <a:xfrm>
            <a:off x="365760" y="1371601"/>
            <a:ext cx="11704320" cy="5402262"/>
          </a:xfrm>
        </p:spPr>
        <p:txBody>
          <a:bodyPr/>
          <a:lstStyle/>
          <a:p>
            <a:endParaRPr lang="en-US" dirty="0"/>
          </a:p>
          <a:p>
            <a:r>
              <a:rPr lang="en-US" dirty="0"/>
              <a:t>Preview of Windows containers support coming soon</a:t>
            </a:r>
          </a:p>
          <a:p>
            <a:endParaRPr lang="en-US" dirty="0"/>
          </a:p>
          <a:p>
            <a:r>
              <a:rPr lang="en-US" dirty="0"/>
              <a:t>Better diagnostics</a:t>
            </a:r>
          </a:p>
          <a:p>
            <a:endParaRPr lang="en-US" dirty="0"/>
          </a:p>
          <a:p>
            <a:r>
              <a:rPr lang="en-US" dirty="0"/>
              <a:t>Jenkins plugin and docs</a:t>
            </a:r>
          </a:p>
          <a:p>
            <a:pPr marL="457200" indent="-457200">
              <a:buFont typeface="Arial" panose="020B0604020202020204" pitchFamily="34" charset="0"/>
              <a:buChar char="•"/>
            </a:pPr>
            <a:endParaRPr lang="en-US" dirty="0"/>
          </a:p>
          <a:p>
            <a:r>
              <a:rPr lang="en-US" dirty="0"/>
              <a:t>Reliable collections on Java/C# for Linux</a:t>
            </a:r>
          </a:p>
          <a:p>
            <a:pPr marL="457200" indent="-457200">
              <a:buFont typeface="Arial" panose="020B0604020202020204" pitchFamily="34" charset="0"/>
              <a:buChar char="•"/>
            </a:pPr>
            <a:endParaRPr lang="en-US" dirty="0"/>
          </a:p>
          <a:p>
            <a:r>
              <a:rPr lang="en-US" dirty="0"/>
              <a:t>Resource governance &amp; constraints on service fabric apps/services</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2072532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Text Placeholder 2"/>
          <p:cNvSpPr>
            <a:spLocks noGrp="1"/>
          </p:cNvSpPr>
          <p:nvPr>
            <p:ph type="body" sz="quarter" idx="10"/>
          </p:nvPr>
        </p:nvSpPr>
        <p:spPr>
          <a:xfrm>
            <a:off x="365760" y="1371600"/>
            <a:ext cx="11704320" cy="2896177"/>
          </a:xfrm>
        </p:spPr>
        <p:txBody>
          <a:bodyPr/>
          <a:lstStyle/>
          <a:p>
            <a:endParaRPr lang="en-US" dirty="0"/>
          </a:p>
          <a:p>
            <a:r>
              <a:rPr lang="en-US" dirty="0"/>
              <a:t>Tracing C# apps</a:t>
            </a:r>
          </a:p>
          <a:p>
            <a:endParaRPr lang="en-US" dirty="0"/>
          </a:p>
          <a:p>
            <a:r>
              <a:rPr lang="en-US" dirty="0"/>
              <a:t>Tracing Java apps</a:t>
            </a:r>
          </a:p>
          <a:p>
            <a:endParaRPr lang="en-US" dirty="0"/>
          </a:p>
          <a:p>
            <a:r>
              <a:rPr lang="en-US" dirty="0"/>
              <a:t>More on containers</a:t>
            </a:r>
          </a:p>
        </p:txBody>
      </p:sp>
    </p:spTree>
    <p:extLst>
      <p:ext uri="{BB962C8B-B14F-4D97-AF65-F5344CB8AC3E}">
        <p14:creationId xmlns:p14="http://schemas.microsoft.com/office/powerpoint/2010/main" val="128484294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90358"/>
      </p:ext>
    </p:extLst>
  </p:cSld>
  <p:clrMapOvr>
    <a:masterClrMapping/>
  </p:clrMapOvr>
  <p:transition>
    <p:fade/>
  </p:transition>
</p:sld>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528</Words>
  <Application>Microsoft Office PowerPoint</Application>
  <PresentationFormat>自定义</PresentationFormat>
  <Paragraphs>129</Paragraphs>
  <Slides>18</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Arial</vt:lpstr>
      <vt:lpstr>Consolas</vt:lpstr>
      <vt:lpstr>Segoe UI</vt:lpstr>
      <vt:lpstr>Segoe UI Light</vt:lpstr>
      <vt:lpstr>Wingdings</vt:lpstr>
      <vt:lpstr>WHITE TEMPLATE</vt:lpstr>
      <vt:lpstr>Service Fabric Patterns &amp; Best Practices</vt:lpstr>
      <vt:lpstr>SF on Linux, Containers</vt:lpstr>
      <vt:lpstr>Service Fabric on Linux: Principles</vt:lpstr>
      <vt:lpstr>Tracing application events</vt:lpstr>
      <vt:lpstr>CI/CD on Linux</vt:lpstr>
      <vt:lpstr>Demos</vt:lpstr>
      <vt:lpstr>Containers – What, Why, and How?</vt:lpstr>
      <vt:lpstr>Containers versus VMs</vt:lpstr>
      <vt:lpstr>Virtualization and Isolation Levels </vt:lpstr>
      <vt:lpstr>Why Containers?</vt:lpstr>
      <vt:lpstr>Best Practices</vt:lpstr>
      <vt:lpstr>Best Practices: Deployment </vt:lpstr>
      <vt:lpstr>Best Practices: Performance &amp; Monitoring</vt:lpstr>
      <vt:lpstr>Best Practices: Security &amp; Secrets</vt:lpstr>
      <vt:lpstr>Demos</vt:lpstr>
      <vt:lpstr>Crystal ball says…</vt:lpstr>
      <vt:lpstr>Resources</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2016-11-13T16:00:35Z</dcterms:created>
  <dcterms:modified xsi:type="dcterms:W3CDTF">2018-07-18T13:29:06Z</dcterms:modified>
</cp:coreProperties>
</file>