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082" r:id="rId1"/>
  </p:sldMasterIdLst>
  <p:notesMasterIdLst>
    <p:notesMasterId r:id="rId27"/>
  </p:notesMasterIdLst>
  <p:handoutMasterIdLst>
    <p:handoutMasterId r:id="rId28"/>
  </p:handoutMasterIdLst>
  <p:sldIdLst>
    <p:sldId id="283" r:id="rId2"/>
    <p:sldId id="279" r:id="rId3"/>
    <p:sldId id="330" r:id="rId4"/>
    <p:sldId id="333" r:id="rId5"/>
    <p:sldId id="331" r:id="rId6"/>
    <p:sldId id="332" r:id="rId7"/>
    <p:sldId id="334" r:id="rId8"/>
    <p:sldId id="335" r:id="rId9"/>
    <p:sldId id="336" r:id="rId10"/>
    <p:sldId id="337" r:id="rId11"/>
    <p:sldId id="338" r:id="rId12"/>
    <p:sldId id="339" r:id="rId13"/>
    <p:sldId id="340" r:id="rId14"/>
    <p:sldId id="329" r:id="rId15"/>
    <p:sldId id="344" r:id="rId16"/>
    <p:sldId id="352" r:id="rId17"/>
    <p:sldId id="353" r:id="rId18"/>
    <p:sldId id="343" r:id="rId19"/>
    <p:sldId id="346" r:id="rId20"/>
    <p:sldId id="347" r:id="rId21"/>
    <p:sldId id="348" r:id="rId22"/>
    <p:sldId id="350" r:id="rId23"/>
    <p:sldId id="354" r:id="rId24"/>
    <p:sldId id="351" r:id="rId25"/>
    <p:sldId id="257" r:id="rId26"/>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slides" id="{73C69594-0ADE-4BE2-8ADD-1BD08A5CD6F4}">
          <p14:sldIdLst>
            <p14:sldId id="283"/>
          </p14:sldIdLst>
        </p14:section>
        <p14:section name="Cluster Mangement" id="{44E445C4-3E2C-4D9C-90F6-0610BC1E1F41}">
          <p14:sldIdLst>
            <p14:sldId id="279"/>
            <p14:sldId id="330"/>
            <p14:sldId id="333"/>
            <p14:sldId id="331"/>
            <p14:sldId id="332"/>
            <p14:sldId id="334"/>
            <p14:sldId id="335"/>
            <p14:sldId id="336"/>
            <p14:sldId id="337"/>
            <p14:sldId id="338"/>
            <p14:sldId id="339"/>
            <p14:sldId id="340"/>
            <p14:sldId id="329"/>
            <p14:sldId id="344"/>
            <p14:sldId id="352"/>
            <p14:sldId id="353"/>
            <p14:sldId id="343"/>
            <p14:sldId id="346"/>
            <p14:sldId id="347"/>
            <p14:sldId id="348"/>
            <p14:sldId id="350"/>
            <p14:sldId id="354"/>
            <p14:sldId id="351"/>
            <p14:sldId id="257"/>
          </p14:sldIdLst>
        </p14:section>
      </p14:sectionLst>
    </p:ext>
    <p:ext uri="{EFAFB233-063F-42B5-8137-9DF3F51BA10A}">
      <p15:sldGuideLst xmlns:p15="http://schemas.microsoft.com/office/powerpoint/2012/main">
        <p15:guide id="1" orient="horz" pos="2203">
          <p15:clr>
            <a:srgbClr val="A4A3A4"/>
          </p15:clr>
        </p15:guide>
        <p15:guide id="2" pos="391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5" name="作者"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3C00"/>
    <a:srgbClr val="002050"/>
    <a:srgbClr val="0072C6"/>
    <a:srgbClr val="EEEEEE"/>
    <a:srgbClr val="737373"/>
    <a:srgbClr val="333333"/>
    <a:srgbClr val="0078D7"/>
    <a:srgbClr val="3C3C3C"/>
    <a:srgbClr val="D83B01"/>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388" autoAdjust="0"/>
    <p:restoredTop sz="81432" autoAdjust="0"/>
  </p:normalViewPr>
  <p:slideViewPr>
    <p:cSldViewPr>
      <p:cViewPr varScale="1">
        <p:scale>
          <a:sx n="52" d="100"/>
          <a:sy n="52" d="100"/>
        </p:scale>
        <p:origin x="346" y="48"/>
      </p:cViewPr>
      <p:guideLst>
        <p:guide orient="horz" pos="2203"/>
        <p:guide pos="3917"/>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howGuides="1">
      <p:cViewPr varScale="1">
        <p:scale>
          <a:sx n="83" d="100"/>
          <a:sy n="83" d="100"/>
        </p:scale>
        <p:origin x="385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C8D045D-9A66-44E7-900A-FC6D0BD4E54A}" type="datetime8">
              <a:rPr lang="en-US" smtClean="0">
                <a:latin typeface="Segoe UI" pitchFamily="34" charset="0"/>
              </a:rPr>
              <a:t>7/18/2018 9:24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EEC551-8CDA-4EB6-89BB-2A86C9F091C8}" type="datetime8">
              <a:rPr lang="en-US" smtClean="0"/>
              <a:t>7/18/2018 9:24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7/18/2018 9:24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42230004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F50FFD4-9EFB-4F04-97CC-6B7FFC7DEEE0}" type="slidenum">
              <a:rPr lang="en-US" smtClean="0"/>
              <a:t>6</a:t>
            </a:fld>
            <a:endParaRPr lang="en-US"/>
          </a:p>
        </p:txBody>
      </p:sp>
    </p:spTree>
    <p:extLst>
      <p:ext uri="{BB962C8B-B14F-4D97-AF65-F5344CB8AC3E}">
        <p14:creationId xmlns:p14="http://schemas.microsoft.com/office/powerpoint/2010/main" val="14673668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F50FFD4-9EFB-4F04-97CC-6B7FFC7DEEE0}" type="slidenum">
              <a:rPr lang="en-US" smtClean="0"/>
              <a:t>11</a:t>
            </a:fld>
            <a:endParaRPr lang="en-US"/>
          </a:p>
        </p:txBody>
      </p:sp>
    </p:spTree>
    <p:extLst>
      <p:ext uri="{BB962C8B-B14F-4D97-AF65-F5344CB8AC3E}">
        <p14:creationId xmlns:p14="http://schemas.microsoft.com/office/powerpoint/2010/main" val="3792452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7/18/2018 9:24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2236880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7/18/2018 9:24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35466675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7/18/2018 9:24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3001182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34664" lvl="2" indent="0">
              <a:buNone/>
            </a:pPr>
            <a:endParaRPr lang="en-US" dirty="0"/>
          </a:p>
        </p:txBody>
      </p:sp>
      <p:sp>
        <p:nvSpPr>
          <p:cNvPr id="4" name="Header Placeholder 3"/>
          <p:cNvSpPr>
            <a:spLocks noGrp="1"/>
          </p:cNvSpPr>
          <p:nvPr>
            <p:ph type="hdr" sz="quarter" idx="10"/>
          </p:nvPr>
        </p:nvSpPr>
        <p:spPr/>
        <p:txBody>
          <a:bodyPr/>
          <a:lstStyle/>
          <a:p>
            <a:r>
              <a:rPr lang="en-US"/>
              <a:t>Microsoft 2016</a:t>
            </a:r>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8EEC551-8CDA-4EB6-89BB-2A86C9F091C8}" type="datetime8">
              <a:rPr lang="en-US" smtClean="0"/>
              <a:t>7/18/2018 9:24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18</a:t>
            </a:fld>
            <a:endParaRPr lang="en-US"/>
          </a:p>
        </p:txBody>
      </p:sp>
    </p:spTree>
    <p:extLst>
      <p:ext uri="{BB962C8B-B14F-4D97-AF65-F5344CB8AC3E}">
        <p14:creationId xmlns:p14="http://schemas.microsoft.com/office/powerpoint/2010/main" val="32999049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45862" lvl="1" indent="-228600">
              <a:buAutoNum type="arabicParenR"/>
            </a:pPr>
            <a:endParaRPr lang="en-US" dirty="0"/>
          </a:p>
        </p:txBody>
      </p:sp>
      <p:sp>
        <p:nvSpPr>
          <p:cNvPr id="4" name="Header Placeholder 3"/>
          <p:cNvSpPr>
            <a:spLocks noGrp="1"/>
          </p:cNvSpPr>
          <p:nvPr>
            <p:ph type="hdr" sz="quarter" idx="10"/>
          </p:nvPr>
        </p:nvSpPr>
        <p:spPr/>
        <p:txBody>
          <a:bodyPr/>
          <a:lstStyle/>
          <a:p>
            <a:r>
              <a:rPr lang="en-US"/>
              <a:t>Microsoft 2016</a:t>
            </a:r>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8EEC551-8CDA-4EB6-89BB-2A86C9F091C8}" type="datetime8">
              <a:rPr lang="en-US" smtClean="0"/>
              <a:t>7/18/2018 9:24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19</a:t>
            </a:fld>
            <a:endParaRPr lang="en-US"/>
          </a:p>
        </p:txBody>
      </p:sp>
    </p:spTree>
    <p:extLst>
      <p:ext uri="{BB962C8B-B14F-4D97-AF65-F5344CB8AC3E}">
        <p14:creationId xmlns:p14="http://schemas.microsoft.com/office/powerpoint/2010/main" val="26848885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F50FFD4-9EFB-4F04-97CC-6B7FFC7DEEE0}" type="slidenum">
              <a:rPr lang="en-US" smtClean="0"/>
              <a:t>20</a:t>
            </a:fld>
            <a:endParaRPr lang="en-US"/>
          </a:p>
        </p:txBody>
      </p:sp>
    </p:spTree>
    <p:extLst>
      <p:ext uri="{BB962C8B-B14F-4D97-AF65-F5344CB8AC3E}">
        <p14:creationId xmlns:p14="http://schemas.microsoft.com/office/powerpoint/2010/main" val="27755417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7/18/2018 9:24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21</a:t>
            </a:fld>
            <a:endParaRPr lang="en-US" dirty="0"/>
          </a:p>
        </p:txBody>
      </p:sp>
    </p:spTree>
    <p:extLst>
      <p:ext uri="{BB962C8B-B14F-4D97-AF65-F5344CB8AC3E}">
        <p14:creationId xmlns:p14="http://schemas.microsoft.com/office/powerpoint/2010/main" val="37565148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7/18/2018 9:24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22</a:t>
            </a:fld>
            <a:endParaRPr lang="en-US" dirty="0"/>
          </a:p>
        </p:txBody>
      </p:sp>
    </p:spTree>
    <p:extLst>
      <p:ext uri="{BB962C8B-B14F-4D97-AF65-F5344CB8AC3E}">
        <p14:creationId xmlns:p14="http://schemas.microsoft.com/office/powerpoint/2010/main" val="7018740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
        <p:nvSpPr>
          <p:cNvPr id="3" name="TextBox 2"/>
          <p:cNvSpPr txBox="1"/>
          <p:nvPr userDrawn="1"/>
        </p:nvSpPr>
        <p:spPr>
          <a:xfrm>
            <a:off x="148079" y="296862"/>
            <a:ext cx="4337341" cy="683264"/>
          </a:xfrm>
          <a:prstGeom prst="rect">
            <a:avLst/>
          </a:prstGeom>
          <a:noFill/>
        </p:spPr>
        <p:txBody>
          <a:bodyPr wrap="none" lIns="182880" tIns="146304" rIns="182880" bIns="146304" rtlCol="0">
            <a:spAutoFit/>
          </a:bodyPr>
          <a:lstStyle/>
          <a:p>
            <a:pPr>
              <a:lnSpc>
                <a:spcPct val="90000"/>
              </a:lnSpc>
              <a:spcAft>
                <a:spcPts val="600"/>
              </a:spcAft>
            </a:pPr>
            <a:r>
              <a:rPr lang="en-US" sz="2800" dirty="0">
                <a:solidFill>
                  <a:srgbClr val="737373"/>
                </a:solidFill>
                <a:latin typeface="+mj-lt"/>
              </a:rPr>
              <a:t>Microsoft Virtual Academy</a:t>
            </a:r>
          </a:p>
        </p:txBody>
      </p:sp>
    </p:spTree>
    <p:extLst>
      <p:ext uri="{BB962C8B-B14F-4D97-AF65-F5344CB8AC3E}">
        <p14:creationId xmlns:p14="http://schemas.microsoft.com/office/powerpoint/2010/main" val="288605353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Tree>
    <p:extLst>
      <p:ext uri="{BB962C8B-B14F-4D97-AF65-F5344CB8AC3E}">
        <p14:creationId xmlns:p14="http://schemas.microsoft.com/office/powerpoint/2010/main" val="76912946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
        <p:nvSpPr>
          <p:cNvPr id="48" name="TextBox 47"/>
          <p:cNvSpPr txBox="1"/>
          <p:nvPr userDrawn="1"/>
        </p:nvSpPr>
        <p:spPr>
          <a:xfrm>
            <a:off x="148079" y="296862"/>
            <a:ext cx="4337341" cy="683264"/>
          </a:xfrm>
          <a:prstGeom prst="rect">
            <a:avLst/>
          </a:prstGeom>
          <a:noFill/>
        </p:spPr>
        <p:txBody>
          <a:bodyPr wrap="none" lIns="182880" tIns="146304" rIns="182880" bIns="146304" rtlCol="0">
            <a:spAutoFit/>
          </a:bodyPr>
          <a:lstStyle/>
          <a:p>
            <a:pPr>
              <a:lnSpc>
                <a:spcPct val="90000"/>
              </a:lnSpc>
              <a:spcAft>
                <a:spcPts val="600"/>
              </a:spcAft>
            </a:pPr>
            <a:r>
              <a:rPr lang="en-US" sz="2800" dirty="0">
                <a:solidFill>
                  <a:srgbClr val="737373"/>
                </a:solidFill>
                <a:latin typeface="+mj-lt"/>
              </a:rPr>
              <a:t>Microsoft Virtual Academy</a:t>
            </a:r>
          </a:p>
        </p:txBody>
      </p:sp>
    </p:spTree>
    <p:extLst>
      <p:ext uri="{BB962C8B-B14F-4D97-AF65-F5344CB8AC3E}">
        <p14:creationId xmlns:p14="http://schemas.microsoft.com/office/powerpoint/2010/main" val="207113865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Tree>
    <p:extLst>
      <p:ext uri="{BB962C8B-B14F-4D97-AF65-F5344CB8AC3E}">
        <p14:creationId xmlns:p14="http://schemas.microsoft.com/office/powerpoint/2010/main" val="198121753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rgbClr val="0072C6"/>
        </a:solidFill>
        <a:effectLst/>
      </p:bgPr>
    </p:bg>
    <p:spTree>
      <p:nvGrpSpPr>
        <p:cNvPr id="1" name=""/>
        <p:cNvGrpSpPr/>
        <p:nvPr/>
      </p:nvGrpSpPr>
      <p:grpSpPr>
        <a:xfrm>
          <a:off x="0" y="0"/>
          <a:ext cx="0" cy="0"/>
          <a:chOff x="0" y="0"/>
          <a:chExt cx="0" cy="0"/>
        </a:xfrm>
      </p:grpSpPr>
      <p:pic>
        <p:nvPicPr>
          <p:cNvPr id="90" name="Picture 8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0837" y="6143778"/>
            <a:ext cx="2283588" cy="373062"/>
          </a:xfrm>
          <a:prstGeom prst="rect">
            <a:avLst/>
          </a:prstGeom>
        </p:spPr>
      </p:pic>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solidFill>
                  <a:schemeClr val="bg1"/>
                </a:soli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chemeClr val="bg1"/>
                </a:solidFill>
              </a:defRPr>
            </a:lvl1pPr>
          </a:lstStyle>
          <a:p>
            <a:r>
              <a:rPr lang="en-US" dirty="0"/>
              <a:t>Presentation title</a:t>
            </a:r>
          </a:p>
        </p:txBody>
      </p:sp>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
        <p:nvSpPr>
          <p:cNvPr id="48" name="TextBox 47"/>
          <p:cNvSpPr txBox="1"/>
          <p:nvPr userDrawn="1"/>
        </p:nvSpPr>
        <p:spPr>
          <a:xfrm>
            <a:off x="148079" y="296862"/>
            <a:ext cx="4337341" cy="683264"/>
          </a:xfrm>
          <a:prstGeom prst="rect">
            <a:avLst/>
          </a:prstGeom>
          <a:noFill/>
        </p:spPr>
        <p:txBody>
          <a:bodyPr wrap="none" lIns="182880" tIns="146304" rIns="182880" bIns="146304" rtlCol="0">
            <a:spAutoFit/>
          </a:bodyPr>
          <a:lstStyle/>
          <a:p>
            <a:pPr>
              <a:lnSpc>
                <a:spcPct val="90000"/>
              </a:lnSpc>
              <a:spcAft>
                <a:spcPts val="600"/>
              </a:spcAft>
            </a:pPr>
            <a:r>
              <a:rPr lang="en-US" sz="2800" dirty="0">
                <a:solidFill>
                  <a:schemeClr val="bg1"/>
                </a:solidFill>
                <a:latin typeface="+mj-lt"/>
              </a:rPr>
              <a:t>Microsoft Virtual Academy</a:t>
            </a:r>
          </a:p>
        </p:txBody>
      </p:sp>
    </p:spTree>
    <p:extLst>
      <p:ext uri="{BB962C8B-B14F-4D97-AF65-F5344CB8AC3E}">
        <p14:creationId xmlns:p14="http://schemas.microsoft.com/office/powerpoint/2010/main" val="186086821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rgbClr val="0072C6"/>
        </a:solidFill>
        <a:effectLst/>
      </p:bgPr>
    </p:bg>
    <p:spTree>
      <p:nvGrpSpPr>
        <p:cNvPr id="1" name=""/>
        <p:cNvGrpSpPr/>
        <p:nvPr/>
      </p:nvGrpSpPr>
      <p:grpSpPr>
        <a:xfrm>
          <a:off x="0" y="0"/>
          <a:ext cx="0" cy="0"/>
          <a:chOff x="0" y="0"/>
          <a:chExt cx="0" cy="0"/>
        </a:xfrm>
      </p:grpSpPr>
      <p:pic>
        <p:nvPicPr>
          <p:cNvPr id="90" name="Picture 8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0837" y="6143778"/>
            <a:ext cx="2283588" cy="373062"/>
          </a:xfrm>
          <a:prstGeom prst="rect">
            <a:avLst/>
          </a:prstGeom>
        </p:spPr>
      </p:pic>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solidFill>
                  <a:schemeClr val="bg1"/>
                </a:soli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chemeClr val="bg1"/>
                </a:solidFill>
              </a:defRPr>
            </a:lvl1pPr>
          </a:lstStyle>
          <a:p>
            <a:r>
              <a:rPr lang="en-US" dirty="0"/>
              <a:t>Presentation title</a:t>
            </a:r>
          </a:p>
        </p:txBody>
      </p:sp>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Tree>
    <p:extLst>
      <p:ext uri="{BB962C8B-B14F-4D97-AF65-F5344CB8AC3E}">
        <p14:creationId xmlns:p14="http://schemas.microsoft.com/office/powerpoint/2010/main" val="273243370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72C6"/>
                </a:solidFill>
              </a:defRPr>
            </a:lvl1pPr>
          </a:lstStyle>
          <a:p>
            <a:r>
              <a:rPr lang="en-US"/>
              <a:t>Click to edit Master title style</a:t>
            </a:r>
          </a:p>
        </p:txBody>
      </p:sp>
      <p:pic>
        <p:nvPicPr>
          <p:cNvPr id="5" name="Picture 4"/>
          <p:cNvPicPr>
            <a:picLocks noChangeAspect="1"/>
          </p:cNvPicPr>
          <p:nvPr userDrawn="1"/>
        </p:nvPicPr>
        <p:blipFill>
          <a:blip r:embed="rId2"/>
          <a:stretch>
            <a:fillRect/>
          </a:stretch>
        </p:blipFill>
        <p:spPr>
          <a:xfrm>
            <a:off x="4703157" y="5897245"/>
            <a:ext cx="7197633" cy="1097280"/>
          </a:xfrm>
          <a:prstGeom prst="rect">
            <a:avLst/>
          </a:prstGeom>
        </p:spPr>
      </p:pic>
    </p:spTree>
    <p:extLst>
      <p:ext uri="{BB962C8B-B14F-4D97-AF65-F5344CB8AC3E}">
        <p14:creationId xmlns:p14="http://schemas.microsoft.com/office/powerpoint/2010/main" val="31024258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solidFill>
                  <a:srgbClr val="0078D7"/>
                </a:solidFill>
              </a:defRPr>
            </a:lvl1pPr>
          </a:lstStyle>
          <a:p>
            <a:r>
              <a:rPr lang="en-US" dirty="0"/>
              <a:t>Click to edit Master title style</a:t>
            </a:r>
          </a:p>
        </p:txBody>
      </p:sp>
      <p:sp>
        <p:nvSpPr>
          <p:cNvPr id="6" name="Text Placeholder 5"/>
          <p:cNvSpPr>
            <a:spLocks noGrp="1"/>
          </p:cNvSpPr>
          <p:nvPr>
            <p:ph type="body" sz="quarter" idx="10"/>
          </p:nvPr>
        </p:nvSpPr>
        <p:spPr>
          <a:xfrm>
            <a:off x="365760" y="1371600"/>
            <a:ext cx="11704320" cy="2043636"/>
          </a:xfrm>
        </p:spPr>
        <p:txBody>
          <a:bodyPr>
            <a:spAutoFit/>
          </a:bodyPr>
          <a:lstStyle>
            <a:lvl1pPr marL="0" indent="0">
              <a:spcBef>
                <a:spcPts val="600"/>
              </a:spcBef>
              <a:buNone/>
              <a:defRPr sz="2800" spc="-30" baseline="0">
                <a:solidFill>
                  <a:srgbClr val="0072C6"/>
                </a:solidFill>
                <a:latin typeface="+mj-lt"/>
              </a:defRPr>
            </a:lvl1pPr>
            <a:lvl2pPr marL="0" indent="0">
              <a:spcBef>
                <a:spcPts val="600"/>
              </a:spcBef>
              <a:buFontTx/>
              <a:buNone/>
              <a:defRPr sz="2000"/>
            </a:lvl2pPr>
            <a:lvl3pPr marL="228600" indent="0">
              <a:spcBef>
                <a:spcPts val="600"/>
              </a:spcBef>
              <a:buNone/>
              <a:defRPr/>
            </a:lvl3pPr>
            <a:lvl4pPr marL="457200" indent="0">
              <a:spcBef>
                <a:spcPts val="600"/>
              </a:spcBef>
              <a:buNone/>
              <a:defRPr/>
            </a:lvl4pPr>
            <a:lvl5pPr marL="685800" indent="0">
              <a:spcBef>
                <a:spcPts val="600"/>
              </a:spcBef>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74816850"/>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0"/>
          </p:nvPr>
        </p:nvSpPr>
        <p:spPr>
          <a:xfrm>
            <a:off x="365760" y="1371600"/>
            <a:ext cx="11704320" cy="2043636"/>
          </a:xfrm>
        </p:spPr>
        <p:txBody>
          <a:bodyPr>
            <a:spAutoFit/>
          </a:bodyPr>
          <a:lstStyle>
            <a:lvl1pPr marL="0" indent="0">
              <a:spcBef>
                <a:spcPts val="600"/>
              </a:spcBef>
              <a:buNone/>
              <a:defRPr sz="2800" spc="-30" baseline="0">
                <a:solidFill>
                  <a:srgbClr val="0072C6"/>
                </a:solidFill>
                <a:latin typeface="+mj-lt"/>
              </a:defRPr>
            </a:lvl1pPr>
            <a:lvl2pPr marL="228600" indent="-228600">
              <a:spcBef>
                <a:spcPts val="600"/>
              </a:spcBef>
              <a:buFont typeface="Arial" charset="0"/>
              <a:buChar char="•"/>
              <a:defRPr sz="2000"/>
            </a:lvl2pPr>
            <a:lvl3pPr marL="457200" indent="-228600">
              <a:spcBef>
                <a:spcPts val="600"/>
              </a:spcBef>
              <a:buFont typeface="Arial" charset="0"/>
              <a:buChar char="•"/>
              <a:defRPr/>
            </a:lvl3pPr>
            <a:lvl4pPr marL="685800" indent="-228600">
              <a:spcBef>
                <a:spcPts val="600"/>
              </a:spcBef>
              <a:buFont typeface="Arial" charset="0"/>
              <a:buChar char="•"/>
              <a:defRPr/>
            </a:lvl4pPr>
            <a:lvl5pPr marL="914400" indent="-228600">
              <a:spcBef>
                <a:spcPts val="600"/>
              </a:spcBef>
              <a:buFont typeface="Arial"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398522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65760" y="1280160"/>
            <a:ext cx="11704320" cy="1877437"/>
          </a:xfrm>
        </p:spPr>
        <p:txBody>
          <a:bodyPr>
            <a:spAutoFit/>
          </a:bodyPr>
          <a:lstStyle>
            <a:lvl1pPr>
              <a:spcBef>
                <a:spcPts val="600"/>
              </a:spcBef>
              <a:defRPr sz="2000"/>
            </a:lvl1pPr>
            <a:lvl2pPr>
              <a:spcBef>
                <a:spcPts val="600"/>
              </a:spcBef>
              <a:defRPr sz="2000"/>
            </a:lvl2pPr>
            <a:lvl3pPr>
              <a:spcBef>
                <a:spcPts val="600"/>
              </a:spcBef>
              <a:defRPr sz="2000"/>
            </a:lvl3pPr>
            <a:lvl4pPr>
              <a:spcBef>
                <a:spcPts val="600"/>
              </a:spcBef>
              <a:defRPr sz="2000"/>
            </a:lvl4pPr>
            <a:lvl5pPr>
              <a:spcBef>
                <a:spcPts val="600"/>
              </a:spcBef>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55319683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non-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365759" y="1371600"/>
            <a:ext cx="5669280" cy="2043636"/>
          </a:xfrm>
        </p:spPr>
        <p:txBody>
          <a:bodyPr wrap="square">
            <a:spAutoFit/>
          </a:bodyPr>
          <a:lstStyle>
            <a:lvl1pPr marL="0" indent="0">
              <a:spcBef>
                <a:spcPts val="600"/>
              </a:spcBef>
              <a:buClr>
                <a:schemeClr val="tx1"/>
              </a:buClr>
              <a:buFont typeface="Wingdings" pitchFamily="2" charset="2"/>
              <a:buNone/>
              <a:defRPr sz="2800" spc="-30" baseline="0">
                <a:solidFill>
                  <a:srgbClr val="0072C6"/>
                </a:solidFill>
                <a:latin typeface="+mj-lt"/>
              </a:defRPr>
            </a:lvl1pPr>
            <a:lvl2pPr marL="0" indent="0">
              <a:spcBef>
                <a:spcPts val="600"/>
              </a:spcBef>
              <a:buNone/>
              <a:defRPr sz="2000"/>
            </a:lvl2pPr>
            <a:lvl3pPr marL="231775" indent="0">
              <a:spcBef>
                <a:spcPts val="600"/>
              </a:spcBef>
              <a:buNone/>
              <a:tabLst/>
              <a:defRPr sz="2000"/>
            </a:lvl3pPr>
            <a:lvl4pPr marL="460375" indent="0">
              <a:spcBef>
                <a:spcPts val="600"/>
              </a:spcBef>
              <a:buNone/>
              <a:defRPr/>
            </a:lvl4pPr>
            <a:lvl5pPr marL="685800" indent="0">
              <a:spcBef>
                <a:spcPts val="600"/>
              </a:spcBef>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400800" y="1371600"/>
            <a:ext cx="5669280" cy="2043636"/>
          </a:xfrm>
        </p:spPr>
        <p:txBody>
          <a:bodyPr wrap="square">
            <a:spAutoFit/>
          </a:bodyPr>
          <a:lstStyle>
            <a:lvl1pPr marL="0" indent="0">
              <a:spcBef>
                <a:spcPts val="600"/>
              </a:spcBef>
              <a:buClr>
                <a:schemeClr val="tx1"/>
              </a:buClr>
              <a:buFont typeface="Wingdings" pitchFamily="2" charset="2"/>
              <a:buNone/>
              <a:defRPr sz="2800" spc="-30" baseline="0">
                <a:solidFill>
                  <a:srgbClr val="0072C6"/>
                </a:solidFill>
                <a:latin typeface="+mj-lt"/>
              </a:defRPr>
            </a:lvl1pPr>
            <a:lvl2pPr marL="0" indent="0">
              <a:spcBef>
                <a:spcPts val="600"/>
              </a:spcBef>
              <a:buNone/>
              <a:defRPr sz="2000"/>
            </a:lvl2pPr>
            <a:lvl3pPr marL="231775" indent="0">
              <a:spcBef>
                <a:spcPts val="600"/>
              </a:spcBef>
              <a:buNone/>
              <a:tabLst/>
              <a:defRPr sz="2000"/>
            </a:lvl3pPr>
            <a:lvl4pPr marL="460375" indent="0">
              <a:spcBef>
                <a:spcPts val="600"/>
              </a:spcBef>
              <a:buNone/>
              <a:defRPr/>
            </a:lvl4pPr>
            <a:lvl5pPr marL="685800" indent="0">
              <a:spcBef>
                <a:spcPts val="600"/>
              </a:spcBef>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68534032"/>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365760" y="1371600"/>
            <a:ext cx="5669280" cy="2043636"/>
          </a:xfrm>
        </p:spPr>
        <p:txBody>
          <a:bodyPr wrap="square">
            <a:spAutoFit/>
          </a:bodyPr>
          <a:lstStyle>
            <a:lvl1pPr marL="0" indent="0">
              <a:spcBef>
                <a:spcPts val="600"/>
              </a:spcBef>
              <a:buClr>
                <a:schemeClr val="tx2"/>
              </a:buClr>
              <a:buFont typeface="Arial" pitchFamily="34" charset="0"/>
              <a:buNone/>
              <a:defRPr sz="2800" spc="-30" baseline="0">
                <a:solidFill>
                  <a:srgbClr val="0072C6"/>
                </a:solidFill>
                <a:latin typeface="+mj-lt"/>
              </a:defRPr>
            </a:lvl1pPr>
            <a:lvl2pPr marL="228600" indent="-228600">
              <a:spcBef>
                <a:spcPts val="600"/>
              </a:spcBef>
              <a:defRPr sz="2000"/>
            </a:lvl2pPr>
            <a:lvl3pPr marL="457200" indent="-228600">
              <a:spcBef>
                <a:spcPts val="600"/>
              </a:spcBef>
              <a:tabLst/>
              <a:defRPr sz="2000"/>
            </a:lvl3pPr>
            <a:lvl4pPr marL="685800" indent="-228600">
              <a:spcBef>
                <a:spcPts val="600"/>
              </a:spcBef>
              <a:defRPr sz="2000"/>
            </a:lvl4pPr>
            <a:lvl5pPr marL="914400" indent="-228600">
              <a:spcBef>
                <a:spcPts val="600"/>
              </a:spcBef>
              <a:tabLst/>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400800" y="1371600"/>
            <a:ext cx="5669280" cy="2043636"/>
          </a:xfrm>
        </p:spPr>
        <p:txBody>
          <a:bodyPr wrap="square">
            <a:spAutoFit/>
          </a:bodyPr>
          <a:lstStyle>
            <a:lvl1pPr marL="0" indent="0">
              <a:spcBef>
                <a:spcPts val="600"/>
              </a:spcBef>
              <a:buClr>
                <a:schemeClr val="tx2"/>
              </a:buClr>
              <a:buFont typeface="Arial" pitchFamily="34" charset="0"/>
              <a:buNone/>
              <a:defRPr sz="2800" spc="-30" baseline="0">
                <a:solidFill>
                  <a:srgbClr val="0072C6"/>
                </a:solidFill>
                <a:latin typeface="+mj-lt"/>
              </a:defRPr>
            </a:lvl1pPr>
            <a:lvl2pPr marL="228600" indent="-228600">
              <a:spcBef>
                <a:spcPts val="600"/>
              </a:spcBef>
              <a:defRPr sz="2000"/>
            </a:lvl2pPr>
            <a:lvl3pPr marL="457200" indent="-228600">
              <a:spcBef>
                <a:spcPts val="600"/>
              </a:spcBef>
              <a:tabLst/>
              <a:defRPr sz="2000"/>
            </a:lvl3pPr>
            <a:lvl4pPr marL="685800" indent="-228600">
              <a:spcBef>
                <a:spcPts val="600"/>
              </a:spcBef>
              <a:defRPr sz="2000"/>
            </a:lvl4pPr>
            <a:lvl5pPr marL="914400" indent="-228600">
              <a:spcBef>
                <a:spcPts val="600"/>
              </a:spcBef>
              <a:tabLst/>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9837130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11135705"/>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subhead">
    <p:spTree>
      <p:nvGrpSpPr>
        <p:cNvPr id="1" name=""/>
        <p:cNvGrpSpPr/>
        <p:nvPr/>
      </p:nvGrpSpPr>
      <p:grpSpPr>
        <a:xfrm>
          <a:off x="0" y="0"/>
          <a:ext cx="0" cy="0"/>
          <a:chOff x="0" y="0"/>
          <a:chExt cx="0" cy="0"/>
        </a:xfrm>
      </p:grpSpPr>
      <p:sp>
        <p:nvSpPr>
          <p:cNvPr id="2" name="Title 1"/>
          <p:cNvSpPr>
            <a:spLocks noGrp="1"/>
          </p:cNvSpPr>
          <p:nvPr>
            <p:ph type="title"/>
          </p:nvPr>
        </p:nvSpPr>
        <p:spPr>
          <a:xfrm>
            <a:off x="365760" y="365760"/>
            <a:ext cx="11704320" cy="822960"/>
          </a:xfrm>
        </p:spPr>
        <p:txBody>
          <a:bodyPr/>
          <a:lstStyle/>
          <a:p>
            <a:r>
              <a:rPr lang="en-US" dirty="0"/>
              <a:t>Click to edit Master title style</a:t>
            </a:r>
          </a:p>
        </p:txBody>
      </p:sp>
      <p:sp>
        <p:nvSpPr>
          <p:cNvPr id="4" name="Text Placeholder 3"/>
          <p:cNvSpPr>
            <a:spLocks noGrp="1"/>
          </p:cNvSpPr>
          <p:nvPr>
            <p:ph type="body" sz="quarter" idx="10" hasCustomPrompt="1"/>
          </p:nvPr>
        </p:nvSpPr>
        <p:spPr>
          <a:xfrm>
            <a:off x="365760" y="1188720"/>
            <a:ext cx="11704320" cy="822960"/>
          </a:xfrm>
        </p:spPr>
        <p:txBody>
          <a:bodyPr/>
          <a:lstStyle>
            <a:lvl1pPr marL="0" indent="0">
              <a:buNone/>
              <a:defRPr sz="2800" spc="-30" baseline="0">
                <a:solidFill>
                  <a:schemeClr val="tx1"/>
                </a:solidFill>
                <a:latin typeface="+mj-lt"/>
              </a:defRPr>
            </a:lvl1pPr>
          </a:lstStyle>
          <a:p>
            <a:pPr lvl="0"/>
            <a:r>
              <a:rPr lang="en-US" dirty="0"/>
              <a:t>Click to edit Master subhead style</a:t>
            </a:r>
          </a:p>
        </p:txBody>
      </p:sp>
    </p:spTree>
    <p:extLst>
      <p:ext uri="{BB962C8B-B14F-4D97-AF65-F5344CB8AC3E}">
        <p14:creationId xmlns:p14="http://schemas.microsoft.com/office/powerpoint/2010/main" val="993967637"/>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head with boxes">
    <p:spTree>
      <p:nvGrpSpPr>
        <p:cNvPr id="1" name=""/>
        <p:cNvGrpSpPr/>
        <p:nvPr/>
      </p:nvGrpSpPr>
      <p:grpSpPr>
        <a:xfrm>
          <a:off x="0" y="0"/>
          <a:ext cx="0" cy="0"/>
          <a:chOff x="0" y="0"/>
          <a:chExt cx="0" cy="0"/>
        </a:xfrm>
      </p:grpSpPr>
      <p:sp>
        <p:nvSpPr>
          <p:cNvPr id="12" name="Text Placeholder 4"/>
          <p:cNvSpPr>
            <a:spLocks noGrp="1" noChangeAspect="1"/>
          </p:cNvSpPr>
          <p:nvPr>
            <p:ph type="body" sz="quarter" idx="17"/>
          </p:nvPr>
        </p:nvSpPr>
        <p:spPr>
          <a:xfrm>
            <a:off x="4663440" y="2560320"/>
            <a:ext cx="2103120" cy="2103120"/>
          </a:xfrm>
          <a:solidFill>
            <a:schemeClr val="accent4"/>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sp>
        <p:nvSpPr>
          <p:cNvPr id="13" name="Text Placeholder 4"/>
          <p:cNvSpPr>
            <a:spLocks noGrp="1" noChangeAspect="1"/>
          </p:cNvSpPr>
          <p:nvPr>
            <p:ph type="body" sz="quarter" idx="18"/>
          </p:nvPr>
        </p:nvSpPr>
        <p:spPr>
          <a:xfrm>
            <a:off x="2560320" y="2560320"/>
            <a:ext cx="2103120" cy="2103120"/>
          </a:xfrm>
          <a:solidFill>
            <a:schemeClr val="accent3"/>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sp>
        <p:nvSpPr>
          <p:cNvPr id="14" name="Text Placeholder 4"/>
          <p:cNvSpPr>
            <a:spLocks noGrp="1" noChangeAspect="1"/>
          </p:cNvSpPr>
          <p:nvPr>
            <p:ph type="body" sz="quarter" idx="19"/>
          </p:nvPr>
        </p:nvSpPr>
        <p:spPr>
          <a:xfrm>
            <a:off x="457200" y="2560320"/>
            <a:ext cx="2103120" cy="2103120"/>
          </a:xfrm>
          <a:solidFill>
            <a:schemeClr val="accent1"/>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sp>
        <p:nvSpPr>
          <p:cNvPr id="2" name="Title 1"/>
          <p:cNvSpPr>
            <a:spLocks noGrp="1"/>
          </p:cNvSpPr>
          <p:nvPr>
            <p:ph type="title"/>
          </p:nvPr>
        </p:nvSpPr>
        <p:spPr>
          <a:xfrm>
            <a:off x="365760" y="365760"/>
            <a:ext cx="11704320" cy="822960"/>
          </a:xfrm>
        </p:spPr>
        <p:txBody>
          <a:bodyPr/>
          <a:lstStyle/>
          <a:p>
            <a:r>
              <a:rPr lang="en-US" dirty="0"/>
              <a:t>Click to edit Master title style</a:t>
            </a:r>
          </a:p>
        </p:txBody>
      </p:sp>
      <p:sp>
        <p:nvSpPr>
          <p:cNvPr id="4" name="Text Placeholder 3"/>
          <p:cNvSpPr>
            <a:spLocks noGrp="1"/>
          </p:cNvSpPr>
          <p:nvPr>
            <p:ph type="body" sz="quarter" idx="10" hasCustomPrompt="1"/>
          </p:nvPr>
        </p:nvSpPr>
        <p:spPr>
          <a:xfrm>
            <a:off x="365760" y="1188720"/>
            <a:ext cx="11704320" cy="822960"/>
          </a:xfrm>
        </p:spPr>
        <p:txBody>
          <a:bodyPr/>
          <a:lstStyle>
            <a:lvl1pPr marL="0" indent="0">
              <a:buNone/>
              <a:defRPr sz="2800" spc="-30" baseline="0">
                <a:solidFill>
                  <a:schemeClr val="tx1"/>
                </a:solidFill>
                <a:latin typeface="+mj-lt"/>
              </a:defRPr>
            </a:lvl1pPr>
          </a:lstStyle>
          <a:p>
            <a:pPr lvl="0"/>
            <a:r>
              <a:rPr lang="en-US" dirty="0"/>
              <a:t>Click to edit Master subhead style</a:t>
            </a:r>
          </a:p>
        </p:txBody>
      </p:sp>
      <p:sp>
        <p:nvSpPr>
          <p:cNvPr id="7" name="Text Placeholder 4"/>
          <p:cNvSpPr>
            <a:spLocks noGrp="1" noChangeAspect="1"/>
          </p:cNvSpPr>
          <p:nvPr>
            <p:ph type="body" sz="quarter" idx="20"/>
          </p:nvPr>
        </p:nvSpPr>
        <p:spPr>
          <a:xfrm>
            <a:off x="6766560" y="2560320"/>
            <a:ext cx="2103120" cy="2103120"/>
          </a:xfrm>
          <a:solidFill>
            <a:schemeClr val="accent5"/>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pic>
        <p:nvPicPr>
          <p:cNvPr id="8" name="Picture 7"/>
          <p:cNvPicPr>
            <a:picLocks noChangeAspect="1"/>
          </p:cNvPicPr>
          <p:nvPr userDrawn="1"/>
        </p:nvPicPr>
        <p:blipFill>
          <a:blip r:embed="rId2"/>
          <a:stretch>
            <a:fillRect/>
          </a:stretch>
        </p:blipFill>
        <p:spPr>
          <a:xfrm>
            <a:off x="3160803" y="5051425"/>
            <a:ext cx="8928100" cy="1943100"/>
          </a:xfrm>
          <a:prstGeom prst="rect">
            <a:avLst/>
          </a:prstGeom>
        </p:spPr>
      </p:pic>
    </p:spTree>
    <p:extLst>
      <p:ext uri="{BB962C8B-B14F-4D97-AF65-F5344CB8AC3E}">
        <p14:creationId xmlns:p14="http://schemas.microsoft.com/office/powerpoint/2010/main" val="129516634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layout">
    <p:spTree>
      <p:nvGrpSpPr>
        <p:cNvPr id="1" name=""/>
        <p:cNvGrpSpPr/>
        <p:nvPr/>
      </p:nvGrpSpPr>
      <p:grpSpPr>
        <a:xfrm>
          <a:off x="0" y="0"/>
          <a:ext cx="0" cy="0"/>
          <a:chOff x="0" y="0"/>
          <a:chExt cx="0" cy="0"/>
        </a:xfrm>
      </p:grpSpPr>
      <p:sp>
        <p:nvSpPr>
          <p:cNvPr id="2" name="Title 1"/>
          <p:cNvSpPr>
            <a:spLocks noGrp="1"/>
          </p:cNvSpPr>
          <p:nvPr>
            <p:ph type="title"/>
          </p:nvPr>
        </p:nvSpPr>
        <p:spPr>
          <a:xfrm>
            <a:off x="365760" y="365760"/>
            <a:ext cx="5486400" cy="1554480"/>
          </a:xfrm>
        </p:spPr>
        <p:txBody>
          <a:bodyPr/>
          <a:lstStyle/>
          <a:p>
            <a:r>
              <a:rPr lang="en-US" dirty="0"/>
              <a:t>Click to edit Master title style</a:t>
            </a:r>
          </a:p>
        </p:txBody>
      </p:sp>
      <p:sp>
        <p:nvSpPr>
          <p:cNvPr id="4" name="Picture Placeholder 3"/>
          <p:cNvSpPr>
            <a:spLocks noGrp="1"/>
          </p:cNvSpPr>
          <p:nvPr>
            <p:ph type="pic" sz="quarter" idx="10"/>
          </p:nvPr>
        </p:nvSpPr>
        <p:spPr>
          <a:xfrm>
            <a:off x="6217920" y="0"/>
            <a:ext cx="6217920" cy="6995160"/>
          </a:xfrm>
        </p:spPr>
        <p:txBody>
          <a:bodyPr/>
          <a:lstStyle/>
          <a:p>
            <a:endParaRPr lang="en-US"/>
          </a:p>
        </p:txBody>
      </p:sp>
      <p:sp>
        <p:nvSpPr>
          <p:cNvPr id="6" name="Text Placeholder 5"/>
          <p:cNvSpPr>
            <a:spLocks noGrp="1"/>
          </p:cNvSpPr>
          <p:nvPr>
            <p:ph type="body" sz="quarter" idx="11"/>
          </p:nvPr>
        </p:nvSpPr>
        <p:spPr>
          <a:xfrm>
            <a:off x="365759" y="2103120"/>
            <a:ext cx="5486400" cy="1815882"/>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8264801"/>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hoto layout Alternate">
    <p:spTree>
      <p:nvGrpSpPr>
        <p:cNvPr id="1" name=""/>
        <p:cNvGrpSpPr/>
        <p:nvPr/>
      </p:nvGrpSpPr>
      <p:grpSpPr>
        <a:xfrm>
          <a:off x="0" y="0"/>
          <a:ext cx="0" cy="0"/>
          <a:chOff x="0" y="0"/>
          <a:chExt cx="0" cy="0"/>
        </a:xfrm>
      </p:grpSpPr>
      <p:sp>
        <p:nvSpPr>
          <p:cNvPr id="2" name="Title 1"/>
          <p:cNvSpPr>
            <a:spLocks noGrp="1"/>
          </p:cNvSpPr>
          <p:nvPr>
            <p:ph type="title"/>
          </p:nvPr>
        </p:nvSpPr>
        <p:spPr>
          <a:xfrm>
            <a:off x="6583680" y="365760"/>
            <a:ext cx="5486400" cy="1554480"/>
          </a:xfrm>
        </p:spPr>
        <p:txBody>
          <a:bodyPr/>
          <a:lstStyle/>
          <a:p>
            <a:r>
              <a:rPr lang="en-US" dirty="0"/>
              <a:t>Click to edit Master title style</a:t>
            </a:r>
          </a:p>
        </p:txBody>
      </p:sp>
      <p:sp>
        <p:nvSpPr>
          <p:cNvPr id="4" name="Picture Placeholder 3"/>
          <p:cNvSpPr>
            <a:spLocks noGrp="1"/>
          </p:cNvSpPr>
          <p:nvPr>
            <p:ph type="pic" sz="quarter" idx="10"/>
          </p:nvPr>
        </p:nvSpPr>
        <p:spPr>
          <a:xfrm>
            <a:off x="0" y="0"/>
            <a:ext cx="6217920" cy="6995160"/>
          </a:xfrm>
        </p:spPr>
        <p:txBody>
          <a:bodyPr/>
          <a:lstStyle/>
          <a:p>
            <a:endParaRPr lang="en-US"/>
          </a:p>
        </p:txBody>
      </p:sp>
      <p:sp>
        <p:nvSpPr>
          <p:cNvPr id="6" name="Text Placeholder 5"/>
          <p:cNvSpPr>
            <a:spLocks noGrp="1"/>
          </p:cNvSpPr>
          <p:nvPr>
            <p:ph type="body" sz="quarter" idx="11"/>
          </p:nvPr>
        </p:nvSpPr>
        <p:spPr>
          <a:xfrm>
            <a:off x="6583680" y="2103120"/>
            <a:ext cx="5486400" cy="1815882"/>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99170"/>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and illustration A">
    <p:spTree>
      <p:nvGrpSpPr>
        <p:cNvPr id="1" name=""/>
        <p:cNvGrpSpPr/>
        <p:nvPr/>
      </p:nvGrpSpPr>
      <p:grpSpPr>
        <a:xfrm>
          <a:off x="0" y="0"/>
          <a:ext cx="0" cy="0"/>
          <a:chOff x="0" y="0"/>
          <a:chExt cx="0" cy="0"/>
        </a:xfrm>
      </p:grpSpPr>
      <p:pic>
        <p:nvPicPr>
          <p:cNvPr id="4" name="Picture 3"/>
          <p:cNvPicPr>
            <a:picLocks/>
          </p:cNvPicPr>
          <p:nvPr userDrawn="1"/>
        </p:nvPicPr>
        <p:blipFill>
          <a:blip r:embed="rId2"/>
          <a:stretch>
            <a:fillRect/>
          </a:stretch>
        </p:blipFill>
        <p:spPr>
          <a:xfrm>
            <a:off x="0" y="0"/>
            <a:ext cx="12435840" cy="6995160"/>
          </a:xfrm>
          <a:prstGeom prst="rect">
            <a:avLst/>
          </a:prstGeom>
        </p:spPr>
      </p:pic>
      <p:sp>
        <p:nvSpPr>
          <p:cNvPr id="2" name="Title 1"/>
          <p:cNvSpPr>
            <a:spLocks noGrp="1"/>
          </p:cNvSpPr>
          <p:nvPr>
            <p:ph type="title"/>
          </p:nvPr>
        </p:nvSpPr>
        <p:spPr>
          <a:xfrm>
            <a:off x="365760" y="731520"/>
            <a:ext cx="7772400" cy="615553"/>
          </a:xfrm>
        </p:spPr>
        <p:txBody>
          <a:bodyPr>
            <a:spAutoFit/>
          </a:bodyPr>
          <a:lstStyle>
            <a:lvl1pPr>
              <a:lnSpc>
                <a:spcPct val="100000"/>
              </a:lnSpc>
              <a:defRPr sz="2800" spc="-30" baseline="0">
                <a:solidFill>
                  <a:schemeClr val="tx1">
                    <a:lumMod val="50000"/>
                  </a:schemeClr>
                </a:solidFill>
                <a:latin typeface="+mj-lt"/>
              </a:defRPr>
            </a:lvl1pPr>
          </a:lstStyle>
          <a:p>
            <a:r>
              <a:rPr lang="en-US" dirty="0"/>
              <a:t>Click to edit Master title style</a:t>
            </a:r>
          </a:p>
        </p:txBody>
      </p:sp>
      <p:pic>
        <p:nvPicPr>
          <p:cNvPr id="3" name="Picture 2"/>
          <p:cNvPicPr>
            <a:picLocks noChangeAspect="1"/>
          </p:cNvPicPr>
          <p:nvPr userDrawn="1"/>
        </p:nvPicPr>
        <p:blipFill>
          <a:blip r:embed="rId3"/>
          <a:stretch>
            <a:fillRect/>
          </a:stretch>
        </p:blipFill>
        <p:spPr>
          <a:xfrm>
            <a:off x="4493069" y="3497580"/>
            <a:ext cx="7346006" cy="3505200"/>
          </a:xfrm>
          <a:prstGeom prst="rect">
            <a:avLst/>
          </a:prstGeom>
        </p:spPr>
      </p:pic>
    </p:spTree>
    <p:extLst>
      <p:ext uri="{BB962C8B-B14F-4D97-AF65-F5344CB8AC3E}">
        <p14:creationId xmlns:p14="http://schemas.microsoft.com/office/powerpoint/2010/main" val="1017565625"/>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llustration B">
    <p:spTree>
      <p:nvGrpSpPr>
        <p:cNvPr id="1" name=""/>
        <p:cNvGrpSpPr/>
        <p:nvPr/>
      </p:nvGrpSpPr>
      <p:grpSpPr>
        <a:xfrm>
          <a:off x="0" y="0"/>
          <a:ext cx="0" cy="0"/>
          <a:chOff x="0" y="0"/>
          <a:chExt cx="0" cy="0"/>
        </a:xfrm>
      </p:grpSpPr>
      <p:pic>
        <p:nvPicPr>
          <p:cNvPr id="4" name="Picture 3"/>
          <p:cNvPicPr>
            <a:picLocks/>
          </p:cNvPicPr>
          <p:nvPr userDrawn="1"/>
        </p:nvPicPr>
        <p:blipFill>
          <a:blip r:embed="rId2"/>
          <a:stretch>
            <a:fillRect/>
          </a:stretch>
        </p:blipFill>
        <p:spPr>
          <a:xfrm>
            <a:off x="0" y="0"/>
            <a:ext cx="12435840" cy="6995160"/>
          </a:xfrm>
          <a:prstGeom prst="rect">
            <a:avLst/>
          </a:prstGeom>
        </p:spPr>
      </p:pic>
      <p:sp>
        <p:nvSpPr>
          <p:cNvPr id="2" name="Title 1"/>
          <p:cNvSpPr>
            <a:spLocks noGrp="1"/>
          </p:cNvSpPr>
          <p:nvPr>
            <p:ph type="title"/>
          </p:nvPr>
        </p:nvSpPr>
        <p:spPr>
          <a:xfrm>
            <a:off x="4297680" y="731520"/>
            <a:ext cx="7772400" cy="615553"/>
          </a:xfrm>
        </p:spPr>
        <p:txBody>
          <a:bodyPr>
            <a:spAutoFit/>
          </a:bodyPr>
          <a:lstStyle>
            <a:lvl1pPr algn="r">
              <a:lnSpc>
                <a:spcPct val="100000"/>
              </a:lnSpc>
              <a:defRPr sz="2800" spc="-30" baseline="0">
                <a:solidFill>
                  <a:schemeClr val="tx1">
                    <a:lumMod val="50000"/>
                  </a:schemeClr>
                </a:solidFill>
                <a:latin typeface="+mj-lt"/>
              </a:defRPr>
            </a:lvl1pPr>
          </a:lstStyle>
          <a:p>
            <a:r>
              <a:rPr lang="en-US" dirty="0"/>
              <a:t>Click to edit Master title style</a:t>
            </a:r>
          </a:p>
        </p:txBody>
      </p:sp>
      <p:pic>
        <p:nvPicPr>
          <p:cNvPr id="6" name="Picture 5"/>
          <p:cNvPicPr>
            <a:picLocks noChangeAspect="1"/>
          </p:cNvPicPr>
          <p:nvPr userDrawn="1"/>
        </p:nvPicPr>
        <p:blipFill>
          <a:blip r:embed="rId3"/>
          <a:stretch>
            <a:fillRect/>
          </a:stretch>
        </p:blipFill>
        <p:spPr>
          <a:xfrm>
            <a:off x="655637" y="3268662"/>
            <a:ext cx="7463692" cy="3048000"/>
          </a:xfrm>
          <a:prstGeom prst="rect">
            <a:avLst/>
          </a:prstGeom>
        </p:spPr>
      </p:pic>
    </p:spTree>
    <p:extLst>
      <p:ext uri="{BB962C8B-B14F-4D97-AF65-F5344CB8AC3E}">
        <p14:creationId xmlns:p14="http://schemas.microsoft.com/office/powerpoint/2010/main" val="1884167637"/>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rgbClr val="0072C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65760" y="1097280"/>
            <a:ext cx="7315200" cy="1181862"/>
          </a:xfrm>
          <a:noFill/>
        </p:spPr>
        <p:txBody>
          <a:bodyPr tIns="91440" bIns="91440" anchor="t" anchorCtr="0">
            <a:spAutoFit/>
          </a:bodyPr>
          <a:lstStyle>
            <a:lvl1pPr>
              <a:defRPr sz="7200" spc="-8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407535725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rgbClr val="00205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sz="7200" spc="-100" baseline="0">
                <a:solidFill>
                  <a:schemeClr val="bg1"/>
                </a:soli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10058401" cy="794064"/>
          </a:xfrm>
          <a:noFill/>
        </p:spPr>
        <p:txBody>
          <a:bodyPr lIns="182880" tIns="146304" rIns="182880" bIns="146304">
            <a:spAutoFit/>
          </a:bodyPr>
          <a:lstStyle>
            <a:lvl1pPr marL="0" indent="0">
              <a:spcBef>
                <a:spcPts val="0"/>
              </a:spcBef>
              <a:buNone/>
              <a:defRPr sz="3600" spc="0" baseline="0">
                <a:solidFill>
                  <a:schemeClr val="bg1"/>
                </a:solidFill>
                <a:latin typeface="+mj-lt"/>
              </a:defRPr>
            </a:lvl1pPr>
          </a:lstStyle>
          <a:p>
            <a:pPr lvl="0"/>
            <a:r>
              <a:rPr lang="en-US" dirty="0"/>
              <a:t>Speaker Name</a:t>
            </a:r>
          </a:p>
        </p:txBody>
      </p:sp>
    </p:spTree>
    <p:extLst>
      <p:ext uri="{BB962C8B-B14F-4D97-AF65-F5344CB8AC3E}">
        <p14:creationId xmlns:p14="http://schemas.microsoft.com/office/powerpoint/2010/main" val="241170260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tx1">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lang="en-US" sz="7200" b="0" kern="1200" cap="none" spc="-100" baseline="0" dirty="0">
                <a:ln w="3175">
                  <a:noFill/>
                </a:ln>
                <a:solidFill>
                  <a:schemeClr val="bg1"/>
                </a:soli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64218242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9526804"/>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rgbClr val="0072C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845078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5" name="Text Placeholder 4"/>
          <p:cNvSpPr>
            <a:spLocks noGrp="1"/>
          </p:cNvSpPr>
          <p:nvPr>
            <p:ph type="body" sz="quarter" idx="10"/>
          </p:nvPr>
        </p:nvSpPr>
        <p:spPr>
          <a:xfrm>
            <a:off x="365760" y="1371600"/>
            <a:ext cx="11704320" cy="2043636"/>
          </a:xfrm>
        </p:spPr>
        <p:txBody>
          <a:bodyPr>
            <a:spAutoFit/>
          </a:bodyPr>
          <a:lstStyle>
            <a:lvl1pPr marL="0" indent="0">
              <a:spcBef>
                <a:spcPts val="600"/>
              </a:spcBef>
              <a:buNone/>
              <a:defRPr sz="32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2286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4572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6858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9144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62577389"/>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0072C6"/>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350837" y="5554662"/>
            <a:ext cx="11704320" cy="954107"/>
          </a:xfrm>
          <a:prstGeom prst="rect">
            <a:avLst/>
          </a:prstGeom>
          <a:noFill/>
          <a:ln w="12700">
            <a:noFill/>
            <a:miter lim="800000"/>
            <a:headEnd type="none" w="sm" len="sm"/>
            <a:tailEnd type="none" w="sm" len="sm"/>
          </a:ln>
          <a:effectLst/>
        </p:spPr>
        <p:txBody>
          <a:bodyPr vert="horz" wrap="square" lIns="91440" tIns="91440" rIns="91440" bIns="91440" numCol="1" anchor="t" anchorCtr="0" compatLnSpc="1">
            <a:prstTxWarp prst="textNoShape">
              <a:avLst/>
            </a:prstTxWarp>
            <a:spAutoFit/>
          </a:bodyPr>
          <a:lstStyle/>
          <a:p>
            <a:pPr defTabSz="932290" eaLnBrk="0" hangingPunct="0"/>
            <a:r>
              <a:rPr lang="en-US" sz="1000" baseline="0" dirty="0">
                <a:solidFill>
                  <a:schemeClr val="bg1"/>
                </a:solidFill>
                <a:cs typeface="Segoe UI" pitchFamily="34" charset="0"/>
              </a:rPr>
              <a:t>© 2016 Microsoft Corporation. All rights reserved. The text in this document is available under the Creative Commons Attribution 3.0 License, additional terms may apply.  All other content contained in this document (including, without limitation, trademarks, logos, images, etc.) are not included within the Creative Commons license grant.  This document does not provide you with any legal rights to any intellectual property in any Microsoft product. You may copy and use this document for your internal, reference purposes.  </a:t>
            </a:r>
          </a:p>
          <a:p>
            <a:pPr defTabSz="932290" eaLnBrk="0" hangingPunct="0"/>
            <a:r>
              <a:rPr lang="en-US" sz="1000" baseline="0" dirty="0">
                <a:solidFill>
                  <a:schemeClr val="bg1"/>
                </a:solidFill>
                <a:cs typeface="Segoe UI" pitchFamily="34" charset="0"/>
              </a:rPr>
              <a:t>This document is provided "as-is." Information and views expressed in this document, including URL and other Internet Web site references, may change without notice. You bear the risk of using it. Some examples are for illustration only and are fictitious. No real association is intended or inferred. Microsoft makes no warranties, express or implied, with respect to the information provided here. </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459230" y="3145040"/>
            <a:ext cx="3288506" cy="704445"/>
          </a:xfrm>
          <a:prstGeom prst="rect">
            <a:avLst/>
          </a:prstGeom>
        </p:spPr>
      </p:pic>
    </p:spTree>
    <p:extLst>
      <p:ext uri="{BB962C8B-B14F-4D97-AF65-F5344CB8AC3E}">
        <p14:creationId xmlns:p14="http://schemas.microsoft.com/office/powerpoint/2010/main" val="3928358739"/>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365760" y="1371600"/>
            <a:ext cx="11704320" cy="1877437"/>
          </a:xfrm>
          <a:prstGeom prst="rect">
            <a:avLst/>
          </a:prstGeom>
        </p:spPr>
        <p:txBody>
          <a:bodyPr>
            <a:spAutoFit/>
          </a:bodyPr>
          <a:lstStyle>
            <a:lvl1pPr marL="2286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4572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6858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9144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1430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263640"/>
            <a:ext cx="12436476" cy="731520"/>
          </a:xfrm>
          <a:prstGeom prst="rect">
            <a:avLst/>
          </a:prstGeom>
          <a:solidFill>
            <a:srgbClr val="FFFF99"/>
          </a:solidFill>
        </p:spPr>
        <p:txBody>
          <a:bodyPr wrap="square" lIns="365760" tIns="91440" rIns="365760" bIns="91440" anchor="ctr" anchorCtr="0">
            <a:noAutofit/>
          </a:bodyPr>
          <a:lstStyle>
            <a:lvl1pPr algn="r">
              <a:buFont typeface="Arial" pitchFamily="34" charset="0"/>
              <a:buNone/>
              <a:defRPr sz="32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mj-lt"/>
                <a:ea typeface="Segoe UI" pitchFamily="34" charset="0"/>
                <a:cs typeface="Segoe UI" pitchFamily="34" charset="0"/>
              </a:defRPr>
            </a:lvl1pPr>
          </a:lstStyle>
          <a:p>
            <a:r>
              <a:rPr lang="en-US" dirty="0"/>
              <a:t>Click to edit Master title style</a:t>
            </a:r>
          </a:p>
        </p:txBody>
      </p:sp>
    </p:spTree>
    <p:extLst>
      <p:ext uri="{BB962C8B-B14F-4D97-AF65-F5344CB8AC3E}">
        <p14:creationId xmlns:p14="http://schemas.microsoft.com/office/powerpoint/2010/main" val="353099696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and Content 1st level color text">
    <p:bg>
      <p:bgPr>
        <a:solidFill>
          <a:srgbClr val="F8F8F8"/>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9" y="1212850"/>
            <a:ext cx="11887200" cy="2154308"/>
          </a:xfrm>
        </p:spPr>
        <p:txBody>
          <a:bodyPr>
            <a:spAutoFit/>
          </a:bodyPr>
          <a:lstStyle>
            <a:lvl1pPr>
              <a:defRPr sz="3999">
                <a:gradFill>
                  <a:gsLst>
                    <a:gs pos="1250">
                      <a:schemeClr val="tx2"/>
                    </a:gs>
                    <a:gs pos="99000">
                      <a:schemeClr val="tx2"/>
                    </a:gs>
                  </a:gsLst>
                  <a:lin ang="5400000" scaled="0"/>
                </a:gra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45121437"/>
      </p:ext>
    </p:extLst>
  </p:cSld>
  <p:clrMapOvr>
    <a:overrideClrMapping bg1="lt1" tx1="dk1" bg2="lt2" tx2="dk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5760" y="365760"/>
            <a:ext cx="11704320" cy="914400"/>
          </a:xfrm>
          <a:prstGeom prst="rect">
            <a:avLst/>
          </a:prstGeom>
        </p:spPr>
        <p:txBody>
          <a:bodyPr vert="horz" wrap="square" lIns="91440" tIns="91440" rIns="91440" bIns="91440" rtlCol="0" anchor="t">
            <a:noAutofit/>
          </a:bodyPr>
          <a:lstStyle/>
          <a:p>
            <a:r>
              <a:rPr lang="en-US" dirty="0"/>
              <a:t>Click to edit Master title style</a:t>
            </a:r>
          </a:p>
        </p:txBody>
      </p:sp>
      <p:sp>
        <p:nvSpPr>
          <p:cNvPr id="4" name="Text Placeholder 3"/>
          <p:cNvSpPr>
            <a:spLocks noGrp="1"/>
          </p:cNvSpPr>
          <p:nvPr>
            <p:ph type="body" idx="1"/>
          </p:nvPr>
        </p:nvSpPr>
        <p:spPr>
          <a:xfrm>
            <a:off x="365760" y="1280160"/>
            <a:ext cx="11704320" cy="1828800"/>
          </a:xfrm>
          <a:prstGeom prst="rect">
            <a:avLst/>
          </a:prstGeom>
        </p:spPr>
        <p:txBody>
          <a:bodyPr vert="horz" wrap="square" lIns="91440" tIns="91440" rIns="91440" bIns="9144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90270825"/>
      </p:ext>
    </p:extLst>
  </p:cSld>
  <p:clrMap bg1="lt1" tx1="dk1" bg2="lt2" tx2="dk2" accent1="accent1" accent2="accent2" accent3="accent3" accent4="accent4" accent5="accent5" accent6="accent6" hlink="hlink" folHlink="folHlink"/>
  <p:sldLayoutIdLst>
    <p:sldLayoutId id="2147484167" r:id="rId1"/>
    <p:sldLayoutId id="2147484207" r:id="rId2"/>
    <p:sldLayoutId id="2147484203" r:id="rId3"/>
    <p:sldLayoutId id="2147484208" r:id="rId4"/>
    <p:sldLayoutId id="2147484204" r:id="rId5"/>
    <p:sldLayoutId id="2147484209" r:id="rId6"/>
    <p:sldLayoutId id="2147484197" r:id="rId7"/>
    <p:sldLayoutId id="2147484087" r:id="rId8"/>
    <p:sldLayoutId id="2147484098" r:id="rId9"/>
    <p:sldLayoutId id="2147484086" r:id="rId10"/>
    <p:sldLayoutId id="2147484099" r:id="rId11"/>
    <p:sldLayoutId id="2147484106" r:id="rId12"/>
    <p:sldLayoutId id="2147484092" r:id="rId13"/>
    <p:sldLayoutId id="2147484196" r:id="rId14"/>
    <p:sldLayoutId id="2147484201" r:id="rId15"/>
    <p:sldLayoutId id="2147484198" r:id="rId16"/>
    <p:sldLayoutId id="2147484202" r:id="rId17"/>
    <p:sldLayoutId id="2147484199" r:id="rId18"/>
    <p:sldLayoutId id="2147484200" r:id="rId19"/>
    <p:sldLayoutId id="2147484130" r:id="rId20"/>
    <p:sldLayoutId id="2147484205" r:id="rId21"/>
    <p:sldLayoutId id="2147484206" r:id="rId22"/>
    <p:sldLayoutId id="2147484093" r:id="rId23"/>
    <p:sldLayoutId id="2147484127" r:id="rId24"/>
    <p:sldLayoutId id="2147484094" r:id="rId25"/>
    <p:sldLayoutId id="2147484195" r:id="rId26"/>
    <p:sldLayoutId id="2147484096" r:id="rId27"/>
    <p:sldLayoutId id="2147484210" r:id="rId28"/>
  </p:sldLayoutIdLst>
  <p:transition>
    <p:fade/>
  </p:transition>
  <p:txStyles>
    <p:titleStyle>
      <a:lvl1pPr algn="l" defTabSz="932742" rtl="0" eaLnBrk="1" latinLnBrk="0" hangingPunct="1">
        <a:lnSpc>
          <a:spcPct val="90000"/>
        </a:lnSpc>
        <a:spcBef>
          <a:spcPct val="0"/>
        </a:spcBef>
        <a:buNone/>
        <a:defRPr lang="en-US" sz="4800" b="0" kern="1200" cap="none" spc="-70" baseline="0" dirty="0" smtClean="0">
          <a:ln w="3175">
            <a:noFill/>
          </a:ln>
          <a:solidFill>
            <a:srgbClr val="0072C6"/>
          </a:soli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1pPr>
      <a:lvl2pPr marL="4572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emf"/><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emf"/><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hyperlink" Target="https://azure.microsoft.com/en-us/documentation/articles/service-fabric-cluster-upgrade/" TargetMode="External"/><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emf"/><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emf"/><Relationship Id="rId9"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hyperlink" Target="https://azure.microsoft.com/en-us/documentation/articles/service-fabric-cluster-upgrade-windows-server/" TargetMode="External"/><Relationship Id="rId2" Type="http://schemas.openxmlformats.org/officeDocument/2006/relationships/hyperlink" Target="https://azure.microsoft.com/en-us/documentation/articles/service-fabric-cluster-nodetypes/" TargetMode="External"/><Relationship Id="rId1" Type="http://schemas.openxmlformats.org/officeDocument/2006/relationships/slideLayout" Target="../slideLayouts/slideLayout7.xml"/><Relationship Id="rId5" Type="http://schemas.openxmlformats.org/officeDocument/2006/relationships/hyperlink" Target="https://azure.microsoft.com/en-us/documentation/articles/service-fabric-cluster-windows-server-add-remove-nodes/" TargetMode="External"/><Relationship Id="rId4" Type="http://schemas.openxmlformats.org/officeDocument/2006/relationships/hyperlink" Target="https://azure.microsoft.com/en-us/documentation/articles/service-fabric-cluster-scale-up-down/"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274637" y="1677399"/>
            <a:ext cx="8229600" cy="1097280"/>
          </a:xfrm>
          <a:noFill/>
        </p:spPr>
        <p:txBody>
          <a:bodyPr lIns="91440" tIns="91440" rIns="91440" bIns="91440" anchor="t" anchorCtr="0"/>
          <a:lstStyle>
            <a:lvl1pPr>
              <a:defRPr sz="6000" spc="-80" baseline="0">
                <a:solidFill>
                  <a:srgbClr val="0072C6"/>
                </a:solidFill>
              </a:defRPr>
            </a:lvl1pPr>
          </a:lstStyle>
          <a:p>
            <a:r>
              <a:rPr lang="en-US" altLang="zh-CN" dirty="0">
                <a:solidFill>
                  <a:schemeClr val="bg1"/>
                </a:solidFill>
              </a:rPr>
              <a:t>Service Fabric Patterns &amp; Best Practices</a:t>
            </a:r>
            <a:endParaRPr lang="en-US" dirty="0">
              <a:solidFill>
                <a:schemeClr val="bg1"/>
              </a:solidFill>
            </a:endParaRPr>
          </a:p>
        </p:txBody>
      </p:sp>
    </p:spTree>
    <p:extLst>
      <p:ext uri="{BB962C8B-B14F-4D97-AF65-F5344CB8AC3E}">
        <p14:creationId xmlns:p14="http://schemas.microsoft.com/office/powerpoint/2010/main" val="184230914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4"/>
          <p:cNvSpPr>
            <a:spLocks noGrp="1"/>
          </p:cNvSpPr>
          <p:nvPr>
            <p:ph type="body" sz="quarter" idx="12"/>
          </p:nvPr>
        </p:nvSpPr>
        <p:spPr>
          <a:xfrm>
            <a:off x="274637" y="3573462"/>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Chacko Daniel</a:t>
            </a:r>
          </a:p>
          <a:p>
            <a:pPr lvl="0"/>
            <a:r>
              <a:rPr lang="en-US" dirty="0"/>
              <a:t>Khaled Henidak </a:t>
            </a:r>
          </a:p>
        </p:txBody>
      </p:sp>
      <p:sp>
        <p:nvSpPr>
          <p:cNvPr id="17" name="Title 1"/>
          <p:cNvSpPr>
            <a:spLocks noGrp="1"/>
          </p:cNvSpPr>
          <p:nvPr>
            <p:ph type="title"/>
          </p:nvPr>
        </p:nvSpPr>
        <p:spPr>
          <a:xfrm>
            <a:off x="274636" y="1677399"/>
            <a:ext cx="8436349" cy="1097280"/>
          </a:xfrm>
          <a:noFill/>
        </p:spPr>
        <p:txBody>
          <a:bodyPr lIns="91440" tIns="91440" rIns="91440" bIns="91440" anchor="t" anchorCtr="0"/>
          <a:lstStyle>
            <a:lvl1pPr>
              <a:defRPr sz="6000" spc="-80" baseline="0">
                <a:solidFill>
                  <a:srgbClr val="0072C6"/>
                </a:solidFill>
              </a:defRPr>
            </a:lvl1pPr>
          </a:lstStyle>
          <a:p>
            <a:r>
              <a:rPr lang="en-US" dirty="0"/>
              <a:t>Cluster planning &amp; Management</a:t>
            </a:r>
          </a:p>
        </p:txBody>
      </p:sp>
    </p:spTree>
    <p:extLst>
      <p:ext uri="{BB962C8B-B14F-4D97-AF65-F5344CB8AC3E}">
        <p14:creationId xmlns:p14="http://schemas.microsoft.com/office/powerpoint/2010/main" val="125160112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9250362" y="3924873"/>
            <a:ext cx="2819718" cy="2858881"/>
          </a:xfrm>
          <a:prstGeom prst="rect">
            <a:avLst/>
          </a:prstGeom>
        </p:spPr>
      </p:pic>
      <p:sp>
        <p:nvSpPr>
          <p:cNvPr id="2" name="Title 1"/>
          <p:cNvSpPr>
            <a:spLocks noGrp="1"/>
          </p:cNvSpPr>
          <p:nvPr>
            <p:ph type="title"/>
          </p:nvPr>
        </p:nvSpPr>
        <p:spPr/>
        <p:txBody>
          <a:bodyPr/>
          <a:lstStyle/>
          <a:p>
            <a:r>
              <a:rPr lang="en-US" altLang="zh-CN" dirty="0">
                <a:solidFill>
                  <a:srgbClr val="FF0000"/>
                </a:solidFill>
              </a:rPr>
              <a:t>Problem</a:t>
            </a:r>
            <a:endParaRPr lang="en-US" dirty="0">
              <a:solidFill>
                <a:srgbClr val="FF0000"/>
              </a:solidFill>
            </a:endParaRPr>
          </a:p>
        </p:txBody>
      </p:sp>
      <p:sp>
        <p:nvSpPr>
          <p:cNvPr id="3" name="Text Placeholder 2"/>
          <p:cNvSpPr>
            <a:spLocks noGrp="1"/>
          </p:cNvSpPr>
          <p:nvPr>
            <p:ph type="body" sz="quarter" idx="10"/>
          </p:nvPr>
        </p:nvSpPr>
        <p:spPr/>
        <p:txBody>
          <a:bodyPr/>
          <a:lstStyle/>
          <a:p>
            <a:r>
              <a:rPr lang="en-US" dirty="0"/>
              <a:t> Cluster Management nightmares</a:t>
            </a:r>
          </a:p>
          <a:p>
            <a:endParaRPr lang="en-US" dirty="0"/>
          </a:p>
        </p:txBody>
      </p:sp>
      <p:sp>
        <p:nvSpPr>
          <p:cNvPr id="4" name="TextBox 3"/>
          <p:cNvSpPr txBox="1"/>
          <p:nvPr/>
        </p:nvSpPr>
        <p:spPr>
          <a:xfrm>
            <a:off x="525125" y="1906693"/>
            <a:ext cx="11694163" cy="2265236"/>
          </a:xfrm>
          <a:prstGeom prst="rect">
            <a:avLst/>
          </a:prstGeom>
          <a:noFill/>
        </p:spPr>
        <p:txBody>
          <a:bodyPr wrap="none" lIns="182880" tIns="146304" rIns="182880" bIns="146304" rtlCol="0">
            <a:spAutoFit/>
          </a:bodyPr>
          <a:lstStyle/>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I always worry about running out of capacity ?</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I am not sure if all the VM resources are utilized ?</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I am worried sick about my cluster being compromised. </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I have no control on when a new Service fabric version is rolled out to my cluster.</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I am not sure if what disasters my cluster can survive ?</a:t>
            </a:r>
          </a:p>
        </p:txBody>
      </p:sp>
    </p:spTree>
    <p:extLst>
      <p:ext uri="{BB962C8B-B14F-4D97-AF65-F5344CB8AC3E}">
        <p14:creationId xmlns:p14="http://schemas.microsoft.com/office/powerpoint/2010/main" val="200754941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Best Practice</a:t>
            </a:r>
          </a:p>
        </p:txBody>
      </p:sp>
      <p:sp>
        <p:nvSpPr>
          <p:cNvPr id="3" name="Text Placeholder 2"/>
          <p:cNvSpPr>
            <a:spLocks noGrp="1"/>
          </p:cNvSpPr>
          <p:nvPr>
            <p:ph type="body" sz="quarter" idx="10"/>
          </p:nvPr>
        </p:nvSpPr>
        <p:spPr/>
        <p:txBody>
          <a:bodyPr/>
          <a:lstStyle/>
          <a:p>
            <a:r>
              <a:rPr lang="en-US" dirty="0"/>
              <a:t>Service Fabric Cluster Management nightmare mitigation </a:t>
            </a:r>
          </a:p>
        </p:txBody>
      </p:sp>
      <p:pic>
        <p:nvPicPr>
          <p:cNvPr id="13" name="Picture 12"/>
          <p:cNvPicPr>
            <a:picLocks noChangeAspect="1"/>
          </p:cNvPicPr>
          <p:nvPr/>
        </p:nvPicPr>
        <p:blipFill>
          <a:blip r:embed="rId2"/>
          <a:stretch>
            <a:fillRect/>
          </a:stretch>
        </p:blipFill>
        <p:spPr>
          <a:xfrm>
            <a:off x="8199437" y="2354262"/>
            <a:ext cx="2819717" cy="2819717"/>
          </a:xfrm>
          <a:prstGeom prst="rect">
            <a:avLst/>
          </a:prstGeom>
        </p:spPr>
      </p:pic>
      <p:sp>
        <p:nvSpPr>
          <p:cNvPr id="6" name="Content Placeholder 2"/>
          <p:cNvSpPr txBox="1">
            <a:spLocks/>
          </p:cNvSpPr>
          <p:nvPr/>
        </p:nvSpPr>
        <p:spPr>
          <a:xfrm>
            <a:off x="198437" y="2675377"/>
            <a:ext cx="10515600" cy="2650685"/>
          </a:xfrm>
          <a:prstGeom prst="rect">
            <a:avLst/>
          </a:prstGeom>
        </p:spPr>
        <p:txBody>
          <a:bodyPr>
            <a:normAutofit/>
          </a:bodyPr>
          <a:lstStyle>
            <a:lvl1pPr marL="2286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1pPr>
            <a:lvl2pPr marL="4572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lvl="1" indent="0">
              <a:buNone/>
            </a:pPr>
            <a:r>
              <a:rPr lang="en-US" dirty="0"/>
              <a:t>Let us divide the problem space into three buckets</a:t>
            </a:r>
          </a:p>
          <a:p>
            <a:pPr marL="228600" lvl="1" indent="0">
              <a:buNone/>
            </a:pPr>
            <a:endParaRPr lang="en-US" dirty="0"/>
          </a:p>
          <a:p>
            <a:pPr marL="685800" lvl="1" indent="-457200">
              <a:buFont typeface="+mj-lt"/>
              <a:buAutoNum type="arabicPeriod"/>
            </a:pPr>
            <a:r>
              <a:rPr lang="en-US" dirty="0"/>
              <a:t>Plan out your cluster capacity</a:t>
            </a:r>
          </a:p>
          <a:p>
            <a:pPr marL="685800" lvl="1" indent="-457200">
              <a:buFont typeface="+mj-lt"/>
              <a:buAutoNum type="arabicPeriod"/>
            </a:pPr>
            <a:r>
              <a:rPr lang="en-US" dirty="0"/>
              <a:t>Optimize and Secure your cluster</a:t>
            </a:r>
          </a:p>
          <a:p>
            <a:pPr marL="685800" lvl="1" indent="-457200">
              <a:buFont typeface="+mj-lt"/>
              <a:buAutoNum type="arabicPeriod"/>
            </a:pPr>
            <a:r>
              <a:rPr lang="en-US" dirty="0"/>
              <a:t>Manage your cluster version</a:t>
            </a:r>
          </a:p>
          <a:p>
            <a:pPr lvl="1"/>
            <a:endParaRPr lang="en-US" dirty="0"/>
          </a:p>
          <a:p>
            <a:pPr lvl="1"/>
            <a:endParaRPr lang="en-US" dirty="0"/>
          </a:p>
          <a:p>
            <a:pPr lvl="1"/>
            <a:endParaRPr lang="en-US" dirty="0"/>
          </a:p>
        </p:txBody>
      </p:sp>
    </p:spTree>
    <p:extLst>
      <p:ext uri="{BB962C8B-B14F-4D97-AF65-F5344CB8AC3E}">
        <p14:creationId xmlns:p14="http://schemas.microsoft.com/office/powerpoint/2010/main" val="129141058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Best Practice</a:t>
            </a:r>
          </a:p>
        </p:txBody>
      </p:sp>
      <p:sp>
        <p:nvSpPr>
          <p:cNvPr id="3" name="Text Placeholder 2"/>
          <p:cNvSpPr>
            <a:spLocks noGrp="1"/>
          </p:cNvSpPr>
          <p:nvPr>
            <p:ph type="body" sz="quarter" idx="10"/>
          </p:nvPr>
        </p:nvSpPr>
        <p:spPr/>
        <p:txBody>
          <a:bodyPr/>
          <a:lstStyle/>
          <a:p>
            <a:r>
              <a:rPr lang="en-US" dirty="0"/>
              <a:t>Service Fabric Cluster planning</a:t>
            </a:r>
          </a:p>
        </p:txBody>
      </p:sp>
      <p:pic>
        <p:nvPicPr>
          <p:cNvPr id="13" name="Picture 12"/>
          <p:cNvPicPr>
            <a:picLocks noChangeAspect="1"/>
          </p:cNvPicPr>
          <p:nvPr/>
        </p:nvPicPr>
        <p:blipFill>
          <a:blip r:embed="rId2"/>
          <a:stretch>
            <a:fillRect/>
          </a:stretch>
        </p:blipFill>
        <p:spPr>
          <a:xfrm>
            <a:off x="8199437" y="2354262"/>
            <a:ext cx="2819717" cy="2819717"/>
          </a:xfrm>
          <a:prstGeom prst="rect">
            <a:avLst/>
          </a:prstGeom>
        </p:spPr>
      </p:pic>
      <p:sp>
        <p:nvSpPr>
          <p:cNvPr id="6" name="Content Placeholder 2"/>
          <p:cNvSpPr txBox="1">
            <a:spLocks/>
          </p:cNvSpPr>
          <p:nvPr/>
        </p:nvSpPr>
        <p:spPr>
          <a:xfrm>
            <a:off x="198437" y="2675377"/>
            <a:ext cx="10515600" cy="3946086"/>
          </a:xfrm>
          <a:prstGeom prst="rect">
            <a:avLst/>
          </a:prstGeom>
        </p:spPr>
        <p:txBody>
          <a:bodyPr>
            <a:normAutofit/>
          </a:bodyPr>
          <a:lstStyle>
            <a:lvl1pPr marL="2286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1pPr>
            <a:lvl2pPr marL="4572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endParaRPr lang="en-US" dirty="0"/>
          </a:p>
          <a:p>
            <a:pPr lvl="1"/>
            <a:r>
              <a:rPr lang="en-US" dirty="0"/>
              <a:t>Capacity planning is not an easy exercise.</a:t>
            </a:r>
          </a:p>
          <a:p>
            <a:pPr lvl="1"/>
            <a:r>
              <a:rPr lang="en-US" dirty="0"/>
              <a:t>Capacity planning is not a one time exercise.</a:t>
            </a:r>
          </a:p>
          <a:p>
            <a:pPr lvl="1"/>
            <a:r>
              <a:rPr lang="en-US" dirty="0"/>
              <a:t>Do not assume that you can add capacity on demand instantly.</a:t>
            </a:r>
          </a:p>
          <a:p>
            <a:pPr lvl="1"/>
            <a:r>
              <a:rPr lang="en-US" dirty="0"/>
              <a:t>Do not assume that you can take downtime to change capacity later</a:t>
            </a:r>
          </a:p>
          <a:p>
            <a:pPr lvl="1"/>
            <a:endParaRPr lang="en-US" dirty="0"/>
          </a:p>
          <a:p>
            <a:pPr lvl="1"/>
            <a:endParaRPr lang="en-US" dirty="0"/>
          </a:p>
          <a:p>
            <a:pPr lvl="1"/>
            <a:endParaRPr lang="en-US" dirty="0"/>
          </a:p>
          <a:p>
            <a:pPr lvl="1"/>
            <a:r>
              <a:rPr lang="en-US" dirty="0"/>
              <a:t>Here are some of the questions you will need answer for, before you can truly plan out your cluster.</a:t>
            </a:r>
          </a:p>
        </p:txBody>
      </p:sp>
    </p:spTree>
    <p:extLst>
      <p:ext uri="{BB962C8B-B14F-4D97-AF65-F5344CB8AC3E}">
        <p14:creationId xmlns:p14="http://schemas.microsoft.com/office/powerpoint/2010/main" val="356226921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5978531" y="1168563"/>
            <a:ext cx="6144077" cy="2755832"/>
            <a:chOff x="66518" y="1429103"/>
            <a:chExt cx="11609284" cy="5095790"/>
          </a:xfrm>
        </p:grpSpPr>
        <p:sp>
          <p:nvSpPr>
            <p:cNvPr id="5" name="Rounded Rectangle 121"/>
            <p:cNvSpPr/>
            <p:nvPr/>
          </p:nvSpPr>
          <p:spPr bwMode="auto">
            <a:xfrm>
              <a:off x="875468" y="1429103"/>
              <a:ext cx="2648020" cy="2072545"/>
            </a:xfrm>
            <a:prstGeom prst="roundRect">
              <a:avLst>
                <a:gd name="adj" fmla="val 5175"/>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02" tIns="146241" rIns="182802" bIns="146241" numCol="1" spcCol="0" rtlCol="0" fromWordArt="0" anchor="t" anchorCtr="0" forceAA="0" compatLnSpc="1">
              <a:prstTxWarp prst="textNoShape">
                <a:avLst/>
              </a:prstTxWarp>
              <a:noAutofit/>
            </a:bodyPr>
            <a:lstStyle/>
            <a:p>
              <a:pPr algn="ctr" defTabSz="931935">
                <a:lnSpc>
                  <a:spcPct val="90000"/>
                </a:lnSpc>
                <a:defRPr/>
              </a:pPr>
              <a:r>
                <a:rPr lang="en-US" sz="1020" dirty="0">
                  <a:gradFill>
                    <a:gsLst>
                      <a:gs pos="0">
                        <a:srgbClr val="FFFFFF"/>
                      </a:gs>
                      <a:gs pos="100000">
                        <a:srgbClr val="FFFFFF"/>
                      </a:gs>
                    </a:gsLst>
                    <a:lin ang="5400000" scaled="0"/>
                  </a:gradFill>
                  <a:latin typeface="Segoe UI"/>
                  <a:ea typeface="Segoe UI" pitchFamily="34" charset="0"/>
                  <a:cs typeface="Segoe UI" pitchFamily="34" charset="0"/>
                </a:rPr>
                <a:t>Source Control</a:t>
              </a:r>
            </a:p>
          </p:txBody>
        </p:sp>
        <p:sp>
          <p:nvSpPr>
            <p:cNvPr id="6" name="Rounded Rectangle 6"/>
            <p:cNvSpPr/>
            <p:nvPr/>
          </p:nvSpPr>
          <p:spPr bwMode="auto">
            <a:xfrm>
              <a:off x="6105535" y="1444561"/>
              <a:ext cx="2099013" cy="2072545"/>
            </a:xfrm>
            <a:prstGeom prst="roundRect">
              <a:avLst>
                <a:gd name="adj" fmla="val 5175"/>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algn="ctr" defTabSz="931935">
                <a:lnSpc>
                  <a:spcPct val="90000"/>
                </a:lnSpc>
                <a:defRPr/>
              </a:pPr>
              <a:r>
                <a:rPr lang="en-US" sz="918" dirty="0">
                  <a:gradFill>
                    <a:gsLst>
                      <a:gs pos="0">
                        <a:srgbClr val="FFFFFF"/>
                      </a:gs>
                      <a:gs pos="100000">
                        <a:srgbClr val="FFFFFF"/>
                      </a:gs>
                    </a:gsLst>
                    <a:lin ang="5400000" scaled="0"/>
                  </a:gradFill>
                  <a:latin typeface="Segoe UI"/>
                  <a:ea typeface="Segoe UI" pitchFamily="34" charset="0"/>
                  <a:cs typeface="Segoe UI" pitchFamily="34" charset="0"/>
                </a:rPr>
                <a:t>Build</a:t>
              </a:r>
            </a:p>
          </p:txBody>
        </p:sp>
        <p:cxnSp>
          <p:nvCxnSpPr>
            <p:cNvPr id="7" name="Straight Connector 6"/>
            <p:cNvCxnSpPr>
              <a:stCxn id="5" idx="2"/>
              <a:endCxn id="59" idx="0"/>
            </p:cNvCxnSpPr>
            <p:nvPr/>
          </p:nvCxnSpPr>
          <p:spPr>
            <a:xfrm flipH="1">
              <a:off x="2168817" y="3501649"/>
              <a:ext cx="30661" cy="1752570"/>
            </a:xfrm>
            <a:prstGeom prst="line">
              <a:avLst/>
            </a:prstGeom>
            <a:ln w="38100">
              <a:solidFill>
                <a:schemeClr val="tx1"/>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1204557" y="5190134"/>
              <a:ext cx="1901685" cy="1096897"/>
              <a:chOff x="940119" y="5293964"/>
              <a:chExt cx="1940093" cy="1119051"/>
            </a:xfrm>
          </p:grpSpPr>
          <p:sp>
            <p:nvSpPr>
              <p:cNvPr id="58" name="Rectangle 154"/>
              <p:cNvSpPr>
                <a:spLocks noChangeArrowheads="1"/>
              </p:cNvSpPr>
              <p:nvPr/>
            </p:nvSpPr>
            <p:spPr bwMode="auto">
              <a:xfrm>
                <a:off x="1171231" y="5293964"/>
                <a:ext cx="1505245" cy="1027824"/>
              </a:xfrm>
              <a:prstGeom prst="rect">
                <a:avLst/>
              </a:prstGeom>
              <a:solidFill>
                <a:schemeClr val="bg2">
                  <a:lumMod val="2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4" tIns="45706" rIns="91414" bIns="45706" numCol="1" anchor="t" anchorCtr="0" compatLnSpc="1">
                <a:prstTxWarp prst="textNoShape">
                  <a:avLst/>
                </a:prstTxWarp>
              </a:bodyPr>
              <a:lstStyle/>
              <a:p>
                <a:pPr defTabSz="932384">
                  <a:defRPr/>
                </a:pPr>
                <a:endParaRPr lang="en-US" sz="1020">
                  <a:solidFill>
                    <a:srgbClr val="FFFFFF"/>
                  </a:solidFill>
                  <a:latin typeface="Segoe UI"/>
                </a:endParaRPr>
              </a:p>
            </p:txBody>
          </p:sp>
          <p:sp>
            <p:nvSpPr>
              <p:cNvPr id="59" name="Rectangle 156"/>
              <p:cNvSpPr>
                <a:spLocks noChangeArrowheads="1"/>
              </p:cNvSpPr>
              <p:nvPr/>
            </p:nvSpPr>
            <p:spPr bwMode="auto">
              <a:xfrm>
                <a:off x="1224447" y="5359343"/>
                <a:ext cx="1398813" cy="897066"/>
              </a:xfrm>
              <a:prstGeom prst="rect">
                <a:avLst/>
              </a:prstGeom>
              <a:solidFill>
                <a:schemeClr val="tx1">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4" tIns="45706" rIns="91414" bIns="45706" numCol="1" anchor="t" anchorCtr="0" compatLnSpc="1">
                <a:prstTxWarp prst="textNoShape">
                  <a:avLst/>
                </a:prstTxWarp>
              </a:bodyPr>
              <a:lstStyle/>
              <a:p>
                <a:pPr defTabSz="932384">
                  <a:defRPr/>
                </a:pPr>
                <a:endParaRPr lang="en-US" sz="1020">
                  <a:solidFill>
                    <a:srgbClr val="FFFFFF"/>
                  </a:solidFill>
                  <a:latin typeface="Segoe UI"/>
                </a:endParaRPr>
              </a:p>
            </p:txBody>
          </p:sp>
          <p:sp>
            <p:nvSpPr>
              <p:cNvPr id="60" name="Freeform 158"/>
              <p:cNvSpPr>
                <a:spLocks/>
              </p:cNvSpPr>
              <p:nvPr/>
            </p:nvSpPr>
            <p:spPr bwMode="auto">
              <a:xfrm>
                <a:off x="940119" y="6336991"/>
                <a:ext cx="1940093" cy="76024"/>
              </a:xfrm>
              <a:custGeom>
                <a:avLst/>
                <a:gdLst>
                  <a:gd name="T0" fmla="*/ 0 w 1454"/>
                  <a:gd name="T1" fmla="*/ 0 h 57"/>
                  <a:gd name="T2" fmla="*/ 0 w 1454"/>
                  <a:gd name="T3" fmla="*/ 4 h 57"/>
                  <a:gd name="T4" fmla="*/ 53 w 1454"/>
                  <a:gd name="T5" fmla="*/ 57 h 57"/>
                  <a:gd name="T6" fmla="*/ 1400 w 1454"/>
                  <a:gd name="T7" fmla="*/ 57 h 57"/>
                  <a:gd name="T8" fmla="*/ 1454 w 1454"/>
                  <a:gd name="T9" fmla="*/ 4 h 57"/>
                  <a:gd name="T10" fmla="*/ 1454 w 1454"/>
                  <a:gd name="T11" fmla="*/ 0 h 57"/>
                  <a:gd name="T12" fmla="*/ 0 w 1454"/>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1454" h="57">
                    <a:moveTo>
                      <a:pt x="0" y="0"/>
                    </a:moveTo>
                    <a:cubicBezTo>
                      <a:pt x="0" y="4"/>
                      <a:pt x="0" y="4"/>
                      <a:pt x="0" y="4"/>
                    </a:cubicBezTo>
                    <a:cubicBezTo>
                      <a:pt x="0" y="33"/>
                      <a:pt x="24" y="57"/>
                      <a:pt x="53" y="57"/>
                    </a:cubicBezTo>
                    <a:cubicBezTo>
                      <a:pt x="1400" y="57"/>
                      <a:pt x="1400" y="57"/>
                      <a:pt x="1400" y="57"/>
                    </a:cubicBezTo>
                    <a:cubicBezTo>
                      <a:pt x="1430" y="57"/>
                      <a:pt x="1454" y="33"/>
                      <a:pt x="1454" y="4"/>
                    </a:cubicBezTo>
                    <a:cubicBezTo>
                      <a:pt x="1454" y="0"/>
                      <a:pt x="1454" y="0"/>
                      <a:pt x="1454" y="0"/>
                    </a:cubicBezTo>
                    <a:lnTo>
                      <a:pt x="0" y="0"/>
                    </a:lnTo>
                    <a:close/>
                  </a:path>
                </a:pathLst>
              </a:custGeom>
              <a:solidFill>
                <a:schemeClr val="bg2">
                  <a:lumMod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4" tIns="45706" rIns="91414" bIns="45706" numCol="1" anchor="t" anchorCtr="0" compatLnSpc="1">
                <a:prstTxWarp prst="textNoShape">
                  <a:avLst/>
                </a:prstTxWarp>
              </a:bodyPr>
              <a:lstStyle/>
              <a:p>
                <a:pPr defTabSz="932384">
                  <a:defRPr/>
                </a:pPr>
                <a:endParaRPr lang="en-US" sz="1020">
                  <a:solidFill>
                    <a:srgbClr val="FFFFFF"/>
                  </a:solidFill>
                  <a:latin typeface="Segoe UI"/>
                </a:endParaRPr>
              </a:p>
            </p:txBody>
          </p:sp>
        </p:grpSp>
        <p:pic>
          <p:nvPicPr>
            <p:cNvPr id="9" name="Picture 28"/>
            <p:cNvPicPr>
              <a:picLocks noChangeAspect="1"/>
            </p:cNvPicPr>
            <p:nvPr/>
          </p:nvPicPr>
          <p:blipFill rotWithShape="1">
            <a:blip r:embed="rId3">
              <a:extLst>
                <a:ext uri="{28A0092B-C50C-407E-A947-70E740481C1C}">
                  <a14:useLocalDpi xmlns:a14="http://schemas.microsoft.com/office/drawing/2010/main" val="0"/>
                </a:ext>
              </a:extLst>
            </a:blip>
            <a:srcRect b="35075"/>
            <a:stretch/>
          </p:blipFill>
          <p:spPr bwMode="auto">
            <a:xfrm>
              <a:off x="6837932" y="1724621"/>
              <a:ext cx="1005129" cy="863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Accepted DEV"/>
            <p:cNvGrpSpPr/>
            <p:nvPr/>
          </p:nvGrpSpPr>
          <p:grpSpPr>
            <a:xfrm>
              <a:off x="7278818" y="2497065"/>
              <a:ext cx="447808" cy="447808"/>
              <a:chOff x="4382751" y="3909289"/>
              <a:chExt cx="456852" cy="456852"/>
            </a:xfrm>
          </p:grpSpPr>
          <p:sp>
            <p:nvSpPr>
              <p:cNvPr id="56" name="Accepted"/>
              <p:cNvSpPr/>
              <p:nvPr/>
            </p:nvSpPr>
            <p:spPr bwMode="auto">
              <a:xfrm>
                <a:off x="4382751" y="3909289"/>
                <a:ext cx="456852" cy="456852"/>
              </a:xfrm>
              <a:prstGeom prst="ellipse">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114" fontAlgn="base">
                  <a:lnSpc>
                    <a:spcPct val="90000"/>
                  </a:lnSpc>
                  <a:spcBef>
                    <a:spcPct val="0"/>
                  </a:spcBef>
                  <a:spcAft>
                    <a:spcPct val="0"/>
                  </a:spcAft>
                  <a:defRPr/>
                </a:pPr>
                <a:endParaRPr lang="en-US" sz="1224" b="1"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7" name="Freeform 26"/>
              <p:cNvSpPr>
                <a:spLocks/>
              </p:cNvSpPr>
              <p:nvPr/>
            </p:nvSpPr>
            <p:spPr bwMode="auto">
              <a:xfrm>
                <a:off x="4460627" y="4004450"/>
                <a:ext cx="301100" cy="266531"/>
              </a:xfrm>
              <a:custGeom>
                <a:avLst/>
                <a:gdLst>
                  <a:gd name="T0" fmla="*/ 1202 w 1202"/>
                  <a:gd name="T1" fmla="*/ 175 h 1064"/>
                  <a:gd name="T2" fmla="*/ 975 w 1202"/>
                  <a:gd name="T3" fmla="*/ 0 h 1064"/>
                  <a:gd name="T4" fmla="*/ 458 w 1202"/>
                  <a:gd name="T5" fmla="*/ 676 h 1064"/>
                  <a:gd name="T6" fmla="*/ 163 w 1202"/>
                  <a:gd name="T7" fmla="*/ 449 h 1064"/>
                  <a:gd name="T8" fmla="*/ 0 w 1202"/>
                  <a:gd name="T9" fmla="*/ 662 h 1064"/>
                  <a:gd name="T10" fmla="*/ 522 w 1202"/>
                  <a:gd name="T11" fmla="*/ 1064 h 1064"/>
                  <a:gd name="T12" fmla="*/ 685 w 1202"/>
                  <a:gd name="T13" fmla="*/ 851 h 1064"/>
                  <a:gd name="T14" fmla="*/ 685 w 1202"/>
                  <a:gd name="T15" fmla="*/ 851 h 1064"/>
                  <a:gd name="T16" fmla="*/ 1202 w 1202"/>
                  <a:gd name="T17" fmla="*/ 175 h 10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02" h="1064">
                    <a:moveTo>
                      <a:pt x="1202" y="175"/>
                    </a:moveTo>
                    <a:lnTo>
                      <a:pt x="975" y="0"/>
                    </a:lnTo>
                    <a:lnTo>
                      <a:pt x="458" y="676"/>
                    </a:lnTo>
                    <a:lnTo>
                      <a:pt x="163" y="449"/>
                    </a:lnTo>
                    <a:lnTo>
                      <a:pt x="0" y="662"/>
                    </a:lnTo>
                    <a:lnTo>
                      <a:pt x="522" y="1064"/>
                    </a:lnTo>
                    <a:lnTo>
                      <a:pt x="685" y="851"/>
                    </a:lnTo>
                    <a:lnTo>
                      <a:pt x="685" y="851"/>
                    </a:lnTo>
                    <a:lnTo>
                      <a:pt x="1202" y="175"/>
                    </a:lnTo>
                    <a:close/>
                  </a:path>
                </a:pathLst>
              </a:custGeom>
              <a:solidFill>
                <a:schemeClr val="bg1">
                  <a:lumMod val="95000"/>
                </a:schemeClr>
              </a:solidFill>
              <a:ln>
                <a:noFill/>
              </a:ln>
            </p:spPr>
            <p:txBody>
              <a:bodyPr vert="horz" wrap="square" lIns="91414" tIns="45706" rIns="91414" bIns="45706" numCol="1" anchor="t" anchorCtr="0" compatLnSpc="1">
                <a:prstTxWarp prst="textNoShape">
                  <a:avLst/>
                </a:prstTxWarp>
              </a:bodyPr>
              <a:lstStyle/>
              <a:p>
                <a:pPr defTabSz="913833">
                  <a:defRPr/>
                </a:pPr>
                <a:endParaRPr lang="en-US" sz="1020">
                  <a:solidFill>
                    <a:srgbClr val="000000"/>
                  </a:solidFill>
                  <a:latin typeface="Segoe UI"/>
                </a:endParaRPr>
              </a:p>
            </p:txBody>
          </p:sp>
        </p:grpSp>
        <p:cxnSp>
          <p:nvCxnSpPr>
            <p:cNvPr id="11" name="Straight Arrow Connector 10"/>
            <p:cNvCxnSpPr>
              <a:stCxn id="5" idx="3"/>
              <a:endCxn id="6" idx="1"/>
            </p:cNvCxnSpPr>
            <p:nvPr/>
          </p:nvCxnSpPr>
          <p:spPr>
            <a:xfrm>
              <a:off x="3523489" y="2465376"/>
              <a:ext cx="2582046" cy="1545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7267007" y="3517107"/>
              <a:ext cx="11811" cy="533427"/>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endCxn id="6" idx="2"/>
            </p:cNvCxnSpPr>
            <p:nvPr/>
          </p:nvCxnSpPr>
          <p:spPr>
            <a:xfrm flipV="1">
              <a:off x="7155029" y="3517107"/>
              <a:ext cx="12" cy="491758"/>
            </a:xfrm>
            <a:prstGeom prst="straightConnector1">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nvGrpSpPr>
            <p:cNvPr id="14" name="Group 13"/>
            <p:cNvGrpSpPr/>
            <p:nvPr/>
          </p:nvGrpSpPr>
          <p:grpSpPr>
            <a:xfrm>
              <a:off x="2054598" y="5381082"/>
              <a:ext cx="425797" cy="441731"/>
              <a:chOff x="1707792" y="5550508"/>
              <a:chExt cx="434335" cy="450589"/>
            </a:xfrm>
          </p:grpSpPr>
          <p:grpSp>
            <p:nvGrpSpPr>
              <p:cNvPr id="51" name="Group 50"/>
              <p:cNvGrpSpPr/>
              <p:nvPr/>
            </p:nvGrpSpPr>
            <p:grpSpPr>
              <a:xfrm>
                <a:off x="1707792" y="5550508"/>
                <a:ext cx="433342" cy="450589"/>
                <a:chOff x="652595" y="2571201"/>
                <a:chExt cx="609169" cy="633414"/>
              </a:xfrm>
            </p:grpSpPr>
            <p:sp>
              <p:nvSpPr>
                <p:cNvPr id="53" name="Freeform 11"/>
                <p:cNvSpPr>
                  <a:spLocks/>
                </p:cNvSpPr>
                <p:nvPr/>
              </p:nvSpPr>
              <p:spPr bwMode="auto">
                <a:xfrm>
                  <a:off x="652595" y="2571201"/>
                  <a:ext cx="609169" cy="633414"/>
                </a:xfrm>
                <a:custGeom>
                  <a:avLst/>
                  <a:gdLst>
                    <a:gd name="T0" fmla="*/ 67 w 644"/>
                    <a:gd name="T1" fmla="*/ 0 h 671"/>
                    <a:gd name="T2" fmla="*/ 0 w 644"/>
                    <a:gd name="T3" fmla="*/ 68 h 671"/>
                    <a:gd name="T4" fmla="*/ 0 w 644"/>
                    <a:gd name="T5" fmla="*/ 603 h 671"/>
                    <a:gd name="T6" fmla="*/ 67 w 644"/>
                    <a:gd name="T7" fmla="*/ 671 h 671"/>
                    <a:gd name="T8" fmla="*/ 576 w 644"/>
                    <a:gd name="T9" fmla="*/ 671 h 671"/>
                    <a:gd name="T10" fmla="*/ 644 w 644"/>
                    <a:gd name="T11" fmla="*/ 603 h 671"/>
                    <a:gd name="T12" fmla="*/ 644 w 644"/>
                    <a:gd name="T13" fmla="*/ 193 h 671"/>
                    <a:gd name="T14" fmla="*/ 644 w 644"/>
                    <a:gd name="T15" fmla="*/ 127 h 671"/>
                    <a:gd name="T16" fmla="*/ 515 w 644"/>
                    <a:gd name="T17" fmla="*/ 0 h 671"/>
                    <a:gd name="T18" fmla="*/ 445 w 644"/>
                    <a:gd name="T19" fmla="*/ 0 h 671"/>
                    <a:gd name="T20" fmla="*/ 67 w 644"/>
                    <a:gd name="T21" fmla="*/ 0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4" h="671">
                      <a:moveTo>
                        <a:pt x="67" y="0"/>
                      </a:moveTo>
                      <a:cubicBezTo>
                        <a:pt x="30" y="0"/>
                        <a:pt x="0" y="30"/>
                        <a:pt x="0" y="68"/>
                      </a:cubicBezTo>
                      <a:cubicBezTo>
                        <a:pt x="0" y="603"/>
                        <a:pt x="0" y="603"/>
                        <a:pt x="0" y="603"/>
                      </a:cubicBezTo>
                      <a:cubicBezTo>
                        <a:pt x="0" y="641"/>
                        <a:pt x="30" y="671"/>
                        <a:pt x="67" y="671"/>
                      </a:cubicBezTo>
                      <a:cubicBezTo>
                        <a:pt x="576" y="671"/>
                        <a:pt x="576" y="671"/>
                        <a:pt x="576" y="671"/>
                      </a:cubicBezTo>
                      <a:cubicBezTo>
                        <a:pt x="613" y="671"/>
                        <a:pt x="644" y="641"/>
                        <a:pt x="644" y="603"/>
                      </a:cubicBezTo>
                      <a:cubicBezTo>
                        <a:pt x="644" y="193"/>
                        <a:pt x="644" y="193"/>
                        <a:pt x="644" y="193"/>
                      </a:cubicBezTo>
                      <a:cubicBezTo>
                        <a:pt x="644" y="156"/>
                        <a:pt x="644" y="127"/>
                        <a:pt x="644" y="127"/>
                      </a:cubicBezTo>
                      <a:cubicBezTo>
                        <a:pt x="515" y="0"/>
                        <a:pt x="515" y="0"/>
                        <a:pt x="515" y="0"/>
                      </a:cubicBezTo>
                      <a:cubicBezTo>
                        <a:pt x="515" y="0"/>
                        <a:pt x="482" y="0"/>
                        <a:pt x="445" y="0"/>
                      </a:cubicBezTo>
                      <a:lnTo>
                        <a:pt x="67" y="0"/>
                      </a:lnTo>
                      <a:close/>
                    </a:path>
                  </a:pathLst>
                </a:custGeom>
                <a:solidFill>
                  <a:srgbClr val="B9B9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8" tIns="45694" rIns="91388" bIns="45694" numCol="1" anchor="t" anchorCtr="0" compatLnSpc="1">
                  <a:prstTxWarp prst="textNoShape">
                    <a:avLst/>
                  </a:prstTxWarp>
                </a:bodyPr>
                <a:lstStyle/>
                <a:p>
                  <a:pPr defTabSz="932026">
                    <a:defRPr/>
                  </a:pPr>
                  <a:endParaRPr lang="en-US" sz="1020">
                    <a:solidFill>
                      <a:srgbClr val="FFFFFF"/>
                    </a:solidFill>
                    <a:latin typeface="Segoe UI"/>
                  </a:endParaRPr>
                </a:p>
              </p:txBody>
            </p:sp>
            <p:sp>
              <p:nvSpPr>
                <p:cNvPr id="54" name="Freeform 6"/>
                <p:cNvSpPr>
                  <a:spLocks/>
                </p:cNvSpPr>
                <p:nvPr/>
              </p:nvSpPr>
              <p:spPr bwMode="auto">
                <a:xfrm>
                  <a:off x="828249" y="2734135"/>
                  <a:ext cx="107771" cy="333265"/>
                </a:xfrm>
                <a:custGeom>
                  <a:avLst/>
                  <a:gdLst>
                    <a:gd name="T0" fmla="*/ 23 w 86"/>
                    <a:gd name="T1" fmla="*/ 56 h 265"/>
                    <a:gd name="T2" fmla="*/ 23 w 86"/>
                    <a:gd name="T3" fmla="*/ 90 h 265"/>
                    <a:gd name="T4" fmla="*/ 0 w 86"/>
                    <a:gd name="T5" fmla="*/ 119 h 265"/>
                    <a:gd name="T6" fmla="*/ 0 w 86"/>
                    <a:gd name="T7" fmla="*/ 146 h 265"/>
                    <a:gd name="T8" fmla="*/ 23 w 86"/>
                    <a:gd name="T9" fmla="*/ 174 h 265"/>
                    <a:gd name="T10" fmla="*/ 23 w 86"/>
                    <a:gd name="T11" fmla="*/ 210 h 265"/>
                    <a:gd name="T12" fmla="*/ 36 w 86"/>
                    <a:gd name="T13" fmla="*/ 251 h 265"/>
                    <a:gd name="T14" fmla="*/ 86 w 86"/>
                    <a:gd name="T15" fmla="*/ 265 h 265"/>
                    <a:gd name="T16" fmla="*/ 86 w 86"/>
                    <a:gd name="T17" fmla="*/ 237 h 265"/>
                    <a:gd name="T18" fmla="*/ 67 w 86"/>
                    <a:gd name="T19" fmla="*/ 231 h 265"/>
                    <a:gd name="T20" fmla="*/ 62 w 86"/>
                    <a:gd name="T21" fmla="*/ 210 h 265"/>
                    <a:gd name="T22" fmla="*/ 62 w 86"/>
                    <a:gd name="T23" fmla="*/ 179 h 265"/>
                    <a:gd name="T24" fmla="*/ 39 w 86"/>
                    <a:gd name="T25" fmla="*/ 133 h 265"/>
                    <a:gd name="T26" fmla="*/ 39 w 86"/>
                    <a:gd name="T27" fmla="*/ 132 h 265"/>
                    <a:gd name="T28" fmla="*/ 62 w 86"/>
                    <a:gd name="T29" fmla="*/ 87 h 265"/>
                    <a:gd name="T30" fmla="*/ 62 w 86"/>
                    <a:gd name="T31" fmla="*/ 55 h 265"/>
                    <a:gd name="T32" fmla="*/ 86 w 86"/>
                    <a:gd name="T33" fmla="*/ 28 h 265"/>
                    <a:gd name="T34" fmla="*/ 86 w 86"/>
                    <a:gd name="T35" fmla="*/ 0 h 265"/>
                    <a:gd name="T36" fmla="*/ 36 w 86"/>
                    <a:gd name="T37" fmla="*/ 14 h 265"/>
                    <a:gd name="T38" fmla="*/ 23 w 86"/>
                    <a:gd name="T39" fmla="*/ 56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6" h="265">
                      <a:moveTo>
                        <a:pt x="23" y="56"/>
                      </a:moveTo>
                      <a:lnTo>
                        <a:pt x="23" y="90"/>
                      </a:lnTo>
                      <a:cubicBezTo>
                        <a:pt x="23" y="109"/>
                        <a:pt x="16" y="119"/>
                        <a:pt x="0" y="119"/>
                      </a:cubicBezTo>
                      <a:lnTo>
                        <a:pt x="0" y="146"/>
                      </a:lnTo>
                      <a:cubicBezTo>
                        <a:pt x="16" y="146"/>
                        <a:pt x="23" y="156"/>
                        <a:pt x="23" y="174"/>
                      </a:cubicBezTo>
                      <a:lnTo>
                        <a:pt x="23" y="210"/>
                      </a:lnTo>
                      <a:cubicBezTo>
                        <a:pt x="23" y="229"/>
                        <a:pt x="27" y="243"/>
                        <a:pt x="36" y="251"/>
                      </a:cubicBezTo>
                      <a:cubicBezTo>
                        <a:pt x="45" y="260"/>
                        <a:pt x="62" y="265"/>
                        <a:pt x="86" y="265"/>
                      </a:cubicBezTo>
                      <a:lnTo>
                        <a:pt x="86" y="237"/>
                      </a:lnTo>
                      <a:cubicBezTo>
                        <a:pt x="77" y="237"/>
                        <a:pt x="71" y="235"/>
                        <a:pt x="67" y="231"/>
                      </a:cubicBezTo>
                      <a:cubicBezTo>
                        <a:pt x="64" y="227"/>
                        <a:pt x="62" y="220"/>
                        <a:pt x="62" y="210"/>
                      </a:cubicBezTo>
                      <a:lnTo>
                        <a:pt x="62" y="179"/>
                      </a:lnTo>
                      <a:cubicBezTo>
                        <a:pt x="62" y="154"/>
                        <a:pt x="54" y="139"/>
                        <a:pt x="39" y="133"/>
                      </a:cubicBezTo>
                      <a:lnTo>
                        <a:pt x="39" y="132"/>
                      </a:lnTo>
                      <a:cubicBezTo>
                        <a:pt x="54" y="126"/>
                        <a:pt x="62" y="111"/>
                        <a:pt x="62" y="87"/>
                      </a:cubicBezTo>
                      <a:lnTo>
                        <a:pt x="62" y="55"/>
                      </a:lnTo>
                      <a:cubicBezTo>
                        <a:pt x="62" y="37"/>
                        <a:pt x="70" y="28"/>
                        <a:pt x="86" y="28"/>
                      </a:cubicBezTo>
                      <a:lnTo>
                        <a:pt x="86" y="0"/>
                      </a:lnTo>
                      <a:cubicBezTo>
                        <a:pt x="62" y="0"/>
                        <a:pt x="46" y="5"/>
                        <a:pt x="36" y="14"/>
                      </a:cubicBezTo>
                      <a:cubicBezTo>
                        <a:pt x="28" y="23"/>
                        <a:pt x="23" y="37"/>
                        <a:pt x="23" y="56"/>
                      </a:cubicBezTo>
                      <a:close/>
                    </a:path>
                  </a:pathLst>
                </a:custGeom>
                <a:solidFill>
                  <a:schemeClr val="bg1"/>
                </a:solidFill>
                <a:ln w="0">
                  <a:noFill/>
                  <a:prstDash val="solid"/>
                  <a:round/>
                  <a:headEnd/>
                  <a:tailEnd/>
                </a:ln>
              </p:spPr>
              <p:txBody>
                <a:bodyPr vert="horz" wrap="square" lIns="91388" tIns="45694" rIns="91388" bIns="45694" numCol="1" anchor="t" anchorCtr="0" compatLnSpc="1">
                  <a:prstTxWarp prst="textNoShape">
                    <a:avLst/>
                  </a:prstTxWarp>
                </a:bodyPr>
                <a:lstStyle/>
                <a:p>
                  <a:pPr defTabSz="932026">
                    <a:defRPr/>
                  </a:pPr>
                  <a:endParaRPr lang="en-US" sz="1020">
                    <a:solidFill>
                      <a:srgbClr val="FFFFFF"/>
                    </a:solidFill>
                    <a:latin typeface="Segoe UI"/>
                  </a:endParaRPr>
                </a:p>
              </p:txBody>
            </p:sp>
            <p:sp>
              <p:nvSpPr>
                <p:cNvPr id="55" name="Freeform 7"/>
                <p:cNvSpPr>
                  <a:spLocks/>
                </p:cNvSpPr>
                <p:nvPr/>
              </p:nvSpPr>
              <p:spPr bwMode="auto">
                <a:xfrm>
                  <a:off x="1000685" y="2734135"/>
                  <a:ext cx="107771" cy="333265"/>
                </a:xfrm>
                <a:custGeom>
                  <a:avLst/>
                  <a:gdLst>
                    <a:gd name="T0" fmla="*/ 62 w 85"/>
                    <a:gd name="T1" fmla="*/ 90 h 265"/>
                    <a:gd name="T2" fmla="*/ 62 w 85"/>
                    <a:gd name="T3" fmla="*/ 56 h 265"/>
                    <a:gd name="T4" fmla="*/ 50 w 85"/>
                    <a:gd name="T5" fmla="*/ 15 h 265"/>
                    <a:gd name="T6" fmla="*/ 0 w 85"/>
                    <a:gd name="T7" fmla="*/ 0 h 265"/>
                    <a:gd name="T8" fmla="*/ 0 w 85"/>
                    <a:gd name="T9" fmla="*/ 28 h 265"/>
                    <a:gd name="T10" fmla="*/ 24 w 85"/>
                    <a:gd name="T11" fmla="*/ 55 h 265"/>
                    <a:gd name="T12" fmla="*/ 24 w 85"/>
                    <a:gd name="T13" fmla="*/ 85 h 265"/>
                    <a:gd name="T14" fmla="*/ 47 w 85"/>
                    <a:gd name="T15" fmla="*/ 132 h 265"/>
                    <a:gd name="T16" fmla="*/ 47 w 85"/>
                    <a:gd name="T17" fmla="*/ 133 h 265"/>
                    <a:gd name="T18" fmla="*/ 24 w 85"/>
                    <a:gd name="T19" fmla="*/ 178 h 265"/>
                    <a:gd name="T20" fmla="*/ 24 w 85"/>
                    <a:gd name="T21" fmla="*/ 210 h 265"/>
                    <a:gd name="T22" fmla="*/ 19 w 85"/>
                    <a:gd name="T23" fmla="*/ 231 h 265"/>
                    <a:gd name="T24" fmla="*/ 0 w 85"/>
                    <a:gd name="T25" fmla="*/ 237 h 265"/>
                    <a:gd name="T26" fmla="*/ 0 w 85"/>
                    <a:gd name="T27" fmla="*/ 265 h 265"/>
                    <a:gd name="T28" fmla="*/ 50 w 85"/>
                    <a:gd name="T29" fmla="*/ 251 h 265"/>
                    <a:gd name="T30" fmla="*/ 62 w 85"/>
                    <a:gd name="T31" fmla="*/ 209 h 265"/>
                    <a:gd name="T32" fmla="*/ 62 w 85"/>
                    <a:gd name="T33" fmla="*/ 174 h 265"/>
                    <a:gd name="T34" fmla="*/ 85 w 85"/>
                    <a:gd name="T35" fmla="*/ 146 h 265"/>
                    <a:gd name="T36" fmla="*/ 85 w 85"/>
                    <a:gd name="T37" fmla="*/ 119 h 265"/>
                    <a:gd name="T38" fmla="*/ 62 w 85"/>
                    <a:gd name="T39" fmla="*/ 90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 h="265">
                      <a:moveTo>
                        <a:pt x="62" y="90"/>
                      </a:moveTo>
                      <a:lnTo>
                        <a:pt x="62" y="56"/>
                      </a:lnTo>
                      <a:cubicBezTo>
                        <a:pt x="62" y="37"/>
                        <a:pt x="58" y="23"/>
                        <a:pt x="50" y="15"/>
                      </a:cubicBezTo>
                      <a:cubicBezTo>
                        <a:pt x="40" y="5"/>
                        <a:pt x="23" y="0"/>
                        <a:pt x="0" y="0"/>
                      </a:cubicBezTo>
                      <a:lnTo>
                        <a:pt x="0" y="28"/>
                      </a:lnTo>
                      <a:cubicBezTo>
                        <a:pt x="16" y="28"/>
                        <a:pt x="24" y="37"/>
                        <a:pt x="24" y="55"/>
                      </a:cubicBezTo>
                      <a:lnTo>
                        <a:pt x="24" y="85"/>
                      </a:lnTo>
                      <a:cubicBezTo>
                        <a:pt x="24" y="110"/>
                        <a:pt x="32" y="126"/>
                        <a:pt x="47" y="132"/>
                      </a:cubicBezTo>
                      <a:lnTo>
                        <a:pt x="47" y="133"/>
                      </a:lnTo>
                      <a:cubicBezTo>
                        <a:pt x="32" y="139"/>
                        <a:pt x="24" y="154"/>
                        <a:pt x="24" y="178"/>
                      </a:cubicBezTo>
                      <a:lnTo>
                        <a:pt x="24" y="210"/>
                      </a:lnTo>
                      <a:cubicBezTo>
                        <a:pt x="24" y="219"/>
                        <a:pt x="22" y="226"/>
                        <a:pt x="19" y="231"/>
                      </a:cubicBezTo>
                      <a:cubicBezTo>
                        <a:pt x="15" y="235"/>
                        <a:pt x="9" y="237"/>
                        <a:pt x="0" y="237"/>
                      </a:cubicBezTo>
                      <a:lnTo>
                        <a:pt x="0" y="265"/>
                      </a:lnTo>
                      <a:cubicBezTo>
                        <a:pt x="24" y="265"/>
                        <a:pt x="41" y="260"/>
                        <a:pt x="50" y="251"/>
                      </a:cubicBezTo>
                      <a:cubicBezTo>
                        <a:pt x="58" y="242"/>
                        <a:pt x="62" y="229"/>
                        <a:pt x="62" y="209"/>
                      </a:cubicBezTo>
                      <a:lnTo>
                        <a:pt x="62" y="174"/>
                      </a:lnTo>
                      <a:cubicBezTo>
                        <a:pt x="62" y="156"/>
                        <a:pt x="70" y="146"/>
                        <a:pt x="85" y="146"/>
                      </a:cubicBezTo>
                      <a:lnTo>
                        <a:pt x="85" y="119"/>
                      </a:lnTo>
                      <a:cubicBezTo>
                        <a:pt x="70" y="119"/>
                        <a:pt x="62" y="109"/>
                        <a:pt x="62" y="90"/>
                      </a:cubicBezTo>
                      <a:close/>
                    </a:path>
                  </a:pathLst>
                </a:custGeom>
                <a:solidFill>
                  <a:schemeClr val="bg1"/>
                </a:solidFill>
                <a:ln w="0">
                  <a:noFill/>
                  <a:prstDash val="solid"/>
                  <a:round/>
                  <a:headEnd/>
                  <a:tailEnd/>
                </a:ln>
              </p:spPr>
              <p:txBody>
                <a:bodyPr vert="horz" wrap="square" lIns="91388" tIns="45694" rIns="91388" bIns="45694" numCol="1" anchor="t" anchorCtr="0" compatLnSpc="1">
                  <a:prstTxWarp prst="textNoShape">
                    <a:avLst/>
                  </a:prstTxWarp>
                </a:bodyPr>
                <a:lstStyle/>
                <a:p>
                  <a:pPr defTabSz="932026">
                    <a:defRPr/>
                  </a:pPr>
                  <a:endParaRPr lang="en-US" sz="1020">
                    <a:solidFill>
                      <a:srgbClr val="FFFFFF"/>
                    </a:solidFill>
                    <a:latin typeface="Segoe UI"/>
                  </a:endParaRPr>
                </a:p>
              </p:txBody>
            </p:sp>
          </p:grpSp>
          <p:sp>
            <p:nvSpPr>
              <p:cNvPr id="52" name="Freeform 12"/>
              <p:cNvSpPr>
                <a:spLocks/>
              </p:cNvSpPr>
              <p:nvPr/>
            </p:nvSpPr>
            <p:spPr bwMode="auto">
              <a:xfrm>
                <a:off x="2052638" y="5550508"/>
                <a:ext cx="89489" cy="85748"/>
              </a:xfrm>
              <a:custGeom>
                <a:avLst/>
                <a:gdLst>
                  <a:gd name="T0" fmla="*/ 81 w 81"/>
                  <a:gd name="T1" fmla="*/ 79 h 79"/>
                  <a:gd name="T2" fmla="*/ 0 w 81"/>
                  <a:gd name="T3" fmla="*/ 0 h 79"/>
                  <a:gd name="T4" fmla="*/ 0 w 81"/>
                  <a:gd name="T5" fmla="*/ 79 h 79"/>
                  <a:gd name="T6" fmla="*/ 81 w 81"/>
                  <a:gd name="T7" fmla="*/ 79 h 79"/>
                </a:gdLst>
                <a:ahLst/>
                <a:cxnLst>
                  <a:cxn ang="0">
                    <a:pos x="T0" y="T1"/>
                  </a:cxn>
                  <a:cxn ang="0">
                    <a:pos x="T2" y="T3"/>
                  </a:cxn>
                  <a:cxn ang="0">
                    <a:pos x="T4" y="T5"/>
                  </a:cxn>
                  <a:cxn ang="0">
                    <a:pos x="T6" y="T7"/>
                  </a:cxn>
                </a:cxnLst>
                <a:rect l="0" t="0" r="r" b="b"/>
                <a:pathLst>
                  <a:path w="81" h="79">
                    <a:moveTo>
                      <a:pt x="81" y="79"/>
                    </a:moveTo>
                    <a:lnTo>
                      <a:pt x="0" y="0"/>
                    </a:lnTo>
                    <a:lnTo>
                      <a:pt x="0" y="79"/>
                    </a:lnTo>
                    <a:lnTo>
                      <a:pt x="81" y="79"/>
                    </a:lnTo>
                    <a:close/>
                  </a:path>
                </a:pathLst>
              </a:custGeom>
              <a:solidFill>
                <a:srgbClr val="969696"/>
              </a:solidFill>
              <a:ln>
                <a:noFill/>
              </a:ln>
              <a:extLst/>
            </p:spPr>
            <p:txBody>
              <a:bodyPr vert="horz" wrap="square" lIns="91401" tIns="45700" rIns="91401" bIns="45700" numCol="1" anchor="t" anchorCtr="0" compatLnSpc="1">
                <a:prstTxWarp prst="textNoShape">
                  <a:avLst/>
                </a:prstTxWarp>
              </a:bodyPr>
              <a:lstStyle/>
              <a:p>
                <a:pPr defTabSz="932205">
                  <a:defRPr/>
                </a:pPr>
                <a:endParaRPr lang="en-US" sz="1020" dirty="0">
                  <a:solidFill>
                    <a:srgbClr val="FFFFFF"/>
                  </a:solidFill>
                  <a:latin typeface="Segoe UI"/>
                </a:endParaRPr>
              </a:p>
            </p:txBody>
          </p:sp>
        </p:grpSp>
        <p:grpSp>
          <p:nvGrpSpPr>
            <p:cNvPr id="15" name="Group 14"/>
            <p:cNvGrpSpPr/>
            <p:nvPr/>
          </p:nvGrpSpPr>
          <p:grpSpPr>
            <a:xfrm>
              <a:off x="3359566" y="4710410"/>
              <a:ext cx="321735" cy="111031"/>
              <a:chOff x="8334103" y="3143135"/>
              <a:chExt cx="582929" cy="201169"/>
            </a:xfrm>
          </p:grpSpPr>
          <p:pic>
            <p:nvPicPr>
              <p:cNvPr id="49" name="Picture 48"/>
              <p:cNvPicPr>
                <a:picLocks/>
              </p:cNvPicPr>
              <p:nvPr/>
            </p:nvPicPr>
            <p:blipFill>
              <a:blip r:embed="rId4"/>
              <a:stretch>
                <a:fillRect/>
              </a:stretch>
            </p:blipFill>
            <p:spPr>
              <a:xfrm>
                <a:off x="8334103" y="3143135"/>
                <a:ext cx="186403" cy="201169"/>
              </a:xfrm>
              <a:prstGeom prst="rect">
                <a:avLst/>
              </a:prstGeom>
            </p:spPr>
          </p:pic>
          <p:pic>
            <p:nvPicPr>
              <p:cNvPr id="50" name="Picture 49"/>
              <p:cNvPicPr>
                <a:picLocks/>
              </p:cNvPicPr>
              <p:nvPr/>
            </p:nvPicPr>
            <p:blipFill>
              <a:blip r:embed="rId4"/>
              <a:stretch>
                <a:fillRect/>
              </a:stretch>
            </p:blipFill>
            <p:spPr>
              <a:xfrm flipH="1">
                <a:off x="8734152" y="3143135"/>
                <a:ext cx="182880" cy="201169"/>
              </a:xfrm>
              <a:prstGeom prst="rect">
                <a:avLst/>
              </a:prstGeom>
            </p:spPr>
          </p:pic>
        </p:grpSp>
        <p:sp>
          <p:nvSpPr>
            <p:cNvPr id="16" name="TextBox 15"/>
            <p:cNvSpPr txBox="1"/>
            <p:nvPr/>
          </p:nvSpPr>
          <p:spPr>
            <a:xfrm>
              <a:off x="3360288" y="5085007"/>
              <a:ext cx="392328" cy="213069"/>
            </a:xfrm>
            <a:prstGeom prst="rect">
              <a:avLst/>
            </a:prstGeom>
            <a:noFill/>
          </p:spPr>
          <p:txBody>
            <a:bodyPr wrap="none" lIns="0" tIns="0" rIns="0" bIns="0" rtlCol="0">
              <a:spAutoFit/>
            </a:bodyPr>
            <a:lstStyle/>
            <a:p>
              <a:pPr defTabSz="932384">
                <a:lnSpc>
                  <a:spcPct val="90000"/>
                </a:lnSpc>
                <a:spcAft>
                  <a:spcPts val="600"/>
                </a:spcAft>
                <a:defRPr/>
              </a:pPr>
              <a:r>
                <a:rPr lang="en-US" sz="816" b="1" dirty="0">
                  <a:gradFill>
                    <a:gsLst>
                      <a:gs pos="2917">
                        <a:srgbClr val="FFFFFF"/>
                      </a:gs>
                      <a:gs pos="30000">
                        <a:srgbClr val="FFFFFF"/>
                      </a:gs>
                    </a:gsLst>
                    <a:lin ang="5400000" scaled="0"/>
                  </a:gradFill>
                  <a:latin typeface="Segoe UI"/>
                </a:rPr>
                <a:t>OPS</a:t>
              </a:r>
            </a:p>
          </p:txBody>
        </p:sp>
        <p:pic>
          <p:nvPicPr>
            <p:cNvPr id="17" name="Picture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48809" y="4373627"/>
              <a:ext cx="1074351" cy="2109052"/>
            </a:xfrm>
            <a:prstGeom prst="rect">
              <a:avLst/>
            </a:prstGeom>
          </p:spPr>
        </p:pic>
        <p:sp>
          <p:nvSpPr>
            <p:cNvPr id="18" name="TextBox 17"/>
            <p:cNvSpPr txBox="1"/>
            <p:nvPr/>
          </p:nvSpPr>
          <p:spPr>
            <a:xfrm>
              <a:off x="3186384" y="5132790"/>
              <a:ext cx="392328" cy="213069"/>
            </a:xfrm>
            <a:prstGeom prst="rect">
              <a:avLst/>
            </a:prstGeom>
            <a:noFill/>
          </p:spPr>
          <p:txBody>
            <a:bodyPr wrap="none" lIns="0" tIns="0" rIns="0" bIns="0" rtlCol="0">
              <a:spAutoFit/>
            </a:bodyPr>
            <a:lstStyle/>
            <a:p>
              <a:pPr defTabSz="932384">
                <a:lnSpc>
                  <a:spcPct val="90000"/>
                </a:lnSpc>
                <a:spcAft>
                  <a:spcPts val="600"/>
                </a:spcAft>
                <a:defRPr/>
              </a:pPr>
              <a:r>
                <a:rPr lang="en-US" sz="816" b="1" dirty="0">
                  <a:solidFill>
                    <a:schemeClr val="accent2">
                      <a:lumMod val="60000"/>
                      <a:lumOff val="40000"/>
                    </a:schemeClr>
                  </a:solidFill>
                  <a:latin typeface="Segoe UI"/>
                </a:rPr>
                <a:t>OPS</a:t>
              </a:r>
            </a:p>
          </p:txBody>
        </p:sp>
        <p:cxnSp>
          <p:nvCxnSpPr>
            <p:cNvPr id="19" name="Straight Arrow Connector 18"/>
            <p:cNvCxnSpPr>
              <a:cxnSpLocks/>
              <a:stCxn id="6" idx="3"/>
            </p:cNvCxnSpPr>
            <p:nvPr/>
          </p:nvCxnSpPr>
          <p:spPr>
            <a:xfrm flipV="1">
              <a:off x="8204548" y="2462528"/>
              <a:ext cx="1679613" cy="18306"/>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cxnSpLocks/>
              <a:stCxn id="6" idx="3"/>
              <a:endCxn id="45" idx="1"/>
            </p:cNvCxnSpPr>
            <p:nvPr/>
          </p:nvCxnSpPr>
          <p:spPr>
            <a:xfrm>
              <a:off x="8204548" y="2480834"/>
              <a:ext cx="1331930" cy="2400889"/>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1" name="Group 20"/>
            <p:cNvGrpSpPr/>
            <p:nvPr/>
          </p:nvGrpSpPr>
          <p:grpSpPr>
            <a:xfrm>
              <a:off x="9884160" y="1615197"/>
              <a:ext cx="1694661" cy="1694661"/>
              <a:chOff x="9285108" y="1568259"/>
              <a:chExt cx="1728642" cy="1728642"/>
            </a:xfrm>
          </p:grpSpPr>
          <p:pic>
            <p:nvPicPr>
              <p:cNvPr id="47" name="Picture 4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85108" y="1568259"/>
                <a:ext cx="1728642" cy="1728642"/>
              </a:xfrm>
              <a:prstGeom prst="rect">
                <a:avLst/>
              </a:prstGeom>
            </p:spPr>
          </p:pic>
          <p:sp>
            <p:nvSpPr>
              <p:cNvPr id="48" name="TextBox 47"/>
              <p:cNvSpPr txBox="1"/>
              <p:nvPr/>
            </p:nvSpPr>
            <p:spPr>
              <a:xfrm>
                <a:off x="9607869" y="2198501"/>
                <a:ext cx="1203324" cy="856217"/>
              </a:xfrm>
              <a:prstGeom prst="rect">
                <a:avLst/>
              </a:prstGeom>
              <a:noFill/>
            </p:spPr>
            <p:txBody>
              <a:bodyPr wrap="none" lIns="182854" tIns="146283" rIns="182854" bIns="146283" rtlCol="0">
                <a:spAutoFit/>
              </a:bodyPr>
              <a:lstStyle/>
              <a:p>
                <a:pPr>
                  <a:lnSpc>
                    <a:spcPct val="90000"/>
                  </a:lnSpc>
                  <a:spcAft>
                    <a:spcPts val="600"/>
                  </a:spcAft>
                </a:pPr>
                <a:r>
                  <a:rPr lang="en-US" sz="1122" b="1" dirty="0">
                    <a:gradFill>
                      <a:gsLst>
                        <a:gs pos="2917">
                          <a:schemeClr val="tx1"/>
                        </a:gs>
                        <a:gs pos="30000">
                          <a:schemeClr val="tx1"/>
                        </a:gs>
                      </a:gsLst>
                      <a:lin ang="5400000" scaled="0"/>
                    </a:gradFill>
                  </a:rPr>
                  <a:t>PPL</a:t>
                </a:r>
              </a:p>
            </p:txBody>
          </p:sp>
        </p:grpSp>
        <p:grpSp>
          <p:nvGrpSpPr>
            <p:cNvPr id="22" name="Group 21"/>
            <p:cNvGrpSpPr/>
            <p:nvPr/>
          </p:nvGrpSpPr>
          <p:grpSpPr>
            <a:xfrm>
              <a:off x="9536478" y="3812061"/>
              <a:ext cx="2139324" cy="2139324"/>
              <a:chOff x="8741267" y="3888004"/>
              <a:chExt cx="2182222" cy="2182222"/>
            </a:xfrm>
          </p:grpSpPr>
          <p:pic>
            <p:nvPicPr>
              <p:cNvPr id="45" name="Picture 4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41267" y="3888004"/>
                <a:ext cx="2182222" cy="2182222"/>
              </a:xfrm>
              <a:prstGeom prst="rect">
                <a:avLst/>
              </a:prstGeom>
            </p:spPr>
          </p:pic>
          <p:sp>
            <p:nvSpPr>
              <p:cNvPr id="46" name="TextBox 45"/>
              <p:cNvSpPr txBox="1"/>
              <p:nvPr/>
            </p:nvSpPr>
            <p:spPr>
              <a:xfrm>
                <a:off x="9235724" y="4831873"/>
                <a:ext cx="1493227" cy="856217"/>
              </a:xfrm>
              <a:prstGeom prst="rect">
                <a:avLst/>
              </a:prstGeom>
              <a:noFill/>
            </p:spPr>
            <p:txBody>
              <a:bodyPr wrap="none" lIns="182854" tIns="146283" rIns="182854" bIns="146283" rtlCol="0">
                <a:spAutoFit/>
              </a:bodyPr>
              <a:lstStyle/>
              <a:p>
                <a:pPr>
                  <a:lnSpc>
                    <a:spcPct val="90000"/>
                  </a:lnSpc>
                  <a:spcAft>
                    <a:spcPts val="600"/>
                  </a:spcAft>
                </a:pPr>
                <a:r>
                  <a:rPr lang="en-US" sz="1122" b="1" dirty="0">
                    <a:gradFill>
                      <a:gsLst>
                        <a:gs pos="2917">
                          <a:schemeClr val="tx1"/>
                        </a:gs>
                        <a:gs pos="30000">
                          <a:schemeClr val="tx1"/>
                        </a:gs>
                      </a:gsLst>
                      <a:lin ang="5400000" scaled="0"/>
                    </a:gradFill>
                  </a:rPr>
                  <a:t>PROD</a:t>
                </a:r>
              </a:p>
            </p:txBody>
          </p:sp>
        </p:grpSp>
        <p:grpSp>
          <p:nvGrpSpPr>
            <p:cNvPr id="23" name="CODE 2" descr="Down:  Group 65"/>
            <p:cNvGrpSpPr/>
            <p:nvPr/>
          </p:nvGrpSpPr>
          <p:grpSpPr>
            <a:xfrm>
              <a:off x="1753740" y="2385248"/>
              <a:ext cx="527551" cy="549859"/>
              <a:chOff x="2328301" y="3506767"/>
              <a:chExt cx="551703" cy="575034"/>
            </a:xfrm>
          </p:grpSpPr>
          <p:sp>
            <p:nvSpPr>
              <p:cNvPr id="36" name="AutoShape 3"/>
              <p:cNvSpPr>
                <a:spLocks noChangeAspect="1" noChangeArrowheads="1" noTextEdit="1"/>
              </p:cNvSpPr>
              <p:nvPr/>
            </p:nvSpPr>
            <p:spPr bwMode="auto">
              <a:xfrm>
                <a:off x="2330370" y="3507272"/>
                <a:ext cx="543013" cy="555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1" tIns="45700" rIns="91401" bIns="45700" numCol="1" anchor="t" anchorCtr="0" compatLnSpc="1">
                <a:prstTxWarp prst="textNoShape">
                  <a:avLst/>
                </a:prstTxWarp>
              </a:bodyPr>
              <a:lstStyle/>
              <a:p>
                <a:pPr defTabSz="932205">
                  <a:defRPr/>
                </a:pPr>
                <a:endParaRPr lang="en-US" sz="1020">
                  <a:solidFill>
                    <a:srgbClr val="FFFFFF"/>
                  </a:solidFill>
                  <a:latin typeface="Segoe UI"/>
                </a:endParaRPr>
              </a:p>
            </p:txBody>
          </p:sp>
          <p:grpSp>
            <p:nvGrpSpPr>
              <p:cNvPr id="37" name="Group 36"/>
              <p:cNvGrpSpPr/>
              <p:nvPr/>
            </p:nvGrpSpPr>
            <p:grpSpPr>
              <a:xfrm>
                <a:off x="2328301" y="3506767"/>
                <a:ext cx="551703" cy="575034"/>
                <a:chOff x="3937002" y="4448175"/>
                <a:chExt cx="638175" cy="665163"/>
              </a:xfrm>
            </p:grpSpPr>
            <p:grpSp>
              <p:nvGrpSpPr>
                <p:cNvPr id="38" name="Group 10"/>
                <p:cNvGrpSpPr>
                  <a:grpSpLocks noChangeAspect="1"/>
                </p:cNvGrpSpPr>
                <p:nvPr/>
              </p:nvGrpSpPr>
              <p:grpSpPr bwMode="auto">
                <a:xfrm>
                  <a:off x="3937002" y="4448175"/>
                  <a:ext cx="638175" cy="665163"/>
                  <a:chOff x="2480" y="2802"/>
                  <a:chExt cx="402" cy="419"/>
                </a:xfrm>
              </p:grpSpPr>
              <p:sp>
                <p:nvSpPr>
                  <p:cNvPr id="42" name="AutoShape 9"/>
                  <p:cNvSpPr>
                    <a:spLocks noChangeAspect="1" noChangeArrowheads="1" noTextEdit="1"/>
                  </p:cNvSpPr>
                  <p:nvPr/>
                </p:nvSpPr>
                <p:spPr bwMode="auto">
                  <a:xfrm>
                    <a:off x="2481" y="2802"/>
                    <a:ext cx="400"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1" tIns="45700" rIns="91401" bIns="45700" numCol="1" anchor="t" anchorCtr="0" compatLnSpc="1">
                    <a:prstTxWarp prst="textNoShape">
                      <a:avLst/>
                    </a:prstTxWarp>
                  </a:bodyPr>
                  <a:lstStyle/>
                  <a:p>
                    <a:pPr defTabSz="932205">
                      <a:defRPr/>
                    </a:pPr>
                    <a:endParaRPr lang="en-US" sz="1020">
                      <a:solidFill>
                        <a:srgbClr val="FFFFFF"/>
                      </a:solidFill>
                      <a:latin typeface="Segoe UI"/>
                    </a:endParaRPr>
                  </a:p>
                </p:txBody>
              </p:sp>
              <p:sp>
                <p:nvSpPr>
                  <p:cNvPr id="43" name="Freeform 11"/>
                  <p:cNvSpPr>
                    <a:spLocks/>
                  </p:cNvSpPr>
                  <p:nvPr/>
                </p:nvSpPr>
                <p:spPr bwMode="auto">
                  <a:xfrm>
                    <a:off x="2480" y="2802"/>
                    <a:ext cx="402" cy="418"/>
                  </a:xfrm>
                  <a:custGeom>
                    <a:avLst/>
                    <a:gdLst>
                      <a:gd name="T0" fmla="*/ 67 w 644"/>
                      <a:gd name="T1" fmla="*/ 0 h 671"/>
                      <a:gd name="T2" fmla="*/ 0 w 644"/>
                      <a:gd name="T3" fmla="*/ 68 h 671"/>
                      <a:gd name="T4" fmla="*/ 0 w 644"/>
                      <a:gd name="T5" fmla="*/ 603 h 671"/>
                      <a:gd name="T6" fmla="*/ 67 w 644"/>
                      <a:gd name="T7" fmla="*/ 671 h 671"/>
                      <a:gd name="T8" fmla="*/ 576 w 644"/>
                      <a:gd name="T9" fmla="*/ 671 h 671"/>
                      <a:gd name="T10" fmla="*/ 644 w 644"/>
                      <a:gd name="T11" fmla="*/ 603 h 671"/>
                      <a:gd name="T12" fmla="*/ 644 w 644"/>
                      <a:gd name="T13" fmla="*/ 193 h 671"/>
                      <a:gd name="T14" fmla="*/ 644 w 644"/>
                      <a:gd name="T15" fmla="*/ 127 h 671"/>
                      <a:gd name="T16" fmla="*/ 515 w 644"/>
                      <a:gd name="T17" fmla="*/ 0 h 671"/>
                      <a:gd name="T18" fmla="*/ 445 w 644"/>
                      <a:gd name="T19" fmla="*/ 0 h 671"/>
                      <a:gd name="T20" fmla="*/ 67 w 644"/>
                      <a:gd name="T21" fmla="*/ 0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4" h="671">
                        <a:moveTo>
                          <a:pt x="67" y="0"/>
                        </a:moveTo>
                        <a:cubicBezTo>
                          <a:pt x="30" y="0"/>
                          <a:pt x="0" y="30"/>
                          <a:pt x="0" y="68"/>
                        </a:cubicBezTo>
                        <a:cubicBezTo>
                          <a:pt x="0" y="603"/>
                          <a:pt x="0" y="603"/>
                          <a:pt x="0" y="603"/>
                        </a:cubicBezTo>
                        <a:cubicBezTo>
                          <a:pt x="0" y="641"/>
                          <a:pt x="30" y="671"/>
                          <a:pt x="67" y="671"/>
                        </a:cubicBezTo>
                        <a:cubicBezTo>
                          <a:pt x="576" y="671"/>
                          <a:pt x="576" y="671"/>
                          <a:pt x="576" y="671"/>
                        </a:cubicBezTo>
                        <a:cubicBezTo>
                          <a:pt x="613" y="671"/>
                          <a:pt x="644" y="641"/>
                          <a:pt x="644" y="603"/>
                        </a:cubicBezTo>
                        <a:cubicBezTo>
                          <a:pt x="644" y="193"/>
                          <a:pt x="644" y="193"/>
                          <a:pt x="644" y="193"/>
                        </a:cubicBezTo>
                        <a:cubicBezTo>
                          <a:pt x="644" y="156"/>
                          <a:pt x="644" y="127"/>
                          <a:pt x="644" y="127"/>
                        </a:cubicBezTo>
                        <a:cubicBezTo>
                          <a:pt x="515" y="0"/>
                          <a:pt x="515" y="0"/>
                          <a:pt x="515" y="0"/>
                        </a:cubicBezTo>
                        <a:cubicBezTo>
                          <a:pt x="515" y="0"/>
                          <a:pt x="482" y="0"/>
                          <a:pt x="445" y="0"/>
                        </a:cubicBezTo>
                        <a:lnTo>
                          <a:pt x="67" y="0"/>
                        </a:lnTo>
                        <a:close/>
                      </a:path>
                    </a:pathLst>
                  </a:custGeom>
                  <a:solidFill>
                    <a:srgbClr val="B9B9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1" tIns="45700" rIns="91401" bIns="45700" numCol="1" anchor="t" anchorCtr="0" compatLnSpc="1">
                    <a:prstTxWarp prst="textNoShape">
                      <a:avLst/>
                    </a:prstTxWarp>
                  </a:bodyPr>
                  <a:lstStyle/>
                  <a:p>
                    <a:pPr defTabSz="932205">
                      <a:defRPr/>
                    </a:pPr>
                    <a:endParaRPr lang="en-US" sz="1020">
                      <a:solidFill>
                        <a:srgbClr val="FFFFFF"/>
                      </a:solidFill>
                      <a:latin typeface="Segoe UI"/>
                    </a:endParaRPr>
                  </a:p>
                </p:txBody>
              </p:sp>
              <p:sp>
                <p:nvSpPr>
                  <p:cNvPr id="44" name="Freeform 12"/>
                  <p:cNvSpPr>
                    <a:spLocks/>
                  </p:cNvSpPr>
                  <p:nvPr/>
                </p:nvSpPr>
                <p:spPr bwMode="auto">
                  <a:xfrm>
                    <a:off x="2801" y="2802"/>
                    <a:ext cx="81" cy="79"/>
                  </a:xfrm>
                  <a:custGeom>
                    <a:avLst/>
                    <a:gdLst>
                      <a:gd name="T0" fmla="*/ 81 w 81"/>
                      <a:gd name="T1" fmla="*/ 79 h 79"/>
                      <a:gd name="T2" fmla="*/ 0 w 81"/>
                      <a:gd name="T3" fmla="*/ 0 h 79"/>
                      <a:gd name="T4" fmla="*/ 0 w 81"/>
                      <a:gd name="T5" fmla="*/ 79 h 79"/>
                      <a:gd name="T6" fmla="*/ 81 w 81"/>
                      <a:gd name="T7" fmla="*/ 79 h 79"/>
                    </a:gdLst>
                    <a:ahLst/>
                    <a:cxnLst>
                      <a:cxn ang="0">
                        <a:pos x="T0" y="T1"/>
                      </a:cxn>
                      <a:cxn ang="0">
                        <a:pos x="T2" y="T3"/>
                      </a:cxn>
                      <a:cxn ang="0">
                        <a:pos x="T4" y="T5"/>
                      </a:cxn>
                      <a:cxn ang="0">
                        <a:pos x="T6" y="T7"/>
                      </a:cxn>
                    </a:cxnLst>
                    <a:rect l="0" t="0" r="r" b="b"/>
                    <a:pathLst>
                      <a:path w="81" h="79">
                        <a:moveTo>
                          <a:pt x="81" y="79"/>
                        </a:moveTo>
                        <a:lnTo>
                          <a:pt x="0" y="0"/>
                        </a:lnTo>
                        <a:lnTo>
                          <a:pt x="0" y="79"/>
                        </a:lnTo>
                        <a:lnTo>
                          <a:pt x="81" y="79"/>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1" tIns="45700" rIns="91401" bIns="45700" numCol="1" anchor="t" anchorCtr="0" compatLnSpc="1">
                    <a:prstTxWarp prst="textNoShape">
                      <a:avLst/>
                    </a:prstTxWarp>
                  </a:bodyPr>
                  <a:lstStyle/>
                  <a:p>
                    <a:pPr defTabSz="932205">
                      <a:defRPr/>
                    </a:pPr>
                    <a:endParaRPr lang="en-US" sz="1020">
                      <a:solidFill>
                        <a:srgbClr val="FFFFFF"/>
                      </a:solidFill>
                      <a:latin typeface="Segoe UI"/>
                    </a:endParaRPr>
                  </a:p>
                </p:txBody>
              </p:sp>
            </p:grpSp>
            <p:grpSp>
              <p:nvGrpSpPr>
                <p:cNvPr id="39" name="Group 38"/>
                <p:cNvGrpSpPr/>
                <p:nvPr/>
              </p:nvGrpSpPr>
              <p:grpSpPr>
                <a:xfrm>
                  <a:off x="4120282" y="4618868"/>
                  <a:ext cx="293549" cy="349134"/>
                  <a:chOff x="4662074" y="4335997"/>
                  <a:chExt cx="234105" cy="278433"/>
                </a:xfrm>
              </p:grpSpPr>
              <p:sp>
                <p:nvSpPr>
                  <p:cNvPr id="40" name="Freeform 6"/>
                  <p:cNvSpPr>
                    <a:spLocks/>
                  </p:cNvSpPr>
                  <p:nvPr/>
                </p:nvSpPr>
                <p:spPr bwMode="auto">
                  <a:xfrm>
                    <a:off x="4662074" y="4335997"/>
                    <a:ext cx="90040" cy="278433"/>
                  </a:xfrm>
                  <a:custGeom>
                    <a:avLst/>
                    <a:gdLst>
                      <a:gd name="T0" fmla="*/ 23 w 86"/>
                      <a:gd name="T1" fmla="*/ 56 h 265"/>
                      <a:gd name="T2" fmla="*/ 23 w 86"/>
                      <a:gd name="T3" fmla="*/ 90 h 265"/>
                      <a:gd name="T4" fmla="*/ 0 w 86"/>
                      <a:gd name="T5" fmla="*/ 119 h 265"/>
                      <a:gd name="T6" fmla="*/ 0 w 86"/>
                      <a:gd name="T7" fmla="*/ 146 h 265"/>
                      <a:gd name="T8" fmla="*/ 23 w 86"/>
                      <a:gd name="T9" fmla="*/ 174 h 265"/>
                      <a:gd name="T10" fmla="*/ 23 w 86"/>
                      <a:gd name="T11" fmla="*/ 210 h 265"/>
                      <a:gd name="T12" fmla="*/ 36 w 86"/>
                      <a:gd name="T13" fmla="*/ 251 h 265"/>
                      <a:gd name="T14" fmla="*/ 86 w 86"/>
                      <a:gd name="T15" fmla="*/ 265 h 265"/>
                      <a:gd name="T16" fmla="*/ 86 w 86"/>
                      <a:gd name="T17" fmla="*/ 237 h 265"/>
                      <a:gd name="T18" fmla="*/ 67 w 86"/>
                      <a:gd name="T19" fmla="*/ 231 h 265"/>
                      <a:gd name="T20" fmla="*/ 62 w 86"/>
                      <a:gd name="T21" fmla="*/ 210 h 265"/>
                      <a:gd name="T22" fmla="*/ 62 w 86"/>
                      <a:gd name="T23" fmla="*/ 179 h 265"/>
                      <a:gd name="T24" fmla="*/ 39 w 86"/>
                      <a:gd name="T25" fmla="*/ 133 h 265"/>
                      <a:gd name="T26" fmla="*/ 39 w 86"/>
                      <a:gd name="T27" fmla="*/ 132 h 265"/>
                      <a:gd name="T28" fmla="*/ 62 w 86"/>
                      <a:gd name="T29" fmla="*/ 87 h 265"/>
                      <a:gd name="T30" fmla="*/ 62 w 86"/>
                      <a:gd name="T31" fmla="*/ 55 h 265"/>
                      <a:gd name="T32" fmla="*/ 86 w 86"/>
                      <a:gd name="T33" fmla="*/ 28 h 265"/>
                      <a:gd name="T34" fmla="*/ 86 w 86"/>
                      <a:gd name="T35" fmla="*/ 0 h 265"/>
                      <a:gd name="T36" fmla="*/ 36 w 86"/>
                      <a:gd name="T37" fmla="*/ 14 h 265"/>
                      <a:gd name="T38" fmla="*/ 23 w 86"/>
                      <a:gd name="T39" fmla="*/ 56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6" h="265">
                        <a:moveTo>
                          <a:pt x="23" y="56"/>
                        </a:moveTo>
                        <a:lnTo>
                          <a:pt x="23" y="90"/>
                        </a:lnTo>
                        <a:cubicBezTo>
                          <a:pt x="23" y="109"/>
                          <a:pt x="16" y="119"/>
                          <a:pt x="0" y="119"/>
                        </a:cubicBezTo>
                        <a:lnTo>
                          <a:pt x="0" y="146"/>
                        </a:lnTo>
                        <a:cubicBezTo>
                          <a:pt x="16" y="146"/>
                          <a:pt x="23" y="156"/>
                          <a:pt x="23" y="174"/>
                        </a:cubicBezTo>
                        <a:lnTo>
                          <a:pt x="23" y="210"/>
                        </a:lnTo>
                        <a:cubicBezTo>
                          <a:pt x="23" y="229"/>
                          <a:pt x="27" y="243"/>
                          <a:pt x="36" y="251"/>
                        </a:cubicBezTo>
                        <a:cubicBezTo>
                          <a:pt x="45" y="260"/>
                          <a:pt x="62" y="265"/>
                          <a:pt x="86" y="265"/>
                        </a:cubicBezTo>
                        <a:lnTo>
                          <a:pt x="86" y="237"/>
                        </a:lnTo>
                        <a:cubicBezTo>
                          <a:pt x="77" y="237"/>
                          <a:pt x="71" y="235"/>
                          <a:pt x="67" y="231"/>
                        </a:cubicBezTo>
                        <a:cubicBezTo>
                          <a:pt x="64" y="227"/>
                          <a:pt x="62" y="220"/>
                          <a:pt x="62" y="210"/>
                        </a:cubicBezTo>
                        <a:lnTo>
                          <a:pt x="62" y="179"/>
                        </a:lnTo>
                        <a:cubicBezTo>
                          <a:pt x="62" y="154"/>
                          <a:pt x="54" y="139"/>
                          <a:pt x="39" y="133"/>
                        </a:cubicBezTo>
                        <a:lnTo>
                          <a:pt x="39" y="132"/>
                        </a:lnTo>
                        <a:cubicBezTo>
                          <a:pt x="54" y="126"/>
                          <a:pt x="62" y="111"/>
                          <a:pt x="62" y="87"/>
                        </a:cubicBezTo>
                        <a:lnTo>
                          <a:pt x="62" y="55"/>
                        </a:lnTo>
                        <a:cubicBezTo>
                          <a:pt x="62" y="37"/>
                          <a:pt x="70" y="28"/>
                          <a:pt x="86" y="28"/>
                        </a:cubicBezTo>
                        <a:lnTo>
                          <a:pt x="86" y="0"/>
                        </a:lnTo>
                        <a:cubicBezTo>
                          <a:pt x="62" y="0"/>
                          <a:pt x="46" y="5"/>
                          <a:pt x="36" y="14"/>
                        </a:cubicBezTo>
                        <a:cubicBezTo>
                          <a:pt x="28" y="23"/>
                          <a:pt x="23" y="37"/>
                          <a:pt x="23" y="56"/>
                        </a:cubicBezTo>
                        <a:close/>
                      </a:path>
                    </a:pathLst>
                  </a:custGeom>
                  <a:solidFill>
                    <a:schemeClr val="bg1"/>
                  </a:solidFill>
                  <a:ln w="0">
                    <a:noFill/>
                    <a:prstDash val="solid"/>
                    <a:round/>
                    <a:headEnd/>
                    <a:tailEnd/>
                  </a:ln>
                </p:spPr>
                <p:txBody>
                  <a:bodyPr vert="horz" wrap="square" lIns="91401" tIns="45700" rIns="91401" bIns="45700" numCol="1" anchor="t" anchorCtr="0" compatLnSpc="1">
                    <a:prstTxWarp prst="textNoShape">
                      <a:avLst/>
                    </a:prstTxWarp>
                  </a:bodyPr>
                  <a:lstStyle/>
                  <a:p>
                    <a:pPr defTabSz="932205">
                      <a:defRPr/>
                    </a:pPr>
                    <a:endParaRPr lang="en-US" sz="1020">
                      <a:solidFill>
                        <a:srgbClr val="FFFFFF"/>
                      </a:solidFill>
                      <a:latin typeface="Segoe UI"/>
                    </a:endParaRPr>
                  </a:p>
                </p:txBody>
              </p:sp>
              <p:sp>
                <p:nvSpPr>
                  <p:cNvPr id="41" name="Freeform 7"/>
                  <p:cNvSpPr>
                    <a:spLocks/>
                  </p:cNvSpPr>
                  <p:nvPr/>
                </p:nvSpPr>
                <p:spPr bwMode="auto">
                  <a:xfrm>
                    <a:off x="4806139" y="4335997"/>
                    <a:ext cx="90040" cy="278433"/>
                  </a:xfrm>
                  <a:custGeom>
                    <a:avLst/>
                    <a:gdLst>
                      <a:gd name="T0" fmla="*/ 62 w 85"/>
                      <a:gd name="T1" fmla="*/ 90 h 265"/>
                      <a:gd name="T2" fmla="*/ 62 w 85"/>
                      <a:gd name="T3" fmla="*/ 56 h 265"/>
                      <a:gd name="T4" fmla="*/ 50 w 85"/>
                      <a:gd name="T5" fmla="*/ 15 h 265"/>
                      <a:gd name="T6" fmla="*/ 0 w 85"/>
                      <a:gd name="T7" fmla="*/ 0 h 265"/>
                      <a:gd name="T8" fmla="*/ 0 w 85"/>
                      <a:gd name="T9" fmla="*/ 28 h 265"/>
                      <a:gd name="T10" fmla="*/ 24 w 85"/>
                      <a:gd name="T11" fmla="*/ 55 h 265"/>
                      <a:gd name="T12" fmla="*/ 24 w 85"/>
                      <a:gd name="T13" fmla="*/ 85 h 265"/>
                      <a:gd name="T14" fmla="*/ 47 w 85"/>
                      <a:gd name="T15" fmla="*/ 132 h 265"/>
                      <a:gd name="T16" fmla="*/ 47 w 85"/>
                      <a:gd name="T17" fmla="*/ 133 h 265"/>
                      <a:gd name="T18" fmla="*/ 24 w 85"/>
                      <a:gd name="T19" fmla="*/ 178 h 265"/>
                      <a:gd name="T20" fmla="*/ 24 w 85"/>
                      <a:gd name="T21" fmla="*/ 210 h 265"/>
                      <a:gd name="T22" fmla="*/ 19 w 85"/>
                      <a:gd name="T23" fmla="*/ 231 h 265"/>
                      <a:gd name="T24" fmla="*/ 0 w 85"/>
                      <a:gd name="T25" fmla="*/ 237 h 265"/>
                      <a:gd name="T26" fmla="*/ 0 w 85"/>
                      <a:gd name="T27" fmla="*/ 265 h 265"/>
                      <a:gd name="T28" fmla="*/ 50 w 85"/>
                      <a:gd name="T29" fmla="*/ 251 h 265"/>
                      <a:gd name="T30" fmla="*/ 62 w 85"/>
                      <a:gd name="T31" fmla="*/ 209 h 265"/>
                      <a:gd name="T32" fmla="*/ 62 w 85"/>
                      <a:gd name="T33" fmla="*/ 174 h 265"/>
                      <a:gd name="T34" fmla="*/ 85 w 85"/>
                      <a:gd name="T35" fmla="*/ 146 h 265"/>
                      <a:gd name="T36" fmla="*/ 85 w 85"/>
                      <a:gd name="T37" fmla="*/ 119 h 265"/>
                      <a:gd name="T38" fmla="*/ 62 w 85"/>
                      <a:gd name="T39" fmla="*/ 90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 h="265">
                        <a:moveTo>
                          <a:pt x="62" y="90"/>
                        </a:moveTo>
                        <a:lnTo>
                          <a:pt x="62" y="56"/>
                        </a:lnTo>
                        <a:cubicBezTo>
                          <a:pt x="62" y="37"/>
                          <a:pt x="58" y="23"/>
                          <a:pt x="50" y="15"/>
                        </a:cubicBezTo>
                        <a:cubicBezTo>
                          <a:pt x="40" y="5"/>
                          <a:pt x="23" y="0"/>
                          <a:pt x="0" y="0"/>
                        </a:cubicBezTo>
                        <a:lnTo>
                          <a:pt x="0" y="28"/>
                        </a:lnTo>
                        <a:cubicBezTo>
                          <a:pt x="16" y="28"/>
                          <a:pt x="24" y="37"/>
                          <a:pt x="24" y="55"/>
                        </a:cubicBezTo>
                        <a:lnTo>
                          <a:pt x="24" y="85"/>
                        </a:lnTo>
                        <a:cubicBezTo>
                          <a:pt x="24" y="110"/>
                          <a:pt x="32" y="126"/>
                          <a:pt x="47" y="132"/>
                        </a:cubicBezTo>
                        <a:lnTo>
                          <a:pt x="47" y="133"/>
                        </a:lnTo>
                        <a:cubicBezTo>
                          <a:pt x="32" y="139"/>
                          <a:pt x="24" y="154"/>
                          <a:pt x="24" y="178"/>
                        </a:cubicBezTo>
                        <a:lnTo>
                          <a:pt x="24" y="210"/>
                        </a:lnTo>
                        <a:cubicBezTo>
                          <a:pt x="24" y="219"/>
                          <a:pt x="22" y="226"/>
                          <a:pt x="19" y="231"/>
                        </a:cubicBezTo>
                        <a:cubicBezTo>
                          <a:pt x="15" y="235"/>
                          <a:pt x="9" y="237"/>
                          <a:pt x="0" y="237"/>
                        </a:cubicBezTo>
                        <a:lnTo>
                          <a:pt x="0" y="265"/>
                        </a:lnTo>
                        <a:cubicBezTo>
                          <a:pt x="24" y="265"/>
                          <a:pt x="41" y="260"/>
                          <a:pt x="50" y="251"/>
                        </a:cubicBezTo>
                        <a:cubicBezTo>
                          <a:pt x="58" y="242"/>
                          <a:pt x="62" y="229"/>
                          <a:pt x="62" y="209"/>
                        </a:cubicBezTo>
                        <a:lnTo>
                          <a:pt x="62" y="174"/>
                        </a:lnTo>
                        <a:cubicBezTo>
                          <a:pt x="62" y="156"/>
                          <a:pt x="70" y="146"/>
                          <a:pt x="85" y="146"/>
                        </a:cubicBezTo>
                        <a:lnTo>
                          <a:pt x="85" y="119"/>
                        </a:lnTo>
                        <a:cubicBezTo>
                          <a:pt x="70" y="119"/>
                          <a:pt x="62" y="109"/>
                          <a:pt x="62" y="90"/>
                        </a:cubicBezTo>
                        <a:close/>
                      </a:path>
                    </a:pathLst>
                  </a:custGeom>
                  <a:solidFill>
                    <a:schemeClr val="bg1"/>
                  </a:solidFill>
                  <a:ln w="0">
                    <a:noFill/>
                    <a:prstDash val="solid"/>
                    <a:round/>
                    <a:headEnd/>
                    <a:tailEnd/>
                  </a:ln>
                </p:spPr>
                <p:txBody>
                  <a:bodyPr vert="horz" wrap="square" lIns="91401" tIns="45700" rIns="91401" bIns="45700" numCol="1" anchor="t" anchorCtr="0" compatLnSpc="1">
                    <a:prstTxWarp prst="textNoShape">
                      <a:avLst/>
                    </a:prstTxWarp>
                  </a:bodyPr>
                  <a:lstStyle/>
                  <a:p>
                    <a:pPr defTabSz="932205">
                      <a:defRPr/>
                    </a:pPr>
                    <a:endParaRPr lang="en-US" sz="1020">
                      <a:solidFill>
                        <a:srgbClr val="FFFFFF"/>
                      </a:solidFill>
                      <a:latin typeface="Segoe UI"/>
                    </a:endParaRPr>
                  </a:p>
                </p:txBody>
              </p:sp>
            </p:grpSp>
          </p:grpSp>
        </p:grpSp>
        <p:cxnSp>
          <p:nvCxnSpPr>
            <p:cNvPr id="24" name="Straight Connector 23"/>
            <p:cNvCxnSpPr/>
            <p:nvPr/>
          </p:nvCxnSpPr>
          <p:spPr>
            <a:xfrm flipH="1" flipV="1">
              <a:off x="1174297" y="4075313"/>
              <a:ext cx="2189667" cy="10841"/>
            </a:xfrm>
            <a:prstGeom prst="line">
              <a:avLst/>
            </a:prstGeom>
            <a:ln w="19050">
              <a:solidFill>
                <a:schemeClr val="tx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flipH="1">
              <a:off x="1380621" y="3727582"/>
              <a:ext cx="1725618" cy="766177"/>
            </a:xfrm>
            <a:prstGeom prst="rect">
              <a:avLst/>
            </a:prstGeom>
            <a:noFill/>
          </p:spPr>
          <p:txBody>
            <a:bodyPr wrap="square" rtlCol="0">
              <a:spAutoFit/>
            </a:bodyPr>
            <a:lstStyle/>
            <a:p>
              <a:r>
                <a:rPr lang="en-US" sz="1020" dirty="0"/>
                <a:t>Inner Dev Loop</a:t>
              </a:r>
            </a:p>
          </p:txBody>
        </p:sp>
        <p:pic>
          <p:nvPicPr>
            <p:cNvPr id="26" name="Picture 2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27116" y="2152611"/>
              <a:ext cx="650501" cy="672619"/>
            </a:xfrm>
            <a:prstGeom prst="rect">
              <a:avLst/>
            </a:prstGeom>
          </p:spPr>
        </p:pic>
        <p:pic>
          <p:nvPicPr>
            <p:cNvPr id="27" name="Picture 2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11695" y="2144524"/>
              <a:ext cx="650501" cy="672619"/>
            </a:xfrm>
            <a:prstGeom prst="rect">
              <a:avLst/>
            </a:prstGeom>
          </p:spPr>
        </p:pic>
        <p:pic>
          <p:nvPicPr>
            <p:cNvPr id="28" name="Picture 2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82458" y="3498800"/>
              <a:ext cx="650501" cy="672619"/>
            </a:xfrm>
            <a:prstGeom prst="rect">
              <a:avLst/>
            </a:prstGeom>
          </p:spPr>
        </p:pic>
        <p:grpSp>
          <p:nvGrpSpPr>
            <p:cNvPr id="29" name="Group 28"/>
            <p:cNvGrpSpPr/>
            <p:nvPr/>
          </p:nvGrpSpPr>
          <p:grpSpPr>
            <a:xfrm>
              <a:off x="6363125" y="4119486"/>
              <a:ext cx="1654809" cy="1559721"/>
              <a:chOff x="6363125" y="4119486"/>
              <a:chExt cx="1654809" cy="1559721"/>
            </a:xfrm>
          </p:grpSpPr>
          <p:pic>
            <p:nvPicPr>
              <p:cNvPr id="32" name="Test"/>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006515" y="4968655"/>
                <a:ext cx="368027" cy="375243"/>
              </a:xfrm>
              <a:prstGeom prst="rect">
                <a:avLst/>
              </a:prstGeom>
            </p:spPr>
          </p:pic>
          <p:grpSp>
            <p:nvGrpSpPr>
              <p:cNvPr id="33" name="Group 32"/>
              <p:cNvGrpSpPr/>
              <p:nvPr/>
            </p:nvGrpSpPr>
            <p:grpSpPr>
              <a:xfrm>
                <a:off x="6363125" y="4119486"/>
                <a:ext cx="1654809" cy="1559721"/>
                <a:chOff x="8884890" y="4054695"/>
                <a:chExt cx="2182222" cy="2182222"/>
              </a:xfrm>
            </p:grpSpPr>
            <p:pic>
              <p:nvPicPr>
                <p:cNvPr id="34" name="Picture 3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84890" y="4054695"/>
                  <a:ext cx="2182222" cy="2182222"/>
                </a:xfrm>
                <a:prstGeom prst="rect">
                  <a:avLst/>
                </a:prstGeom>
              </p:spPr>
            </p:pic>
            <p:sp>
              <p:nvSpPr>
                <p:cNvPr id="35" name="TextBox 34"/>
                <p:cNvSpPr txBox="1"/>
                <p:nvPr/>
              </p:nvSpPr>
              <p:spPr>
                <a:xfrm>
                  <a:off x="9187552" y="4705312"/>
                  <a:ext cx="1637125" cy="1174393"/>
                </a:xfrm>
                <a:prstGeom prst="rect">
                  <a:avLst/>
                </a:prstGeom>
                <a:noFill/>
              </p:spPr>
              <p:txBody>
                <a:bodyPr wrap="none" lIns="182854" tIns="146283" rIns="182854" bIns="146283" rtlCol="0">
                  <a:spAutoFit/>
                </a:bodyPr>
                <a:lstStyle/>
                <a:p>
                  <a:pPr algn="ctr">
                    <a:lnSpc>
                      <a:spcPct val="90000"/>
                    </a:lnSpc>
                    <a:spcAft>
                      <a:spcPts val="600"/>
                    </a:spcAft>
                  </a:pPr>
                  <a:r>
                    <a:rPr lang="en-US" sz="1122" b="1" dirty="0">
                      <a:gradFill>
                        <a:gsLst>
                          <a:gs pos="2917">
                            <a:schemeClr val="tx1"/>
                          </a:gs>
                          <a:gs pos="30000">
                            <a:schemeClr val="tx1"/>
                          </a:gs>
                        </a:gsLst>
                        <a:lin ang="5400000" scaled="0"/>
                      </a:gradFill>
                    </a:rPr>
                    <a:t>Test</a:t>
                  </a:r>
                </a:p>
              </p:txBody>
            </p:sp>
          </p:grpSp>
        </p:grpSp>
        <p:pic>
          <p:nvPicPr>
            <p:cNvPr id="30" name="Picture 2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6518" y="4057588"/>
              <a:ext cx="1378494" cy="2467305"/>
            </a:xfrm>
            <a:prstGeom prst="rect">
              <a:avLst/>
            </a:prstGeom>
          </p:spPr>
        </p:pic>
        <p:sp>
          <p:nvSpPr>
            <p:cNvPr id="31" name="TextBox 30"/>
            <p:cNvSpPr txBox="1"/>
            <p:nvPr/>
          </p:nvSpPr>
          <p:spPr>
            <a:xfrm>
              <a:off x="873283" y="5085007"/>
              <a:ext cx="392328" cy="213069"/>
            </a:xfrm>
            <a:prstGeom prst="rect">
              <a:avLst/>
            </a:prstGeom>
            <a:noFill/>
          </p:spPr>
          <p:txBody>
            <a:bodyPr wrap="none" lIns="0" tIns="0" rIns="0" bIns="0" rtlCol="0">
              <a:spAutoFit/>
            </a:bodyPr>
            <a:lstStyle/>
            <a:p>
              <a:pPr defTabSz="932384">
                <a:lnSpc>
                  <a:spcPct val="90000"/>
                </a:lnSpc>
                <a:spcAft>
                  <a:spcPts val="600"/>
                </a:spcAft>
                <a:defRPr/>
              </a:pPr>
              <a:r>
                <a:rPr lang="en-US" sz="816" b="1" dirty="0">
                  <a:gradFill>
                    <a:gsLst>
                      <a:gs pos="2917">
                        <a:srgbClr val="505050">
                          <a:lumMod val="50000"/>
                        </a:srgbClr>
                      </a:gs>
                      <a:gs pos="74000">
                        <a:srgbClr val="505050">
                          <a:lumMod val="50000"/>
                        </a:srgbClr>
                      </a:gs>
                    </a:gsLst>
                    <a:lin ang="5400000" scaled="0"/>
                  </a:gradFill>
                  <a:latin typeface="Segoe UI"/>
                </a:rPr>
                <a:t>DEV</a:t>
              </a:r>
            </a:p>
          </p:txBody>
        </p:sp>
      </p:grpSp>
      <p:sp>
        <p:nvSpPr>
          <p:cNvPr id="2" name="Title 1"/>
          <p:cNvSpPr>
            <a:spLocks noGrp="1"/>
          </p:cNvSpPr>
          <p:nvPr>
            <p:ph type="title"/>
          </p:nvPr>
        </p:nvSpPr>
        <p:spPr>
          <a:xfrm>
            <a:off x="897902" y="237373"/>
            <a:ext cx="10724938" cy="1088311"/>
          </a:xfrm>
        </p:spPr>
        <p:txBody>
          <a:bodyPr/>
          <a:lstStyle/>
          <a:p>
            <a:r>
              <a:rPr lang="en-US" dirty="0"/>
              <a:t>Service Fabric Cluster planning</a:t>
            </a:r>
          </a:p>
        </p:txBody>
      </p:sp>
      <p:sp>
        <p:nvSpPr>
          <p:cNvPr id="3" name="Content Placeholder 2"/>
          <p:cNvSpPr>
            <a:spLocks noGrp="1"/>
          </p:cNvSpPr>
          <p:nvPr>
            <p:ph idx="1"/>
          </p:nvPr>
        </p:nvSpPr>
        <p:spPr>
          <a:xfrm>
            <a:off x="626722" y="1593272"/>
            <a:ext cx="10724938" cy="5096686"/>
          </a:xfrm>
        </p:spPr>
        <p:txBody>
          <a:bodyPr>
            <a:normAutofit/>
          </a:bodyPr>
          <a:lstStyle/>
          <a:p>
            <a:r>
              <a:rPr lang="en-US" dirty="0"/>
              <a:t>What is this cluster to be used for ?</a:t>
            </a:r>
          </a:p>
          <a:p>
            <a:pPr lvl="1"/>
            <a:r>
              <a:rPr lang="en-US" dirty="0"/>
              <a:t>Is this to be used for Test ?</a:t>
            </a:r>
          </a:p>
          <a:p>
            <a:pPr lvl="1"/>
            <a:r>
              <a:rPr lang="en-US" dirty="0"/>
              <a:t>Is this a part of the CICD pipeline ?</a:t>
            </a:r>
          </a:p>
          <a:p>
            <a:pPr lvl="1"/>
            <a:r>
              <a:rPr lang="en-US" dirty="0"/>
              <a:t>Is this for Production use ?</a:t>
            </a:r>
          </a:p>
          <a:p>
            <a:endParaRPr lang="en-US" dirty="0"/>
          </a:p>
          <a:p>
            <a:r>
              <a:rPr lang="en-US" dirty="0"/>
              <a:t>Where do you want this cluster hosted ?</a:t>
            </a:r>
          </a:p>
          <a:p>
            <a:pPr lvl="1"/>
            <a:r>
              <a:rPr lang="en-US" dirty="0"/>
              <a:t>On Azure ?</a:t>
            </a:r>
          </a:p>
          <a:p>
            <a:pPr lvl="1"/>
            <a:r>
              <a:rPr lang="en-US" dirty="0"/>
              <a:t>On-Premise, in your data center ?</a:t>
            </a:r>
          </a:p>
          <a:p>
            <a:pPr lvl="1"/>
            <a:r>
              <a:rPr lang="en-US" dirty="0"/>
              <a:t>On  some other cloud provide ?</a:t>
            </a:r>
          </a:p>
          <a:p>
            <a:endParaRPr lang="en-US" dirty="0"/>
          </a:p>
          <a:p>
            <a:r>
              <a:rPr lang="en-US" dirty="0"/>
              <a:t>Are there unique compliance and security requirements?</a:t>
            </a:r>
          </a:p>
          <a:p>
            <a:pPr lvl="1"/>
            <a:r>
              <a:rPr lang="en-US" dirty="0"/>
              <a:t>End-to-end RBAC  and Auditing ? Certificates OK ? Active Directory OK ?</a:t>
            </a:r>
          </a:p>
          <a:p>
            <a:pPr lvl="1"/>
            <a:r>
              <a:rPr lang="en-US" dirty="0"/>
              <a:t>Compliance expectations from the infrastructure ?</a:t>
            </a:r>
          </a:p>
          <a:p>
            <a:pPr lvl="1"/>
            <a:r>
              <a:rPr lang="en-US" dirty="0"/>
              <a:t>Compliance goals on the application ?</a:t>
            </a:r>
          </a:p>
          <a:p>
            <a:pPr lvl="1"/>
            <a:endParaRPr lang="en-US" dirty="0"/>
          </a:p>
          <a:p>
            <a:pPr lvl="1"/>
            <a:endParaRPr lang="en-US" dirty="0"/>
          </a:p>
        </p:txBody>
      </p:sp>
    </p:spTree>
    <p:extLst>
      <p:ext uri="{BB962C8B-B14F-4D97-AF65-F5344CB8AC3E}">
        <p14:creationId xmlns:p14="http://schemas.microsoft.com/office/powerpoint/2010/main" val="3646768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75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4030" y="1458438"/>
            <a:ext cx="10724938" cy="5096686"/>
          </a:xfrm>
        </p:spPr>
        <p:txBody>
          <a:bodyPr>
            <a:normAutofit/>
          </a:bodyPr>
          <a:lstStyle/>
          <a:p>
            <a:r>
              <a:rPr lang="en-US" sz="2800" dirty="0"/>
              <a:t>What kinds of workloads  are planned to be deployed to it ?</a:t>
            </a:r>
          </a:p>
          <a:p>
            <a:pPr lvl="1"/>
            <a:r>
              <a:rPr lang="en-US" sz="2800" dirty="0"/>
              <a:t>For each Application </a:t>
            </a:r>
          </a:p>
          <a:p>
            <a:pPr lvl="2"/>
            <a:r>
              <a:rPr lang="en-US" sz="2400" dirty="0"/>
              <a:t>Total State</a:t>
            </a:r>
          </a:p>
          <a:p>
            <a:pPr lvl="2"/>
            <a:r>
              <a:rPr lang="en-US" sz="2400" dirty="0"/>
              <a:t># of instances</a:t>
            </a:r>
          </a:p>
          <a:p>
            <a:pPr lvl="2"/>
            <a:r>
              <a:rPr lang="en-US" sz="2400" dirty="0"/>
              <a:t>Replica set size</a:t>
            </a:r>
          </a:p>
          <a:p>
            <a:pPr lvl="2"/>
            <a:r>
              <a:rPr lang="en-US" sz="2400" dirty="0"/>
              <a:t>Port requirements per service</a:t>
            </a:r>
          </a:p>
          <a:p>
            <a:pPr lvl="2"/>
            <a:r>
              <a:rPr lang="en-US" sz="1800" dirty="0"/>
              <a:t>IOPS needed </a:t>
            </a:r>
          </a:p>
          <a:p>
            <a:pPr lvl="2"/>
            <a:r>
              <a:rPr lang="en-US" sz="2400" dirty="0"/>
              <a:t>External state vs State in the Service Fabric Clusters.</a:t>
            </a:r>
          </a:p>
          <a:p>
            <a:pPr lvl="2"/>
            <a:r>
              <a:rPr lang="en-US" sz="2400" dirty="0"/>
              <a:t>Growth rate</a:t>
            </a:r>
          </a:p>
          <a:p>
            <a:pPr lvl="1"/>
            <a:r>
              <a:rPr lang="en-US" sz="2800" dirty="0"/>
              <a:t>How many Node types (what kinds of apps are to be deployed)</a:t>
            </a:r>
          </a:p>
          <a:p>
            <a:pPr lvl="2"/>
            <a:r>
              <a:rPr lang="en-US" sz="1800" dirty="0"/>
              <a:t>Are their non-SF services to be run as well ?</a:t>
            </a:r>
          </a:p>
          <a:p>
            <a:pPr marL="932597" lvl="2" indent="0">
              <a:buNone/>
            </a:pPr>
            <a:endParaRPr lang="en-US" dirty="0"/>
          </a:p>
          <a:p>
            <a:pPr lvl="2"/>
            <a:endParaRPr lang="en-US" dirty="0"/>
          </a:p>
        </p:txBody>
      </p:sp>
      <p:sp>
        <p:nvSpPr>
          <p:cNvPr id="5" name="Title 1"/>
          <p:cNvSpPr>
            <a:spLocks noGrp="1"/>
          </p:cNvSpPr>
          <p:nvPr>
            <p:ph type="title"/>
          </p:nvPr>
        </p:nvSpPr>
        <p:spPr>
          <a:xfrm>
            <a:off x="897902" y="237373"/>
            <a:ext cx="10724938" cy="1088311"/>
          </a:xfrm>
        </p:spPr>
        <p:txBody>
          <a:bodyPr/>
          <a:lstStyle/>
          <a:p>
            <a:r>
              <a:rPr lang="en-US" dirty="0"/>
              <a:t>Service Fabric Cluster planning</a:t>
            </a:r>
          </a:p>
        </p:txBody>
      </p:sp>
    </p:spTree>
    <p:extLst>
      <p:ext uri="{BB962C8B-B14F-4D97-AF65-F5344CB8AC3E}">
        <p14:creationId xmlns:p14="http://schemas.microsoft.com/office/powerpoint/2010/main" val="382134980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Fabric Cluster planning</a:t>
            </a:r>
          </a:p>
        </p:txBody>
      </p:sp>
      <p:sp>
        <p:nvSpPr>
          <p:cNvPr id="3" name="Content Placeholder 2"/>
          <p:cNvSpPr>
            <a:spLocks noGrp="1"/>
          </p:cNvSpPr>
          <p:nvPr>
            <p:ph idx="1"/>
          </p:nvPr>
        </p:nvSpPr>
        <p:spPr>
          <a:xfrm>
            <a:off x="784030" y="1458438"/>
            <a:ext cx="10724938" cy="5096686"/>
          </a:xfrm>
        </p:spPr>
        <p:txBody>
          <a:bodyPr>
            <a:normAutofit/>
          </a:bodyPr>
          <a:lstStyle/>
          <a:p>
            <a:r>
              <a:rPr lang="en-US" dirty="0"/>
              <a:t>Once you know what each Application needs, focus on Characteristics of each </a:t>
            </a:r>
            <a:r>
              <a:rPr lang="en-US" dirty="0" err="1"/>
              <a:t>nodetype</a:t>
            </a:r>
            <a:r>
              <a:rPr lang="en-US" dirty="0"/>
              <a:t>.</a:t>
            </a:r>
          </a:p>
          <a:p>
            <a:pPr lvl="2"/>
            <a:r>
              <a:rPr lang="en-US" dirty="0"/>
              <a:t>CPU</a:t>
            </a:r>
          </a:p>
          <a:p>
            <a:pPr lvl="2"/>
            <a:r>
              <a:rPr lang="en-US" dirty="0"/>
              <a:t>RAM </a:t>
            </a:r>
          </a:p>
          <a:p>
            <a:pPr lvl="2"/>
            <a:r>
              <a:rPr lang="en-US" dirty="0"/>
              <a:t>Disk (total state of the replicas you want to host)</a:t>
            </a:r>
          </a:p>
          <a:p>
            <a:pPr lvl="2"/>
            <a:r>
              <a:rPr lang="en-US" dirty="0"/>
              <a:t>State durability (Gold vs Silver)</a:t>
            </a:r>
          </a:p>
          <a:p>
            <a:pPr lvl="2"/>
            <a:r>
              <a:rPr lang="en-US" dirty="0"/>
              <a:t>Reliability (applies only to primary node type). </a:t>
            </a:r>
          </a:p>
          <a:p>
            <a:pPr lvl="2"/>
            <a:r>
              <a:rPr lang="en-US" dirty="0"/>
              <a:t>Fault tolerance - # of FD and # of UD</a:t>
            </a:r>
          </a:p>
          <a:p>
            <a:r>
              <a:rPr lang="en-US" dirty="0"/>
              <a:t>Choosing the # of FDs</a:t>
            </a:r>
          </a:p>
          <a:p>
            <a:pPr lvl="2"/>
            <a:r>
              <a:rPr lang="en-US" dirty="0"/>
              <a:t>This determines the headroom needed in case of unplanned failures. </a:t>
            </a:r>
          </a:p>
          <a:p>
            <a:r>
              <a:rPr lang="en-US" dirty="0"/>
              <a:t>Choosing the # of UDs</a:t>
            </a:r>
          </a:p>
          <a:p>
            <a:pPr lvl="2"/>
            <a:r>
              <a:rPr lang="en-US" dirty="0"/>
              <a:t>This determines the headroom needed in case of planned failures.</a:t>
            </a:r>
          </a:p>
          <a:p>
            <a:pPr marL="0" indent="0">
              <a:buNone/>
            </a:pPr>
            <a:endParaRPr lang="en-US" dirty="0"/>
          </a:p>
        </p:txBody>
      </p:sp>
    </p:spTree>
    <p:extLst>
      <p:ext uri="{BB962C8B-B14F-4D97-AF65-F5344CB8AC3E}">
        <p14:creationId xmlns:p14="http://schemas.microsoft.com/office/powerpoint/2010/main" val="77734732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866429" y="2727443"/>
            <a:ext cx="851717" cy="1247217"/>
            <a:chOff x="2842705" y="1706829"/>
            <a:chExt cx="835092" cy="1222873"/>
          </a:xfrm>
        </p:grpSpPr>
        <p:sp>
          <p:nvSpPr>
            <p:cNvPr id="2" name="Rectangle 1"/>
            <p:cNvSpPr/>
            <p:nvPr/>
          </p:nvSpPr>
          <p:spPr>
            <a:xfrm>
              <a:off x="2842705" y="1706829"/>
              <a:ext cx="835092" cy="1222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7" name="Rectangle 6"/>
            <p:cNvSpPr>
              <a:spLocks noChangeAspect="1"/>
            </p:cNvSpPr>
            <p:nvPr/>
          </p:nvSpPr>
          <p:spPr>
            <a:xfrm>
              <a:off x="2875755" y="2126256"/>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8" name="Rectangle 7"/>
            <p:cNvSpPr/>
            <p:nvPr/>
          </p:nvSpPr>
          <p:spPr>
            <a:xfrm>
              <a:off x="3283378" y="2129927"/>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 name="Rectangle 8"/>
            <p:cNvSpPr>
              <a:spLocks noChangeAspect="1"/>
            </p:cNvSpPr>
            <p:nvPr/>
          </p:nvSpPr>
          <p:spPr>
            <a:xfrm>
              <a:off x="2873918" y="2521029"/>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10" name="Rectangle 9"/>
            <p:cNvSpPr/>
            <p:nvPr/>
          </p:nvSpPr>
          <p:spPr>
            <a:xfrm>
              <a:off x="3281541" y="2524700"/>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17" name="Group 16"/>
          <p:cNvGrpSpPr/>
          <p:nvPr/>
        </p:nvGrpSpPr>
        <p:grpSpPr>
          <a:xfrm>
            <a:off x="1842105" y="2729592"/>
            <a:ext cx="851717" cy="1247217"/>
            <a:chOff x="2842705" y="1706829"/>
            <a:chExt cx="835092" cy="1222873"/>
          </a:xfrm>
        </p:grpSpPr>
        <p:sp>
          <p:nvSpPr>
            <p:cNvPr id="18" name="Rectangle 17"/>
            <p:cNvSpPr/>
            <p:nvPr/>
          </p:nvSpPr>
          <p:spPr>
            <a:xfrm>
              <a:off x="2842705" y="1706829"/>
              <a:ext cx="835092" cy="1222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19" name="Rectangle 18"/>
            <p:cNvSpPr>
              <a:spLocks noChangeAspect="1"/>
            </p:cNvSpPr>
            <p:nvPr/>
          </p:nvSpPr>
          <p:spPr>
            <a:xfrm>
              <a:off x="2875755" y="2126256"/>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20" name="Rectangle 19"/>
            <p:cNvSpPr/>
            <p:nvPr/>
          </p:nvSpPr>
          <p:spPr>
            <a:xfrm>
              <a:off x="3283378" y="2129927"/>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21" name="Rectangle 20"/>
            <p:cNvSpPr>
              <a:spLocks noChangeAspect="1"/>
            </p:cNvSpPr>
            <p:nvPr/>
          </p:nvSpPr>
          <p:spPr>
            <a:xfrm>
              <a:off x="2873918" y="2521029"/>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22" name="Rectangle 21"/>
            <p:cNvSpPr/>
            <p:nvPr/>
          </p:nvSpPr>
          <p:spPr>
            <a:xfrm>
              <a:off x="3281541" y="2524700"/>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68" name="Group 67"/>
          <p:cNvGrpSpPr/>
          <p:nvPr/>
        </p:nvGrpSpPr>
        <p:grpSpPr>
          <a:xfrm>
            <a:off x="2817781" y="2707118"/>
            <a:ext cx="851717" cy="1247217"/>
            <a:chOff x="4755969" y="1706828"/>
            <a:chExt cx="835092" cy="1222873"/>
          </a:xfrm>
        </p:grpSpPr>
        <p:sp>
          <p:nvSpPr>
            <p:cNvPr id="26" name="Rectangle 25"/>
            <p:cNvSpPr/>
            <p:nvPr/>
          </p:nvSpPr>
          <p:spPr>
            <a:xfrm>
              <a:off x="4755969" y="1706828"/>
              <a:ext cx="835092" cy="122287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27" name="Rectangle 26"/>
            <p:cNvSpPr>
              <a:spLocks noChangeAspect="1"/>
            </p:cNvSpPr>
            <p:nvPr/>
          </p:nvSpPr>
          <p:spPr>
            <a:xfrm>
              <a:off x="4789019" y="2126255"/>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28" name="Rectangle 27"/>
            <p:cNvSpPr/>
            <p:nvPr/>
          </p:nvSpPr>
          <p:spPr>
            <a:xfrm>
              <a:off x="5196642" y="2129926"/>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29" name="Rectangle 28"/>
            <p:cNvSpPr>
              <a:spLocks noChangeAspect="1"/>
            </p:cNvSpPr>
            <p:nvPr/>
          </p:nvSpPr>
          <p:spPr>
            <a:xfrm>
              <a:off x="4787182" y="2521028"/>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30" name="Rectangle 29"/>
            <p:cNvSpPr/>
            <p:nvPr/>
          </p:nvSpPr>
          <p:spPr>
            <a:xfrm>
              <a:off x="5194805" y="2524699"/>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67" name="Group 66"/>
          <p:cNvGrpSpPr/>
          <p:nvPr/>
        </p:nvGrpSpPr>
        <p:grpSpPr>
          <a:xfrm>
            <a:off x="3793457" y="2707118"/>
            <a:ext cx="851717" cy="1247217"/>
            <a:chOff x="5712601" y="1706828"/>
            <a:chExt cx="835092" cy="1222873"/>
          </a:xfrm>
        </p:grpSpPr>
        <p:sp>
          <p:nvSpPr>
            <p:cNvPr id="34" name="Rectangle 33"/>
            <p:cNvSpPr/>
            <p:nvPr/>
          </p:nvSpPr>
          <p:spPr>
            <a:xfrm>
              <a:off x="5712601" y="1706828"/>
              <a:ext cx="835092" cy="122287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35" name="Rectangle 34"/>
            <p:cNvSpPr>
              <a:spLocks noChangeAspect="1"/>
            </p:cNvSpPr>
            <p:nvPr/>
          </p:nvSpPr>
          <p:spPr>
            <a:xfrm>
              <a:off x="5745651" y="2126255"/>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36" name="Rectangle 35"/>
            <p:cNvSpPr/>
            <p:nvPr/>
          </p:nvSpPr>
          <p:spPr>
            <a:xfrm>
              <a:off x="6153274" y="2129926"/>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37" name="Rectangle 36"/>
            <p:cNvSpPr>
              <a:spLocks noChangeAspect="1"/>
            </p:cNvSpPr>
            <p:nvPr/>
          </p:nvSpPr>
          <p:spPr>
            <a:xfrm>
              <a:off x="5743814" y="2521028"/>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38" name="Rectangle 37"/>
            <p:cNvSpPr/>
            <p:nvPr/>
          </p:nvSpPr>
          <p:spPr>
            <a:xfrm>
              <a:off x="6151437" y="2524699"/>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70" name="Group 69"/>
          <p:cNvGrpSpPr/>
          <p:nvPr/>
        </p:nvGrpSpPr>
        <p:grpSpPr>
          <a:xfrm>
            <a:off x="4769133" y="2706046"/>
            <a:ext cx="851717" cy="1247217"/>
            <a:chOff x="6669233" y="1705777"/>
            <a:chExt cx="835092" cy="1222873"/>
          </a:xfrm>
        </p:grpSpPr>
        <p:sp>
          <p:nvSpPr>
            <p:cNvPr id="42" name="Rectangle 41"/>
            <p:cNvSpPr/>
            <p:nvPr/>
          </p:nvSpPr>
          <p:spPr>
            <a:xfrm>
              <a:off x="6669233" y="1705777"/>
              <a:ext cx="835092" cy="1222873"/>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43" name="Rectangle 42"/>
            <p:cNvSpPr>
              <a:spLocks noChangeAspect="1"/>
            </p:cNvSpPr>
            <p:nvPr/>
          </p:nvSpPr>
          <p:spPr>
            <a:xfrm>
              <a:off x="6702283" y="2125204"/>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44" name="Rectangle 43"/>
            <p:cNvSpPr/>
            <p:nvPr/>
          </p:nvSpPr>
          <p:spPr>
            <a:xfrm>
              <a:off x="7109906" y="2128875"/>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45" name="Rectangle 44"/>
            <p:cNvSpPr>
              <a:spLocks noChangeAspect="1"/>
            </p:cNvSpPr>
            <p:nvPr/>
          </p:nvSpPr>
          <p:spPr>
            <a:xfrm>
              <a:off x="6700446" y="2519977"/>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46" name="Rectangle 45"/>
            <p:cNvSpPr/>
            <p:nvPr/>
          </p:nvSpPr>
          <p:spPr>
            <a:xfrm>
              <a:off x="7108069" y="2523648"/>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69" name="Group 68"/>
          <p:cNvGrpSpPr/>
          <p:nvPr/>
        </p:nvGrpSpPr>
        <p:grpSpPr>
          <a:xfrm>
            <a:off x="5744809" y="2706045"/>
            <a:ext cx="851717" cy="1247217"/>
            <a:chOff x="7625865" y="1705776"/>
            <a:chExt cx="835092" cy="1222873"/>
          </a:xfrm>
        </p:grpSpPr>
        <p:sp>
          <p:nvSpPr>
            <p:cNvPr id="50" name="Rectangle 49"/>
            <p:cNvSpPr/>
            <p:nvPr/>
          </p:nvSpPr>
          <p:spPr>
            <a:xfrm>
              <a:off x="7625865" y="1705776"/>
              <a:ext cx="835092" cy="1222873"/>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51" name="Rectangle 50"/>
            <p:cNvSpPr>
              <a:spLocks noChangeAspect="1"/>
            </p:cNvSpPr>
            <p:nvPr/>
          </p:nvSpPr>
          <p:spPr>
            <a:xfrm>
              <a:off x="7658915" y="2125203"/>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52" name="Rectangle 51"/>
            <p:cNvSpPr/>
            <p:nvPr/>
          </p:nvSpPr>
          <p:spPr>
            <a:xfrm>
              <a:off x="8066538" y="2128874"/>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53" name="Rectangle 52"/>
            <p:cNvSpPr>
              <a:spLocks noChangeAspect="1"/>
            </p:cNvSpPr>
            <p:nvPr/>
          </p:nvSpPr>
          <p:spPr>
            <a:xfrm>
              <a:off x="7657078" y="2519976"/>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54" name="Rectangle 53"/>
            <p:cNvSpPr/>
            <p:nvPr/>
          </p:nvSpPr>
          <p:spPr>
            <a:xfrm>
              <a:off x="8064701" y="2523647"/>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59" name="Group 58"/>
          <p:cNvGrpSpPr/>
          <p:nvPr/>
        </p:nvGrpSpPr>
        <p:grpSpPr>
          <a:xfrm>
            <a:off x="866429" y="4170542"/>
            <a:ext cx="1804919" cy="987404"/>
            <a:chOff x="2842705" y="3439145"/>
            <a:chExt cx="1769689" cy="968131"/>
          </a:xfrm>
        </p:grpSpPr>
        <p:sp>
          <p:nvSpPr>
            <p:cNvPr id="57" name="Left Brace 56"/>
            <p:cNvSpPr/>
            <p:nvPr/>
          </p:nvSpPr>
          <p:spPr>
            <a:xfrm rot="16200000">
              <a:off x="3467911" y="2813939"/>
              <a:ext cx="519277" cy="17696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58" name="TextBox 57"/>
            <p:cNvSpPr txBox="1"/>
            <p:nvPr/>
          </p:nvSpPr>
          <p:spPr>
            <a:xfrm>
              <a:off x="3491210" y="4032430"/>
              <a:ext cx="591829" cy="374846"/>
            </a:xfrm>
            <a:prstGeom prst="rect">
              <a:avLst/>
            </a:prstGeom>
            <a:noFill/>
          </p:spPr>
          <p:txBody>
            <a:bodyPr wrap="none" rtlCol="0">
              <a:spAutoFit/>
            </a:bodyPr>
            <a:lstStyle/>
            <a:p>
              <a:r>
                <a:rPr lang="en-US" sz="1836" dirty="0"/>
                <a:t>FD1</a:t>
              </a:r>
            </a:p>
          </p:txBody>
        </p:sp>
      </p:grpSp>
      <p:grpSp>
        <p:nvGrpSpPr>
          <p:cNvPr id="60" name="Group 59"/>
          <p:cNvGrpSpPr/>
          <p:nvPr/>
        </p:nvGrpSpPr>
        <p:grpSpPr>
          <a:xfrm>
            <a:off x="2819651" y="4191140"/>
            <a:ext cx="1804919" cy="987404"/>
            <a:chOff x="2842705" y="3439145"/>
            <a:chExt cx="1769689" cy="968131"/>
          </a:xfrm>
        </p:grpSpPr>
        <p:sp>
          <p:nvSpPr>
            <p:cNvPr id="61" name="Left Brace 60"/>
            <p:cNvSpPr/>
            <p:nvPr/>
          </p:nvSpPr>
          <p:spPr>
            <a:xfrm rot="16200000">
              <a:off x="3467911" y="2813939"/>
              <a:ext cx="519277" cy="17696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62" name="TextBox 61"/>
            <p:cNvSpPr txBox="1"/>
            <p:nvPr/>
          </p:nvSpPr>
          <p:spPr>
            <a:xfrm>
              <a:off x="3491210" y="4032430"/>
              <a:ext cx="591829" cy="374846"/>
            </a:xfrm>
            <a:prstGeom prst="rect">
              <a:avLst/>
            </a:prstGeom>
            <a:noFill/>
          </p:spPr>
          <p:txBody>
            <a:bodyPr wrap="none" rtlCol="0">
              <a:spAutoFit/>
            </a:bodyPr>
            <a:lstStyle/>
            <a:p>
              <a:r>
                <a:rPr lang="en-US" sz="1836" dirty="0"/>
                <a:t>FD2</a:t>
              </a:r>
            </a:p>
          </p:txBody>
        </p:sp>
      </p:grpSp>
      <p:grpSp>
        <p:nvGrpSpPr>
          <p:cNvPr id="63" name="Group 62"/>
          <p:cNvGrpSpPr/>
          <p:nvPr/>
        </p:nvGrpSpPr>
        <p:grpSpPr>
          <a:xfrm>
            <a:off x="4784114" y="4200503"/>
            <a:ext cx="1804919" cy="987404"/>
            <a:chOff x="2842705" y="3439145"/>
            <a:chExt cx="1769689" cy="968131"/>
          </a:xfrm>
        </p:grpSpPr>
        <p:sp>
          <p:nvSpPr>
            <p:cNvPr id="64" name="Left Brace 63"/>
            <p:cNvSpPr/>
            <p:nvPr/>
          </p:nvSpPr>
          <p:spPr>
            <a:xfrm rot="16200000">
              <a:off x="3467911" y="2813939"/>
              <a:ext cx="519277" cy="17696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65" name="TextBox 64"/>
            <p:cNvSpPr txBox="1"/>
            <p:nvPr/>
          </p:nvSpPr>
          <p:spPr>
            <a:xfrm>
              <a:off x="3491210" y="4032430"/>
              <a:ext cx="591829" cy="374846"/>
            </a:xfrm>
            <a:prstGeom prst="rect">
              <a:avLst/>
            </a:prstGeom>
            <a:noFill/>
          </p:spPr>
          <p:txBody>
            <a:bodyPr wrap="none" rtlCol="0">
              <a:spAutoFit/>
            </a:bodyPr>
            <a:lstStyle/>
            <a:p>
              <a:r>
                <a:rPr lang="en-US" sz="1836" dirty="0"/>
                <a:t>FD3</a:t>
              </a:r>
            </a:p>
          </p:txBody>
        </p:sp>
      </p:grpSp>
      <p:grpSp>
        <p:nvGrpSpPr>
          <p:cNvPr id="106" name="Group 105"/>
          <p:cNvGrpSpPr/>
          <p:nvPr/>
        </p:nvGrpSpPr>
        <p:grpSpPr>
          <a:xfrm>
            <a:off x="6722360" y="2704171"/>
            <a:ext cx="851717" cy="1247217"/>
            <a:chOff x="6590283" y="1703939"/>
            <a:chExt cx="835092" cy="1222873"/>
          </a:xfrm>
        </p:grpSpPr>
        <p:sp>
          <p:nvSpPr>
            <p:cNvPr id="72" name="Rectangle 71"/>
            <p:cNvSpPr/>
            <p:nvPr/>
          </p:nvSpPr>
          <p:spPr>
            <a:xfrm>
              <a:off x="6590283" y="1703939"/>
              <a:ext cx="835092" cy="1222873"/>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73" name="Rectangle 72"/>
            <p:cNvSpPr>
              <a:spLocks noChangeAspect="1"/>
            </p:cNvSpPr>
            <p:nvPr/>
          </p:nvSpPr>
          <p:spPr>
            <a:xfrm>
              <a:off x="6623333" y="2123366"/>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74" name="Rectangle 73"/>
            <p:cNvSpPr/>
            <p:nvPr/>
          </p:nvSpPr>
          <p:spPr>
            <a:xfrm>
              <a:off x="7030956" y="2127037"/>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75" name="Rectangle 74"/>
            <p:cNvSpPr>
              <a:spLocks noChangeAspect="1"/>
            </p:cNvSpPr>
            <p:nvPr/>
          </p:nvSpPr>
          <p:spPr>
            <a:xfrm>
              <a:off x="6621496" y="2518139"/>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76" name="Rectangle 75"/>
            <p:cNvSpPr/>
            <p:nvPr/>
          </p:nvSpPr>
          <p:spPr>
            <a:xfrm>
              <a:off x="7029119" y="2521810"/>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105" name="Group 104"/>
          <p:cNvGrpSpPr/>
          <p:nvPr/>
        </p:nvGrpSpPr>
        <p:grpSpPr>
          <a:xfrm>
            <a:off x="7698036" y="2704170"/>
            <a:ext cx="851717" cy="1247217"/>
            <a:chOff x="7546915" y="1703938"/>
            <a:chExt cx="835092" cy="1222873"/>
          </a:xfrm>
        </p:grpSpPr>
        <p:sp>
          <p:nvSpPr>
            <p:cNvPr id="79" name="Rectangle 78"/>
            <p:cNvSpPr/>
            <p:nvPr/>
          </p:nvSpPr>
          <p:spPr>
            <a:xfrm>
              <a:off x="7546915" y="1703938"/>
              <a:ext cx="835092" cy="1222873"/>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80" name="Rectangle 79"/>
            <p:cNvSpPr>
              <a:spLocks noChangeAspect="1"/>
            </p:cNvSpPr>
            <p:nvPr/>
          </p:nvSpPr>
          <p:spPr>
            <a:xfrm>
              <a:off x="7579965" y="2123365"/>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81" name="Rectangle 80"/>
            <p:cNvSpPr/>
            <p:nvPr/>
          </p:nvSpPr>
          <p:spPr>
            <a:xfrm>
              <a:off x="7987588" y="2127036"/>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82" name="Rectangle 81"/>
            <p:cNvSpPr>
              <a:spLocks noChangeAspect="1"/>
            </p:cNvSpPr>
            <p:nvPr/>
          </p:nvSpPr>
          <p:spPr>
            <a:xfrm>
              <a:off x="7578128" y="2518138"/>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83" name="Rectangle 82"/>
            <p:cNvSpPr/>
            <p:nvPr/>
          </p:nvSpPr>
          <p:spPr>
            <a:xfrm>
              <a:off x="7985751" y="2521809"/>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85" name="Group 84"/>
          <p:cNvGrpSpPr/>
          <p:nvPr/>
        </p:nvGrpSpPr>
        <p:grpSpPr>
          <a:xfrm>
            <a:off x="6737341" y="4198628"/>
            <a:ext cx="1804919" cy="987404"/>
            <a:chOff x="2842705" y="3439145"/>
            <a:chExt cx="1769689" cy="968131"/>
          </a:xfrm>
        </p:grpSpPr>
        <p:sp>
          <p:nvSpPr>
            <p:cNvPr id="86" name="Left Brace 85"/>
            <p:cNvSpPr/>
            <p:nvPr/>
          </p:nvSpPr>
          <p:spPr>
            <a:xfrm rot="16200000">
              <a:off x="3467911" y="2813939"/>
              <a:ext cx="519277" cy="17696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87" name="TextBox 86"/>
            <p:cNvSpPr txBox="1"/>
            <p:nvPr/>
          </p:nvSpPr>
          <p:spPr>
            <a:xfrm>
              <a:off x="3491210" y="4032430"/>
              <a:ext cx="591829" cy="374846"/>
            </a:xfrm>
            <a:prstGeom prst="rect">
              <a:avLst/>
            </a:prstGeom>
            <a:noFill/>
          </p:spPr>
          <p:txBody>
            <a:bodyPr wrap="none" rtlCol="0">
              <a:spAutoFit/>
            </a:bodyPr>
            <a:lstStyle/>
            <a:p>
              <a:r>
                <a:rPr lang="en-US" sz="1836" dirty="0"/>
                <a:t>FD4</a:t>
              </a:r>
            </a:p>
          </p:txBody>
        </p:sp>
      </p:grpSp>
      <p:sp>
        <p:nvSpPr>
          <p:cNvPr id="89" name="Rectangle 88"/>
          <p:cNvSpPr/>
          <p:nvPr/>
        </p:nvSpPr>
        <p:spPr>
          <a:xfrm>
            <a:off x="8653113" y="2702297"/>
            <a:ext cx="851717" cy="124721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0" name="Rectangle 89"/>
          <p:cNvSpPr>
            <a:spLocks noChangeAspect="1"/>
          </p:cNvSpPr>
          <p:nvPr/>
        </p:nvSpPr>
        <p:spPr>
          <a:xfrm>
            <a:off x="8686821" y="3130073"/>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1" name="Rectangle 90"/>
          <p:cNvSpPr/>
          <p:nvPr/>
        </p:nvSpPr>
        <p:spPr>
          <a:xfrm>
            <a:off x="9102559" y="3133817"/>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2" name="Rectangle 91"/>
          <p:cNvSpPr>
            <a:spLocks noChangeAspect="1"/>
          </p:cNvSpPr>
          <p:nvPr/>
        </p:nvSpPr>
        <p:spPr>
          <a:xfrm>
            <a:off x="8684948" y="3532705"/>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3" name="Rectangle 92"/>
          <p:cNvSpPr/>
          <p:nvPr/>
        </p:nvSpPr>
        <p:spPr>
          <a:xfrm>
            <a:off x="9100685" y="3536449"/>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6" name="Rectangle 95"/>
          <p:cNvSpPr/>
          <p:nvPr/>
        </p:nvSpPr>
        <p:spPr>
          <a:xfrm>
            <a:off x="9628789" y="2702296"/>
            <a:ext cx="851717" cy="124721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7" name="Rectangle 96"/>
          <p:cNvSpPr>
            <a:spLocks noChangeAspect="1"/>
          </p:cNvSpPr>
          <p:nvPr/>
        </p:nvSpPr>
        <p:spPr>
          <a:xfrm>
            <a:off x="9662497" y="3130072"/>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8" name="Rectangle 97"/>
          <p:cNvSpPr/>
          <p:nvPr/>
        </p:nvSpPr>
        <p:spPr>
          <a:xfrm>
            <a:off x="10078235" y="3133816"/>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9" name="Rectangle 98"/>
          <p:cNvSpPr>
            <a:spLocks noChangeAspect="1"/>
          </p:cNvSpPr>
          <p:nvPr/>
        </p:nvSpPr>
        <p:spPr>
          <a:xfrm>
            <a:off x="9660624" y="3532704"/>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100" name="Rectangle 99"/>
          <p:cNvSpPr/>
          <p:nvPr/>
        </p:nvSpPr>
        <p:spPr>
          <a:xfrm>
            <a:off x="10076361" y="3536448"/>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nvGrpSpPr>
          <p:cNvPr id="102" name="Group 101"/>
          <p:cNvGrpSpPr/>
          <p:nvPr/>
        </p:nvGrpSpPr>
        <p:grpSpPr>
          <a:xfrm>
            <a:off x="8668094" y="4196754"/>
            <a:ext cx="1804919" cy="987404"/>
            <a:chOff x="2842705" y="3439145"/>
            <a:chExt cx="1769689" cy="968131"/>
          </a:xfrm>
        </p:grpSpPr>
        <p:sp>
          <p:nvSpPr>
            <p:cNvPr id="103" name="Left Brace 102"/>
            <p:cNvSpPr/>
            <p:nvPr/>
          </p:nvSpPr>
          <p:spPr>
            <a:xfrm rot="16200000">
              <a:off x="3467911" y="2813939"/>
              <a:ext cx="519277" cy="17696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104" name="TextBox 103"/>
            <p:cNvSpPr txBox="1"/>
            <p:nvPr/>
          </p:nvSpPr>
          <p:spPr>
            <a:xfrm>
              <a:off x="3491210" y="4032430"/>
              <a:ext cx="591829" cy="374846"/>
            </a:xfrm>
            <a:prstGeom prst="rect">
              <a:avLst/>
            </a:prstGeom>
            <a:noFill/>
          </p:spPr>
          <p:txBody>
            <a:bodyPr wrap="none" rtlCol="0">
              <a:spAutoFit/>
            </a:bodyPr>
            <a:lstStyle/>
            <a:p>
              <a:r>
                <a:rPr lang="en-US" sz="1836" dirty="0"/>
                <a:t>FD5</a:t>
              </a:r>
            </a:p>
          </p:txBody>
        </p:sp>
      </p:grpSp>
      <p:sp>
        <p:nvSpPr>
          <p:cNvPr id="109" name="Title 108"/>
          <p:cNvSpPr>
            <a:spLocks noGrp="1"/>
          </p:cNvSpPr>
          <p:nvPr>
            <p:ph type="title"/>
          </p:nvPr>
        </p:nvSpPr>
        <p:spPr>
          <a:xfrm>
            <a:off x="786659" y="126984"/>
            <a:ext cx="10724938" cy="1351952"/>
          </a:xfrm>
        </p:spPr>
        <p:txBody>
          <a:bodyPr/>
          <a:lstStyle/>
          <a:p>
            <a:r>
              <a:rPr lang="en-US" sz="4400" dirty="0"/>
              <a:t>Choosing the # of Fault Domains you need</a:t>
            </a:r>
          </a:p>
        </p:txBody>
      </p:sp>
      <p:sp>
        <p:nvSpPr>
          <p:cNvPr id="112" name="Rectangle 111"/>
          <p:cNvSpPr/>
          <p:nvPr/>
        </p:nvSpPr>
        <p:spPr>
          <a:xfrm>
            <a:off x="563052" y="1204223"/>
            <a:ext cx="10247041" cy="1246721"/>
          </a:xfrm>
          <a:prstGeom prst="rect">
            <a:avLst/>
          </a:prstGeom>
        </p:spPr>
        <p:txBody>
          <a:bodyPr wrap="square">
            <a:spAutoFit/>
          </a:bodyPr>
          <a:lstStyle/>
          <a:p>
            <a:pPr marL="291436" indent="-291436">
              <a:buFont typeface="Arial" panose="020B0604020202020204" pitchFamily="34" charset="0"/>
              <a:buChar char="•"/>
            </a:pPr>
            <a:r>
              <a:rPr lang="en-US" sz="1836" dirty="0"/>
              <a:t>Number of Fault Domains  determines the headroom needed in case of unplanned failures.</a:t>
            </a:r>
          </a:p>
          <a:p>
            <a:pPr marL="291436" indent="-291436">
              <a:buFont typeface="Arial" panose="020B0604020202020204" pitchFamily="34" charset="0"/>
              <a:buChar char="•"/>
            </a:pPr>
            <a:r>
              <a:rPr lang="en-US" sz="1836" dirty="0"/>
              <a:t>Examples could be a PDU failing or TOR maintenance  . Which will typically take out all machines in a Rack.</a:t>
            </a:r>
          </a:p>
          <a:p>
            <a:endParaRPr lang="en-US" sz="1836" dirty="0"/>
          </a:p>
        </p:txBody>
      </p:sp>
      <p:sp>
        <p:nvSpPr>
          <p:cNvPr id="113" name="Rectangle 112"/>
          <p:cNvSpPr/>
          <p:nvPr/>
        </p:nvSpPr>
        <p:spPr>
          <a:xfrm>
            <a:off x="866428" y="5682599"/>
            <a:ext cx="10033551" cy="958583"/>
          </a:xfrm>
          <a:prstGeom prst="rect">
            <a:avLst/>
          </a:prstGeom>
        </p:spPr>
        <p:txBody>
          <a:bodyPr wrap="square">
            <a:spAutoFit/>
          </a:bodyPr>
          <a:lstStyle/>
          <a:p>
            <a:pPr marL="291436" indent="-291436">
              <a:buFont typeface="Arial" panose="020B0604020202020204" pitchFamily="34" charset="0"/>
              <a:buChar char="•"/>
            </a:pPr>
            <a:r>
              <a:rPr lang="en-US" sz="1836" dirty="0"/>
              <a:t>In terms of capacity – you need to leave enough headroom to accommodate failure of </a:t>
            </a:r>
            <a:r>
              <a:rPr lang="en-US" sz="1836" dirty="0" err="1"/>
              <a:t>atleast</a:t>
            </a:r>
            <a:r>
              <a:rPr lang="en-US" sz="1836" dirty="0"/>
              <a:t> one FD</a:t>
            </a:r>
          </a:p>
          <a:p>
            <a:pPr marL="291436" indent="-291436">
              <a:buFont typeface="Arial" panose="020B0604020202020204" pitchFamily="34" charset="0"/>
              <a:buChar char="•"/>
            </a:pPr>
            <a:r>
              <a:rPr lang="en-US" sz="1836" dirty="0"/>
              <a:t>This will result in SF moving/creating new replicas on the available Machines in other FDs.</a:t>
            </a:r>
          </a:p>
        </p:txBody>
      </p:sp>
      <p:sp>
        <p:nvSpPr>
          <p:cNvPr id="114" name="TextBox 113"/>
          <p:cNvSpPr txBox="1"/>
          <p:nvPr/>
        </p:nvSpPr>
        <p:spPr>
          <a:xfrm>
            <a:off x="8875782" y="4057089"/>
            <a:ext cx="1636419" cy="382308"/>
          </a:xfrm>
          <a:prstGeom prst="rect">
            <a:avLst/>
          </a:prstGeom>
          <a:noFill/>
        </p:spPr>
        <p:txBody>
          <a:bodyPr wrap="none" rtlCol="0">
            <a:spAutoFit/>
          </a:bodyPr>
          <a:lstStyle/>
          <a:p>
            <a:r>
              <a:rPr lang="en-US" sz="1836" dirty="0">
                <a:solidFill>
                  <a:srgbClr val="FF0000"/>
                </a:solidFill>
              </a:rPr>
              <a:t>PDU Burn out</a:t>
            </a:r>
          </a:p>
        </p:txBody>
      </p:sp>
      <p:sp>
        <p:nvSpPr>
          <p:cNvPr id="115" name="Rectangle 114"/>
          <p:cNvSpPr>
            <a:spLocks noChangeAspect="1"/>
          </p:cNvSpPr>
          <p:nvPr/>
        </p:nvSpPr>
        <p:spPr>
          <a:xfrm>
            <a:off x="11118874" y="4638671"/>
            <a:ext cx="567640" cy="55146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Replica</a:t>
            </a:r>
            <a:endParaRPr lang="en-US" sz="1600" dirty="0"/>
          </a:p>
        </p:txBody>
      </p:sp>
    </p:spTree>
    <p:extLst>
      <p:ext uri="{BB962C8B-B14F-4D97-AF65-F5344CB8AC3E}">
        <p14:creationId xmlns:p14="http://schemas.microsoft.com/office/powerpoint/2010/main" val="14709644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9"/>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96"/>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42" presetClass="path" presetSubtype="0" accel="50000" decel="50000" fill="hold" grpId="0" nodeType="clickEffect">
                                  <p:stCondLst>
                                    <p:cond delay="0"/>
                                  </p:stCondLst>
                                  <p:childTnLst>
                                    <p:animMotion origin="layout" path="M -2.08333E-6 -2.59259E-6 L -0.62526 -0.05324 " pathEditMode="relative" rAng="0" ptsTypes="AA">
                                      <p:cBhvr>
                                        <p:cTn id="12" dur="750" fill="hold"/>
                                        <p:tgtEl>
                                          <p:spTgt spid="90"/>
                                        </p:tgtEl>
                                        <p:attrNameLst>
                                          <p:attrName>ppt_x</p:attrName>
                                          <p:attrName>ppt_y</p:attrName>
                                        </p:attrNameLst>
                                      </p:cBhvr>
                                      <p:rCtr x="-31263" y="-2662"/>
                                    </p:animMotion>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grpId="0" nodeType="clickEffect">
                                  <p:stCondLst>
                                    <p:cond delay="0"/>
                                  </p:stCondLst>
                                  <p:childTnLst>
                                    <p:animMotion origin="layout" path="M -0.00182 -0.00162 L -0.54752 -0.11435 " pathEditMode="relative" rAng="0" ptsTypes="AA">
                                      <p:cBhvr>
                                        <p:cTn id="16" dur="750" fill="hold"/>
                                        <p:tgtEl>
                                          <p:spTgt spid="92"/>
                                        </p:tgtEl>
                                        <p:attrNameLst>
                                          <p:attrName>ppt_x</p:attrName>
                                          <p:attrName>ppt_y</p:attrName>
                                        </p:attrNameLst>
                                      </p:cBhvr>
                                      <p:rCtr x="-27292" y="-5648"/>
                                    </p:animMotion>
                                  </p:childTnLst>
                                </p:cTn>
                              </p:par>
                            </p:childTnLst>
                          </p:cTn>
                        </p:par>
                      </p:childTnLst>
                    </p:cTn>
                  </p:par>
                  <p:par>
                    <p:cTn id="17" fill="hold">
                      <p:stCondLst>
                        <p:cond delay="indefinite"/>
                      </p:stCondLst>
                      <p:childTnLst>
                        <p:par>
                          <p:cTn id="18" fill="hold">
                            <p:stCondLst>
                              <p:cond delay="0"/>
                            </p:stCondLst>
                            <p:childTnLst>
                              <p:par>
                                <p:cTn id="19" presetID="42" presetClass="path" presetSubtype="0" accel="50000" decel="50000" fill="hold" grpId="0" nodeType="clickEffect">
                                  <p:stCondLst>
                                    <p:cond delay="0"/>
                                  </p:stCondLst>
                                  <p:childTnLst>
                                    <p:animMotion origin="layout" path="M 0.00273 0.00324 L -0.50235 -0.05718 " pathEditMode="relative" rAng="0" ptsTypes="AA">
                                      <p:cBhvr>
                                        <p:cTn id="20" dur="750" fill="hold"/>
                                        <p:tgtEl>
                                          <p:spTgt spid="91"/>
                                        </p:tgtEl>
                                        <p:attrNameLst>
                                          <p:attrName>ppt_x</p:attrName>
                                          <p:attrName>ppt_y</p:attrName>
                                        </p:attrNameLst>
                                      </p:cBhvr>
                                      <p:rCtr x="-25260" y="-3032"/>
                                    </p:animMotion>
                                  </p:childTnLst>
                                </p:cTn>
                              </p:par>
                            </p:childTnLst>
                          </p:cTn>
                        </p:par>
                      </p:childTnLst>
                    </p:cTn>
                  </p:par>
                  <p:par>
                    <p:cTn id="21" fill="hold">
                      <p:stCondLst>
                        <p:cond delay="indefinite"/>
                      </p:stCondLst>
                      <p:childTnLst>
                        <p:par>
                          <p:cTn id="22" fill="hold">
                            <p:stCondLst>
                              <p:cond delay="0"/>
                            </p:stCondLst>
                            <p:childTnLst>
                              <p:par>
                                <p:cTn id="23" presetID="42" presetClass="path" presetSubtype="0" accel="50000" decel="50000" fill="hold" grpId="0" nodeType="clickEffect">
                                  <p:stCondLst>
                                    <p:cond delay="0"/>
                                  </p:stCondLst>
                                  <p:childTnLst>
                                    <p:animMotion origin="layout" path="M -0.00183 -0.00162 L -0.39115 -0.11481 " pathEditMode="relative" rAng="0" ptsTypes="AA">
                                      <p:cBhvr>
                                        <p:cTn id="24" dur="750" fill="hold"/>
                                        <p:tgtEl>
                                          <p:spTgt spid="93"/>
                                        </p:tgtEl>
                                        <p:attrNameLst>
                                          <p:attrName>ppt_x</p:attrName>
                                          <p:attrName>ppt_y</p:attrName>
                                        </p:attrNameLst>
                                      </p:cBhvr>
                                      <p:rCtr x="-19466" y="-5671"/>
                                    </p:animMotion>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0" nodeType="clickEffect">
                                  <p:stCondLst>
                                    <p:cond delay="0"/>
                                  </p:stCondLst>
                                  <p:childTnLst>
                                    <p:animMotion origin="layout" path="M -0.00365 0.00324 L -0.35808 -0.0574 " pathEditMode="relative" rAng="0" ptsTypes="AA">
                                      <p:cBhvr>
                                        <p:cTn id="28" dur="750" fill="hold"/>
                                        <p:tgtEl>
                                          <p:spTgt spid="97"/>
                                        </p:tgtEl>
                                        <p:attrNameLst>
                                          <p:attrName>ppt_x</p:attrName>
                                          <p:attrName>ppt_y</p:attrName>
                                        </p:attrNameLst>
                                      </p:cBhvr>
                                      <p:rCtr x="-17721" y="-3032"/>
                                    </p:animMotion>
                                  </p:childTnLst>
                                </p:cTn>
                              </p:par>
                            </p:childTnLst>
                          </p:cTn>
                        </p:par>
                      </p:childTnLst>
                    </p:cTn>
                  </p:par>
                  <p:par>
                    <p:cTn id="29" fill="hold">
                      <p:stCondLst>
                        <p:cond delay="indefinite"/>
                      </p:stCondLst>
                      <p:childTnLst>
                        <p:par>
                          <p:cTn id="30" fill="hold">
                            <p:stCondLst>
                              <p:cond delay="0"/>
                            </p:stCondLst>
                            <p:childTnLst>
                              <p:par>
                                <p:cTn id="31" presetID="42" presetClass="path" presetSubtype="0" accel="50000" decel="50000" fill="hold" grpId="0" nodeType="clickEffect">
                                  <p:stCondLst>
                                    <p:cond delay="0"/>
                                  </p:stCondLst>
                                  <p:childTnLst>
                                    <p:animMotion origin="layout" path="M 0.00091 -1.48148E-6 L -0.27982 -0.11273 " pathEditMode="relative" rAng="0" ptsTypes="AA">
                                      <p:cBhvr>
                                        <p:cTn id="32" dur="750" fill="hold"/>
                                        <p:tgtEl>
                                          <p:spTgt spid="99"/>
                                        </p:tgtEl>
                                        <p:attrNameLst>
                                          <p:attrName>ppt_x</p:attrName>
                                          <p:attrName>ppt_y</p:attrName>
                                        </p:attrNameLst>
                                      </p:cBhvr>
                                      <p:rCtr x="-14036" y="-5648"/>
                                    </p:animMotion>
                                  </p:childTnLst>
                                </p:cTn>
                              </p:par>
                            </p:childTnLst>
                          </p:cTn>
                        </p:par>
                      </p:childTnLst>
                    </p:cTn>
                  </p:par>
                  <p:par>
                    <p:cTn id="33" fill="hold">
                      <p:stCondLst>
                        <p:cond delay="indefinite"/>
                      </p:stCondLst>
                      <p:childTnLst>
                        <p:par>
                          <p:cTn id="34" fill="hold">
                            <p:stCondLst>
                              <p:cond delay="0"/>
                            </p:stCondLst>
                            <p:childTnLst>
                              <p:par>
                                <p:cTn id="35" presetID="42" presetClass="path" presetSubtype="0" accel="50000" decel="50000" fill="hold" grpId="0" nodeType="clickEffect">
                                  <p:stCondLst>
                                    <p:cond delay="0"/>
                                  </p:stCondLst>
                                  <p:childTnLst>
                                    <p:animMotion origin="layout" path="M -1.25E-6 2.96296E-6 L -0.26823 -0.05579 " pathEditMode="relative" rAng="0" ptsTypes="AA">
                                      <p:cBhvr>
                                        <p:cTn id="36" dur="750" fill="hold"/>
                                        <p:tgtEl>
                                          <p:spTgt spid="98"/>
                                        </p:tgtEl>
                                        <p:attrNameLst>
                                          <p:attrName>ppt_x</p:attrName>
                                          <p:attrName>ppt_y</p:attrName>
                                        </p:attrNameLst>
                                      </p:cBhvr>
                                      <p:rCtr x="-13411" y="-2801"/>
                                    </p:animMotion>
                                  </p:childTnLst>
                                </p:cTn>
                              </p:par>
                            </p:childTnLst>
                          </p:cTn>
                        </p:par>
                      </p:childTnLst>
                    </p:cTn>
                  </p:par>
                  <p:par>
                    <p:cTn id="37" fill="hold">
                      <p:stCondLst>
                        <p:cond delay="indefinite"/>
                      </p:stCondLst>
                      <p:childTnLst>
                        <p:par>
                          <p:cTn id="38" fill="hold">
                            <p:stCondLst>
                              <p:cond delay="0"/>
                            </p:stCondLst>
                            <p:childTnLst>
                              <p:par>
                                <p:cTn id="39" presetID="42" presetClass="path" presetSubtype="0" accel="50000" decel="50000" fill="hold" grpId="0" nodeType="clickEffect">
                                  <p:stCondLst>
                                    <p:cond delay="0"/>
                                  </p:stCondLst>
                                  <p:childTnLst>
                                    <p:animMotion origin="layout" path="M -1.04167E-6 -4.44444E-6 L -0.18555 -0.11319 " pathEditMode="relative" rAng="0" ptsTypes="AA">
                                      <p:cBhvr>
                                        <p:cTn id="40" dur="750" fill="hold"/>
                                        <p:tgtEl>
                                          <p:spTgt spid="100"/>
                                        </p:tgtEl>
                                        <p:attrNameLst>
                                          <p:attrName>ppt_x</p:attrName>
                                          <p:attrName>ppt_y</p:attrName>
                                        </p:attrNameLst>
                                      </p:cBhvr>
                                      <p:rCtr x="-9284" y="-567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animBg="1"/>
      <p:bldP spid="90" grpId="0" animBg="1"/>
      <p:bldP spid="91" grpId="0" animBg="1"/>
      <p:bldP spid="92" grpId="0" animBg="1"/>
      <p:bldP spid="93" grpId="0" animBg="1"/>
      <p:bldP spid="96" grpId="0" animBg="1"/>
      <p:bldP spid="97" grpId="0" animBg="1"/>
      <p:bldP spid="98" grpId="0" animBg="1"/>
      <p:bldP spid="99" grpId="0" animBg="1"/>
      <p:bldP spid="10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866429" y="2727443"/>
            <a:ext cx="851717" cy="1247217"/>
            <a:chOff x="2842705" y="1706829"/>
            <a:chExt cx="835092" cy="1222873"/>
          </a:xfrm>
        </p:grpSpPr>
        <p:sp>
          <p:nvSpPr>
            <p:cNvPr id="2" name="Rectangle 1"/>
            <p:cNvSpPr/>
            <p:nvPr/>
          </p:nvSpPr>
          <p:spPr>
            <a:xfrm>
              <a:off x="2842705" y="1706829"/>
              <a:ext cx="835092" cy="1222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7" name="Rectangle 6"/>
            <p:cNvSpPr>
              <a:spLocks noChangeAspect="1"/>
            </p:cNvSpPr>
            <p:nvPr/>
          </p:nvSpPr>
          <p:spPr>
            <a:xfrm>
              <a:off x="2875755" y="2126256"/>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8" name="Rectangle 7"/>
            <p:cNvSpPr/>
            <p:nvPr/>
          </p:nvSpPr>
          <p:spPr>
            <a:xfrm>
              <a:off x="3283378" y="2129927"/>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 name="Rectangle 8"/>
            <p:cNvSpPr>
              <a:spLocks noChangeAspect="1"/>
            </p:cNvSpPr>
            <p:nvPr/>
          </p:nvSpPr>
          <p:spPr>
            <a:xfrm>
              <a:off x="2873918" y="2521029"/>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10" name="Rectangle 9"/>
            <p:cNvSpPr/>
            <p:nvPr/>
          </p:nvSpPr>
          <p:spPr>
            <a:xfrm>
              <a:off x="3281541" y="2524700"/>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17" name="Group 16"/>
          <p:cNvGrpSpPr/>
          <p:nvPr/>
        </p:nvGrpSpPr>
        <p:grpSpPr>
          <a:xfrm>
            <a:off x="1842105" y="2729592"/>
            <a:ext cx="851717" cy="1247217"/>
            <a:chOff x="2842705" y="1706829"/>
            <a:chExt cx="835092" cy="1222873"/>
          </a:xfrm>
        </p:grpSpPr>
        <p:sp>
          <p:nvSpPr>
            <p:cNvPr id="18" name="Rectangle 17"/>
            <p:cNvSpPr/>
            <p:nvPr/>
          </p:nvSpPr>
          <p:spPr>
            <a:xfrm>
              <a:off x="2842705" y="1706829"/>
              <a:ext cx="835092" cy="1222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19" name="Rectangle 18"/>
            <p:cNvSpPr>
              <a:spLocks noChangeAspect="1"/>
            </p:cNvSpPr>
            <p:nvPr/>
          </p:nvSpPr>
          <p:spPr>
            <a:xfrm>
              <a:off x="2875755" y="2126256"/>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20" name="Rectangle 19"/>
            <p:cNvSpPr/>
            <p:nvPr/>
          </p:nvSpPr>
          <p:spPr>
            <a:xfrm>
              <a:off x="3283378" y="2129927"/>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21" name="Rectangle 20"/>
            <p:cNvSpPr>
              <a:spLocks noChangeAspect="1"/>
            </p:cNvSpPr>
            <p:nvPr/>
          </p:nvSpPr>
          <p:spPr>
            <a:xfrm>
              <a:off x="2873918" y="2521029"/>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22" name="Rectangle 21"/>
            <p:cNvSpPr/>
            <p:nvPr/>
          </p:nvSpPr>
          <p:spPr>
            <a:xfrm>
              <a:off x="3281541" y="2524700"/>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68" name="Group 67"/>
          <p:cNvGrpSpPr/>
          <p:nvPr/>
        </p:nvGrpSpPr>
        <p:grpSpPr>
          <a:xfrm>
            <a:off x="2817781" y="2707118"/>
            <a:ext cx="851717" cy="1247217"/>
            <a:chOff x="4755969" y="1706828"/>
            <a:chExt cx="835092" cy="1222873"/>
          </a:xfrm>
        </p:grpSpPr>
        <p:sp>
          <p:nvSpPr>
            <p:cNvPr id="26" name="Rectangle 25"/>
            <p:cNvSpPr/>
            <p:nvPr/>
          </p:nvSpPr>
          <p:spPr>
            <a:xfrm>
              <a:off x="4755969" y="1706828"/>
              <a:ext cx="835092" cy="122287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27" name="Rectangle 26"/>
            <p:cNvSpPr>
              <a:spLocks noChangeAspect="1"/>
            </p:cNvSpPr>
            <p:nvPr/>
          </p:nvSpPr>
          <p:spPr>
            <a:xfrm>
              <a:off x="4789019" y="2126255"/>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28" name="Rectangle 27"/>
            <p:cNvSpPr/>
            <p:nvPr/>
          </p:nvSpPr>
          <p:spPr>
            <a:xfrm>
              <a:off x="5196642" y="2129926"/>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29" name="Rectangle 28"/>
            <p:cNvSpPr>
              <a:spLocks noChangeAspect="1"/>
            </p:cNvSpPr>
            <p:nvPr/>
          </p:nvSpPr>
          <p:spPr>
            <a:xfrm>
              <a:off x="4787182" y="2521028"/>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30" name="Rectangle 29"/>
            <p:cNvSpPr/>
            <p:nvPr/>
          </p:nvSpPr>
          <p:spPr>
            <a:xfrm>
              <a:off x="5194805" y="2524699"/>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67" name="Group 66"/>
          <p:cNvGrpSpPr/>
          <p:nvPr/>
        </p:nvGrpSpPr>
        <p:grpSpPr>
          <a:xfrm>
            <a:off x="3793457" y="2707118"/>
            <a:ext cx="851717" cy="1247217"/>
            <a:chOff x="5712601" y="1706828"/>
            <a:chExt cx="835092" cy="1222873"/>
          </a:xfrm>
        </p:grpSpPr>
        <p:sp>
          <p:nvSpPr>
            <p:cNvPr id="34" name="Rectangle 33"/>
            <p:cNvSpPr/>
            <p:nvPr/>
          </p:nvSpPr>
          <p:spPr>
            <a:xfrm>
              <a:off x="5712601" y="1706828"/>
              <a:ext cx="835092" cy="122287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35" name="Rectangle 34"/>
            <p:cNvSpPr>
              <a:spLocks noChangeAspect="1"/>
            </p:cNvSpPr>
            <p:nvPr/>
          </p:nvSpPr>
          <p:spPr>
            <a:xfrm>
              <a:off x="5745651" y="2126255"/>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36" name="Rectangle 35"/>
            <p:cNvSpPr/>
            <p:nvPr/>
          </p:nvSpPr>
          <p:spPr>
            <a:xfrm>
              <a:off x="6153274" y="2129926"/>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37" name="Rectangle 36"/>
            <p:cNvSpPr>
              <a:spLocks noChangeAspect="1"/>
            </p:cNvSpPr>
            <p:nvPr/>
          </p:nvSpPr>
          <p:spPr>
            <a:xfrm>
              <a:off x="5743814" y="2521028"/>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38" name="Rectangle 37"/>
            <p:cNvSpPr/>
            <p:nvPr/>
          </p:nvSpPr>
          <p:spPr>
            <a:xfrm>
              <a:off x="6151437" y="2524699"/>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70" name="Group 69"/>
          <p:cNvGrpSpPr/>
          <p:nvPr/>
        </p:nvGrpSpPr>
        <p:grpSpPr>
          <a:xfrm>
            <a:off x="4769133" y="2706046"/>
            <a:ext cx="851717" cy="1247217"/>
            <a:chOff x="6669233" y="1705777"/>
            <a:chExt cx="835092" cy="1222873"/>
          </a:xfrm>
        </p:grpSpPr>
        <p:sp>
          <p:nvSpPr>
            <p:cNvPr id="42" name="Rectangle 41"/>
            <p:cNvSpPr/>
            <p:nvPr/>
          </p:nvSpPr>
          <p:spPr>
            <a:xfrm>
              <a:off x="6669233" y="1705777"/>
              <a:ext cx="835092" cy="1222873"/>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43" name="Rectangle 42"/>
            <p:cNvSpPr>
              <a:spLocks noChangeAspect="1"/>
            </p:cNvSpPr>
            <p:nvPr/>
          </p:nvSpPr>
          <p:spPr>
            <a:xfrm>
              <a:off x="6702283" y="2125204"/>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44" name="Rectangle 43"/>
            <p:cNvSpPr/>
            <p:nvPr/>
          </p:nvSpPr>
          <p:spPr>
            <a:xfrm>
              <a:off x="7109906" y="2128875"/>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45" name="Rectangle 44"/>
            <p:cNvSpPr>
              <a:spLocks noChangeAspect="1"/>
            </p:cNvSpPr>
            <p:nvPr/>
          </p:nvSpPr>
          <p:spPr>
            <a:xfrm>
              <a:off x="6700446" y="2519977"/>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46" name="Rectangle 45"/>
            <p:cNvSpPr/>
            <p:nvPr/>
          </p:nvSpPr>
          <p:spPr>
            <a:xfrm>
              <a:off x="7108069" y="2523648"/>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69" name="Group 68"/>
          <p:cNvGrpSpPr/>
          <p:nvPr/>
        </p:nvGrpSpPr>
        <p:grpSpPr>
          <a:xfrm>
            <a:off x="5744809" y="2706045"/>
            <a:ext cx="851717" cy="1247217"/>
            <a:chOff x="7625865" y="1705776"/>
            <a:chExt cx="835092" cy="1222873"/>
          </a:xfrm>
        </p:grpSpPr>
        <p:sp>
          <p:nvSpPr>
            <p:cNvPr id="50" name="Rectangle 49"/>
            <p:cNvSpPr/>
            <p:nvPr/>
          </p:nvSpPr>
          <p:spPr>
            <a:xfrm>
              <a:off x="7625865" y="1705776"/>
              <a:ext cx="835092" cy="1222873"/>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51" name="Rectangle 50"/>
            <p:cNvSpPr>
              <a:spLocks noChangeAspect="1"/>
            </p:cNvSpPr>
            <p:nvPr/>
          </p:nvSpPr>
          <p:spPr>
            <a:xfrm>
              <a:off x="7658915" y="2125203"/>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52" name="Rectangle 51"/>
            <p:cNvSpPr/>
            <p:nvPr/>
          </p:nvSpPr>
          <p:spPr>
            <a:xfrm>
              <a:off x="8066538" y="2128874"/>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53" name="Rectangle 52"/>
            <p:cNvSpPr>
              <a:spLocks noChangeAspect="1"/>
            </p:cNvSpPr>
            <p:nvPr/>
          </p:nvSpPr>
          <p:spPr>
            <a:xfrm>
              <a:off x="7657078" y="2519976"/>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54" name="Rectangle 53"/>
            <p:cNvSpPr/>
            <p:nvPr/>
          </p:nvSpPr>
          <p:spPr>
            <a:xfrm>
              <a:off x="8064701" y="2523647"/>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59" name="Group 58"/>
          <p:cNvGrpSpPr/>
          <p:nvPr/>
        </p:nvGrpSpPr>
        <p:grpSpPr>
          <a:xfrm>
            <a:off x="866429" y="4664940"/>
            <a:ext cx="1804919" cy="987404"/>
            <a:chOff x="2842705" y="3439145"/>
            <a:chExt cx="1769689" cy="968131"/>
          </a:xfrm>
        </p:grpSpPr>
        <p:sp>
          <p:nvSpPr>
            <p:cNvPr id="57" name="Left Brace 56"/>
            <p:cNvSpPr/>
            <p:nvPr/>
          </p:nvSpPr>
          <p:spPr>
            <a:xfrm rot="16200000">
              <a:off x="3467911" y="2813939"/>
              <a:ext cx="519277" cy="17696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58" name="TextBox 57"/>
            <p:cNvSpPr txBox="1"/>
            <p:nvPr/>
          </p:nvSpPr>
          <p:spPr>
            <a:xfrm>
              <a:off x="3491210" y="4032430"/>
              <a:ext cx="591829" cy="374846"/>
            </a:xfrm>
            <a:prstGeom prst="rect">
              <a:avLst/>
            </a:prstGeom>
            <a:noFill/>
          </p:spPr>
          <p:txBody>
            <a:bodyPr wrap="none" rtlCol="0">
              <a:spAutoFit/>
            </a:bodyPr>
            <a:lstStyle/>
            <a:p>
              <a:r>
                <a:rPr lang="en-US" sz="1836" dirty="0"/>
                <a:t>FD1</a:t>
              </a:r>
            </a:p>
          </p:txBody>
        </p:sp>
      </p:grpSp>
      <p:grpSp>
        <p:nvGrpSpPr>
          <p:cNvPr id="60" name="Group 59"/>
          <p:cNvGrpSpPr/>
          <p:nvPr/>
        </p:nvGrpSpPr>
        <p:grpSpPr>
          <a:xfrm>
            <a:off x="2819651" y="4685538"/>
            <a:ext cx="1804919" cy="987404"/>
            <a:chOff x="2842705" y="3439145"/>
            <a:chExt cx="1769689" cy="968131"/>
          </a:xfrm>
        </p:grpSpPr>
        <p:sp>
          <p:nvSpPr>
            <p:cNvPr id="61" name="Left Brace 60"/>
            <p:cNvSpPr/>
            <p:nvPr/>
          </p:nvSpPr>
          <p:spPr>
            <a:xfrm rot="16200000">
              <a:off x="3467911" y="2813939"/>
              <a:ext cx="519277" cy="17696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62" name="TextBox 61"/>
            <p:cNvSpPr txBox="1"/>
            <p:nvPr/>
          </p:nvSpPr>
          <p:spPr>
            <a:xfrm>
              <a:off x="3491210" y="4032430"/>
              <a:ext cx="591829" cy="374846"/>
            </a:xfrm>
            <a:prstGeom prst="rect">
              <a:avLst/>
            </a:prstGeom>
            <a:noFill/>
          </p:spPr>
          <p:txBody>
            <a:bodyPr wrap="none" rtlCol="0">
              <a:spAutoFit/>
            </a:bodyPr>
            <a:lstStyle/>
            <a:p>
              <a:r>
                <a:rPr lang="en-US" sz="1836" dirty="0"/>
                <a:t>FD2</a:t>
              </a:r>
            </a:p>
          </p:txBody>
        </p:sp>
      </p:grpSp>
      <p:grpSp>
        <p:nvGrpSpPr>
          <p:cNvPr id="63" name="Group 62"/>
          <p:cNvGrpSpPr/>
          <p:nvPr/>
        </p:nvGrpSpPr>
        <p:grpSpPr>
          <a:xfrm>
            <a:off x="4784114" y="4694901"/>
            <a:ext cx="1804919" cy="987404"/>
            <a:chOff x="2842705" y="3439145"/>
            <a:chExt cx="1769689" cy="968131"/>
          </a:xfrm>
        </p:grpSpPr>
        <p:sp>
          <p:nvSpPr>
            <p:cNvPr id="64" name="Left Brace 63"/>
            <p:cNvSpPr/>
            <p:nvPr/>
          </p:nvSpPr>
          <p:spPr>
            <a:xfrm rot="16200000">
              <a:off x="3467911" y="2813939"/>
              <a:ext cx="519277" cy="17696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65" name="TextBox 64"/>
            <p:cNvSpPr txBox="1"/>
            <p:nvPr/>
          </p:nvSpPr>
          <p:spPr>
            <a:xfrm>
              <a:off x="3491210" y="4032430"/>
              <a:ext cx="591829" cy="374846"/>
            </a:xfrm>
            <a:prstGeom prst="rect">
              <a:avLst/>
            </a:prstGeom>
            <a:noFill/>
          </p:spPr>
          <p:txBody>
            <a:bodyPr wrap="none" rtlCol="0">
              <a:spAutoFit/>
            </a:bodyPr>
            <a:lstStyle/>
            <a:p>
              <a:r>
                <a:rPr lang="en-US" sz="1836" dirty="0"/>
                <a:t>FD3</a:t>
              </a:r>
            </a:p>
          </p:txBody>
        </p:sp>
      </p:grpSp>
      <p:grpSp>
        <p:nvGrpSpPr>
          <p:cNvPr id="106" name="Group 105"/>
          <p:cNvGrpSpPr/>
          <p:nvPr/>
        </p:nvGrpSpPr>
        <p:grpSpPr>
          <a:xfrm>
            <a:off x="6722360" y="2704171"/>
            <a:ext cx="851717" cy="1247217"/>
            <a:chOff x="6590283" y="1703939"/>
            <a:chExt cx="835092" cy="1222873"/>
          </a:xfrm>
        </p:grpSpPr>
        <p:sp>
          <p:nvSpPr>
            <p:cNvPr id="72" name="Rectangle 71"/>
            <p:cNvSpPr/>
            <p:nvPr/>
          </p:nvSpPr>
          <p:spPr>
            <a:xfrm>
              <a:off x="6590283" y="1703939"/>
              <a:ext cx="835092" cy="1222873"/>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73" name="Rectangle 72"/>
            <p:cNvSpPr>
              <a:spLocks noChangeAspect="1"/>
            </p:cNvSpPr>
            <p:nvPr/>
          </p:nvSpPr>
          <p:spPr>
            <a:xfrm>
              <a:off x="6623333" y="2123366"/>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74" name="Rectangle 73"/>
            <p:cNvSpPr/>
            <p:nvPr/>
          </p:nvSpPr>
          <p:spPr>
            <a:xfrm>
              <a:off x="7030956" y="2127037"/>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75" name="Rectangle 74"/>
            <p:cNvSpPr>
              <a:spLocks noChangeAspect="1"/>
            </p:cNvSpPr>
            <p:nvPr/>
          </p:nvSpPr>
          <p:spPr>
            <a:xfrm>
              <a:off x="6621496" y="2518139"/>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76" name="Rectangle 75"/>
            <p:cNvSpPr/>
            <p:nvPr/>
          </p:nvSpPr>
          <p:spPr>
            <a:xfrm>
              <a:off x="7029119" y="2521810"/>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105" name="Group 104"/>
          <p:cNvGrpSpPr/>
          <p:nvPr/>
        </p:nvGrpSpPr>
        <p:grpSpPr>
          <a:xfrm>
            <a:off x="7698036" y="2704170"/>
            <a:ext cx="851717" cy="1247217"/>
            <a:chOff x="7546915" y="1703938"/>
            <a:chExt cx="835092" cy="1222873"/>
          </a:xfrm>
        </p:grpSpPr>
        <p:sp>
          <p:nvSpPr>
            <p:cNvPr id="79" name="Rectangle 78"/>
            <p:cNvSpPr/>
            <p:nvPr/>
          </p:nvSpPr>
          <p:spPr>
            <a:xfrm>
              <a:off x="7546915" y="1703938"/>
              <a:ext cx="835092" cy="1222873"/>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80" name="Rectangle 79"/>
            <p:cNvSpPr>
              <a:spLocks noChangeAspect="1"/>
            </p:cNvSpPr>
            <p:nvPr/>
          </p:nvSpPr>
          <p:spPr>
            <a:xfrm>
              <a:off x="7579965" y="2123365"/>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81" name="Rectangle 80"/>
            <p:cNvSpPr/>
            <p:nvPr/>
          </p:nvSpPr>
          <p:spPr>
            <a:xfrm>
              <a:off x="7987588" y="2127036"/>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82" name="Rectangle 81"/>
            <p:cNvSpPr>
              <a:spLocks noChangeAspect="1"/>
            </p:cNvSpPr>
            <p:nvPr/>
          </p:nvSpPr>
          <p:spPr>
            <a:xfrm>
              <a:off x="7578128" y="2518138"/>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83" name="Rectangle 82"/>
            <p:cNvSpPr/>
            <p:nvPr/>
          </p:nvSpPr>
          <p:spPr>
            <a:xfrm>
              <a:off x="7985751" y="2521809"/>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85" name="Group 84"/>
          <p:cNvGrpSpPr/>
          <p:nvPr/>
        </p:nvGrpSpPr>
        <p:grpSpPr>
          <a:xfrm>
            <a:off x="6737341" y="4693026"/>
            <a:ext cx="1804919" cy="987404"/>
            <a:chOff x="2842705" y="3439145"/>
            <a:chExt cx="1769689" cy="968131"/>
          </a:xfrm>
        </p:grpSpPr>
        <p:sp>
          <p:nvSpPr>
            <p:cNvPr id="86" name="Left Brace 85"/>
            <p:cNvSpPr/>
            <p:nvPr/>
          </p:nvSpPr>
          <p:spPr>
            <a:xfrm rot="16200000">
              <a:off x="3467911" y="2813939"/>
              <a:ext cx="519277" cy="17696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87" name="TextBox 86"/>
            <p:cNvSpPr txBox="1"/>
            <p:nvPr/>
          </p:nvSpPr>
          <p:spPr>
            <a:xfrm>
              <a:off x="3491210" y="4032430"/>
              <a:ext cx="591829" cy="374846"/>
            </a:xfrm>
            <a:prstGeom prst="rect">
              <a:avLst/>
            </a:prstGeom>
            <a:noFill/>
          </p:spPr>
          <p:txBody>
            <a:bodyPr wrap="none" rtlCol="0">
              <a:spAutoFit/>
            </a:bodyPr>
            <a:lstStyle/>
            <a:p>
              <a:r>
                <a:rPr lang="en-US" sz="1836" dirty="0"/>
                <a:t>FD4</a:t>
              </a:r>
            </a:p>
          </p:txBody>
        </p:sp>
      </p:grpSp>
      <p:sp>
        <p:nvSpPr>
          <p:cNvPr id="89" name="Rectangle 88"/>
          <p:cNvSpPr/>
          <p:nvPr/>
        </p:nvSpPr>
        <p:spPr>
          <a:xfrm>
            <a:off x="8653113" y="2702297"/>
            <a:ext cx="851717" cy="124721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0" name="Rectangle 89"/>
          <p:cNvSpPr>
            <a:spLocks noChangeAspect="1"/>
          </p:cNvSpPr>
          <p:nvPr/>
        </p:nvSpPr>
        <p:spPr>
          <a:xfrm>
            <a:off x="8686821" y="3130073"/>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1" name="Rectangle 90"/>
          <p:cNvSpPr/>
          <p:nvPr/>
        </p:nvSpPr>
        <p:spPr>
          <a:xfrm>
            <a:off x="9102559" y="3133817"/>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2" name="Rectangle 91"/>
          <p:cNvSpPr>
            <a:spLocks noChangeAspect="1"/>
          </p:cNvSpPr>
          <p:nvPr/>
        </p:nvSpPr>
        <p:spPr>
          <a:xfrm>
            <a:off x="8684948" y="3532705"/>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3" name="Rectangle 92"/>
          <p:cNvSpPr/>
          <p:nvPr/>
        </p:nvSpPr>
        <p:spPr>
          <a:xfrm>
            <a:off x="9100685" y="3536449"/>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6" name="Rectangle 95"/>
          <p:cNvSpPr/>
          <p:nvPr/>
        </p:nvSpPr>
        <p:spPr>
          <a:xfrm>
            <a:off x="9628789" y="2702296"/>
            <a:ext cx="851717" cy="124721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7" name="Rectangle 96"/>
          <p:cNvSpPr>
            <a:spLocks noChangeAspect="1"/>
          </p:cNvSpPr>
          <p:nvPr/>
        </p:nvSpPr>
        <p:spPr>
          <a:xfrm>
            <a:off x="9662497" y="3130072"/>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8" name="Rectangle 97"/>
          <p:cNvSpPr/>
          <p:nvPr/>
        </p:nvSpPr>
        <p:spPr>
          <a:xfrm>
            <a:off x="10078235" y="3133816"/>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9" name="Rectangle 98"/>
          <p:cNvSpPr>
            <a:spLocks noChangeAspect="1"/>
          </p:cNvSpPr>
          <p:nvPr/>
        </p:nvSpPr>
        <p:spPr>
          <a:xfrm>
            <a:off x="9660624" y="3532704"/>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100" name="Rectangle 99"/>
          <p:cNvSpPr/>
          <p:nvPr/>
        </p:nvSpPr>
        <p:spPr>
          <a:xfrm>
            <a:off x="10076361" y="3536448"/>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nvGrpSpPr>
          <p:cNvPr id="102" name="Group 101"/>
          <p:cNvGrpSpPr/>
          <p:nvPr/>
        </p:nvGrpSpPr>
        <p:grpSpPr>
          <a:xfrm>
            <a:off x="8668094" y="4691152"/>
            <a:ext cx="1804919" cy="987404"/>
            <a:chOff x="2842705" y="3439145"/>
            <a:chExt cx="1769689" cy="968131"/>
          </a:xfrm>
        </p:grpSpPr>
        <p:sp>
          <p:nvSpPr>
            <p:cNvPr id="103" name="Left Brace 102"/>
            <p:cNvSpPr/>
            <p:nvPr/>
          </p:nvSpPr>
          <p:spPr>
            <a:xfrm rot="16200000">
              <a:off x="3467911" y="2813939"/>
              <a:ext cx="519277" cy="17696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104" name="TextBox 103"/>
            <p:cNvSpPr txBox="1"/>
            <p:nvPr/>
          </p:nvSpPr>
          <p:spPr>
            <a:xfrm>
              <a:off x="3491210" y="4032430"/>
              <a:ext cx="591829" cy="374846"/>
            </a:xfrm>
            <a:prstGeom prst="rect">
              <a:avLst/>
            </a:prstGeom>
            <a:noFill/>
          </p:spPr>
          <p:txBody>
            <a:bodyPr wrap="none" rtlCol="0">
              <a:spAutoFit/>
            </a:bodyPr>
            <a:lstStyle/>
            <a:p>
              <a:r>
                <a:rPr lang="en-US" sz="1836" dirty="0"/>
                <a:t>FD5</a:t>
              </a:r>
            </a:p>
          </p:txBody>
        </p:sp>
      </p:grpSp>
      <p:sp>
        <p:nvSpPr>
          <p:cNvPr id="109" name="Title 108"/>
          <p:cNvSpPr>
            <a:spLocks noGrp="1"/>
          </p:cNvSpPr>
          <p:nvPr>
            <p:ph type="title"/>
          </p:nvPr>
        </p:nvSpPr>
        <p:spPr>
          <a:xfrm>
            <a:off x="786659" y="126984"/>
            <a:ext cx="10724938" cy="1351952"/>
          </a:xfrm>
        </p:spPr>
        <p:txBody>
          <a:bodyPr/>
          <a:lstStyle/>
          <a:p>
            <a:r>
              <a:rPr lang="en-US" sz="4000" dirty="0"/>
              <a:t>Choosing the # of Upgrade Domains you need</a:t>
            </a:r>
          </a:p>
        </p:txBody>
      </p:sp>
      <p:sp>
        <p:nvSpPr>
          <p:cNvPr id="112" name="Rectangle 111"/>
          <p:cNvSpPr/>
          <p:nvPr/>
        </p:nvSpPr>
        <p:spPr>
          <a:xfrm>
            <a:off x="563052" y="1204224"/>
            <a:ext cx="10247041" cy="1534858"/>
          </a:xfrm>
          <a:prstGeom prst="rect">
            <a:avLst/>
          </a:prstGeom>
        </p:spPr>
        <p:txBody>
          <a:bodyPr wrap="square">
            <a:spAutoFit/>
          </a:bodyPr>
          <a:lstStyle/>
          <a:p>
            <a:pPr marL="291436" indent="-291436">
              <a:buFont typeface="Arial" panose="020B0604020202020204" pitchFamily="34" charset="0"/>
              <a:buChar char="•"/>
            </a:pPr>
            <a:r>
              <a:rPr lang="en-US" sz="1836" dirty="0"/>
              <a:t>Number of Upgrade Domains determines the headroom needed in case of planned failures/downtimes.</a:t>
            </a:r>
          </a:p>
          <a:p>
            <a:pPr marL="291436" indent="-291436">
              <a:buFont typeface="Arial" panose="020B0604020202020204" pitchFamily="34" charset="0"/>
              <a:buChar char="•"/>
            </a:pPr>
            <a:r>
              <a:rPr lang="en-US" sz="1836" dirty="0"/>
              <a:t>Examples could be a service fabric upgrade going on, and a UD is down. You have to have room to place additional replicas if need be.</a:t>
            </a:r>
          </a:p>
          <a:p>
            <a:endParaRPr lang="en-US" sz="1836" dirty="0"/>
          </a:p>
        </p:txBody>
      </p:sp>
      <p:sp>
        <p:nvSpPr>
          <p:cNvPr id="115" name="Rectangle 114"/>
          <p:cNvSpPr>
            <a:spLocks noChangeAspect="1"/>
          </p:cNvSpPr>
          <p:nvPr/>
        </p:nvSpPr>
        <p:spPr>
          <a:xfrm>
            <a:off x="11118874" y="4638671"/>
            <a:ext cx="625370" cy="55146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20" dirty="0"/>
              <a:t>Replica</a:t>
            </a:r>
            <a:endParaRPr lang="en-US" sz="1836" dirty="0"/>
          </a:p>
        </p:txBody>
      </p:sp>
      <p:grpSp>
        <p:nvGrpSpPr>
          <p:cNvPr id="6" name="Group 5"/>
          <p:cNvGrpSpPr/>
          <p:nvPr/>
        </p:nvGrpSpPr>
        <p:grpSpPr>
          <a:xfrm>
            <a:off x="932678" y="4132362"/>
            <a:ext cx="1732631" cy="513124"/>
            <a:chOff x="847179" y="4051704"/>
            <a:chExt cx="840058" cy="503108"/>
          </a:xfrm>
        </p:grpSpPr>
        <p:grpSp>
          <p:nvGrpSpPr>
            <p:cNvPr id="5" name="Group 4"/>
            <p:cNvGrpSpPr/>
            <p:nvPr/>
          </p:nvGrpSpPr>
          <p:grpSpPr>
            <a:xfrm>
              <a:off x="847179" y="4053542"/>
              <a:ext cx="374221" cy="501270"/>
              <a:chOff x="847179" y="4053542"/>
              <a:chExt cx="374221" cy="501270"/>
            </a:xfrm>
          </p:grpSpPr>
          <p:sp>
            <p:nvSpPr>
              <p:cNvPr id="3" name="Left Brace 2"/>
              <p:cNvSpPr/>
              <p:nvPr/>
            </p:nvSpPr>
            <p:spPr>
              <a:xfrm rot="16200000">
                <a:off x="961234"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4" name="TextBox 3"/>
              <p:cNvSpPr txBox="1"/>
              <p:nvPr/>
            </p:nvSpPr>
            <p:spPr>
              <a:xfrm>
                <a:off x="923018" y="4242739"/>
                <a:ext cx="294183" cy="312073"/>
              </a:xfrm>
              <a:prstGeom prst="rect">
                <a:avLst/>
              </a:prstGeom>
              <a:noFill/>
            </p:spPr>
            <p:txBody>
              <a:bodyPr wrap="square" rtlCol="0">
                <a:spAutoFit/>
              </a:bodyPr>
              <a:lstStyle/>
              <a:p>
                <a:r>
                  <a:rPr lang="en-US" sz="1428" dirty="0"/>
                  <a:t>UD1</a:t>
                </a:r>
              </a:p>
            </p:txBody>
          </p:sp>
        </p:grpSp>
        <p:grpSp>
          <p:nvGrpSpPr>
            <p:cNvPr id="84" name="Group 83"/>
            <p:cNvGrpSpPr/>
            <p:nvPr/>
          </p:nvGrpSpPr>
          <p:grpSpPr>
            <a:xfrm>
              <a:off x="1313016" y="4051704"/>
              <a:ext cx="374221" cy="489006"/>
              <a:chOff x="896211" y="4053542"/>
              <a:chExt cx="374221" cy="489006"/>
            </a:xfrm>
          </p:grpSpPr>
          <p:sp>
            <p:nvSpPr>
              <p:cNvPr id="88" name="Left Brace 87"/>
              <p:cNvSpPr/>
              <p:nvPr/>
            </p:nvSpPr>
            <p:spPr>
              <a:xfrm rot="16200000">
                <a:off x="1010266"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94" name="TextBox 93"/>
              <p:cNvSpPr txBox="1"/>
              <p:nvPr/>
            </p:nvSpPr>
            <p:spPr>
              <a:xfrm>
                <a:off x="951082" y="4230475"/>
                <a:ext cx="289596" cy="312073"/>
              </a:xfrm>
              <a:prstGeom prst="rect">
                <a:avLst/>
              </a:prstGeom>
              <a:noFill/>
            </p:spPr>
            <p:txBody>
              <a:bodyPr wrap="square" rtlCol="0">
                <a:spAutoFit/>
              </a:bodyPr>
              <a:lstStyle/>
              <a:p>
                <a:r>
                  <a:rPr lang="en-US" sz="1428" dirty="0"/>
                  <a:t>UD2</a:t>
                </a:r>
              </a:p>
            </p:txBody>
          </p:sp>
        </p:grpSp>
      </p:grpSp>
      <p:grpSp>
        <p:nvGrpSpPr>
          <p:cNvPr id="117" name="Group 116"/>
          <p:cNvGrpSpPr/>
          <p:nvPr/>
        </p:nvGrpSpPr>
        <p:grpSpPr>
          <a:xfrm>
            <a:off x="2885901" y="4152961"/>
            <a:ext cx="1732631" cy="513124"/>
            <a:chOff x="847179" y="4051704"/>
            <a:chExt cx="840058" cy="503108"/>
          </a:xfrm>
        </p:grpSpPr>
        <p:grpSp>
          <p:nvGrpSpPr>
            <p:cNvPr id="118" name="Group 117"/>
            <p:cNvGrpSpPr/>
            <p:nvPr/>
          </p:nvGrpSpPr>
          <p:grpSpPr>
            <a:xfrm>
              <a:off x="847179" y="4053542"/>
              <a:ext cx="374221" cy="501270"/>
              <a:chOff x="847179" y="4053542"/>
              <a:chExt cx="374221" cy="501270"/>
            </a:xfrm>
          </p:grpSpPr>
          <p:sp>
            <p:nvSpPr>
              <p:cNvPr id="122" name="Left Brace 121"/>
              <p:cNvSpPr/>
              <p:nvPr/>
            </p:nvSpPr>
            <p:spPr>
              <a:xfrm rot="16200000">
                <a:off x="961234"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123" name="TextBox 122"/>
              <p:cNvSpPr txBox="1"/>
              <p:nvPr/>
            </p:nvSpPr>
            <p:spPr>
              <a:xfrm>
                <a:off x="923018" y="4242739"/>
                <a:ext cx="294183" cy="312073"/>
              </a:xfrm>
              <a:prstGeom prst="rect">
                <a:avLst/>
              </a:prstGeom>
              <a:noFill/>
            </p:spPr>
            <p:txBody>
              <a:bodyPr wrap="square" rtlCol="0">
                <a:spAutoFit/>
              </a:bodyPr>
              <a:lstStyle/>
              <a:p>
                <a:r>
                  <a:rPr lang="en-US" sz="1428" dirty="0"/>
                  <a:t>UD3</a:t>
                </a:r>
              </a:p>
            </p:txBody>
          </p:sp>
        </p:grpSp>
        <p:grpSp>
          <p:nvGrpSpPr>
            <p:cNvPr id="119" name="Group 118"/>
            <p:cNvGrpSpPr/>
            <p:nvPr/>
          </p:nvGrpSpPr>
          <p:grpSpPr>
            <a:xfrm>
              <a:off x="1313016" y="4051704"/>
              <a:ext cx="374221" cy="489006"/>
              <a:chOff x="896211" y="4053542"/>
              <a:chExt cx="374221" cy="489006"/>
            </a:xfrm>
          </p:grpSpPr>
          <p:sp>
            <p:nvSpPr>
              <p:cNvPr id="120" name="Left Brace 119"/>
              <p:cNvSpPr/>
              <p:nvPr/>
            </p:nvSpPr>
            <p:spPr>
              <a:xfrm rot="16200000">
                <a:off x="1010266"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121" name="TextBox 120"/>
              <p:cNvSpPr txBox="1"/>
              <p:nvPr/>
            </p:nvSpPr>
            <p:spPr>
              <a:xfrm>
                <a:off x="951082" y="4230475"/>
                <a:ext cx="289596" cy="312073"/>
              </a:xfrm>
              <a:prstGeom prst="rect">
                <a:avLst/>
              </a:prstGeom>
              <a:noFill/>
            </p:spPr>
            <p:txBody>
              <a:bodyPr wrap="square" rtlCol="0">
                <a:spAutoFit/>
              </a:bodyPr>
              <a:lstStyle/>
              <a:p>
                <a:r>
                  <a:rPr lang="en-US" sz="1428" dirty="0"/>
                  <a:t>UD4</a:t>
                </a:r>
              </a:p>
            </p:txBody>
          </p:sp>
        </p:grpSp>
      </p:grpSp>
      <p:grpSp>
        <p:nvGrpSpPr>
          <p:cNvPr id="124" name="Group 123"/>
          <p:cNvGrpSpPr/>
          <p:nvPr/>
        </p:nvGrpSpPr>
        <p:grpSpPr>
          <a:xfrm>
            <a:off x="4816653" y="4162323"/>
            <a:ext cx="1732631" cy="513124"/>
            <a:chOff x="847179" y="4051704"/>
            <a:chExt cx="840058" cy="503108"/>
          </a:xfrm>
        </p:grpSpPr>
        <p:grpSp>
          <p:nvGrpSpPr>
            <p:cNvPr id="125" name="Group 124"/>
            <p:cNvGrpSpPr/>
            <p:nvPr/>
          </p:nvGrpSpPr>
          <p:grpSpPr>
            <a:xfrm>
              <a:off x="847179" y="4053542"/>
              <a:ext cx="374221" cy="501270"/>
              <a:chOff x="847179" y="4053542"/>
              <a:chExt cx="374221" cy="501270"/>
            </a:xfrm>
          </p:grpSpPr>
          <p:sp>
            <p:nvSpPr>
              <p:cNvPr id="129" name="Left Brace 128"/>
              <p:cNvSpPr/>
              <p:nvPr/>
            </p:nvSpPr>
            <p:spPr>
              <a:xfrm rot="16200000">
                <a:off x="961234"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130" name="TextBox 129"/>
              <p:cNvSpPr txBox="1"/>
              <p:nvPr/>
            </p:nvSpPr>
            <p:spPr>
              <a:xfrm>
                <a:off x="923018" y="4242739"/>
                <a:ext cx="294183" cy="312073"/>
              </a:xfrm>
              <a:prstGeom prst="rect">
                <a:avLst/>
              </a:prstGeom>
              <a:noFill/>
            </p:spPr>
            <p:txBody>
              <a:bodyPr wrap="square" rtlCol="0">
                <a:spAutoFit/>
              </a:bodyPr>
              <a:lstStyle/>
              <a:p>
                <a:r>
                  <a:rPr lang="en-US" sz="1428" dirty="0"/>
                  <a:t>UD5</a:t>
                </a:r>
              </a:p>
            </p:txBody>
          </p:sp>
        </p:grpSp>
        <p:grpSp>
          <p:nvGrpSpPr>
            <p:cNvPr id="126" name="Group 125"/>
            <p:cNvGrpSpPr/>
            <p:nvPr/>
          </p:nvGrpSpPr>
          <p:grpSpPr>
            <a:xfrm>
              <a:off x="1313016" y="4051704"/>
              <a:ext cx="374221" cy="489006"/>
              <a:chOff x="896211" y="4053542"/>
              <a:chExt cx="374221" cy="489006"/>
            </a:xfrm>
          </p:grpSpPr>
          <p:sp>
            <p:nvSpPr>
              <p:cNvPr id="127" name="Left Brace 126"/>
              <p:cNvSpPr/>
              <p:nvPr/>
            </p:nvSpPr>
            <p:spPr>
              <a:xfrm rot="16200000">
                <a:off x="1010266"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128" name="TextBox 127"/>
              <p:cNvSpPr txBox="1"/>
              <p:nvPr/>
            </p:nvSpPr>
            <p:spPr>
              <a:xfrm>
                <a:off x="951082" y="4230475"/>
                <a:ext cx="289596" cy="312073"/>
              </a:xfrm>
              <a:prstGeom prst="rect">
                <a:avLst/>
              </a:prstGeom>
              <a:noFill/>
            </p:spPr>
            <p:txBody>
              <a:bodyPr wrap="square" rtlCol="0">
                <a:spAutoFit/>
              </a:bodyPr>
              <a:lstStyle/>
              <a:p>
                <a:r>
                  <a:rPr lang="en-US" sz="1428" dirty="0"/>
                  <a:t>UD6</a:t>
                </a:r>
              </a:p>
            </p:txBody>
          </p:sp>
        </p:grpSp>
      </p:grpSp>
      <p:grpSp>
        <p:nvGrpSpPr>
          <p:cNvPr id="131" name="Group 130"/>
          <p:cNvGrpSpPr/>
          <p:nvPr/>
        </p:nvGrpSpPr>
        <p:grpSpPr>
          <a:xfrm>
            <a:off x="6792350" y="4182921"/>
            <a:ext cx="1732631" cy="513124"/>
            <a:chOff x="847179" y="4051704"/>
            <a:chExt cx="840058" cy="503108"/>
          </a:xfrm>
        </p:grpSpPr>
        <p:grpSp>
          <p:nvGrpSpPr>
            <p:cNvPr id="132" name="Group 131"/>
            <p:cNvGrpSpPr/>
            <p:nvPr/>
          </p:nvGrpSpPr>
          <p:grpSpPr>
            <a:xfrm>
              <a:off x="847179" y="4053542"/>
              <a:ext cx="374221" cy="501270"/>
              <a:chOff x="847179" y="4053542"/>
              <a:chExt cx="374221" cy="501270"/>
            </a:xfrm>
          </p:grpSpPr>
          <p:sp>
            <p:nvSpPr>
              <p:cNvPr id="136" name="Left Brace 135"/>
              <p:cNvSpPr/>
              <p:nvPr/>
            </p:nvSpPr>
            <p:spPr>
              <a:xfrm rot="16200000">
                <a:off x="961234"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137" name="TextBox 136"/>
              <p:cNvSpPr txBox="1"/>
              <p:nvPr/>
            </p:nvSpPr>
            <p:spPr>
              <a:xfrm>
                <a:off x="923018" y="4242739"/>
                <a:ext cx="294183" cy="312073"/>
              </a:xfrm>
              <a:prstGeom prst="rect">
                <a:avLst/>
              </a:prstGeom>
              <a:noFill/>
            </p:spPr>
            <p:txBody>
              <a:bodyPr wrap="square" rtlCol="0">
                <a:spAutoFit/>
              </a:bodyPr>
              <a:lstStyle/>
              <a:p>
                <a:r>
                  <a:rPr lang="en-US" sz="1428" dirty="0"/>
                  <a:t>UD7</a:t>
                </a:r>
              </a:p>
            </p:txBody>
          </p:sp>
        </p:grpSp>
        <p:grpSp>
          <p:nvGrpSpPr>
            <p:cNvPr id="133" name="Group 132"/>
            <p:cNvGrpSpPr/>
            <p:nvPr/>
          </p:nvGrpSpPr>
          <p:grpSpPr>
            <a:xfrm>
              <a:off x="1313016" y="4051704"/>
              <a:ext cx="374221" cy="489006"/>
              <a:chOff x="896211" y="4053542"/>
              <a:chExt cx="374221" cy="489006"/>
            </a:xfrm>
          </p:grpSpPr>
          <p:sp>
            <p:nvSpPr>
              <p:cNvPr id="134" name="Left Brace 133"/>
              <p:cNvSpPr/>
              <p:nvPr/>
            </p:nvSpPr>
            <p:spPr>
              <a:xfrm rot="16200000">
                <a:off x="1010266"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135" name="TextBox 134"/>
              <p:cNvSpPr txBox="1"/>
              <p:nvPr/>
            </p:nvSpPr>
            <p:spPr>
              <a:xfrm>
                <a:off x="951082" y="4230475"/>
                <a:ext cx="289596" cy="312073"/>
              </a:xfrm>
              <a:prstGeom prst="rect">
                <a:avLst/>
              </a:prstGeom>
              <a:noFill/>
            </p:spPr>
            <p:txBody>
              <a:bodyPr wrap="square" rtlCol="0">
                <a:spAutoFit/>
              </a:bodyPr>
              <a:lstStyle/>
              <a:p>
                <a:r>
                  <a:rPr lang="en-US" sz="1428" dirty="0"/>
                  <a:t>UD8</a:t>
                </a:r>
              </a:p>
            </p:txBody>
          </p:sp>
        </p:grpSp>
      </p:grpSp>
      <p:grpSp>
        <p:nvGrpSpPr>
          <p:cNvPr id="138" name="Group 137"/>
          <p:cNvGrpSpPr/>
          <p:nvPr/>
        </p:nvGrpSpPr>
        <p:grpSpPr>
          <a:xfrm>
            <a:off x="8700629" y="4192283"/>
            <a:ext cx="1732631" cy="513124"/>
            <a:chOff x="847179" y="4051704"/>
            <a:chExt cx="840058" cy="503108"/>
          </a:xfrm>
        </p:grpSpPr>
        <p:grpSp>
          <p:nvGrpSpPr>
            <p:cNvPr id="139" name="Group 138"/>
            <p:cNvGrpSpPr/>
            <p:nvPr/>
          </p:nvGrpSpPr>
          <p:grpSpPr>
            <a:xfrm>
              <a:off x="847179" y="4053542"/>
              <a:ext cx="374221" cy="501270"/>
              <a:chOff x="847179" y="4053542"/>
              <a:chExt cx="374221" cy="501270"/>
            </a:xfrm>
          </p:grpSpPr>
          <p:sp>
            <p:nvSpPr>
              <p:cNvPr id="143" name="Left Brace 142"/>
              <p:cNvSpPr/>
              <p:nvPr/>
            </p:nvSpPr>
            <p:spPr>
              <a:xfrm rot="16200000">
                <a:off x="961234"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144" name="TextBox 143"/>
              <p:cNvSpPr txBox="1"/>
              <p:nvPr/>
            </p:nvSpPr>
            <p:spPr>
              <a:xfrm>
                <a:off x="923018" y="4242739"/>
                <a:ext cx="294183" cy="312073"/>
              </a:xfrm>
              <a:prstGeom prst="rect">
                <a:avLst/>
              </a:prstGeom>
              <a:noFill/>
            </p:spPr>
            <p:txBody>
              <a:bodyPr wrap="square" rtlCol="0">
                <a:spAutoFit/>
              </a:bodyPr>
              <a:lstStyle/>
              <a:p>
                <a:r>
                  <a:rPr lang="en-US" sz="1428" dirty="0"/>
                  <a:t>UD9</a:t>
                </a:r>
              </a:p>
            </p:txBody>
          </p:sp>
        </p:grpSp>
        <p:grpSp>
          <p:nvGrpSpPr>
            <p:cNvPr id="140" name="Group 139"/>
            <p:cNvGrpSpPr/>
            <p:nvPr/>
          </p:nvGrpSpPr>
          <p:grpSpPr>
            <a:xfrm>
              <a:off x="1313016" y="4051704"/>
              <a:ext cx="374221" cy="489006"/>
              <a:chOff x="896211" y="4053542"/>
              <a:chExt cx="374221" cy="489006"/>
            </a:xfrm>
          </p:grpSpPr>
          <p:sp>
            <p:nvSpPr>
              <p:cNvPr id="141" name="Left Brace 140"/>
              <p:cNvSpPr/>
              <p:nvPr/>
            </p:nvSpPr>
            <p:spPr>
              <a:xfrm rot="16200000">
                <a:off x="1010266"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142" name="TextBox 141"/>
              <p:cNvSpPr txBox="1"/>
              <p:nvPr/>
            </p:nvSpPr>
            <p:spPr>
              <a:xfrm>
                <a:off x="951082" y="4230475"/>
                <a:ext cx="319350" cy="312073"/>
              </a:xfrm>
              <a:prstGeom prst="rect">
                <a:avLst/>
              </a:prstGeom>
              <a:noFill/>
            </p:spPr>
            <p:txBody>
              <a:bodyPr wrap="square" rtlCol="0">
                <a:spAutoFit/>
              </a:bodyPr>
              <a:lstStyle/>
              <a:p>
                <a:r>
                  <a:rPr lang="en-US" sz="1428" dirty="0"/>
                  <a:t>UD10</a:t>
                </a:r>
              </a:p>
            </p:txBody>
          </p:sp>
        </p:grpSp>
      </p:grpSp>
      <p:sp>
        <p:nvSpPr>
          <p:cNvPr id="145" name="TextBox 144"/>
          <p:cNvSpPr txBox="1"/>
          <p:nvPr/>
        </p:nvSpPr>
        <p:spPr>
          <a:xfrm>
            <a:off x="8647433" y="3889065"/>
            <a:ext cx="895151" cy="446397"/>
          </a:xfrm>
          <a:prstGeom prst="rect">
            <a:avLst/>
          </a:prstGeom>
          <a:noFill/>
        </p:spPr>
        <p:txBody>
          <a:bodyPr wrap="square" rtlCol="0">
            <a:spAutoFit/>
          </a:bodyPr>
          <a:lstStyle/>
          <a:p>
            <a:r>
              <a:rPr lang="en-US" sz="1122" dirty="0">
                <a:solidFill>
                  <a:srgbClr val="FF0000"/>
                </a:solidFill>
              </a:rPr>
              <a:t>SF upgrade</a:t>
            </a:r>
          </a:p>
        </p:txBody>
      </p:sp>
    </p:spTree>
    <p:extLst>
      <p:ext uri="{BB962C8B-B14F-4D97-AF65-F5344CB8AC3E}">
        <p14:creationId xmlns:p14="http://schemas.microsoft.com/office/powerpoint/2010/main" val="36347310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2.08333E-6 -2.59259E-6 L -0.62526 -0.05324 " pathEditMode="relative" rAng="0" ptsTypes="AA">
                                      <p:cBhvr>
                                        <p:cTn id="6" dur="750" fill="hold"/>
                                        <p:tgtEl>
                                          <p:spTgt spid="90"/>
                                        </p:tgtEl>
                                        <p:attrNameLst>
                                          <p:attrName>ppt_x</p:attrName>
                                          <p:attrName>ppt_y</p:attrName>
                                        </p:attrNameLst>
                                      </p:cBhvr>
                                      <p:rCtr x="-31263" y="-2662"/>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0" nodeType="clickEffect">
                                  <p:stCondLst>
                                    <p:cond delay="0"/>
                                  </p:stCondLst>
                                  <p:childTnLst>
                                    <p:animMotion origin="layout" path="M -0.00182 -0.00162 L -0.54752 -0.11435 " pathEditMode="relative" rAng="0" ptsTypes="AA">
                                      <p:cBhvr>
                                        <p:cTn id="10" dur="750" fill="hold"/>
                                        <p:tgtEl>
                                          <p:spTgt spid="92"/>
                                        </p:tgtEl>
                                        <p:attrNameLst>
                                          <p:attrName>ppt_x</p:attrName>
                                          <p:attrName>ppt_y</p:attrName>
                                        </p:attrNameLst>
                                      </p:cBhvr>
                                      <p:rCtr x="-27292" y="-5648"/>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0" nodeType="clickEffect">
                                  <p:stCondLst>
                                    <p:cond delay="0"/>
                                  </p:stCondLst>
                                  <p:childTnLst>
                                    <p:animMotion origin="layout" path="M 0.00273 0.00324 L -0.50235 -0.05718 " pathEditMode="relative" rAng="0" ptsTypes="AA">
                                      <p:cBhvr>
                                        <p:cTn id="14" dur="750" fill="hold"/>
                                        <p:tgtEl>
                                          <p:spTgt spid="91"/>
                                        </p:tgtEl>
                                        <p:attrNameLst>
                                          <p:attrName>ppt_x</p:attrName>
                                          <p:attrName>ppt_y</p:attrName>
                                        </p:attrNameLst>
                                      </p:cBhvr>
                                      <p:rCtr x="-25260" y="-3032"/>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grpId="0" nodeType="clickEffect">
                                  <p:stCondLst>
                                    <p:cond delay="0"/>
                                  </p:stCondLst>
                                  <p:childTnLst>
                                    <p:animMotion origin="layout" path="M -0.00183 -0.00162 L -0.39115 -0.11481 " pathEditMode="relative" rAng="0" ptsTypes="AA">
                                      <p:cBhvr>
                                        <p:cTn id="18" dur="750" fill="hold"/>
                                        <p:tgtEl>
                                          <p:spTgt spid="93"/>
                                        </p:tgtEl>
                                        <p:attrNameLst>
                                          <p:attrName>ppt_x</p:attrName>
                                          <p:attrName>ppt_y</p:attrName>
                                        </p:attrNameLst>
                                      </p:cBhvr>
                                      <p:rCtr x="-19466" y="-567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91" grpId="0" animBg="1"/>
      <p:bldP spid="92" grpId="0" animBg="1"/>
      <p:bldP spid="9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866429" y="3682518"/>
            <a:ext cx="851717" cy="1247217"/>
            <a:chOff x="2842705" y="1706829"/>
            <a:chExt cx="835092" cy="1222873"/>
          </a:xfrm>
        </p:grpSpPr>
        <p:sp>
          <p:nvSpPr>
            <p:cNvPr id="2" name="Rectangle 1"/>
            <p:cNvSpPr/>
            <p:nvPr/>
          </p:nvSpPr>
          <p:spPr>
            <a:xfrm>
              <a:off x="2842705" y="1706829"/>
              <a:ext cx="835092" cy="1222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7" name="Rectangle 6"/>
            <p:cNvSpPr>
              <a:spLocks noChangeAspect="1"/>
            </p:cNvSpPr>
            <p:nvPr/>
          </p:nvSpPr>
          <p:spPr>
            <a:xfrm>
              <a:off x="2875755" y="2126256"/>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8" name="Rectangle 7"/>
            <p:cNvSpPr/>
            <p:nvPr/>
          </p:nvSpPr>
          <p:spPr>
            <a:xfrm>
              <a:off x="3283378" y="2129927"/>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 name="Rectangle 8"/>
            <p:cNvSpPr>
              <a:spLocks noChangeAspect="1"/>
            </p:cNvSpPr>
            <p:nvPr/>
          </p:nvSpPr>
          <p:spPr>
            <a:xfrm>
              <a:off x="2873918" y="2521029"/>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10" name="Rectangle 9"/>
            <p:cNvSpPr/>
            <p:nvPr/>
          </p:nvSpPr>
          <p:spPr>
            <a:xfrm>
              <a:off x="3281541" y="2524700"/>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17" name="Group 16"/>
          <p:cNvGrpSpPr/>
          <p:nvPr/>
        </p:nvGrpSpPr>
        <p:grpSpPr>
          <a:xfrm>
            <a:off x="1842105" y="3684667"/>
            <a:ext cx="851717" cy="1247217"/>
            <a:chOff x="2842705" y="1706829"/>
            <a:chExt cx="835092" cy="1222873"/>
          </a:xfrm>
        </p:grpSpPr>
        <p:sp>
          <p:nvSpPr>
            <p:cNvPr id="18" name="Rectangle 17"/>
            <p:cNvSpPr/>
            <p:nvPr/>
          </p:nvSpPr>
          <p:spPr>
            <a:xfrm>
              <a:off x="2842705" y="1706829"/>
              <a:ext cx="835092" cy="1222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19" name="Rectangle 18"/>
            <p:cNvSpPr>
              <a:spLocks noChangeAspect="1"/>
            </p:cNvSpPr>
            <p:nvPr/>
          </p:nvSpPr>
          <p:spPr>
            <a:xfrm>
              <a:off x="2875755" y="2126256"/>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20" name="Rectangle 19"/>
            <p:cNvSpPr/>
            <p:nvPr/>
          </p:nvSpPr>
          <p:spPr>
            <a:xfrm>
              <a:off x="3283378" y="2129927"/>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21" name="Rectangle 20"/>
            <p:cNvSpPr>
              <a:spLocks noChangeAspect="1"/>
            </p:cNvSpPr>
            <p:nvPr/>
          </p:nvSpPr>
          <p:spPr>
            <a:xfrm>
              <a:off x="2873918" y="2521029"/>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22" name="Rectangle 21"/>
            <p:cNvSpPr/>
            <p:nvPr/>
          </p:nvSpPr>
          <p:spPr>
            <a:xfrm>
              <a:off x="3281541" y="2524700"/>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68" name="Group 67"/>
          <p:cNvGrpSpPr/>
          <p:nvPr/>
        </p:nvGrpSpPr>
        <p:grpSpPr>
          <a:xfrm>
            <a:off x="2817781" y="3662193"/>
            <a:ext cx="851717" cy="1247217"/>
            <a:chOff x="4755969" y="1706828"/>
            <a:chExt cx="835092" cy="1222873"/>
          </a:xfrm>
        </p:grpSpPr>
        <p:sp>
          <p:nvSpPr>
            <p:cNvPr id="26" name="Rectangle 25"/>
            <p:cNvSpPr/>
            <p:nvPr/>
          </p:nvSpPr>
          <p:spPr>
            <a:xfrm>
              <a:off x="4755969" y="1706828"/>
              <a:ext cx="835092" cy="122287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27" name="Rectangle 26"/>
            <p:cNvSpPr>
              <a:spLocks noChangeAspect="1"/>
            </p:cNvSpPr>
            <p:nvPr/>
          </p:nvSpPr>
          <p:spPr>
            <a:xfrm>
              <a:off x="4789019" y="2126255"/>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28" name="Rectangle 27"/>
            <p:cNvSpPr/>
            <p:nvPr/>
          </p:nvSpPr>
          <p:spPr>
            <a:xfrm>
              <a:off x="5196642" y="2129926"/>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29" name="Rectangle 28"/>
            <p:cNvSpPr>
              <a:spLocks noChangeAspect="1"/>
            </p:cNvSpPr>
            <p:nvPr/>
          </p:nvSpPr>
          <p:spPr>
            <a:xfrm>
              <a:off x="4787182" y="2521028"/>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30" name="Rectangle 29"/>
            <p:cNvSpPr/>
            <p:nvPr/>
          </p:nvSpPr>
          <p:spPr>
            <a:xfrm>
              <a:off x="5194805" y="2524699"/>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67" name="Group 66"/>
          <p:cNvGrpSpPr/>
          <p:nvPr/>
        </p:nvGrpSpPr>
        <p:grpSpPr>
          <a:xfrm>
            <a:off x="3793457" y="3662193"/>
            <a:ext cx="851717" cy="1247217"/>
            <a:chOff x="5712601" y="1706828"/>
            <a:chExt cx="835092" cy="1222873"/>
          </a:xfrm>
        </p:grpSpPr>
        <p:sp>
          <p:nvSpPr>
            <p:cNvPr id="34" name="Rectangle 33"/>
            <p:cNvSpPr/>
            <p:nvPr/>
          </p:nvSpPr>
          <p:spPr>
            <a:xfrm>
              <a:off x="5712601" y="1706828"/>
              <a:ext cx="835092" cy="122287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35" name="Rectangle 34"/>
            <p:cNvSpPr>
              <a:spLocks noChangeAspect="1"/>
            </p:cNvSpPr>
            <p:nvPr/>
          </p:nvSpPr>
          <p:spPr>
            <a:xfrm>
              <a:off x="5745651" y="2126255"/>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36" name="Rectangle 35"/>
            <p:cNvSpPr/>
            <p:nvPr/>
          </p:nvSpPr>
          <p:spPr>
            <a:xfrm>
              <a:off x="6153274" y="2129926"/>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37" name="Rectangle 36"/>
            <p:cNvSpPr>
              <a:spLocks noChangeAspect="1"/>
            </p:cNvSpPr>
            <p:nvPr/>
          </p:nvSpPr>
          <p:spPr>
            <a:xfrm>
              <a:off x="5743814" y="2521028"/>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38" name="Rectangle 37"/>
            <p:cNvSpPr/>
            <p:nvPr/>
          </p:nvSpPr>
          <p:spPr>
            <a:xfrm>
              <a:off x="6151437" y="2524699"/>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70" name="Group 69"/>
          <p:cNvGrpSpPr/>
          <p:nvPr/>
        </p:nvGrpSpPr>
        <p:grpSpPr>
          <a:xfrm>
            <a:off x="4769133" y="3661121"/>
            <a:ext cx="851717" cy="1247217"/>
            <a:chOff x="6669233" y="1705777"/>
            <a:chExt cx="835092" cy="1222873"/>
          </a:xfrm>
        </p:grpSpPr>
        <p:sp>
          <p:nvSpPr>
            <p:cNvPr id="42" name="Rectangle 41"/>
            <p:cNvSpPr/>
            <p:nvPr/>
          </p:nvSpPr>
          <p:spPr>
            <a:xfrm>
              <a:off x="6669233" y="1705777"/>
              <a:ext cx="835092" cy="1222873"/>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43" name="Rectangle 42"/>
            <p:cNvSpPr>
              <a:spLocks noChangeAspect="1"/>
            </p:cNvSpPr>
            <p:nvPr/>
          </p:nvSpPr>
          <p:spPr>
            <a:xfrm>
              <a:off x="6702283" y="2125204"/>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44" name="Rectangle 43"/>
            <p:cNvSpPr/>
            <p:nvPr/>
          </p:nvSpPr>
          <p:spPr>
            <a:xfrm>
              <a:off x="7109906" y="2128875"/>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45" name="Rectangle 44"/>
            <p:cNvSpPr>
              <a:spLocks noChangeAspect="1"/>
            </p:cNvSpPr>
            <p:nvPr/>
          </p:nvSpPr>
          <p:spPr>
            <a:xfrm>
              <a:off x="6700446" y="2519977"/>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46" name="Rectangle 45"/>
            <p:cNvSpPr/>
            <p:nvPr/>
          </p:nvSpPr>
          <p:spPr>
            <a:xfrm>
              <a:off x="7108069" y="2523648"/>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69" name="Group 68"/>
          <p:cNvGrpSpPr/>
          <p:nvPr/>
        </p:nvGrpSpPr>
        <p:grpSpPr>
          <a:xfrm>
            <a:off x="5744809" y="3661120"/>
            <a:ext cx="851717" cy="1247217"/>
            <a:chOff x="7625865" y="1705776"/>
            <a:chExt cx="835092" cy="1222873"/>
          </a:xfrm>
        </p:grpSpPr>
        <p:sp>
          <p:nvSpPr>
            <p:cNvPr id="50" name="Rectangle 49"/>
            <p:cNvSpPr/>
            <p:nvPr/>
          </p:nvSpPr>
          <p:spPr>
            <a:xfrm>
              <a:off x="7625865" y="1705776"/>
              <a:ext cx="835092" cy="1222873"/>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51" name="Rectangle 50"/>
            <p:cNvSpPr>
              <a:spLocks noChangeAspect="1"/>
            </p:cNvSpPr>
            <p:nvPr/>
          </p:nvSpPr>
          <p:spPr>
            <a:xfrm>
              <a:off x="7658915" y="2125203"/>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52" name="Rectangle 51"/>
            <p:cNvSpPr/>
            <p:nvPr/>
          </p:nvSpPr>
          <p:spPr>
            <a:xfrm>
              <a:off x="8066538" y="2128874"/>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53" name="Rectangle 52"/>
            <p:cNvSpPr>
              <a:spLocks noChangeAspect="1"/>
            </p:cNvSpPr>
            <p:nvPr/>
          </p:nvSpPr>
          <p:spPr>
            <a:xfrm>
              <a:off x="7657078" y="2519976"/>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54" name="Rectangle 53"/>
            <p:cNvSpPr/>
            <p:nvPr/>
          </p:nvSpPr>
          <p:spPr>
            <a:xfrm>
              <a:off x="8064701" y="2523647"/>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59" name="Group 58"/>
          <p:cNvGrpSpPr/>
          <p:nvPr/>
        </p:nvGrpSpPr>
        <p:grpSpPr>
          <a:xfrm>
            <a:off x="866429" y="5620015"/>
            <a:ext cx="1804919" cy="987404"/>
            <a:chOff x="2842705" y="3439145"/>
            <a:chExt cx="1769689" cy="968131"/>
          </a:xfrm>
        </p:grpSpPr>
        <p:sp>
          <p:nvSpPr>
            <p:cNvPr id="57" name="Left Brace 56"/>
            <p:cNvSpPr/>
            <p:nvPr/>
          </p:nvSpPr>
          <p:spPr>
            <a:xfrm rot="16200000">
              <a:off x="3467911" y="2813939"/>
              <a:ext cx="519277" cy="17696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58" name="TextBox 57"/>
            <p:cNvSpPr txBox="1"/>
            <p:nvPr/>
          </p:nvSpPr>
          <p:spPr>
            <a:xfrm>
              <a:off x="3491210" y="4032430"/>
              <a:ext cx="591829" cy="374846"/>
            </a:xfrm>
            <a:prstGeom prst="rect">
              <a:avLst/>
            </a:prstGeom>
            <a:noFill/>
          </p:spPr>
          <p:txBody>
            <a:bodyPr wrap="none" rtlCol="0">
              <a:spAutoFit/>
            </a:bodyPr>
            <a:lstStyle/>
            <a:p>
              <a:r>
                <a:rPr lang="en-US" sz="1836" dirty="0"/>
                <a:t>FD1</a:t>
              </a:r>
            </a:p>
          </p:txBody>
        </p:sp>
      </p:grpSp>
      <p:grpSp>
        <p:nvGrpSpPr>
          <p:cNvPr id="60" name="Group 59"/>
          <p:cNvGrpSpPr/>
          <p:nvPr/>
        </p:nvGrpSpPr>
        <p:grpSpPr>
          <a:xfrm>
            <a:off x="2819651" y="5640613"/>
            <a:ext cx="1804919" cy="987404"/>
            <a:chOff x="2842705" y="3439145"/>
            <a:chExt cx="1769689" cy="968131"/>
          </a:xfrm>
        </p:grpSpPr>
        <p:sp>
          <p:nvSpPr>
            <p:cNvPr id="61" name="Left Brace 60"/>
            <p:cNvSpPr/>
            <p:nvPr/>
          </p:nvSpPr>
          <p:spPr>
            <a:xfrm rot="16200000">
              <a:off x="3467911" y="2813939"/>
              <a:ext cx="519277" cy="17696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62" name="TextBox 61"/>
            <p:cNvSpPr txBox="1"/>
            <p:nvPr/>
          </p:nvSpPr>
          <p:spPr>
            <a:xfrm>
              <a:off x="3491210" y="4032430"/>
              <a:ext cx="591829" cy="374846"/>
            </a:xfrm>
            <a:prstGeom prst="rect">
              <a:avLst/>
            </a:prstGeom>
            <a:noFill/>
          </p:spPr>
          <p:txBody>
            <a:bodyPr wrap="none" rtlCol="0">
              <a:spAutoFit/>
            </a:bodyPr>
            <a:lstStyle/>
            <a:p>
              <a:r>
                <a:rPr lang="en-US" sz="1836" dirty="0"/>
                <a:t>FD2</a:t>
              </a:r>
            </a:p>
          </p:txBody>
        </p:sp>
      </p:grpSp>
      <p:grpSp>
        <p:nvGrpSpPr>
          <p:cNvPr id="63" name="Group 62"/>
          <p:cNvGrpSpPr/>
          <p:nvPr/>
        </p:nvGrpSpPr>
        <p:grpSpPr>
          <a:xfrm>
            <a:off x="4784114" y="5649976"/>
            <a:ext cx="1804919" cy="987404"/>
            <a:chOff x="2842705" y="3439145"/>
            <a:chExt cx="1769689" cy="968131"/>
          </a:xfrm>
        </p:grpSpPr>
        <p:sp>
          <p:nvSpPr>
            <p:cNvPr id="64" name="Left Brace 63"/>
            <p:cNvSpPr/>
            <p:nvPr/>
          </p:nvSpPr>
          <p:spPr>
            <a:xfrm rot="16200000">
              <a:off x="3467911" y="2813939"/>
              <a:ext cx="519277" cy="17696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65" name="TextBox 64"/>
            <p:cNvSpPr txBox="1"/>
            <p:nvPr/>
          </p:nvSpPr>
          <p:spPr>
            <a:xfrm>
              <a:off x="3491210" y="4032430"/>
              <a:ext cx="591829" cy="374846"/>
            </a:xfrm>
            <a:prstGeom prst="rect">
              <a:avLst/>
            </a:prstGeom>
            <a:noFill/>
          </p:spPr>
          <p:txBody>
            <a:bodyPr wrap="none" rtlCol="0">
              <a:spAutoFit/>
            </a:bodyPr>
            <a:lstStyle/>
            <a:p>
              <a:r>
                <a:rPr lang="en-US" sz="1836" dirty="0"/>
                <a:t>FD3</a:t>
              </a:r>
            </a:p>
          </p:txBody>
        </p:sp>
      </p:grpSp>
      <p:grpSp>
        <p:nvGrpSpPr>
          <p:cNvPr id="106" name="Group 105"/>
          <p:cNvGrpSpPr/>
          <p:nvPr/>
        </p:nvGrpSpPr>
        <p:grpSpPr>
          <a:xfrm>
            <a:off x="6722360" y="3659246"/>
            <a:ext cx="851717" cy="1247217"/>
            <a:chOff x="6590283" y="1703939"/>
            <a:chExt cx="835092" cy="1222873"/>
          </a:xfrm>
        </p:grpSpPr>
        <p:sp>
          <p:nvSpPr>
            <p:cNvPr id="72" name="Rectangle 71"/>
            <p:cNvSpPr/>
            <p:nvPr/>
          </p:nvSpPr>
          <p:spPr>
            <a:xfrm>
              <a:off x="6590283" y="1703939"/>
              <a:ext cx="835092" cy="1222873"/>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73" name="Rectangle 72"/>
            <p:cNvSpPr>
              <a:spLocks noChangeAspect="1"/>
            </p:cNvSpPr>
            <p:nvPr/>
          </p:nvSpPr>
          <p:spPr>
            <a:xfrm>
              <a:off x="6623333" y="2123366"/>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74" name="Rectangle 73"/>
            <p:cNvSpPr/>
            <p:nvPr/>
          </p:nvSpPr>
          <p:spPr>
            <a:xfrm>
              <a:off x="7030956" y="2127037"/>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75" name="Rectangle 74"/>
            <p:cNvSpPr>
              <a:spLocks noChangeAspect="1"/>
            </p:cNvSpPr>
            <p:nvPr/>
          </p:nvSpPr>
          <p:spPr>
            <a:xfrm>
              <a:off x="6621496" y="2518139"/>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76" name="Rectangle 75"/>
            <p:cNvSpPr/>
            <p:nvPr/>
          </p:nvSpPr>
          <p:spPr>
            <a:xfrm>
              <a:off x="7029119" y="2521810"/>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105" name="Group 104"/>
          <p:cNvGrpSpPr/>
          <p:nvPr/>
        </p:nvGrpSpPr>
        <p:grpSpPr>
          <a:xfrm>
            <a:off x="7698036" y="3659245"/>
            <a:ext cx="851717" cy="1247217"/>
            <a:chOff x="7546915" y="1703938"/>
            <a:chExt cx="835092" cy="1222873"/>
          </a:xfrm>
        </p:grpSpPr>
        <p:sp>
          <p:nvSpPr>
            <p:cNvPr id="79" name="Rectangle 78"/>
            <p:cNvSpPr/>
            <p:nvPr/>
          </p:nvSpPr>
          <p:spPr>
            <a:xfrm>
              <a:off x="7546915" y="1703938"/>
              <a:ext cx="835092" cy="1222873"/>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80" name="Rectangle 79"/>
            <p:cNvSpPr>
              <a:spLocks noChangeAspect="1"/>
            </p:cNvSpPr>
            <p:nvPr/>
          </p:nvSpPr>
          <p:spPr>
            <a:xfrm>
              <a:off x="7579965" y="2123365"/>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81" name="Rectangle 80"/>
            <p:cNvSpPr/>
            <p:nvPr/>
          </p:nvSpPr>
          <p:spPr>
            <a:xfrm>
              <a:off x="7987588" y="2127036"/>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82" name="Rectangle 81"/>
            <p:cNvSpPr>
              <a:spLocks noChangeAspect="1"/>
            </p:cNvSpPr>
            <p:nvPr/>
          </p:nvSpPr>
          <p:spPr>
            <a:xfrm>
              <a:off x="7578128" y="2518138"/>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83" name="Rectangle 82"/>
            <p:cNvSpPr/>
            <p:nvPr/>
          </p:nvSpPr>
          <p:spPr>
            <a:xfrm>
              <a:off x="7985751" y="2521809"/>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85" name="Group 84"/>
          <p:cNvGrpSpPr/>
          <p:nvPr/>
        </p:nvGrpSpPr>
        <p:grpSpPr>
          <a:xfrm>
            <a:off x="6737341" y="5648101"/>
            <a:ext cx="1804919" cy="987404"/>
            <a:chOff x="2842705" y="3439145"/>
            <a:chExt cx="1769689" cy="968131"/>
          </a:xfrm>
        </p:grpSpPr>
        <p:sp>
          <p:nvSpPr>
            <p:cNvPr id="86" name="Left Brace 85"/>
            <p:cNvSpPr/>
            <p:nvPr/>
          </p:nvSpPr>
          <p:spPr>
            <a:xfrm rot="16200000">
              <a:off x="3467911" y="2813939"/>
              <a:ext cx="519277" cy="17696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87" name="TextBox 86"/>
            <p:cNvSpPr txBox="1"/>
            <p:nvPr/>
          </p:nvSpPr>
          <p:spPr>
            <a:xfrm>
              <a:off x="3491210" y="4032430"/>
              <a:ext cx="591829" cy="374846"/>
            </a:xfrm>
            <a:prstGeom prst="rect">
              <a:avLst/>
            </a:prstGeom>
            <a:noFill/>
          </p:spPr>
          <p:txBody>
            <a:bodyPr wrap="none" rtlCol="0">
              <a:spAutoFit/>
            </a:bodyPr>
            <a:lstStyle/>
            <a:p>
              <a:r>
                <a:rPr lang="en-US" sz="1836" dirty="0"/>
                <a:t>FD4</a:t>
              </a:r>
            </a:p>
          </p:txBody>
        </p:sp>
      </p:grpSp>
      <p:sp>
        <p:nvSpPr>
          <p:cNvPr id="89" name="Rectangle 88"/>
          <p:cNvSpPr/>
          <p:nvPr/>
        </p:nvSpPr>
        <p:spPr>
          <a:xfrm>
            <a:off x="8653113" y="3657372"/>
            <a:ext cx="851717" cy="124721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0" name="Rectangle 89"/>
          <p:cNvSpPr>
            <a:spLocks noChangeAspect="1"/>
          </p:cNvSpPr>
          <p:nvPr/>
        </p:nvSpPr>
        <p:spPr>
          <a:xfrm>
            <a:off x="8686821" y="4085148"/>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1" name="Rectangle 90"/>
          <p:cNvSpPr/>
          <p:nvPr/>
        </p:nvSpPr>
        <p:spPr>
          <a:xfrm>
            <a:off x="9102559" y="4088892"/>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2" name="Rectangle 91"/>
          <p:cNvSpPr>
            <a:spLocks noChangeAspect="1"/>
          </p:cNvSpPr>
          <p:nvPr/>
        </p:nvSpPr>
        <p:spPr>
          <a:xfrm>
            <a:off x="8684948" y="4487780"/>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3" name="Rectangle 92"/>
          <p:cNvSpPr/>
          <p:nvPr/>
        </p:nvSpPr>
        <p:spPr>
          <a:xfrm>
            <a:off x="9100685" y="4491524"/>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6" name="Rectangle 95"/>
          <p:cNvSpPr/>
          <p:nvPr/>
        </p:nvSpPr>
        <p:spPr>
          <a:xfrm>
            <a:off x="9628789" y="3657371"/>
            <a:ext cx="851717" cy="124721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7" name="Rectangle 96"/>
          <p:cNvSpPr>
            <a:spLocks noChangeAspect="1"/>
          </p:cNvSpPr>
          <p:nvPr/>
        </p:nvSpPr>
        <p:spPr>
          <a:xfrm>
            <a:off x="9662497" y="4085147"/>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8" name="Rectangle 97"/>
          <p:cNvSpPr/>
          <p:nvPr/>
        </p:nvSpPr>
        <p:spPr>
          <a:xfrm>
            <a:off x="10078235" y="4088891"/>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9" name="Rectangle 98"/>
          <p:cNvSpPr>
            <a:spLocks noChangeAspect="1"/>
          </p:cNvSpPr>
          <p:nvPr/>
        </p:nvSpPr>
        <p:spPr>
          <a:xfrm>
            <a:off x="9660624" y="4487779"/>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100" name="Rectangle 99"/>
          <p:cNvSpPr/>
          <p:nvPr/>
        </p:nvSpPr>
        <p:spPr>
          <a:xfrm>
            <a:off x="10076361" y="4491523"/>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nvGrpSpPr>
          <p:cNvPr id="102" name="Group 101"/>
          <p:cNvGrpSpPr/>
          <p:nvPr/>
        </p:nvGrpSpPr>
        <p:grpSpPr>
          <a:xfrm>
            <a:off x="8668094" y="5646227"/>
            <a:ext cx="1804919" cy="987404"/>
            <a:chOff x="2842705" y="3439145"/>
            <a:chExt cx="1769689" cy="968131"/>
          </a:xfrm>
        </p:grpSpPr>
        <p:sp>
          <p:nvSpPr>
            <p:cNvPr id="103" name="Left Brace 102"/>
            <p:cNvSpPr/>
            <p:nvPr/>
          </p:nvSpPr>
          <p:spPr>
            <a:xfrm rot="16200000">
              <a:off x="3467911" y="2813939"/>
              <a:ext cx="519277" cy="17696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104" name="TextBox 103"/>
            <p:cNvSpPr txBox="1"/>
            <p:nvPr/>
          </p:nvSpPr>
          <p:spPr>
            <a:xfrm>
              <a:off x="3491210" y="4032430"/>
              <a:ext cx="591829" cy="374846"/>
            </a:xfrm>
            <a:prstGeom prst="rect">
              <a:avLst/>
            </a:prstGeom>
            <a:noFill/>
          </p:spPr>
          <p:txBody>
            <a:bodyPr wrap="none" rtlCol="0">
              <a:spAutoFit/>
            </a:bodyPr>
            <a:lstStyle/>
            <a:p>
              <a:r>
                <a:rPr lang="en-US" sz="1836" dirty="0"/>
                <a:t>FD5</a:t>
              </a:r>
            </a:p>
          </p:txBody>
        </p:sp>
      </p:grpSp>
      <p:sp>
        <p:nvSpPr>
          <p:cNvPr id="109" name="Title 108"/>
          <p:cNvSpPr>
            <a:spLocks noGrp="1"/>
          </p:cNvSpPr>
          <p:nvPr>
            <p:ph type="title"/>
          </p:nvPr>
        </p:nvSpPr>
        <p:spPr>
          <a:xfrm>
            <a:off x="786659" y="126984"/>
            <a:ext cx="10724938" cy="1351952"/>
          </a:xfrm>
        </p:spPr>
        <p:txBody>
          <a:bodyPr/>
          <a:lstStyle/>
          <a:p>
            <a:r>
              <a:rPr lang="en-US" dirty="0"/>
              <a:t>Best practice –  capacity headroom</a:t>
            </a:r>
          </a:p>
        </p:txBody>
      </p:sp>
      <p:sp>
        <p:nvSpPr>
          <p:cNvPr id="112" name="Rectangle 111"/>
          <p:cNvSpPr/>
          <p:nvPr/>
        </p:nvSpPr>
        <p:spPr>
          <a:xfrm>
            <a:off x="844316" y="1460794"/>
            <a:ext cx="10247041" cy="1246721"/>
          </a:xfrm>
          <a:prstGeom prst="rect">
            <a:avLst/>
          </a:prstGeom>
        </p:spPr>
        <p:txBody>
          <a:bodyPr wrap="square">
            <a:spAutoFit/>
          </a:bodyPr>
          <a:lstStyle/>
          <a:p>
            <a:pPr marL="291436" indent="-291436">
              <a:buFont typeface="Arial" panose="020B0604020202020204" pitchFamily="34" charset="0"/>
              <a:buChar char="•"/>
            </a:pPr>
            <a:r>
              <a:rPr lang="en-US" sz="1836" dirty="0"/>
              <a:t>You should plan your capacity in such a way that, your service can survive </a:t>
            </a:r>
            <a:r>
              <a:rPr lang="en-US" sz="1836" dirty="0" err="1"/>
              <a:t>atleast</a:t>
            </a:r>
            <a:endParaRPr lang="en-US" sz="1836" dirty="0"/>
          </a:p>
          <a:p>
            <a:pPr marL="757735" lvl="1" indent="-291436">
              <a:buFont typeface="Arial" panose="020B0604020202020204" pitchFamily="34" charset="0"/>
              <a:buChar char="•"/>
            </a:pPr>
            <a:r>
              <a:rPr lang="en-US" sz="1836" dirty="0"/>
              <a:t>A loss of one FD</a:t>
            </a:r>
          </a:p>
          <a:p>
            <a:pPr marL="757735" lvl="1" indent="-291436">
              <a:buFont typeface="Arial" panose="020B0604020202020204" pitchFamily="34" charset="0"/>
              <a:buChar char="•"/>
            </a:pPr>
            <a:r>
              <a:rPr lang="en-US" sz="1836" dirty="0"/>
              <a:t>A UD being down because of an upgrade going on</a:t>
            </a:r>
          </a:p>
          <a:p>
            <a:pPr marL="757735" lvl="1" indent="-291436">
              <a:buFont typeface="Arial" panose="020B0604020202020204" pitchFamily="34" charset="0"/>
              <a:buChar char="•"/>
            </a:pPr>
            <a:r>
              <a:rPr lang="en-US" sz="1836" dirty="0"/>
              <a:t>A random node/VM failing additionally.</a:t>
            </a:r>
          </a:p>
        </p:txBody>
      </p:sp>
      <p:grpSp>
        <p:nvGrpSpPr>
          <p:cNvPr id="6" name="Group 5"/>
          <p:cNvGrpSpPr/>
          <p:nvPr/>
        </p:nvGrpSpPr>
        <p:grpSpPr>
          <a:xfrm>
            <a:off x="932678" y="5087437"/>
            <a:ext cx="1732631" cy="513124"/>
            <a:chOff x="847179" y="4051704"/>
            <a:chExt cx="840058" cy="503108"/>
          </a:xfrm>
        </p:grpSpPr>
        <p:grpSp>
          <p:nvGrpSpPr>
            <p:cNvPr id="5" name="Group 4"/>
            <p:cNvGrpSpPr/>
            <p:nvPr/>
          </p:nvGrpSpPr>
          <p:grpSpPr>
            <a:xfrm>
              <a:off x="847179" y="4053542"/>
              <a:ext cx="374221" cy="501270"/>
              <a:chOff x="847179" y="4053542"/>
              <a:chExt cx="374221" cy="501270"/>
            </a:xfrm>
          </p:grpSpPr>
          <p:sp>
            <p:nvSpPr>
              <p:cNvPr id="3" name="Left Brace 2"/>
              <p:cNvSpPr/>
              <p:nvPr/>
            </p:nvSpPr>
            <p:spPr>
              <a:xfrm rot="16200000">
                <a:off x="961234"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4" name="TextBox 3"/>
              <p:cNvSpPr txBox="1"/>
              <p:nvPr/>
            </p:nvSpPr>
            <p:spPr>
              <a:xfrm>
                <a:off x="923018" y="4242739"/>
                <a:ext cx="294183" cy="312073"/>
              </a:xfrm>
              <a:prstGeom prst="rect">
                <a:avLst/>
              </a:prstGeom>
              <a:noFill/>
            </p:spPr>
            <p:txBody>
              <a:bodyPr wrap="square" rtlCol="0">
                <a:spAutoFit/>
              </a:bodyPr>
              <a:lstStyle/>
              <a:p>
                <a:r>
                  <a:rPr lang="en-US" sz="1428" dirty="0"/>
                  <a:t>UD1</a:t>
                </a:r>
              </a:p>
            </p:txBody>
          </p:sp>
        </p:grpSp>
        <p:grpSp>
          <p:nvGrpSpPr>
            <p:cNvPr id="84" name="Group 83"/>
            <p:cNvGrpSpPr/>
            <p:nvPr/>
          </p:nvGrpSpPr>
          <p:grpSpPr>
            <a:xfrm>
              <a:off x="1313016" y="4051704"/>
              <a:ext cx="374221" cy="489006"/>
              <a:chOff x="896211" y="4053542"/>
              <a:chExt cx="374221" cy="489006"/>
            </a:xfrm>
          </p:grpSpPr>
          <p:sp>
            <p:nvSpPr>
              <p:cNvPr id="88" name="Left Brace 87"/>
              <p:cNvSpPr/>
              <p:nvPr/>
            </p:nvSpPr>
            <p:spPr>
              <a:xfrm rot="16200000">
                <a:off x="1010266"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94" name="TextBox 93"/>
              <p:cNvSpPr txBox="1"/>
              <p:nvPr/>
            </p:nvSpPr>
            <p:spPr>
              <a:xfrm>
                <a:off x="951082" y="4230475"/>
                <a:ext cx="289596" cy="312073"/>
              </a:xfrm>
              <a:prstGeom prst="rect">
                <a:avLst/>
              </a:prstGeom>
              <a:noFill/>
            </p:spPr>
            <p:txBody>
              <a:bodyPr wrap="square" rtlCol="0">
                <a:spAutoFit/>
              </a:bodyPr>
              <a:lstStyle/>
              <a:p>
                <a:r>
                  <a:rPr lang="en-US" sz="1428" dirty="0"/>
                  <a:t>UD2</a:t>
                </a:r>
              </a:p>
            </p:txBody>
          </p:sp>
        </p:grpSp>
      </p:grpSp>
      <p:grpSp>
        <p:nvGrpSpPr>
          <p:cNvPr id="117" name="Group 116"/>
          <p:cNvGrpSpPr/>
          <p:nvPr/>
        </p:nvGrpSpPr>
        <p:grpSpPr>
          <a:xfrm>
            <a:off x="2885901" y="5108036"/>
            <a:ext cx="1732631" cy="513124"/>
            <a:chOff x="847179" y="4051704"/>
            <a:chExt cx="840058" cy="503108"/>
          </a:xfrm>
        </p:grpSpPr>
        <p:grpSp>
          <p:nvGrpSpPr>
            <p:cNvPr id="118" name="Group 117"/>
            <p:cNvGrpSpPr/>
            <p:nvPr/>
          </p:nvGrpSpPr>
          <p:grpSpPr>
            <a:xfrm>
              <a:off x="847179" y="4053542"/>
              <a:ext cx="374221" cy="501270"/>
              <a:chOff x="847179" y="4053542"/>
              <a:chExt cx="374221" cy="501270"/>
            </a:xfrm>
          </p:grpSpPr>
          <p:sp>
            <p:nvSpPr>
              <p:cNvPr id="122" name="Left Brace 121"/>
              <p:cNvSpPr/>
              <p:nvPr/>
            </p:nvSpPr>
            <p:spPr>
              <a:xfrm rot="16200000">
                <a:off x="961234"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123" name="TextBox 122"/>
              <p:cNvSpPr txBox="1"/>
              <p:nvPr/>
            </p:nvSpPr>
            <p:spPr>
              <a:xfrm>
                <a:off x="923018" y="4242739"/>
                <a:ext cx="294183" cy="312073"/>
              </a:xfrm>
              <a:prstGeom prst="rect">
                <a:avLst/>
              </a:prstGeom>
              <a:noFill/>
            </p:spPr>
            <p:txBody>
              <a:bodyPr wrap="square" rtlCol="0">
                <a:spAutoFit/>
              </a:bodyPr>
              <a:lstStyle/>
              <a:p>
                <a:r>
                  <a:rPr lang="en-US" sz="1428" dirty="0"/>
                  <a:t>UD3</a:t>
                </a:r>
              </a:p>
            </p:txBody>
          </p:sp>
        </p:grpSp>
        <p:grpSp>
          <p:nvGrpSpPr>
            <p:cNvPr id="119" name="Group 118"/>
            <p:cNvGrpSpPr/>
            <p:nvPr/>
          </p:nvGrpSpPr>
          <p:grpSpPr>
            <a:xfrm>
              <a:off x="1313016" y="4051704"/>
              <a:ext cx="374221" cy="489006"/>
              <a:chOff x="896211" y="4053542"/>
              <a:chExt cx="374221" cy="489006"/>
            </a:xfrm>
          </p:grpSpPr>
          <p:sp>
            <p:nvSpPr>
              <p:cNvPr id="120" name="Left Brace 119"/>
              <p:cNvSpPr/>
              <p:nvPr/>
            </p:nvSpPr>
            <p:spPr>
              <a:xfrm rot="16200000">
                <a:off x="1010266"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121" name="TextBox 120"/>
              <p:cNvSpPr txBox="1"/>
              <p:nvPr/>
            </p:nvSpPr>
            <p:spPr>
              <a:xfrm>
                <a:off x="951082" y="4230475"/>
                <a:ext cx="289596" cy="312073"/>
              </a:xfrm>
              <a:prstGeom prst="rect">
                <a:avLst/>
              </a:prstGeom>
              <a:noFill/>
            </p:spPr>
            <p:txBody>
              <a:bodyPr wrap="square" rtlCol="0">
                <a:spAutoFit/>
              </a:bodyPr>
              <a:lstStyle/>
              <a:p>
                <a:r>
                  <a:rPr lang="en-US" sz="1428" dirty="0"/>
                  <a:t>UD4</a:t>
                </a:r>
              </a:p>
            </p:txBody>
          </p:sp>
        </p:grpSp>
      </p:grpSp>
      <p:grpSp>
        <p:nvGrpSpPr>
          <p:cNvPr id="124" name="Group 123"/>
          <p:cNvGrpSpPr/>
          <p:nvPr/>
        </p:nvGrpSpPr>
        <p:grpSpPr>
          <a:xfrm>
            <a:off x="4816653" y="5117398"/>
            <a:ext cx="1732631" cy="513124"/>
            <a:chOff x="847179" y="4051704"/>
            <a:chExt cx="840058" cy="503108"/>
          </a:xfrm>
        </p:grpSpPr>
        <p:grpSp>
          <p:nvGrpSpPr>
            <p:cNvPr id="125" name="Group 124"/>
            <p:cNvGrpSpPr/>
            <p:nvPr/>
          </p:nvGrpSpPr>
          <p:grpSpPr>
            <a:xfrm>
              <a:off x="847179" y="4053542"/>
              <a:ext cx="374221" cy="501270"/>
              <a:chOff x="847179" y="4053542"/>
              <a:chExt cx="374221" cy="501270"/>
            </a:xfrm>
          </p:grpSpPr>
          <p:sp>
            <p:nvSpPr>
              <p:cNvPr id="129" name="Left Brace 128"/>
              <p:cNvSpPr/>
              <p:nvPr/>
            </p:nvSpPr>
            <p:spPr>
              <a:xfrm rot="16200000">
                <a:off x="961234"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130" name="TextBox 129"/>
              <p:cNvSpPr txBox="1"/>
              <p:nvPr/>
            </p:nvSpPr>
            <p:spPr>
              <a:xfrm>
                <a:off x="923018" y="4242739"/>
                <a:ext cx="294183" cy="312073"/>
              </a:xfrm>
              <a:prstGeom prst="rect">
                <a:avLst/>
              </a:prstGeom>
              <a:noFill/>
            </p:spPr>
            <p:txBody>
              <a:bodyPr wrap="square" rtlCol="0">
                <a:spAutoFit/>
              </a:bodyPr>
              <a:lstStyle/>
              <a:p>
                <a:r>
                  <a:rPr lang="en-US" sz="1428" dirty="0"/>
                  <a:t>UD5</a:t>
                </a:r>
              </a:p>
            </p:txBody>
          </p:sp>
        </p:grpSp>
        <p:grpSp>
          <p:nvGrpSpPr>
            <p:cNvPr id="126" name="Group 125"/>
            <p:cNvGrpSpPr/>
            <p:nvPr/>
          </p:nvGrpSpPr>
          <p:grpSpPr>
            <a:xfrm>
              <a:off x="1313016" y="4051704"/>
              <a:ext cx="374221" cy="489006"/>
              <a:chOff x="896211" y="4053542"/>
              <a:chExt cx="374221" cy="489006"/>
            </a:xfrm>
          </p:grpSpPr>
          <p:sp>
            <p:nvSpPr>
              <p:cNvPr id="127" name="Left Brace 126"/>
              <p:cNvSpPr/>
              <p:nvPr/>
            </p:nvSpPr>
            <p:spPr>
              <a:xfrm rot="16200000">
                <a:off x="1010266"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128" name="TextBox 127"/>
              <p:cNvSpPr txBox="1"/>
              <p:nvPr/>
            </p:nvSpPr>
            <p:spPr>
              <a:xfrm>
                <a:off x="951082" y="4230475"/>
                <a:ext cx="289596" cy="312073"/>
              </a:xfrm>
              <a:prstGeom prst="rect">
                <a:avLst/>
              </a:prstGeom>
              <a:noFill/>
            </p:spPr>
            <p:txBody>
              <a:bodyPr wrap="square" rtlCol="0">
                <a:spAutoFit/>
              </a:bodyPr>
              <a:lstStyle/>
              <a:p>
                <a:r>
                  <a:rPr lang="en-US" sz="1428" dirty="0"/>
                  <a:t>UD6</a:t>
                </a:r>
              </a:p>
            </p:txBody>
          </p:sp>
        </p:grpSp>
      </p:grpSp>
      <p:grpSp>
        <p:nvGrpSpPr>
          <p:cNvPr id="131" name="Group 130"/>
          <p:cNvGrpSpPr/>
          <p:nvPr/>
        </p:nvGrpSpPr>
        <p:grpSpPr>
          <a:xfrm>
            <a:off x="6792350" y="5137996"/>
            <a:ext cx="1732631" cy="513124"/>
            <a:chOff x="847179" y="4051704"/>
            <a:chExt cx="840058" cy="503108"/>
          </a:xfrm>
        </p:grpSpPr>
        <p:grpSp>
          <p:nvGrpSpPr>
            <p:cNvPr id="132" name="Group 131"/>
            <p:cNvGrpSpPr/>
            <p:nvPr/>
          </p:nvGrpSpPr>
          <p:grpSpPr>
            <a:xfrm>
              <a:off x="847179" y="4053542"/>
              <a:ext cx="374221" cy="501270"/>
              <a:chOff x="847179" y="4053542"/>
              <a:chExt cx="374221" cy="501270"/>
            </a:xfrm>
          </p:grpSpPr>
          <p:sp>
            <p:nvSpPr>
              <p:cNvPr id="136" name="Left Brace 135"/>
              <p:cNvSpPr/>
              <p:nvPr/>
            </p:nvSpPr>
            <p:spPr>
              <a:xfrm rot="16200000">
                <a:off x="961234"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137" name="TextBox 136"/>
              <p:cNvSpPr txBox="1"/>
              <p:nvPr/>
            </p:nvSpPr>
            <p:spPr>
              <a:xfrm>
                <a:off x="923018" y="4242739"/>
                <a:ext cx="294183" cy="312073"/>
              </a:xfrm>
              <a:prstGeom prst="rect">
                <a:avLst/>
              </a:prstGeom>
              <a:noFill/>
            </p:spPr>
            <p:txBody>
              <a:bodyPr wrap="square" rtlCol="0">
                <a:spAutoFit/>
              </a:bodyPr>
              <a:lstStyle/>
              <a:p>
                <a:r>
                  <a:rPr lang="en-US" sz="1428" dirty="0"/>
                  <a:t>UD7</a:t>
                </a:r>
              </a:p>
            </p:txBody>
          </p:sp>
        </p:grpSp>
        <p:grpSp>
          <p:nvGrpSpPr>
            <p:cNvPr id="133" name="Group 132"/>
            <p:cNvGrpSpPr/>
            <p:nvPr/>
          </p:nvGrpSpPr>
          <p:grpSpPr>
            <a:xfrm>
              <a:off x="1313016" y="4051704"/>
              <a:ext cx="374221" cy="489006"/>
              <a:chOff x="896211" y="4053542"/>
              <a:chExt cx="374221" cy="489006"/>
            </a:xfrm>
          </p:grpSpPr>
          <p:sp>
            <p:nvSpPr>
              <p:cNvPr id="134" name="Left Brace 133"/>
              <p:cNvSpPr/>
              <p:nvPr/>
            </p:nvSpPr>
            <p:spPr>
              <a:xfrm rot="16200000">
                <a:off x="1010266"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135" name="TextBox 134"/>
              <p:cNvSpPr txBox="1"/>
              <p:nvPr/>
            </p:nvSpPr>
            <p:spPr>
              <a:xfrm>
                <a:off x="951082" y="4230475"/>
                <a:ext cx="289596" cy="312073"/>
              </a:xfrm>
              <a:prstGeom prst="rect">
                <a:avLst/>
              </a:prstGeom>
              <a:noFill/>
            </p:spPr>
            <p:txBody>
              <a:bodyPr wrap="square" rtlCol="0">
                <a:spAutoFit/>
              </a:bodyPr>
              <a:lstStyle/>
              <a:p>
                <a:r>
                  <a:rPr lang="en-US" sz="1428" dirty="0"/>
                  <a:t>UD8</a:t>
                </a:r>
              </a:p>
            </p:txBody>
          </p:sp>
        </p:grpSp>
      </p:grpSp>
      <p:grpSp>
        <p:nvGrpSpPr>
          <p:cNvPr id="138" name="Group 137"/>
          <p:cNvGrpSpPr/>
          <p:nvPr/>
        </p:nvGrpSpPr>
        <p:grpSpPr>
          <a:xfrm>
            <a:off x="8700629" y="5147358"/>
            <a:ext cx="1732631" cy="513124"/>
            <a:chOff x="847179" y="4051704"/>
            <a:chExt cx="840058" cy="503108"/>
          </a:xfrm>
        </p:grpSpPr>
        <p:grpSp>
          <p:nvGrpSpPr>
            <p:cNvPr id="139" name="Group 138"/>
            <p:cNvGrpSpPr/>
            <p:nvPr/>
          </p:nvGrpSpPr>
          <p:grpSpPr>
            <a:xfrm>
              <a:off x="847179" y="4053542"/>
              <a:ext cx="374221" cy="501270"/>
              <a:chOff x="847179" y="4053542"/>
              <a:chExt cx="374221" cy="501270"/>
            </a:xfrm>
          </p:grpSpPr>
          <p:sp>
            <p:nvSpPr>
              <p:cNvPr id="143" name="Left Brace 142"/>
              <p:cNvSpPr/>
              <p:nvPr/>
            </p:nvSpPr>
            <p:spPr>
              <a:xfrm rot="16200000">
                <a:off x="961234"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144" name="TextBox 143"/>
              <p:cNvSpPr txBox="1"/>
              <p:nvPr/>
            </p:nvSpPr>
            <p:spPr>
              <a:xfrm>
                <a:off x="923018" y="4242739"/>
                <a:ext cx="294183" cy="312073"/>
              </a:xfrm>
              <a:prstGeom prst="rect">
                <a:avLst/>
              </a:prstGeom>
              <a:noFill/>
            </p:spPr>
            <p:txBody>
              <a:bodyPr wrap="square" rtlCol="0">
                <a:spAutoFit/>
              </a:bodyPr>
              <a:lstStyle/>
              <a:p>
                <a:r>
                  <a:rPr lang="en-US" sz="1428" dirty="0"/>
                  <a:t>UD9</a:t>
                </a:r>
              </a:p>
            </p:txBody>
          </p:sp>
        </p:grpSp>
        <p:grpSp>
          <p:nvGrpSpPr>
            <p:cNvPr id="140" name="Group 139"/>
            <p:cNvGrpSpPr/>
            <p:nvPr/>
          </p:nvGrpSpPr>
          <p:grpSpPr>
            <a:xfrm>
              <a:off x="1313016" y="4051704"/>
              <a:ext cx="374221" cy="489006"/>
              <a:chOff x="896211" y="4053542"/>
              <a:chExt cx="374221" cy="489006"/>
            </a:xfrm>
          </p:grpSpPr>
          <p:sp>
            <p:nvSpPr>
              <p:cNvPr id="141" name="Left Brace 140"/>
              <p:cNvSpPr/>
              <p:nvPr/>
            </p:nvSpPr>
            <p:spPr>
              <a:xfrm rot="16200000">
                <a:off x="1010266"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142" name="TextBox 141"/>
              <p:cNvSpPr txBox="1"/>
              <p:nvPr/>
            </p:nvSpPr>
            <p:spPr>
              <a:xfrm>
                <a:off x="951082" y="4230475"/>
                <a:ext cx="319350" cy="312073"/>
              </a:xfrm>
              <a:prstGeom prst="rect">
                <a:avLst/>
              </a:prstGeom>
              <a:noFill/>
            </p:spPr>
            <p:txBody>
              <a:bodyPr wrap="square" rtlCol="0">
                <a:spAutoFit/>
              </a:bodyPr>
              <a:lstStyle/>
              <a:p>
                <a:r>
                  <a:rPr lang="en-US" sz="1428" dirty="0"/>
                  <a:t>UD10</a:t>
                </a:r>
              </a:p>
            </p:txBody>
          </p:sp>
        </p:grpSp>
      </p:grpSp>
      <p:sp>
        <p:nvSpPr>
          <p:cNvPr id="114" name="Multiply 113"/>
          <p:cNvSpPr/>
          <p:nvPr/>
        </p:nvSpPr>
        <p:spPr>
          <a:xfrm>
            <a:off x="8579747" y="3533926"/>
            <a:ext cx="2033487" cy="1696226"/>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116" name="Multiply 115"/>
          <p:cNvSpPr/>
          <p:nvPr/>
        </p:nvSpPr>
        <p:spPr>
          <a:xfrm>
            <a:off x="880618" y="3691285"/>
            <a:ext cx="935224" cy="1401792"/>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147" name="Multiply 146"/>
          <p:cNvSpPr/>
          <p:nvPr/>
        </p:nvSpPr>
        <p:spPr>
          <a:xfrm>
            <a:off x="4765778" y="3688315"/>
            <a:ext cx="935224" cy="1401792"/>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pic>
        <p:nvPicPr>
          <p:cNvPr id="115" name="Picture 114"/>
          <p:cNvPicPr>
            <a:picLocks noChangeAspect="1"/>
          </p:cNvPicPr>
          <p:nvPr/>
        </p:nvPicPr>
        <p:blipFill>
          <a:blip r:embed="rId3"/>
          <a:stretch>
            <a:fillRect/>
          </a:stretch>
        </p:blipFill>
        <p:spPr>
          <a:xfrm>
            <a:off x="9660624" y="311847"/>
            <a:ext cx="2561697" cy="2561697"/>
          </a:xfrm>
          <a:prstGeom prst="rect">
            <a:avLst/>
          </a:prstGeom>
        </p:spPr>
      </p:pic>
    </p:spTree>
    <p:extLst>
      <p:ext uri="{BB962C8B-B14F-4D97-AF65-F5344CB8AC3E}">
        <p14:creationId xmlns:p14="http://schemas.microsoft.com/office/powerpoint/2010/main" val="296618215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Best practices – Cluster Set up</a:t>
            </a:r>
          </a:p>
        </p:txBody>
      </p:sp>
      <p:sp>
        <p:nvSpPr>
          <p:cNvPr id="3" name="Content Placeholder 2"/>
          <p:cNvSpPr>
            <a:spLocks noGrp="1"/>
          </p:cNvSpPr>
          <p:nvPr>
            <p:ph idx="1"/>
          </p:nvPr>
        </p:nvSpPr>
        <p:spPr>
          <a:xfrm>
            <a:off x="739192" y="1601915"/>
            <a:ext cx="11010217" cy="4949054"/>
          </a:xfrm>
        </p:spPr>
        <p:txBody>
          <a:bodyPr>
            <a:normAutofit/>
          </a:bodyPr>
          <a:lstStyle/>
          <a:p>
            <a:pPr fontAlgn="ctr"/>
            <a:r>
              <a:rPr lang="en-US" dirty="0"/>
              <a:t>Use ARM template to customize your cluster</a:t>
            </a:r>
          </a:p>
          <a:p>
            <a:pPr lvl="1" fontAlgn="ctr"/>
            <a:r>
              <a:rPr lang="en-US" dirty="0"/>
              <a:t>Spread VMs across multiple storage account</a:t>
            </a:r>
          </a:p>
          <a:p>
            <a:pPr lvl="2" fontAlgn="ctr"/>
            <a:r>
              <a:rPr lang="en-US" dirty="0"/>
              <a:t>Fan out the IO</a:t>
            </a:r>
          </a:p>
          <a:p>
            <a:pPr lvl="2" fontAlgn="ctr"/>
            <a:r>
              <a:rPr lang="en-US" dirty="0"/>
              <a:t>Protection against widespread outage</a:t>
            </a:r>
          </a:p>
          <a:p>
            <a:pPr marL="0" indent="0" fontAlgn="ctr">
              <a:buNone/>
            </a:pPr>
            <a:endParaRPr lang="en-US" dirty="0"/>
          </a:p>
          <a:p>
            <a:pPr fontAlgn="ctr"/>
            <a:r>
              <a:rPr lang="en-US" dirty="0"/>
              <a:t>Use ARM template to drive changes to your Resource Group</a:t>
            </a:r>
          </a:p>
          <a:p>
            <a:pPr lvl="1" fontAlgn="ctr"/>
            <a:r>
              <a:rPr lang="en-US" dirty="0"/>
              <a:t>Easy configuration management</a:t>
            </a:r>
          </a:p>
          <a:p>
            <a:pPr lvl="1" fontAlgn="ctr"/>
            <a:r>
              <a:rPr lang="en-US" dirty="0"/>
              <a:t>Auditing</a:t>
            </a:r>
          </a:p>
          <a:p>
            <a:pPr lvl="1" fontAlgn="ctr"/>
            <a:r>
              <a:rPr lang="en-US" dirty="0"/>
              <a:t>Avoid using implicit commands to tweak your resources.</a:t>
            </a:r>
          </a:p>
          <a:p>
            <a:pPr lvl="1" fontAlgn="ctr"/>
            <a:r>
              <a:rPr lang="en-US" dirty="0"/>
              <a:t>Be very pedantic on the configurations your deploy to your production environment</a:t>
            </a:r>
          </a:p>
          <a:p>
            <a:pPr fontAlgn="ctr"/>
            <a:endParaRPr lang="en-US" dirty="0"/>
          </a:p>
          <a:p>
            <a:pPr fontAlgn="ctr"/>
            <a:endParaRPr lang="en-US" dirty="0"/>
          </a:p>
        </p:txBody>
      </p:sp>
      <p:pic>
        <p:nvPicPr>
          <p:cNvPr id="4" name="Picture 3"/>
          <p:cNvPicPr>
            <a:picLocks noChangeAspect="1"/>
          </p:cNvPicPr>
          <p:nvPr/>
        </p:nvPicPr>
        <p:blipFill>
          <a:blip r:embed="rId2"/>
          <a:stretch>
            <a:fillRect/>
          </a:stretch>
        </p:blipFill>
        <p:spPr>
          <a:xfrm>
            <a:off x="8428037" y="1486960"/>
            <a:ext cx="3048000" cy="3048000"/>
          </a:xfrm>
          <a:prstGeom prst="rect">
            <a:avLst/>
          </a:prstGeom>
        </p:spPr>
      </p:pic>
    </p:spTree>
    <p:extLst>
      <p:ext uri="{BB962C8B-B14F-4D97-AF65-F5344CB8AC3E}">
        <p14:creationId xmlns:p14="http://schemas.microsoft.com/office/powerpoint/2010/main" val="93114772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Best practices – Cluster Set up</a:t>
            </a:r>
          </a:p>
        </p:txBody>
      </p:sp>
      <p:sp>
        <p:nvSpPr>
          <p:cNvPr id="3" name="Content Placeholder 2"/>
          <p:cNvSpPr>
            <a:spLocks noGrp="1"/>
          </p:cNvSpPr>
          <p:nvPr>
            <p:ph idx="1"/>
          </p:nvPr>
        </p:nvSpPr>
        <p:spPr>
          <a:xfrm>
            <a:off x="577724" y="1598006"/>
            <a:ext cx="11010217" cy="1407773"/>
          </a:xfrm>
        </p:spPr>
        <p:txBody>
          <a:bodyPr>
            <a:normAutofit/>
          </a:bodyPr>
          <a:lstStyle/>
          <a:p>
            <a:pPr fontAlgn="ctr"/>
            <a:r>
              <a:rPr lang="en-US" dirty="0"/>
              <a:t>Use a separate node type to host system services for large clusters – for large cluster.</a:t>
            </a:r>
          </a:p>
          <a:p>
            <a:pPr lvl="1" fontAlgn="ctr"/>
            <a:endParaRPr lang="en-US" dirty="0"/>
          </a:p>
        </p:txBody>
      </p:sp>
      <p:grpSp>
        <p:nvGrpSpPr>
          <p:cNvPr id="157" name="Group 156"/>
          <p:cNvGrpSpPr/>
          <p:nvPr/>
        </p:nvGrpSpPr>
        <p:grpSpPr>
          <a:xfrm>
            <a:off x="341136" y="3762130"/>
            <a:ext cx="851717" cy="1247217"/>
            <a:chOff x="333613" y="3688697"/>
            <a:chExt cx="835092" cy="1222873"/>
          </a:xfrm>
        </p:grpSpPr>
        <p:sp>
          <p:nvSpPr>
            <p:cNvPr id="10" name="Rectangle 9"/>
            <p:cNvSpPr/>
            <p:nvPr/>
          </p:nvSpPr>
          <p:spPr>
            <a:xfrm>
              <a:off x="333613" y="3688697"/>
              <a:ext cx="835092" cy="1222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12" name="Rectangle 11"/>
            <p:cNvSpPr/>
            <p:nvPr/>
          </p:nvSpPr>
          <p:spPr>
            <a:xfrm>
              <a:off x="754516" y="4111795"/>
              <a:ext cx="374221" cy="363556"/>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13" name="Rectangle 12"/>
            <p:cNvSpPr>
              <a:spLocks noChangeAspect="1"/>
            </p:cNvSpPr>
            <p:nvPr/>
          </p:nvSpPr>
          <p:spPr>
            <a:xfrm>
              <a:off x="364826" y="4502897"/>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dirty="0"/>
            </a:p>
          </p:txBody>
        </p:sp>
        <p:sp>
          <p:nvSpPr>
            <p:cNvPr id="14" name="Rectangle 13"/>
            <p:cNvSpPr/>
            <p:nvPr/>
          </p:nvSpPr>
          <p:spPr>
            <a:xfrm>
              <a:off x="772449" y="4506568"/>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156" name="Group 155"/>
          <p:cNvGrpSpPr/>
          <p:nvPr/>
        </p:nvGrpSpPr>
        <p:grpSpPr>
          <a:xfrm>
            <a:off x="1316812" y="3764278"/>
            <a:ext cx="851717" cy="1247217"/>
            <a:chOff x="1290245" y="3690804"/>
            <a:chExt cx="835092" cy="1222873"/>
          </a:xfrm>
        </p:grpSpPr>
        <p:sp>
          <p:nvSpPr>
            <p:cNvPr id="16" name="Rectangle 15"/>
            <p:cNvSpPr/>
            <p:nvPr/>
          </p:nvSpPr>
          <p:spPr>
            <a:xfrm>
              <a:off x="1290245" y="3690804"/>
              <a:ext cx="835092" cy="12228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18" name="Rectangle 17"/>
            <p:cNvSpPr/>
            <p:nvPr/>
          </p:nvSpPr>
          <p:spPr>
            <a:xfrm>
              <a:off x="1711148" y="4113902"/>
              <a:ext cx="374221" cy="363556"/>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19" name="Rectangle 18"/>
            <p:cNvSpPr>
              <a:spLocks noChangeAspect="1"/>
            </p:cNvSpPr>
            <p:nvPr/>
          </p:nvSpPr>
          <p:spPr>
            <a:xfrm>
              <a:off x="1321458" y="4505004"/>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20" name="Rectangle 19"/>
            <p:cNvSpPr/>
            <p:nvPr/>
          </p:nvSpPr>
          <p:spPr>
            <a:xfrm>
              <a:off x="1729081" y="4508675"/>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155" name="Group 154"/>
          <p:cNvGrpSpPr/>
          <p:nvPr/>
        </p:nvGrpSpPr>
        <p:grpSpPr>
          <a:xfrm>
            <a:off x="2292488" y="3741805"/>
            <a:ext cx="851717" cy="1247217"/>
            <a:chOff x="2246877" y="3668769"/>
            <a:chExt cx="835092" cy="1222873"/>
          </a:xfrm>
        </p:grpSpPr>
        <p:sp>
          <p:nvSpPr>
            <p:cNvPr id="22" name="Rectangle 21"/>
            <p:cNvSpPr/>
            <p:nvPr/>
          </p:nvSpPr>
          <p:spPr>
            <a:xfrm>
              <a:off x="2246877" y="3668769"/>
              <a:ext cx="835092" cy="122287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24" name="Rectangle 23"/>
            <p:cNvSpPr/>
            <p:nvPr/>
          </p:nvSpPr>
          <p:spPr>
            <a:xfrm>
              <a:off x="2667780" y="4091867"/>
              <a:ext cx="374221" cy="363556"/>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25" name="Rectangle 24"/>
            <p:cNvSpPr>
              <a:spLocks noChangeAspect="1"/>
            </p:cNvSpPr>
            <p:nvPr/>
          </p:nvSpPr>
          <p:spPr>
            <a:xfrm>
              <a:off x="2278090" y="4482969"/>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26" name="Rectangle 25"/>
            <p:cNvSpPr/>
            <p:nvPr/>
          </p:nvSpPr>
          <p:spPr>
            <a:xfrm>
              <a:off x="2685713" y="4486640"/>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154" name="Group 153"/>
          <p:cNvGrpSpPr/>
          <p:nvPr/>
        </p:nvGrpSpPr>
        <p:grpSpPr>
          <a:xfrm>
            <a:off x="3268164" y="3741805"/>
            <a:ext cx="851717" cy="1247217"/>
            <a:chOff x="3203509" y="3668769"/>
            <a:chExt cx="835092" cy="1222873"/>
          </a:xfrm>
        </p:grpSpPr>
        <p:sp>
          <p:nvSpPr>
            <p:cNvPr id="28" name="Rectangle 27"/>
            <p:cNvSpPr/>
            <p:nvPr/>
          </p:nvSpPr>
          <p:spPr>
            <a:xfrm>
              <a:off x="3203509" y="3668769"/>
              <a:ext cx="835092" cy="122287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30" name="Rectangle 29"/>
            <p:cNvSpPr/>
            <p:nvPr/>
          </p:nvSpPr>
          <p:spPr>
            <a:xfrm>
              <a:off x="3624412" y="4091867"/>
              <a:ext cx="374221" cy="363556"/>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31" name="Rectangle 30"/>
            <p:cNvSpPr>
              <a:spLocks noChangeAspect="1"/>
            </p:cNvSpPr>
            <p:nvPr/>
          </p:nvSpPr>
          <p:spPr>
            <a:xfrm>
              <a:off x="3234722" y="4482969"/>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32" name="Rectangle 31"/>
            <p:cNvSpPr/>
            <p:nvPr/>
          </p:nvSpPr>
          <p:spPr>
            <a:xfrm>
              <a:off x="3642345" y="4486640"/>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153" name="Group 152"/>
          <p:cNvGrpSpPr/>
          <p:nvPr/>
        </p:nvGrpSpPr>
        <p:grpSpPr>
          <a:xfrm>
            <a:off x="4243840" y="3740733"/>
            <a:ext cx="851717" cy="1247217"/>
            <a:chOff x="4160141" y="3667718"/>
            <a:chExt cx="835092" cy="1222873"/>
          </a:xfrm>
        </p:grpSpPr>
        <p:sp>
          <p:nvSpPr>
            <p:cNvPr id="34" name="Rectangle 33"/>
            <p:cNvSpPr/>
            <p:nvPr/>
          </p:nvSpPr>
          <p:spPr>
            <a:xfrm>
              <a:off x="4160141" y="3667718"/>
              <a:ext cx="835092" cy="1222873"/>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36" name="Rectangle 35"/>
            <p:cNvSpPr/>
            <p:nvPr/>
          </p:nvSpPr>
          <p:spPr>
            <a:xfrm>
              <a:off x="4581044" y="4090816"/>
              <a:ext cx="374221" cy="363556"/>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37" name="Rectangle 36"/>
            <p:cNvSpPr>
              <a:spLocks noChangeAspect="1"/>
            </p:cNvSpPr>
            <p:nvPr/>
          </p:nvSpPr>
          <p:spPr>
            <a:xfrm>
              <a:off x="4191354" y="4481918"/>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38" name="Rectangle 37"/>
            <p:cNvSpPr/>
            <p:nvPr/>
          </p:nvSpPr>
          <p:spPr>
            <a:xfrm>
              <a:off x="4598977" y="4485589"/>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152" name="Group 151"/>
          <p:cNvGrpSpPr/>
          <p:nvPr/>
        </p:nvGrpSpPr>
        <p:grpSpPr>
          <a:xfrm>
            <a:off x="5219516" y="3740732"/>
            <a:ext cx="851717" cy="1247217"/>
            <a:chOff x="5116773" y="3667717"/>
            <a:chExt cx="835092" cy="1222873"/>
          </a:xfrm>
        </p:grpSpPr>
        <p:sp>
          <p:nvSpPr>
            <p:cNvPr id="40" name="Rectangle 39"/>
            <p:cNvSpPr/>
            <p:nvPr/>
          </p:nvSpPr>
          <p:spPr>
            <a:xfrm>
              <a:off x="5116773" y="3667717"/>
              <a:ext cx="835092" cy="1222873"/>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42" name="Rectangle 41"/>
            <p:cNvSpPr/>
            <p:nvPr/>
          </p:nvSpPr>
          <p:spPr>
            <a:xfrm>
              <a:off x="5535144" y="4090815"/>
              <a:ext cx="374221" cy="363556"/>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43" name="Rectangle 42"/>
            <p:cNvSpPr>
              <a:spLocks noChangeAspect="1"/>
            </p:cNvSpPr>
            <p:nvPr/>
          </p:nvSpPr>
          <p:spPr>
            <a:xfrm>
              <a:off x="5147986" y="4481917"/>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44" name="Rectangle 43"/>
            <p:cNvSpPr/>
            <p:nvPr/>
          </p:nvSpPr>
          <p:spPr>
            <a:xfrm>
              <a:off x="5555609" y="4485588"/>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45" name="Group 44"/>
          <p:cNvGrpSpPr/>
          <p:nvPr/>
        </p:nvGrpSpPr>
        <p:grpSpPr>
          <a:xfrm>
            <a:off x="341136" y="5699627"/>
            <a:ext cx="1804919" cy="987404"/>
            <a:chOff x="2842705" y="3439145"/>
            <a:chExt cx="1769689" cy="968131"/>
          </a:xfrm>
        </p:grpSpPr>
        <p:sp>
          <p:nvSpPr>
            <p:cNvPr id="46" name="Left Brace 45"/>
            <p:cNvSpPr/>
            <p:nvPr/>
          </p:nvSpPr>
          <p:spPr>
            <a:xfrm rot="16200000">
              <a:off x="3467911" y="2813939"/>
              <a:ext cx="519277" cy="17696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47" name="TextBox 46"/>
            <p:cNvSpPr txBox="1"/>
            <p:nvPr/>
          </p:nvSpPr>
          <p:spPr>
            <a:xfrm>
              <a:off x="3491210" y="4032430"/>
              <a:ext cx="591829" cy="374846"/>
            </a:xfrm>
            <a:prstGeom prst="rect">
              <a:avLst/>
            </a:prstGeom>
            <a:noFill/>
          </p:spPr>
          <p:txBody>
            <a:bodyPr wrap="none" rtlCol="0">
              <a:spAutoFit/>
            </a:bodyPr>
            <a:lstStyle/>
            <a:p>
              <a:r>
                <a:rPr lang="en-US" sz="1836" dirty="0"/>
                <a:t>FD1</a:t>
              </a:r>
            </a:p>
          </p:txBody>
        </p:sp>
      </p:grpSp>
      <p:grpSp>
        <p:nvGrpSpPr>
          <p:cNvPr id="48" name="Group 47"/>
          <p:cNvGrpSpPr/>
          <p:nvPr/>
        </p:nvGrpSpPr>
        <p:grpSpPr>
          <a:xfrm>
            <a:off x="2692415" y="5720225"/>
            <a:ext cx="1804919" cy="987404"/>
            <a:chOff x="2842705" y="3439145"/>
            <a:chExt cx="1769689" cy="968131"/>
          </a:xfrm>
        </p:grpSpPr>
        <p:sp>
          <p:nvSpPr>
            <p:cNvPr id="49" name="Left Brace 48"/>
            <p:cNvSpPr/>
            <p:nvPr/>
          </p:nvSpPr>
          <p:spPr>
            <a:xfrm rot="16200000">
              <a:off x="3467911" y="2813939"/>
              <a:ext cx="519277" cy="17696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50" name="TextBox 49"/>
            <p:cNvSpPr txBox="1"/>
            <p:nvPr/>
          </p:nvSpPr>
          <p:spPr>
            <a:xfrm>
              <a:off x="3491210" y="4032430"/>
              <a:ext cx="591829" cy="374846"/>
            </a:xfrm>
            <a:prstGeom prst="rect">
              <a:avLst/>
            </a:prstGeom>
            <a:noFill/>
          </p:spPr>
          <p:txBody>
            <a:bodyPr wrap="none" rtlCol="0">
              <a:spAutoFit/>
            </a:bodyPr>
            <a:lstStyle/>
            <a:p>
              <a:r>
                <a:rPr lang="en-US" sz="1836" dirty="0"/>
                <a:t>FD2</a:t>
              </a:r>
            </a:p>
          </p:txBody>
        </p:sp>
      </p:grpSp>
      <p:grpSp>
        <p:nvGrpSpPr>
          <p:cNvPr id="51" name="Group 50"/>
          <p:cNvGrpSpPr/>
          <p:nvPr/>
        </p:nvGrpSpPr>
        <p:grpSpPr>
          <a:xfrm>
            <a:off x="4656878" y="5729588"/>
            <a:ext cx="1804919" cy="987404"/>
            <a:chOff x="2842705" y="3439145"/>
            <a:chExt cx="1769689" cy="968131"/>
          </a:xfrm>
        </p:grpSpPr>
        <p:sp>
          <p:nvSpPr>
            <p:cNvPr id="52" name="Left Brace 51"/>
            <p:cNvSpPr/>
            <p:nvPr/>
          </p:nvSpPr>
          <p:spPr>
            <a:xfrm rot="16200000">
              <a:off x="3467911" y="2813939"/>
              <a:ext cx="519277" cy="17696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53" name="TextBox 52"/>
            <p:cNvSpPr txBox="1"/>
            <p:nvPr/>
          </p:nvSpPr>
          <p:spPr>
            <a:xfrm>
              <a:off x="3491210" y="4032430"/>
              <a:ext cx="591829" cy="374846"/>
            </a:xfrm>
            <a:prstGeom prst="rect">
              <a:avLst/>
            </a:prstGeom>
            <a:noFill/>
          </p:spPr>
          <p:txBody>
            <a:bodyPr wrap="none" rtlCol="0">
              <a:spAutoFit/>
            </a:bodyPr>
            <a:lstStyle/>
            <a:p>
              <a:r>
                <a:rPr lang="en-US" sz="1836" dirty="0"/>
                <a:t>FD3</a:t>
              </a:r>
            </a:p>
          </p:txBody>
        </p:sp>
      </p:grpSp>
      <p:grpSp>
        <p:nvGrpSpPr>
          <p:cNvPr id="151" name="Group 150"/>
          <p:cNvGrpSpPr/>
          <p:nvPr/>
        </p:nvGrpSpPr>
        <p:grpSpPr>
          <a:xfrm>
            <a:off x="6197067" y="3738858"/>
            <a:ext cx="851717" cy="1247217"/>
            <a:chOff x="6075243" y="3665880"/>
            <a:chExt cx="835092" cy="1222873"/>
          </a:xfrm>
        </p:grpSpPr>
        <p:sp>
          <p:nvSpPr>
            <p:cNvPr id="55" name="Rectangle 54"/>
            <p:cNvSpPr/>
            <p:nvPr/>
          </p:nvSpPr>
          <p:spPr>
            <a:xfrm>
              <a:off x="6075243" y="3665880"/>
              <a:ext cx="835092" cy="1222873"/>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57" name="Rectangle 56"/>
            <p:cNvSpPr/>
            <p:nvPr/>
          </p:nvSpPr>
          <p:spPr>
            <a:xfrm>
              <a:off x="6515916" y="4088978"/>
              <a:ext cx="374221" cy="363556"/>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58" name="Rectangle 57"/>
            <p:cNvSpPr>
              <a:spLocks noChangeAspect="1"/>
            </p:cNvSpPr>
            <p:nvPr/>
          </p:nvSpPr>
          <p:spPr>
            <a:xfrm>
              <a:off x="6106456" y="4480080"/>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59" name="Rectangle 58"/>
            <p:cNvSpPr/>
            <p:nvPr/>
          </p:nvSpPr>
          <p:spPr>
            <a:xfrm>
              <a:off x="6514079" y="4483751"/>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150" name="Group 149"/>
          <p:cNvGrpSpPr/>
          <p:nvPr/>
        </p:nvGrpSpPr>
        <p:grpSpPr>
          <a:xfrm>
            <a:off x="7172743" y="3738857"/>
            <a:ext cx="851717" cy="1247217"/>
            <a:chOff x="7031875" y="3665879"/>
            <a:chExt cx="835092" cy="1222873"/>
          </a:xfrm>
        </p:grpSpPr>
        <p:sp>
          <p:nvSpPr>
            <p:cNvPr id="61" name="Rectangle 60"/>
            <p:cNvSpPr/>
            <p:nvPr/>
          </p:nvSpPr>
          <p:spPr>
            <a:xfrm>
              <a:off x="7031875" y="3665879"/>
              <a:ext cx="835092" cy="1222873"/>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63" name="Rectangle 62"/>
            <p:cNvSpPr/>
            <p:nvPr/>
          </p:nvSpPr>
          <p:spPr>
            <a:xfrm>
              <a:off x="7472548" y="4088977"/>
              <a:ext cx="374221" cy="363556"/>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64" name="Rectangle 63"/>
            <p:cNvSpPr>
              <a:spLocks noChangeAspect="1"/>
            </p:cNvSpPr>
            <p:nvPr/>
          </p:nvSpPr>
          <p:spPr>
            <a:xfrm>
              <a:off x="7063088" y="4480079"/>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65" name="Rectangle 64"/>
            <p:cNvSpPr/>
            <p:nvPr/>
          </p:nvSpPr>
          <p:spPr>
            <a:xfrm>
              <a:off x="7470711" y="4483750"/>
              <a:ext cx="374221"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grpSp>
        <p:nvGrpSpPr>
          <p:cNvPr id="66" name="Group 65"/>
          <p:cNvGrpSpPr/>
          <p:nvPr/>
        </p:nvGrpSpPr>
        <p:grpSpPr>
          <a:xfrm>
            <a:off x="6610104" y="5727713"/>
            <a:ext cx="1804919" cy="987404"/>
            <a:chOff x="2842705" y="3439145"/>
            <a:chExt cx="1769689" cy="968131"/>
          </a:xfrm>
        </p:grpSpPr>
        <p:sp>
          <p:nvSpPr>
            <p:cNvPr id="67" name="Left Brace 66"/>
            <p:cNvSpPr/>
            <p:nvPr/>
          </p:nvSpPr>
          <p:spPr>
            <a:xfrm rot="16200000">
              <a:off x="3467911" y="2813939"/>
              <a:ext cx="519277" cy="17696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68" name="TextBox 67"/>
            <p:cNvSpPr txBox="1"/>
            <p:nvPr/>
          </p:nvSpPr>
          <p:spPr>
            <a:xfrm>
              <a:off x="3491210" y="4032430"/>
              <a:ext cx="591829" cy="374846"/>
            </a:xfrm>
            <a:prstGeom prst="rect">
              <a:avLst/>
            </a:prstGeom>
            <a:noFill/>
          </p:spPr>
          <p:txBody>
            <a:bodyPr wrap="none" rtlCol="0">
              <a:spAutoFit/>
            </a:bodyPr>
            <a:lstStyle/>
            <a:p>
              <a:r>
                <a:rPr lang="en-US" sz="1836" dirty="0"/>
                <a:t>FD4</a:t>
              </a:r>
            </a:p>
          </p:txBody>
        </p:sp>
      </p:grpSp>
      <p:sp>
        <p:nvSpPr>
          <p:cNvPr id="69" name="Rectangle 68"/>
          <p:cNvSpPr/>
          <p:nvPr/>
        </p:nvSpPr>
        <p:spPr>
          <a:xfrm>
            <a:off x="8127820" y="3736984"/>
            <a:ext cx="851717" cy="124721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71" name="Rectangle 70"/>
          <p:cNvSpPr/>
          <p:nvPr/>
        </p:nvSpPr>
        <p:spPr>
          <a:xfrm>
            <a:off x="8577266" y="4168504"/>
            <a:ext cx="381671" cy="370793"/>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72" name="Rectangle 71"/>
          <p:cNvSpPr>
            <a:spLocks noChangeAspect="1"/>
          </p:cNvSpPr>
          <p:nvPr/>
        </p:nvSpPr>
        <p:spPr>
          <a:xfrm>
            <a:off x="8159655" y="4567392"/>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73" name="Rectangle 72"/>
          <p:cNvSpPr/>
          <p:nvPr/>
        </p:nvSpPr>
        <p:spPr>
          <a:xfrm>
            <a:off x="8575392" y="4571136"/>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74" name="Rectangle 73"/>
          <p:cNvSpPr/>
          <p:nvPr/>
        </p:nvSpPr>
        <p:spPr>
          <a:xfrm>
            <a:off x="9103496" y="3736983"/>
            <a:ext cx="851717" cy="124721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76" name="Rectangle 75"/>
          <p:cNvSpPr/>
          <p:nvPr/>
        </p:nvSpPr>
        <p:spPr>
          <a:xfrm>
            <a:off x="9552942" y="4168503"/>
            <a:ext cx="381671" cy="370793"/>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77" name="Rectangle 76"/>
          <p:cNvSpPr>
            <a:spLocks noChangeAspect="1"/>
          </p:cNvSpPr>
          <p:nvPr/>
        </p:nvSpPr>
        <p:spPr>
          <a:xfrm>
            <a:off x="9135331" y="4567391"/>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78" name="Rectangle 77"/>
          <p:cNvSpPr/>
          <p:nvPr/>
        </p:nvSpPr>
        <p:spPr>
          <a:xfrm>
            <a:off x="9551068" y="4571135"/>
            <a:ext cx="381671" cy="37079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nvGrpSpPr>
          <p:cNvPr id="79" name="Group 78"/>
          <p:cNvGrpSpPr/>
          <p:nvPr/>
        </p:nvGrpSpPr>
        <p:grpSpPr>
          <a:xfrm>
            <a:off x="8614542" y="5727712"/>
            <a:ext cx="1804919" cy="987404"/>
            <a:chOff x="2842705" y="3439145"/>
            <a:chExt cx="1769689" cy="968131"/>
          </a:xfrm>
        </p:grpSpPr>
        <p:sp>
          <p:nvSpPr>
            <p:cNvPr id="80" name="Left Brace 79"/>
            <p:cNvSpPr/>
            <p:nvPr/>
          </p:nvSpPr>
          <p:spPr>
            <a:xfrm rot="16200000">
              <a:off x="3467911" y="2813939"/>
              <a:ext cx="519277" cy="17696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81" name="TextBox 80"/>
            <p:cNvSpPr txBox="1"/>
            <p:nvPr/>
          </p:nvSpPr>
          <p:spPr>
            <a:xfrm>
              <a:off x="3491210" y="4032430"/>
              <a:ext cx="591829" cy="374846"/>
            </a:xfrm>
            <a:prstGeom prst="rect">
              <a:avLst/>
            </a:prstGeom>
            <a:noFill/>
          </p:spPr>
          <p:txBody>
            <a:bodyPr wrap="none" rtlCol="0">
              <a:spAutoFit/>
            </a:bodyPr>
            <a:lstStyle/>
            <a:p>
              <a:r>
                <a:rPr lang="en-US" sz="1836" dirty="0"/>
                <a:t>FD5</a:t>
              </a:r>
            </a:p>
          </p:txBody>
        </p:sp>
      </p:grpSp>
      <p:grpSp>
        <p:nvGrpSpPr>
          <p:cNvPr id="82" name="Group 81"/>
          <p:cNvGrpSpPr/>
          <p:nvPr/>
        </p:nvGrpSpPr>
        <p:grpSpPr>
          <a:xfrm>
            <a:off x="407385" y="5167049"/>
            <a:ext cx="1732631" cy="513124"/>
            <a:chOff x="847179" y="4051704"/>
            <a:chExt cx="840058" cy="503108"/>
          </a:xfrm>
        </p:grpSpPr>
        <p:grpSp>
          <p:nvGrpSpPr>
            <p:cNvPr id="83" name="Group 82"/>
            <p:cNvGrpSpPr/>
            <p:nvPr/>
          </p:nvGrpSpPr>
          <p:grpSpPr>
            <a:xfrm>
              <a:off x="847179" y="4053542"/>
              <a:ext cx="374221" cy="501270"/>
              <a:chOff x="847179" y="4053542"/>
              <a:chExt cx="374221" cy="501270"/>
            </a:xfrm>
          </p:grpSpPr>
          <p:sp>
            <p:nvSpPr>
              <p:cNvPr id="87" name="Left Brace 86"/>
              <p:cNvSpPr/>
              <p:nvPr/>
            </p:nvSpPr>
            <p:spPr>
              <a:xfrm rot="16200000">
                <a:off x="961234"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88" name="TextBox 87"/>
              <p:cNvSpPr txBox="1"/>
              <p:nvPr/>
            </p:nvSpPr>
            <p:spPr>
              <a:xfrm>
                <a:off x="923018" y="4242739"/>
                <a:ext cx="294183" cy="312073"/>
              </a:xfrm>
              <a:prstGeom prst="rect">
                <a:avLst/>
              </a:prstGeom>
              <a:noFill/>
            </p:spPr>
            <p:txBody>
              <a:bodyPr wrap="square" rtlCol="0">
                <a:spAutoFit/>
              </a:bodyPr>
              <a:lstStyle/>
              <a:p>
                <a:r>
                  <a:rPr lang="en-US" sz="1428" dirty="0"/>
                  <a:t>UD1</a:t>
                </a:r>
              </a:p>
            </p:txBody>
          </p:sp>
        </p:grpSp>
        <p:grpSp>
          <p:nvGrpSpPr>
            <p:cNvPr id="84" name="Group 83"/>
            <p:cNvGrpSpPr/>
            <p:nvPr/>
          </p:nvGrpSpPr>
          <p:grpSpPr>
            <a:xfrm>
              <a:off x="1313016" y="4051704"/>
              <a:ext cx="374221" cy="489006"/>
              <a:chOff x="896211" y="4053542"/>
              <a:chExt cx="374221" cy="489006"/>
            </a:xfrm>
          </p:grpSpPr>
          <p:sp>
            <p:nvSpPr>
              <p:cNvPr id="85" name="Left Brace 84"/>
              <p:cNvSpPr/>
              <p:nvPr/>
            </p:nvSpPr>
            <p:spPr>
              <a:xfrm rot="16200000">
                <a:off x="1010266"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86" name="TextBox 85"/>
              <p:cNvSpPr txBox="1"/>
              <p:nvPr/>
            </p:nvSpPr>
            <p:spPr>
              <a:xfrm>
                <a:off x="951082" y="4230475"/>
                <a:ext cx="289596" cy="312073"/>
              </a:xfrm>
              <a:prstGeom prst="rect">
                <a:avLst/>
              </a:prstGeom>
              <a:noFill/>
            </p:spPr>
            <p:txBody>
              <a:bodyPr wrap="square" rtlCol="0">
                <a:spAutoFit/>
              </a:bodyPr>
              <a:lstStyle/>
              <a:p>
                <a:r>
                  <a:rPr lang="en-US" sz="1428" dirty="0"/>
                  <a:t>UD2</a:t>
                </a:r>
              </a:p>
            </p:txBody>
          </p:sp>
        </p:grpSp>
      </p:grpSp>
      <p:grpSp>
        <p:nvGrpSpPr>
          <p:cNvPr id="89" name="Group 88"/>
          <p:cNvGrpSpPr/>
          <p:nvPr/>
        </p:nvGrpSpPr>
        <p:grpSpPr>
          <a:xfrm>
            <a:off x="2360608" y="5187648"/>
            <a:ext cx="1732631" cy="513124"/>
            <a:chOff x="847179" y="4051704"/>
            <a:chExt cx="840058" cy="503108"/>
          </a:xfrm>
        </p:grpSpPr>
        <p:grpSp>
          <p:nvGrpSpPr>
            <p:cNvPr id="90" name="Group 89"/>
            <p:cNvGrpSpPr/>
            <p:nvPr/>
          </p:nvGrpSpPr>
          <p:grpSpPr>
            <a:xfrm>
              <a:off x="847179" y="4053542"/>
              <a:ext cx="374221" cy="501270"/>
              <a:chOff x="847179" y="4053542"/>
              <a:chExt cx="374221" cy="501270"/>
            </a:xfrm>
          </p:grpSpPr>
          <p:sp>
            <p:nvSpPr>
              <p:cNvPr id="94" name="Left Brace 93"/>
              <p:cNvSpPr/>
              <p:nvPr/>
            </p:nvSpPr>
            <p:spPr>
              <a:xfrm rot="16200000">
                <a:off x="961234"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95" name="TextBox 94"/>
              <p:cNvSpPr txBox="1"/>
              <p:nvPr/>
            </p:nvSpPr>
            <p:spPr>
              <a:xfrm>
                <a:off x="923018" y="4242739"/>
                <a:ext cx="294183" cy="312073"/>
              </a:xfrm>
              <a:prstGeom prst="rect">
                <a:avLst/>
              </a:prstGeom>
              <a:noFill/>
            </p:spPr>
            <p:txBody>
              <a:bodyPr wrap="square" rtlCol="0">
                <a:spAutoFit/>
              </a:bodyPr>
              <a:lstStyle/>
              <a:p>
                <a:r>
                  <a:rPr lang="en-US" sz="1428" dirty="0"/>
                  <a:t>UD3</a:t>
                </a:r>
              </a:p>
            </p:txBody>
          </p:sp>
        </p:grpSp>
        <p:grpSp>
          <p:nvGrpSpPr>
            <p:cNvPr id="91" name="Group 90"/>
            <p:cNvGrpSpPr/>
            <p:nvPr/>
          </p:nvGrpSpPr>
          <p:grpSpPr>
            <a:xfrm>
              <a:off x="1313016" y="4051704"/>
              <a:ext cx="374221" cy="489006"/>
              <a:chOff x="896211" y="4053542"/>
              <a:chExt cx="374221" cy="489006"/>
            </a:xfrm>
          </p:grpSpPr>
          <p:sp>
            <p:nvSpPr>
              <p:cNvPr id="92" name="Left Brace 91"/>
              <p:cNvSpPr/>
              <p:nvPr/>
            </p:nvSpPr>
            <p:spPr>
              <a:xfrm rot="16200000">
                <a:off x="1010266"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93" name="TextBox 92"/>
              <p:cNvSpPr txBox="1"/>
              <p:nvPr/>
            </p:nvSpPr>
            <p:spPr>
              <a:xfrm>
                <a:off x="951082" y="4230475"/>
                <a:ext cx="289596" cy="312073"/>
              </a:xfrm>
              <a:prstGeom prst="rect">
                <a:avLst/>
              </a:prstGeom>
              <a:noFill/>
            </p:spPr>
            <p:txBody>
              <a:bodyPr wrap="square" rtlCol="0">
                <a:spAutoFit/>
              </a:bodyPr>
              <a:lstStyle/>
              <a:p>
                <a:r>
                  <a:rPr lang="en-US" sz="1428" dirty="0"/>
                  <a:t>UD4</a:t>
                </a:r>
              </a:p>
            </p:txBody>
          </p:sp>
        </p:grpSp>
      </p:grpSp>
      <p:grpSp>
        <p:nvGrpSpPr>
          <p:cNvPr id="96" name="Group 95"/>
          <p:cNvGrpSpPr/>
          <p:nvPr/>
        </p:nvGrpSpPr>
        <p:grpSpPr>
          <a:xfrm>
            <a:off x="4291360" y="5197010"/>
            <a:ext cx="1732631" cy="513124"/>
            <a:chOff x="847179" y="4051704"/>
            <a:chExt cx="840058" cy="503108"/>
          </a:xfrm>
        </p:grpSpPr>
        <p:grpSp>
          <p:nvGrpSpPr>
            <p:cNvPr id="97" name="Group 96"/>
            <p:cNvGrpSpPr/>
            <p:nvPr/>
          </p:nvGrpSpPr>
          <p:grpSpPr>
            <a:xfrm>
              <a:off x="847179" y="4053542"/>
              <a:ext cx="374221" cy="501270"/>
              <a:chOff x="847179" y="4053542"/>
              <a:chExt cx="374221" cy="501270"/>
            </a:xfrm>
          </p:grpSpPr>
          <p:sp>
            <p:nvSpPr>
              <p:cNvPr id="101" name="Left Brace 100"/>
              <p:cNvSpPr/>
              <p:nvPr/>
            </p:nvSpPr>
            <p:spPr>
              <a:xfrm rot="16200000">
                <a:off x="961234"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102" name="TextBox 101"/>
              <p:cNvSpPr txBox="1"/>
              <p:nvPr/>
            </p:nvSpPr>
            <p:spPr>
              <a:xfrm>
                <a:off x="923018" y="4242739"/>
                <a:ext cx="294183" cy="312073"/>
              </a:xfrm>
              <a:prstGeom prst="rect">
                <a:avLst/>
              </a:prstGeom>
              <a:noFill/>
            </p:spPr>
            <p:txBody>
              <a:bodyPr wrap="square" rtlCol="0">
                <a:spAutoFit/>
              </a:bodyPr>
              <a:lstStyle/>
              <a:p>
                <a:r>
                  <a:rPr lang="en-US" sz="1428" dirty="0"/>
                  <a:t>UD5</a:t>
                </a:r>
              </a:p>
            </p:txBody>
          </p:sp>
        </p:grpSp>
        <p:grpSp>
          <p:nvGrpSpPr>
            <p:cNvPr id="98" name="Group 97"/>
            <p:cNvGrpSpPr/>
            <p:nvPr/>
          </p:nvGrpSpPr>
          <p:grpSpPr>
            <a:xfrm>
              <a:off x="1313016" y="4051704"/>
              <a:ext cx="374221" cy="489006"/>
              <a:chOff x="896211" y="4053542"/>
              <a:chExt cx="374221" cy="489006"/>
            </a:xfrm>
          </p:grpSpPr>
          <p:sp>
            <p:nvSpPr>
              <p:cNvPr id="99" name="Left Brace 98"/>
              <p:cNvSpPr/>
              <p:nvPr/>
            </p:nvSpPr>
            <p:spPr>
              <a:xfrm rot="16200000">
                <a:off x="1010266"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100" name="TextBox 99"/>
              <p:cNvSpPr txBox="1"/>
              <p:nvPr/>
            </p:nvSpPr>
            <p:spPr>
              <a:xfrm>
                <a:off x="951082" y="4230475"/>
                <a:ext cx="289596" cy="312073"/>
              </a:xfrm>
              <a:prstGeom prst="rect">
                <a:avLst/>
              </a:prstGeom>
              <a:noFill/>
            </p:spPr>
            <p:txBody>
              <a:bodyPr wrap="square" rtlCol="0">
                <a:spAutoFit/>
              </a:bodyPr>
              <a:lstStyle/>
              <a:p>
                <a:r>
                  <a:rPr lang="en-US" sz="1428" dirty="0"/>
                  <a:t>UD6</a:t>
                </a:r>
              </a:p>
            </p:txBody>
          </p:sp>
        </p:grpSp>
      </p:grpSp>
      <p:grpSp>
        <p:nvGrpSpPr>
          <p:cNvPr id="103" name="Group 102"/>
          <p:cNvGrpSpPr/>
          <p:nvPr/>
        </p:nvGrpSpPr>
        <p:grpSpPr>
          <a:xfrm>
            <a:off x="6278822" y="5218243"/>
            <a:ext cx="1732631" cy="513124"/>
            <a:chOff x="847179" y="4051704"/>
            <a:chExt cx="840058" cy="503108"/>
          </a:xfrm>
        </p:grpSpPr>
        <p:grpSp>
          <p:nvGrpSpPr>
            <p:cNvPr id="104" name="Group 103"/>
            <p:cNvGrpSpPr/>
            <p:nvPr/>
          </p:nvGrpSpPr>
          <p:grpSpPr>
            <a:xfrm>
              <a:off x="847179" y="4053542"/>
              <a:ext cx="374221" cy="501270"/>
              <a:chOff x="847179" y="4053542"/>
              <a:chExt cx="374221" cy="501270"/>
            </a:xfrm>
          </p:grpSpPr>
          <p:sp>
            <p:nvSpPr>
              <p:cNvPr id="108" name="Left Brace 107"/>
              <p:cNvSpPr/>
              <p:nvPr/>
            </p:nvSpPr>
            <p:spPr>
              <a:xfrm rot="16200000">
                <a:off x="961234"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109" name="TextBox 108"/>
              <p:cNvSpPr txBox="1"/>
              <p:nvPr/>
            </p:nvSpPr>
            <p:spPr>
              <a:xfrm>
                <a:off x="923018" y="4242739"/>
                <a:ext cx="294183" cy="312073"/>
              </a:xfrm>
              <a:prstGeom prst="rect">
                <a:avLst/>
              </a:prstGeom>
              <a:noFill/>
            </p:spPr>
            <p:txBody>
              <a:bodyPr wrap="square" rtlCol="0">
                <a:spAutoFit/>
              </a:bodyPr>
              <a:lstStyle/>
              <a:p>
                <a:r>
                  <a:rPr lang="en-US" sz="1428" dirty="0"/>
                  <a:t>UD7</a:t>
                </a:r>
              </a:p>
            </p:txBody>
          </p:sp>
        </p:grpSp>
        <p:grpSp>
          <p:nvGrpSpPr>
            <p:cNvPr id="105" name="Group 104"/>
            <p:cNvGrpSpPr/>
            <p:nvPr/>
          </p:nvGrpSpPr>
          <p:grpSpPr>
            <a:xfrm>
              <a:off x="1313016" y="4051704"/>
              <a:ext cx="374221" cy="489006"/>
              <a:chOff x="896211" y="4053542"/>
              <a:chExt cx="374221" cy="489006"/>
            </a:xfrm>
          </p:grpSpPr>
          <p:sp>
            <p:nvSpPr>
              <p:cNvPr id="106" name="Left Brace 105"/>
              <p:cNvSpPr/>
              <p:nvPr/>
            </p:nvSpPr>
            <p:spPr>
              <a:xfrm rot="16200000">
                <a:off x="1010266"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107" name="TextBox 106"/>
              <p:cNvSpPr txBox="1"/>
              <p:nvPr/>
            </p:nvSpPr>
            <p:spPr>
              <a:xfrm>
                <a:off x="951082" y="4230475"/>
                <a:ext cx="289596" cy="312073"/>
              </a:xfrm>
              <a:prstGeom prst="rect">
                <a:avLst/>
              </a:prstGeom>
              <a:noFill/>
            </p:spPr>
            <p:txBody>
              <a:bodyPr wrap="square" rtlCol="0">
                <a:spAutoFit/>
              </a:bodyPr>
              <a:lstStyle/>
              <a:p>
                <a:r>
                  <a:rPr lang="en-US" sz="1428" dirty="0"/>
                  <a:t>UD8</a:t>
                </a:r>
              </a:p>
            </p:txBody>
          </p:sp>
        </p:grpSp>
      </p:grpSp>
      <p:grpSp>
        <p:nvGrpSpPr>
          <p:cNvPr id="110" name="Group 109"/>
          <p:cNvGrpSpPr/>
          <p:nvPr/>
        </p:nvGrpSpPr>
        <p:grpSpPr>
          <a:xfrm>
            <a:off x="8175336" y="5226970"/>
            <a:ext cx="1732631" cy="513124"/>
            <a:chOff x="847179" y="4051704"/>
            <a:chExt cx="840058" cy="503108"/>
          </a:xfrm>
        </p:grpSpPr>
        <p:grpSp>
          <p:nvGrpSpPr>
            <p:cNvPr id="111" name="Group 110"/>
            <p:cNvGrpSpPr/>
            <p:nvPr/>
          </p:nvGrpSpPr>
          <p:grpSpPr>
            <a:xfrm>
              <a:off x="847179" y="4053542"/>
              <a:ext cx="374221" cy="501270"/>
              <a:chOff x="847179" y="4053542"/>
              <a:chExt cx="374221" cy="501270"/>
            </a:xfrm>
          </p:grpSpPr>
          <p:sp>
            <p:nvSpPr>
              <p:cNvPr id="115" name="Left Brace 114"/>
              <p:cNvSpPr/>
              <p:nvPr/>
            </p:nvSpPr>
            <p:spPr>
              <a:xfrm rot="16200000">
                <a:off x="961234"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116" name="TextBox 115"/>
              <p:cNvSpPr txBox="1"/>
              <p:nvPr/>
            </p:nvSpPr>
            <p:spPr>
              <a:xfrm>
                <a:off x="923018" y="4242739"/>
                <a:ext cx="294183" cy="312073"/>
              </a:xfrm>
              <a:prstGeom prst="rect">
                <a:avLst/>
              </a:prstGeom>
              <a:noFill/>
            </p:spPr>
            <p:txBody>
              <a:bodyPr wrap="square" rtlCol="0">
                <a:spAutoFit/>
              </a:bodyPr>
              <a:lstStyle/>
              <a:p>
                <a:r>
                  <a:rPr lang="en-US" sz="1428" dirty="0"/>
                  <a:t>UD9</a:t>
                </a:r>
              </a:p>
            </p:txBody>
          </p:sp>
        </p:grpSp>
        <p:grpSp>
          <p:nvGrpSpPr>
            <p:cNvPr id="112" name="Group 111"/>
            <p:cNvGrpSpPr/>
            <p:nvPr/>
          </p:nvGrpSpPr>
          <p:grpSpPr>
            <a:xfrm>
              <a:off x="1313016" y="4051704"/>
              <a:ext cx="374221" cy="489006"/>
              <a:chOff x="896211" y="4053542"/>
              <a:chExt cx="374221" cy="489006"/>
            </a:xfrm>
          </p:grpSpPr>
          <p:sp>
            <p:nvSpPr>
              <p:cNvPr id="113" name="Left Brace 112"/>
              <p:cNvSpPr/>
              <p:nvPr/>
            </p:nvSpPr>
            <p:spPr>
              <a:xfrm rot="16200000">
                <a:off x="1010266" y="3939487"/>
                <a:ext cx="146111" cy="374221"/>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114" name="TextBox 113"/>
              <p:cNvSpPr txBox="1"/>
              <p:nvPr/>
            </p:nvSpPr>
            <p:spPr>
              <a:xfrm>
                <a:off x="951082" y="4230475"/>
                <a:ext cx="319350" cy="312073"/>
              </a:xfrm>
              <a:prstGeom prst="rect">
                <a:avLst/>
              </a:prstGeom>
              <a:noFill/>
            </p:spPr>
            <p:txBody>
              <a:bodyPr wrap="square" rtlCol="0">
                <a:spAutoFit/>
              </a:bodyPr>
              <a:lstStyle/>
              <a:p>
                <a:r>
                  <a:rPr lang="en-US" sz="1428" dirty="0"/>
                  <a:t>UD10</a:t>
                </a:r>
              </a:p>
            </p:txBody>
          </p:sp>
        </p:grpSp>
      </p:grpSp>
      <p:sp>
        <p:nvSpPr>
          <p:cNvPr id="120" name="Rectangle 119"/>
          <p:cNvSpPr>
            <a:spLocks noChangeAspect="1"/>
          </p:cNvSpPr>
          <p:nvPr/>
        </p:nvSpPr>
        <p:spPr>
          <a:xfrm>
            <a:off x="350893" y="3776686"/>
            <a:ext cx="381671" cy="370793"/>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32" dirty="0"/>
          </a:p>
        </p:txBody>
      </p:sp>
      <p:sp>
        <p:nvSpPr>
          <p:cNvPr id="122" name="Rectangle 121"/>
          <p:cNvSpPr>
            <a:spLocks noChangeAspect="1"/>
          </p:cNvSpPr>
          <p:nvPr/>
        </p:nvSpPr>
        <p:spPr>
          <a:xfrm>
            <a:off x="1326569" y="3778835"/>
            <a:ext cx="381671" cy="370793"/>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124" name="Rectangle 123"/>
          <p:cNvSpPr>
            <a:spLocks noChangeAspect="1"/>
          </p:cNvSpPr>
          <p:nvPr/>
        </p:nvSpPr>
        <p:spPr>
          <a:xfrm>
            <a:off x="2302245" y="3756362"/>
            <a:ext cx="381671" cy="370793"/>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125" name="Rectangle 124"/>
          <p:cNvSpPr/>
          <p:nvPr/>
        </p:nvSpPr>
        <p:spPr>
          <a:xfrm>
            <a:off x="8579766" y="3782579"/>
            <a:ext cx="381671" cy="370793"/>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126" name="Rectangle 125"/>
          <p:cNvSpPr>
            <a:spLocks noChangeAspect="1"/>
          </p:cNvSpPr>
          <p:nvPr/>
        </p:nvSpPr>
        <p:spPr>
          <a:xfrm>
            <a:off x="3277921" y="3756362"/>
            <a:ext cx="381671" cy="370793"/>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128" name="Rectangle 127"/>
          <p:cNvSpPr>
            <a:spLocks noChangeAspect="1"/>
          </p:cNvSpPr>
          <p:nvPr/>
        </p:nvSpPr>
        <p:spPr>
          <a:xfrm>
            <a:off x="4253597" y="3755290"/>
            <a:ext cx="381671" cy="370793"/>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130" name="Rectangle 129"/>
          <p:cNvSpPr>
            <a:spLocks noChangeAspect="1"/>
          </p:cNvSpPr>
          <p:nvPr/>
        </p:nvSpPr>
        <p:spPr>
          <a:xfrm>
            <a:off x="6223100" y="3755290"/>
            <a:ext cx="381671" cy="370793"/>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nvGrpSpPr>
          <p:cNvPr id="149" name="Group 148"/>
          <p:cNvGrpSpPr/>
          <p:nvPr/>
        </p:nvGrpSpPr>
        <p:grpSpPr>
          <a:xfrm>
            <a:off x="10454429" y="3776686"/>
            <a:ext cx="1733313" cy="1262853"/>
            <a:chOff x="6910965" y="2165384"/>
            <a:chExt cx="1376492" cy="1238204"/>
          </a:xfrm>
        </p:grpSpPr>
        <p:sp>
          <p:nvSpPr>
            <p:cNvPr id="144" name="Rectangle 143"/>
            <p:cNvSpPr>
              <a:spLocks noChangeAspect="1"/>
            </p:cNvSpPr>
            <p:nvPr/>
          </p:nvSpPr>
          <p:spPr>
            <a:xfrm>
              <a:off x="6910965" y="2602708"/>
              <a:ext cx="1363016" cy="363556"/>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10 - NT1 Nodes</a:t>
              </a:r>
            </a:p>
          </p:txBody>
        </p:sp>
        <p:sp>
          <p:nvSpPr>
            <p:cNvPr id="145" name="Rectangle 144"/>
            <p:cNvSpPr>
              <a:spLocks noChangeAspect="1"/>
            </p:cNvSpPr>
            <p:nvPr/>
          </p:nvSpPr>
          <p:spPr>
            <a:xfrm>
              <a:off x="6910965" y="3040032"/>
              <a:ext cx="1376492" cy="36355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20 -NT2 Nodes</a:t>
              </a:r>
            </a:p>
          </p:txBody>
        </p:sp>
        <p:sp>
          <p:nvSpPr>
            <p:cNvPr id="146" name="Rectangle 145"/>
            <p:cNvSpPr>
              <a:spLocks noChangeAspect="1"/>
            </p:cNvSpPr>
            <p:nvPr/>
          </p:nvSpPr>
          <p:spPr>
            <a:xfrm>
              <a:off x="6913540" y="2165384"/>
              <a:ext cx="1357864" cy="363556"/>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7- SF  nodes</a:t>
              </a:r>
            </a:p>
          </p:txBody>
        </p:sp>
      </p:grpSp>
      <p:sp>
        <p:nvSpPr>
          <p:cNvPr id="158" name="TextBox 157"/>
          <p:cNvSpPr txBox="1"/>
          <p:nvPr/>
        </p:nvSpPr>
        <p:spPr>
          <a:xfrm>
            <a:off x="10614238" y="3415883"/>
            <a:ext cx="969831" cy="382308"/>
          </a:xfrm>
          <a:prstGeom prst="rect">
            <a:avLst/>
          </a:prstGeom>
          <a:noFill/>
        </p:spPr>
        <p:txBody>
          <a:bodyPr wrap="none" rtlCol="0">
            <a:spAutoFit/>
          </a:bodyPr>
          <a:lstStyle/>
          <a:p>
            <a:r>
              <a:rPr lang="en-US" sz="1836" dirty="0"/>
              <a:t>Legend</a:t>
            </a:r>
          </a:p>
        </p:txBody>
      </p:sp>
    </p:spTree>
    <p:extLst>
      <p:ext uri="{BB962C8B-B14F-4D97-AF65-F5344CB8AC3E}">
        <p14:creationId xmlns:p14="http://schemas.microsoft.com/office/powerpoint/2010/main" val="151311817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4639" y="1209973"/>
            <a:ext cx="10896598" cy="2179058"/>
          </a:xfrm>
        </p:spPr>
        <p:txBody>
          <a:bodyPr/>
          <a:lstStyle/>
          <a:p>
            <a:r>
              <a:rPr lang="en-US" dirty="0"/>
              <a:t>Generate a custom ARM Template  and review</a:t>
            </a:r>
          </a:p>
        </p:txBody>
      </p:sp>
      <p:sp>
        <p:nvSpPr>
          <p:cNvPr id="8" name="Text Placeholder 4"/>
          <p:cNvSpPr>
            <a:spLocks noGrp="1"/>
          </p:cNvSpPr>
          <p:nvPr>
            <p:ph type="body" sz="quarter" idx="12" hasCustomPrompt="1"/>
          </p:nvPr>
        </p:nvSpPr>
        <p:spPr>
          <a:xfrm>
            <a:off x="274638" y="3954463"/>
            <a:ext cx="10058401" cy="1292662"/>
          </a:xfrm>
          <a:noFill/>
        </p:spPr>
        <p:txBody>
          <a:bodyPr lIns="182880" tIns="146304" rIns="182880" bIns="146304">
            <a:spAutoFit/>
          </a:bodyPr>
          <a:lstStyle>
            <a:lvl1pPr marL="0" indent="0">
              <a:spcBef>
                <a:spcPts val="0"/>
              </a:spcBef>
              <a:buNone/>
              <a:defRPr sz="3600" spc="0" baseline="0">
                <a:solidFill>
                  <a:schemeClr val="bg1"/>
                </a:solidFill>
                <a:latin typeface="+mj-lt"/>
              </a:defRPr>
            </a:lvl1pPr>
          </a:lstStyle>
          <a:p>
            <a:pPr marL="571500" lvl="0" indent="-571500">
              <a:buFontTx/>
              <a:buChar char="-"/>
            </a:pPr>
            <a:r>
              <a:rPr lang="en-US" dirty="0"/>
              <a:t>10 node , 2 </a:t>
            </a:r>
            <a:r>
              <a:rPr lang="en-US" dirty="0" err="1"/>
              <a:t>nodetype</a:t>
            </a:r>
            <a:r>
              <a:rPr lang="en-US" dirty="0"/>
              <a:t>  windows</a:t>
            </a:r>
          </a:p>
          <a:p>
            <a:pPr marL="571500" lvl="0" indent="-571500">
              <a:buFontTx/>
              <a:buChar char="-"/>
            </a:pPr>
            <a:r>
              <a:rPr lang="en-US" dirty="0"/>
              <a:t>Use the portal to start with</a:t>
            </a:r>
          </a:p>
        </p:txBody>
      </p:sp>
      <p:sp>
        <p:nvSpPr>
          <p:cNvPr id="5" name="Text Placeholder 2"/>
          <p:cNvSpPr txBox="1">
            <a:spLocks/>
          </p:cNvSpPr>
          <p:nvPr/>
        </p:nvSpPr>
        <p:spPr>
          <a:xfrm>
            <a:off x="10218169" y="5822691"/>
            <a:ext cx="1904730" cy="738664"/>
          </a:xfrm>
          <a:prstGeom prst="rect">
            <a:avLst/>
          </a:prstGeom>
          <a:noFill/>
        </p:spPr>
        <p:txBody>
          <a:bodyPr vert="horz" wrap="square" lIns="182880" tIns="146304" rIns="182880" bIns="146304" rtlCol="0">
            <a:spAutoFit/>
          </a:bodyPr>
          <a:lstStyle>
            <a:lvl1pPr marL="0" marR="0" indent="0" algn="l" defTabSz="932742" rtl="0" eaLnBrk="1" fontAlgn="auto" latinLnBrk="0" hangingPunct="1">
              <a:lnSpc>
                <a:spcPct val="90000"/>
              </a:lnSpc>
              <a:spcBef>
                <a:spcPts val="0"/>
              </a:spcBef>
              <a:spcAft>
                <a:spcPts val="0"/>
              </a:spcAft>
              <a:buClrTx/>
              <a:buSzPct val="90000"/>
              <a:buFont typeface="Arial" pitchFamily="34" charset="0"/>
              <a:buNone/>
              <a:tabLst/>
              <a:defRPr sz="3600" kern="1200" spc="0" baseline="0">
                <a:solidFill>
                  <a:schemeClr val="bg1"/>
                </a:solidFill>
                <a:latin typeface="+mj-lt"/>
                <a:ea typeface="+mn-ea"/>
                <a:cs typeface="+mn-cs"/>
              </a:defRPr>
            </a:lvl1pPr>
            <a:lvl2pPr marL="4572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b="1"/>
              <a:t>Demo#1</a:t>
            </a:r>
            <a:endParaRPr lang="en-US" sz="3200" b="1" dirty="0"/>
          </a:p>
        </p:txBody>
      </p:sp>
    </p:spTree>
    <p:extLst>
      <p:ext uri="{BB962C8B-B14F-4D97-AF65-F5344CB8AC3E}">
        <p14:creationId xmlns:p14="http://schemas.microsoft.com/office/powerpoint/2010/main" val="136914001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Best practices – Cluster Security</a:t>
            </a:r>
          </a:p>
        </p:txBody>
      </p:sp>
      <p:sp>
        <p:nvSpPr>
          <p:cNvPr id="3" name="Content Placeholder 2"/>
          <p:cNvSpPr>
            <a:spLocks noGrp="1"/>
          </p:cNvSpPr>
          <p:nvPr>
            <p:ph idx="1"/>
          </p:nvPr>
        </p:nvSpPr>
        <p:spPr>
          <a:xfrm>
            <a:off x="739192" y="1601915"/>
            <a:ext cx="11010217" cy="4949054"/>
          </a:xfrm>
        </p:spPr>
        <p:txBody>
          <a:bodyPr>
            <a:normAutofit/>
          </a:bodyPr>
          <a:lstStyle/>
          <a:p>
            <a:pPr fontAlgn="ctr"/>
            <a:r>
              <a:rPr lang="en-US" dirty="0"/>
              <a:t>Always use a secure cluster to deploy anything you care about</a:t>
            </a:r>
          </a:p>
          <a:p>
            <a:pPr fontAlgn="ctr"/>
            <a:r>
              <a:rPr lang="en-US" dirty="0"/>
              <a:t>Additionally consider the following</a:t>
            </a:r>
          </a:p>
          <a:p>
            <a:pPr lvl="1" fontAlgn="ctr"/>
            <a:r>
              <a:rPr lang="en-US" dirty="0"/>
              <a:t>Create DMZs using NSGs</a:t>
            </a:r>
          </a:p>
          <a:p>
            <a:pPr lvl="1" fontAlgn="ctr"/>
            <a:r>
              <a:rPr lang="en-US" dirty="0"/>
              <a:t>Use Jump boxes to manage your cluster</a:t>
            </a:r>
          </a:p>
          <a:p>
            <a:pPr marL="0" indent="0" fontAlgn="ctr">
              <a:buNone/>
            </a:pPr>
            <a:endParaRPr lang="en-US" dirty="0"/>
          </a:p>
          <a:p>
            <a:pPr fontAlgn="ctr"/>
            <a:endParaRPr lang="en-US" dirty="0"/>
          </a:p>
        </p:txBody>
      </p:sp>
      <p:pic>
        <p:nvPicPr>
          <p:cNvPr id="4" name="Picture 3"/>
          <p:cNvPicPr>
            <a:picLocks noChangeAspect="1"/>
          </p:cNvPicPr>
          <p:nvPr/>
        </p:nvPicPr>
        <p:blipFill>
          <a:blip r:embed="rId3"/>
          <a:stretch>
            <a:fillRect/>
          </a:stretch>
        </p:blipFill>
        <p:spPr>
          <a:xfrm>
            <a:off x="8428037" y="1486960"/>
            <a:ext cx="3048000" cy="3048000"/>
          </a:xfrm>
          <a:prstGeom prst="rect">
            <a:avLst/>
          </a:prstGeom>
        </p:spPr>
      </p:pic>
    </p:spTree>
    <p:extLst>
      <p:ext uri="{BB962C8B-B14F-4D97-AF65-F5344CB8AC3E}">
        <p14:creationId xmlns:p14="http://schemas.microsoft.com/office/powerpoint/2010/main" val="246468163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Best practices – Cluster Security</a:t>
            </a:r>
          </a:p>
        </p:txBody>
      </p:sp>
      <p:grpSp>
        <p:nvGrpSpPr>
          <p:cNvPr id="11" name="Group 10"/>
          <p:cNvGrpSpPr/>
          <p:nvPr/>
        </p:nvGrpSpPr>
        <p:grpSpPr>
          <a:xfrm>
            <a:off x="1036637" y="1287462"/>
            <a:ext cx="7543800" cy="5313892"/>
            <a:chOff x="1036637" y="1287462"/>
            <a:chExt cx="9677400" cy="4490258"/>
          </a:xfrm>
          <a:solidFill>
            <a:schemeClr val="accent5">
              <a:lumMod val="20000"/>
              <a:lumOff val="80000"/>
            </a:schemeClr>
          </a:solidFill>
        </p:grpSpPr>
        <p:sp>
          <p:nvSpPr>
            <p:cNvPr id="12" name="Rectangle 11"/>
            <p:cNvSpPr/>
            <p:nvPr/>
          </p:nvSpPr>
          <p:spPr bwMode="auto">
            <a:xfrm>
              <a:off x="1036637" y="1287462"/>
              <a:ext cx="9677400" cy="4490258"/>
            </a:xfrm>
            <a:prstGeom prst="rect">
              <a:avLst/>
            </a:prstGeom>
            <a:grpFill/>
            <a:ln w="34925" cap="rnd">
              <a:solidFill>
                <a:schemeClr val="accent1"/>
              </a:solidFill>
              <a:prstDash val="sysDash"/>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t" anchorCtr="1" forceAA="0" compatLnSpc="1">
              <a:prstTxWarp prst="textNoShape">
                <a:avLst/>
              </a:prstTxWarp>
              <a:noAutofit/>
            </a:bodyPr>
            <a:lstStyle/>
            <a:p>
              <a:pPr algn="ctr" defTabSz="932472" fontAlgn="base">
                <a:lnSpc>
                  <a:spcPct val="90000"/>
                </a:lnSpc>
                <a:spcBef>
                  <a:spcPct val="0"/>
                </a:spcBef>
                <a:spcAft>
                  <a:spcPct val="0"/>
                </a:spcAft>
              </a:pPr>
              <a:r>
                <a:rPr lang="en-US" sz="24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Service Fabric Cluster</a:t>
              </a:r>
            </a:p>
          </p:txBody>
        </p:sp>
        <p:cxnSp>
          <p:nvCxnSpPr>
            <p:cNvPr id="13" name="Straight Connector 12"/>
            <p:cNvCxnSpPr/>
            <p:nvPr/>
          </p:nvCxnSpPr>
          <p:spPr>
            <a:xfrm>
              <a:off x="1036637" y="1838710"/>
              <a:ext cx="9677400" cy="0"/>
            </a:xfrm>
            <a:prstGeom prst="line">
              <a:avLst/>
            </a:prstGeom>
            <a:grpFill/>
            <a:ln w="34925" cap="rnd">
              <a:solidFill>
                <a:schemeClr val="accent1"/>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205" name="Group 204"/>
          <p:cNvGrpSpPr/>
          <p:nvPr/>
        </p:nvGrpSpPr>
        <p:grpSpPr>
          <a:xfrm>
            <a:off x="10028237" y="1504697"/>
            <a:ext cx="1700334" cy="1793249"/>
            <a:chOff x="10028237" y="1504697"/>
            <a:chExt cx="1700334" cy="1793249"/>
          </a:xfrm>
        </p:grpSpPr>
        <p:sp>
          <p:nvSpPr>
            <p:cNvPr id="58" name="Rectangle 57"/>
            <p:cNvSpPr/>
            <p:nvPr/>
          </p:nvSpPr>
          <p:spPr bwMode="auto">
            <a:xfrm>
              <a:off x="10028237" y="2003698"/>
              <a:ext cx="1681284" cy="588340"/>
            </a:xfrm>
            <a:prstGeom prst="rect">
              <a:avLst/>
            </a:prstGeom>
            <a:ln w="34925" cap="rnd">
              <a:solidFill>
                <a:schemeClr val="accent5"/>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Key Vault</a:t>
              </a:r>
            </a:p>
          </p:txBody>
        </p:sp>
        <p:sp>
          <p:nvSpPr>
            <p:cNvPr id="59" name="Rectangle 58"/>
            <p:cNvSpPr/>
            <p:nvPr/>
          </p:nvSpPr>
          <p:spPr bwMode="auto">
            <a:xfrm>
              <a:off x="10028237" y="2709606"/>
              <a:ext cx="1700334" cy="588340"/>
            </a:xfrm>
            <a:prstGeom prst="rect">
              <a:avLst/>
            </a:prstGeom>
            <a:ln w="34925" cap="rnd">
              <a:solidFill>
                <a:schemeClr val="accent5"/>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AAD</a:t>
              </a:r>
            </a:p>
          </p:txBody>
        </p:sp>
        <p:sp>
          <p:nvSpPr>
            <p:cNvPr id="64" name="TextBox 63"/>
            <p:cNvSpPr txBox="1"/>
            <p:nvPr/>
          </p:nvSpPr>
          <p:spPr>
            <a:xfrm>
              <a:off x="10256837" y="1504697"/>
              <a:ext cx="1245469" cy="544765"/>
            </a:xfrm>
            <a:prstGeom prst="rect">
              <a:avLst/>
            </a:prstGeom>
            <a:noFill/>
          </p:spPr>
          <p:txBody>
            <a:bodyPr wrap="none" lIns="182880" tIns="146304" rIns="182880" bIns="146304" rtlCol="0">
              <a:spAutoFit/>
            </a:bodyPr>
            <a:lstStyle/>
            <a:p>
              <a:pPr>
                <a:lnSpc>
                  <a:spcPct val="90000"/>
                </a:lnSpc>
                <a:spcAft>
                  <a:spcPts val="600"/>
                </a:spcAft>
              </a:pPr>
              <a:r>
                <a:rPr lang="en-US" b="1" dirty="0">
                  <a:solidFill>
                    <a:schemeClr val="accent4"/>
                  </a:solidFill>
                </a:rPr>
                <a:t>Security</a:t>
              </a:r>
            </a:p>
          </p:txBody>
        </p:sp>
      </p:grpSp>
      <p:grpSp>
        <p:nvGrpSpPr>
          <p:cNvPr id="94" name="Group 93"/>
          <p:cNvGrpSpPr/>
          <p:nvPr/>
        </p:nvGrpSpPr>
        <p:grpSpPr>
          <a:xfrm>
            <a:off x="6117652" y="2628783"/>
            <a:ext cx="2345188" cy="3657600"/>
            <a:chOff x="4133468" y="2005163"/>
            <a:chExt cx="9677399" cy="4490258"/>
          </a:xfrm>
          <a:solidFill>
            <a:schemeClr val="accent3">
              <a:alpha val="68000"/>
            </a:schemeClr>
          </a:solidFill>
        </p:grpSpPr>
        <p:sp>
          <p:nvSpPr>
            <p:cNvPr id="95" name="Rectangle 94"/>
            <p:cNvSpPr/>
            <p:nvPr/>
          </p:nvSpPr>
          <p:spPr bwMode="auto">
            <a:xfrm>
              <a:off x="4133468" y="2005163"/>
              <a:ext cx="9677399" cy="4490258"/>
            </a:xfrm>
            <a:prstGeom prst="rect">
              <a:avLst/>
            </a:prstGeom>
            <a:grpFill/>
            <a:ln w="34925" cap="rnd">
              <a:solidFill>
                <a:schemeClr val="accent3">
                  <a:lumMod val="50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20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LB#3</a:t>
              </a:r>
            </a:p>
          </p:txBody>
        </p:sp>
        <p:cxnSp>
          <p:nvCxnSpPr>
            <p:cNvPr id="96" name="Straight Connector 95"/>
            <p:cNvCxnSpPr/>
            <p:nvPr/>
          </p:nvCxnSpPr>
          <p:spPr>
            <a:xfrm>
              <a:off x="4133468" y="5877764"/>
              <a:ext cx="9677399" cy="0"/>
            </a:xfrm>
            <a:prstGeom prst="line">
              <a:avLst/>
            </a:prstGeom>
            <a:grpFill/>
            <a:ln w="34925" cap="rnd">
              <a:solidFill>
                <a:schemeClr val="accent3">
                  <a:lumMod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97" name="Group 96"/>
          <p:cNvGrpSpPr/>
          <p:nvPr/>
        </p:nvGrpSpPr>
        <p:grpSpPr>
          <a:xfrm>
            <a:off x="3627437" y="2659062"/>
            <a:ext cx="2345188" cy="3657600"/>
            <a:chOff x="4133468" y="2005163"/>
            <a:chExt cx="9677399" cy="4490258"/>
          </a:xfrm>
          <a:solidFill>
            <a:schemeClr val="accent3">
              <a:alpha val="68000"/>
            </a:schemeClr>
          </a:solidFill>
        </p:grpSpPr>
        <p:sp>
          <p:nvSpPr>
            <p:cNvPr id="98" name="Rectangle 97"/>
            <p:cNvSpPr/>
            <p:nvPr/>
          </p:nvSpPr>
          <p:spPr bwMode="auto">
            <a:xfrm>
              <a:off x="4133468" y="2005163"/>
              <a:ext cx="9677399" cy="4490258"/>
            </a:xfrm>
            <a:prstGeom prst="rect">
              <a:avLst/>
            </a:prstGeom>
            <a:grpFill/>
            <a:ln w="34925" cap="rnd">
              <a:solidFill>
                <a:schemeClr val="accent3">
                  <a:lumMod val="50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20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LB#2</a:t>
              </a:r>
            </a:p>
          </p:txBody>
        </p:sp>
        <p:cxnSp>
          <p:nvCxnSpPr>
            <p:cNvPr id="99" name="Straight Connector 98"/>
            <p:cNvCxnSpPr/>
            <p:nvPr/>
          </p:nvCxnSpPr>
          <p:spPr>
            <a:xfrm>
              <a:off x="4133468" y="5877764"/>
              <a:ext cx="9677399" cy="0"/>
            </a:xfrm>
            <a:prstGeom prst="line">
              <a:avLst/>
            </a:prstGeom>
            <a:grpFill/>
            <a:ln w="34925" cap="rnd">
              <a:solidFill>
                <a:schemeClr val="accent3">
                  <a:lumMod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100" name="Group 99"/>
          <p:cNvGrpSpPr/>
          <p:nvPr/>
        </p:nvGrpSpPr>
        <p:grpSpPr>
          <a:xfrm>
            <a:off x="1189037" y="2659062"/>
            <a:ext cx="2345188" cy="3657600"/>
            <a:chOff x="4133468" y="2005163"/>
            <a:chExt cx="9677399" cy="4490258"/>
          </a:xfrm>
          <a:solidFill>
            <a:schemeClr val="accent3">
              <a:alpha val="68000"/>
            </a:schemeClr>
          </a:solidFill>
        </p:grpSpPr>
        <p:sp>
          <p:nvSpPr>
            <p:cNvPr id="101" name="Rectangle 100"/>
            <p:cNvSpPr/>
            <p:nvPr/>
          </p:nvSpPr>
          <p:spPr bwMode="auto">
            <a:xfrm>
              <a:off x="4133468" y="2005163"/>
              <a:ext cx="9677399" cy="4490258"/>
            </a:xfrm>
            <a:prstGeom prst="rect">
              <a:avLst/>
            </a:prstGeom>
            <a:grpFill/>
            <a:ln w="34925" cap="rnd">
              <a:solidFill>
                <a:schemeClr val="accent3">
                  <a:lumMod val="50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20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LB#1</a:t>
              </a:r>
            </a:p>
          </p:txBody>
        </p:sp>
        <p:cxnSp>
          <p:nvCxnSpPr>
            <p:cNvPr id="102" name="Straight Connector 101"/>
            <p:cNvCxnSpPr/>
            <p:nvPr/>
          </p:nvCxnSpPr>
          <p:spPr>
            <a:xfrm>
              <a:off x="4133468" y="5877764"/>
              <a:ext cx="9677399" cy="0"/>
            </a:xfrm>
            <a:prstGeom prst="line">
              <a:avLst/>
            </a:prstGeom>
            <a:grpFill/>
            <a:ln w="34925" cap="rnd">
              <a:solidFill>
                <a:schemeClr val="accent3">
                  <a:lumMod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103" name="Group 102"/>
          <p:cNvGrpSpPr/>
          <p:nvPr/>
        </p:nvGrpSpPr>
        <p:grpSpPr>
          <a:xfrm>
            <a:off x="1265237" y="2755370"/>
            <a:ext cx="2171700" cy="3027892"/>
            <a:chOff x="1036637" y="1287462"/>
            <a:chExt cx="9677400" cy="4490258"/>
          </a:xfrm>
          <a:solidFill>
            <a:schemeClr val="accent1">
              <a:lumMod val="20000"/>
              <a:lumOff val="80000"/>
            </a:schemeClr>
          </a:solidFill>
        </p:grpSpPr>
        <p:sp>
          <p:nvSpPr>
            <p:cNvPr id="104" name="Rectangle 103"/>
            <p:cNvSpPr/>
            <p:nvPr/>
          </p:nvSpPr>
          <p:spPr bwMode="auto">
            <a:xfrm>
              <a:off x="1036637" y="1287462"/>
              <a:ext cx="9677400" cy="4490258"/>
            </a:xfrm>
            <a:prstGeom prst="rect">
              <a:avLst/>
            </a:prstGeom>
            <a:grpFill/>
            <a:ln w="34925" cap="rnd">
              <a:solidFill>
                <a:schemeClr val="accent5"/>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t" anchorCtr="1" forceAA="0" compatLnSpc="1">
              <a:prstTxWarp prst="textNoShape">
                <a:avLst/>
              </a:prstTxWarp>
              <a:noAutofit/>
            </a:bodyPr>
            <a:lstStyle/>
            <a:p>
              <a:pPr algn="ctr" defTabSz="932472" fontAlgn="base">
                <a:lnSpc>
                  <a:spcPct val="90000"/>
                </a:lnSpc>
                <a:spcBef>
                  <a:spcPct val="0"/>
                </a:spcBef>
                <a:spcAft>
                  <a:spcPct val="0"/>
                </a:spcAft>
              </a:pPr>
              <a:r>
                <a:rPr lang="en-US" sz="20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NSG#1</a:t>
              </a:r>
            </a:p>
          </p:txBody>
        </p:sp>
        <p:cxnSp>
          <p:nvCxnSpPr>
            <p:cNvPr id="105" name="Straight Connector 104"/>
            <p:cNvCxnSpPr/>
            <p:nvPr/>
          </p:nvCxnSpPr>
          <p:spPr>
            <a:xfrm>
              <a:off x="1036637" y="1838710"/>
              <a:ext cx="9677400" cy="0"/>
            </a:xfrm>
            <a:prstGeom prst="line">
              <a:avLst/>
            </a:prstGeom>
            <a:grpFill/>
            <a:ln w="34925" cap="rnd">
              <a:solidFill>
                <a:schemeClr val="accent5"/>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106" name="Group 105"/>
          <p:cNvGrpSpPr/>
          <p:nvPr/>
        </p:nvGrpSpPr>
        <p:grpSpPr>
          <a:xfrm>
            <a:off x="3703637" y="2755370"/>
            <a:ext cx="2171700" cy="3027892"/>
            <a:chOff x="1036637" y="1287462"/>
            <a:chExt cx="9677400" cy="4490258"/>
          </a:xfrm>
          <a:solidFill>
            <a:schemeClr val="tx2">
              <a:lumMod val="20000"/>
              <a:lumOff val="80000"/>
            </a:schemeClr>
          </a:solidFill>
        </p:grpSpPr>
        <p:sp>
          <p:nvSpPr>
            <p:cNvPr id="107" name="Rectangle 106"/>
            <p:cNvSpPr/>
            <p:nvPr/>
          </p:nvSpPr>
          <p:spPr bwMode="auto">
            <a:xfrm>
              <a:off x="1036637" y="1287462"/>
              <a:ext cx="9677400" cy="4490258"/>
            </a:xfrm>
            <a:prstGeom prst="rect">
              <a:avLst/>
            </a:prstGeom>
            <a:grpFill/>
            <a:ln w="34925" cap="rnd">
              <a:solidFill>
                <a:schemeClr val="accent5"/>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t" anchorCtr="1" forceAA="0" compatLnSpc="1">
              <a:prstTxWarp prst="textNoShape">
                <a:avLst/>
              </a:prstTxWarp>
              <a:noAutofit/>
            </a:bodyPr>
            <a:lstStyle/>
            <a:p>
              <a:pPr algn="ctr" defTabSz="932472" fontAlgn="base">
                <a:lnSpc>
                  <a:spcPct val="90000"/>
                </a:lnSpc>
                <a:spcBef>
                  <a:spcPct val="0"/>
                </a:spcBef>
                <a:spcAft>
                  <a:spcPct val="0"/>
                </a:spcAft>
              </a:pPr>
              <a:r>
                <a:rPr lang="en-US" sz="20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NSG#2</a:t>
              </a:r>
            </a:p>
          </p:txBody>
        </p:sp>
        <p:cxnSp>
          <p:nvCxnSpPr>
            <p:cNvPr id="108" name="Straight Connector 107"/>
            <p:cNvCxnSpPr/>
            <p:nvPr/>
          </p:nvCxnSpPr>
          <p:spPr>
            <a:xfrm>
              <a:off x="1036637" y="1838710"/>
              <a:ext cx="9677400" cy="0"/>
            </a:xfrm>
            <a:prstGeom prst="line">
              <a:avLst/>
            </a:prstGeom>
            <a:grpFill/>
            <a:ln w="34925" cap="rnd">
              <a:solidFill>
                <a:schemeClr val="accent5"/>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109" name="Group 108"/>
          <p:cNvGrpSpPr/>
          <p:nvPr/>
        </p:nvGrpSpPr>
        <p:grpSpPr>
          <a:xfrm>
            <a:off x="6180137" y="2755370"/>
            <a:ext cx="2171700" cy="3027892"/>
            <a:chOff x="1036637" y="1287462"/>
            <a:chExt cx="9677400" cy="4490258"/>
          </a:xfrm>
          <a:solidFill>
            <a:schemeClr val="tx2">
              <a:lumMod val="20000"/>
              <a:lumOff val="80000"/>
            </a:schemeClr>
          </a:solidFill>
        </p:grpSpPr>
        <p:sp>
          <p:nvSpPr>
            <p:cNvPr id="110" name="Rectangle 109"/>
            <p:cNvSpPr/>
            <p:nvPr/>
          </p:nvSpPr>
          <p:spPr bwMode="auto">
            <a:xfrm>
              <a:off x="1036637" y="1287462"/>
              <a:ext cx="9677400" cy="4490258"/>
            </a:xfrm>
            <a:prstGeom prst="rect">
              <a:avLst/>
            </a:prstGeom>
            <a:grpFill/>
            <a:ln w="34925" cap="rnd">
              <a:solidFill>
                <a:schemeClr val="accent5"/>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t" anchorCtr="1" forceAA="0" compatLnSpc="1">
              <a:prstTxWarp prst="textNoShape">
                <a:avLst/>
              </a:prstTxWarp>
              <a:noAutofit/>
            </a:bodyPr>
            <a:lstStyle/>
            <a:p>
              <a:pPr algn="ctr" defTabSz="932472" fontAlgn="base">
                <a:lnSpc>
                  <a:spcPct val="90000"/>
                </a:lnSpc>
                <a:spcBef>
                  <a:spcPct val="0"/>
                </a:spcBef>
                <a:spcAft>
                  <a:spcPct val="0"/>
                </a:spcAft>
              </a:pPr>
              <a:r>
                <a:rPr lang="en-US" sz="20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NSG#2</a:t>
              </a:r>
              <a:endParaRPr lang="en-US" sz="24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endParaRPr>
            </a:p>
          </p:txBody>
        </p:sp>
        <p:cxnSp>
          <p:nvCxnSpPr>
            <p:cNvPr id="111" name="Straight Connector 110"/>
            <p:cNvCxnSpPr/>
            <p:nvPr/>
          </p:nvCxnSpPr>
          <p:spPr>
            <a:xfrm>
              <a:off x="1036637" y="1838710"/>
              <a:ext cx="9677400" cy="0"/>
            </a:xfrm>
            <a:prstGeom prst="line">
              <a:avLst/>
            </a:prstGeom>
            <a:grpFill/>
            <a:ln w="34925" cap="rnd">
              <a:solidFill>
                <a:schemeClr val="accent5"/>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112" name="Group 111"/>
          <p:cNvGrpSpPr/>
          <p:nvPr/>
        </p:nvGrpSpPr>
        <p:grpSpPr>
          <a:xfrm>
            <a:off x="1417637" y="3183588"/>
            <a:ext cx="1866900" cy="2467382"/>
            <a:chOff x="1417637" y="3079356"/>
            <a:chExt cx="1866900" cy="2409779"/>
          </a:xfrm>
        </p:grpSpPr>
        <p:grpSp>
          <p:nvGrpSpPr>
            <p:cNvPr id="113" name="Group 112"/>
            <p:cNvGrpSpPr/>
            <p:nvPr/>
          </p:nvGrpSpPr>
          <p:grpSpPr>
            <a:xfrm>
              <a:off x="1417637" y="3079356"/>
              <a:ext cx="1866900" cy="2409779"/>
              <a:chOff x="1036637" y="1287462"/>
              <a:chExt cx="9677400" cy="3788296"/>
            </a:xfrm>
          </p:grpSpPr>
          <p:sp>
            <p:nvSpPr>
              <p:cNvPr id="117" name="Rectangle 116"/>
              <p:cNvSpPr/>
              <p:nvPr/>
            </p:nvSpPr>
            <p:spPr bwMode="auto">
              <a:xfrm>
                <a:off x="1036637" y="1287462"/>
                <a:ext cx="9677400" cy="3788296"/>
              </a:xfrm>
              <a:prstGeom prst="rect">
                <a:avLst/>
              </a:prstGeom>
              <a:ln w="34925" cap="rnd">
                <a:solidFill>
                  <a:schemeClr val="accent6"/>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t" anchorCtr="1" forceAA="0" compatLnSpc="1">
                <a:prstTxWarp prst="textNoShape">
                  <a:avLst/>
                </a:prstTxWarp>
                <a:noAutofit/>
              </a:bodyPr>
              <a:lstStyle/>
              <a:p>
                <a:pPr algn="ctr" defTabSz="932472" fontAlgn="base">
                  <a:lnSpc>
                    <a:spcPct val="90000"/>
                  </a:lnSpc>
                  <a:spcBef>
                    <a:spcPct val="0"/>
                  </a:spcBef>
                  <a:spcAft>
                    <a:spcPct val="0"/>
                  </a:spcAft>
                </a:pPr>
                <a:r>
                  <a:rPr lang="en-US" sz="20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VMSS#1</a:t>
                </a:r>
              </a:p>
            </p:txBody>
          </p:sp>
          <p:cxnSp>
            <p:nvCxnSpPr>
              <p:cNvPr id="118" name="Straight Connector 117"/>
              <p:cNvCxnSpPr/>
              <p:nvPr/>
            </p:nvCxnSpPr>
            <p:spPr>
              <a:xfrm>
                <a:off x="1036637" y="2064222"/>
                <a:ext cx="9677400" cy="0"/>
              </a:xfrm>
              <a:prstGeom prst="line">
                <a:avLst/>
              </a:prstGeom>
              <a:ln w="34925" cap="rnd">
                <a:solidFill>
                  <a:schemeClr val="accent6"/>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14" name="Rectangle 113"/>
            <p:cNvSpPr/>
            <p:nvPr/>
          </p:nvSpPr>
          <p:spPr bwMode="auto">
            <a:xfrm>
              <a:off x="1570037" y="3704877"/>
              <a:ext cx="685800" cy="1327841"/>
            </a:xfrm>
            <a:prstGeom prst="rect">
              <a:avLst/>
            </a:prstGeom>
            <a:ln w="34925" cap="rnd">
              <a:solidFill>
                <a:schemeClr val="bg2">
                  <a:lumMod val="2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VM</a:t>
              </a:r>
            </a:p>
          </p:txBody>
        </p:sp>
        <p:sp>
          <p:nvSpPr>
            <p:cNvPr id="115" name="Rectangle 114"/>
            <p:cNvSpPr/>
            <p:nvPr/>
          </p:nvSpPr>
          <p:spPr bwMode="auto">
            <a:xfrm>
              <a:off x="1912937" y="3871324"/>
              <a:ext cx="685800" cy="1327841"/>
            </a:xfrm>
            <a:prstGeom prst="rect">
              <a:avLst/>
            </a:prstGeom>
            <a:ln w="34925" cap="rnd">
              <a:solidFill>
                <a:schemeClr val="bg2">
                  <a:lumMod val="2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VM</a:t>
              </a:r>
            </a:p>
          </p:txBody>
        </p:sp>
        <p:sp>
          <p:nvSpPr>
            <p:cNvPr id="116" name="Rectangle 115"/>
            <p:cNvSpPr/>
            <p:nvPr/>
          </p:nvSpPr>
          <p:spPr bwMode="auto">
            <a:xfrm>
              <a:off x="2255837" y="4057496"/>
              <a:ext cx="685800" cy="1327841"/>
            </a:xfrm>
            <a:prstGeom prst="rect">
              <a:avLst/>
            </a:prstGeom>
            <a:ln w="34925" cap="rnd">
              <a:solidFill>
                <a:schemeClr val="bg2">
                  <a:lumMod val="2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VM</a:t>
              </a:r>
            </a:p>
          </p:txBody>
        </p:sp>
      </p:grpSp>
      <p:grpSp>
        <p:nvGrpSpPr>
          <p:cNvPr id="119" name="Group 118"/>
          <p:cNvGrpSpPr/>
          <p:nvPr/>
        </p:nvGrpSpPr>
        <p:grpSpPr>
          <a:xfrm>
            <a:off x="3817937" y="3266899"/>
            <a:ext cx="1866900" cy="2384071"/>
            <a:chOff x="1417637" y="3079356"/>
            <a:chExt cx="1866900" cy="2856305"/>
          </a:xfrm>
        </p:grpSpPr>
        <p:grpSp>
          <p:nvGrpSpPr>
            <p:cNvPr id="120" name="Group 119"/>
            <p:cNvGrpSpPr/>
            <p:nvPr/>
          </p:nvGrpSpPr>
          <p:grpSpPr>
            <a:xfrm>
              <a:off x="1417637" y="3079356"/>
              <a:ext cx="1866900" cy="2856305"/>
              <a:chOff x="1036637" y="1287462"/>
              <a:chExt cx="9677400" cy="4490258"/>
            </a:xfrm>
          </p:grpSpPr>
          <p:sp>
            <p:nvSpPr>
              <p:cNvPr id="124" name="Rectangle 123"/>
              <p:cNvSpPr/>
              <p:nvPr/>
            </p:nvSpPr>
            <p:spPr bwMode="auto">
              <a:xfrm>
                <a:off x="1036637" y="1287462"/>
                <a:ext cx="9677400" cy="4490258"/>
              </a:xfrm>
              <a:prstGeom prst="rect">
                <a:avLst/>
              </a:prstGeom>
              <a:ln w="34925" cap="rnd">
                <a:solidFill>
                  <a:schemeClr val="accent6"/>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t" anchorCtr="1" forceAA="0" compatLnSpc="1">
                <a:prstTxWarp prst="textNoShape">
                  <a:avLst/>
                </a:prstTxWarp>
                <a:noAutofit/>
              </a:bodyPr>
              <a:lstStyle/>
              <a:p>
                <a:pPr algn="ctr" defTabSz="932472" fontAlgn="base">
                  <a:lnSpc>
                    <a:spcPct val="90000"/>
                  </a:lnSpc>
                  <a:spcBef>
                    <a:spcPct val="0"/>
                  </a:spcBef>
                  <a:spcAft>
                    <a:spcPct val="0"/>
                  </a:spcAft>
                </a:pPr>
                <a:r>
                  <a:rPr lang="en-US" sz="20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VMSS#1</a:t>
                </a:r>
              </a:p>
            </p:txBody>
          </p:sp>
          <p:cxnSp>
            <p:nvCxnSpPr>
              <p:cNvPr id="125" name="Straight Connector 124"/>
              <p:cNvCxnSpPr/>
              <p:nvPr/>
            </p:nvCxnSpPr>
            <p:spPr>
              <a:xfrm>
                <a:off x="1036637" y="2064222"/>
                <a:ext cx="9677400" cy="0"/>
              </a:xfrm>
              <a:prstGeom prst="line">
                <a:avLst/>
              </a:prstGeom>
              <a:ln w="34925" cap="rnd">
                <a:solidFill>
                  <a:schemeClr val="accent6"/>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21" name="Rectangle 120"/>
            <p:cNvSpPr/>
            <p:nvPr/>
          </p:nvSpPr>
          <p:spPr bwMode="auto">
            <a:xfrm>
              <a:off x="1570037" y="3704877"/>
              <a:ext cx="685800" cy="1327841"/>
            </a:xfrm>
            <a:prstGeom prst="rect">
              <a:avLst/>
            </a:prstGeom>
            <a:ln w="34925" cap="rnd">
              <a:solidFill>
                <a:schemeClr val="bg2">
                  <a:lumMod val="2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VM</a:t>
              </a:r>
            </a:p>
          </p:txBody>
        </p:sp>
        <p:sp>
          <p:nvSpPr>
            <p:cNvPr id="122" name="Rectangle 121"/>
            <p:cNvSpPr/>
            <p:nvPr/>
          </p:nvSpPr>
          <p:spPr bwMode="auto">
            <a:xfrm>
              <a:off x="1912937" y="3871324"/>
              <a:ext cx="685800" cy="1327841"/>
            </a:xfrm>
            <a:prstGeom prst="rect">
              <a:avLst/>
            </a:prstGeom>
            <a:ln w="34925" cap="rnd">
              <a:solidFill>
                <a:schemeClr val="bg2">
                  <a:lumMod val="2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VM</a:t>
              </a:r>
            </a:p>
          </p:txBody>
        </p:sp>
        <p:sp>
          <p:nvSpPr>
            <p:cNvPr id="123" name="Rectangle 122"/>
            <p:cNvSpPr/>
            <p:nvPr/>
          </p:nvSpPr>
          <p:spPr bwMode="auto">
            <a:xfrm>
              <a:off x="2255837" y="4057496"/>
              <a:ext cx="685800" cy="1327841"/>
            </a:xfrm>
            <a:prstGeom prst="rect">
              <a:avLst/>
            </a:prstGeom>
            <a:ln w="34925" cap="rnd">
              <a:solidFill>
                <a:schemeClr val="bg2">
                  <a:lumMod val="2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VM</a:t>
              </a:r>
            </a:p>
          </p:txBody>
        </p:sp>
      </p:grpSp>
      <p:grpSp>
        <p:nvGrpSpPr>
          <p:cNvPr id="126" name="Group 125"/>
          <p:cNvGrpSpPr/>
          <p:nvPr/>
        </p:nvGrpSpPr>
        <p:grpSpPr>
          <a:xfrm>
            <a:off x="6332537" y="3276071"/>
            <a:ext cx="1866900" cy="2374900"/>
            <a:chOff x="1417637" y="3079356"/>
            <a:chExt cx="1866900" cy="2856305"/>
          </a:xfrm>
        </p:grpSpPr>
        <p:grpSp>
          <p:nvGrpSpPr>
            <p:cNvPr id="127" name="Group 126"/>
            <p:cNvGrpSpPr/>
            <p:nvPr/>
          </p:nvGrpSpPr>
          <p:grpSpPr>
            <a:xfrm>
              <a:off x="1417637" y="3079356"/>
              <a:ext cx="1866900" cy="2856305"/>
              <a:chOff x="1036637" y="1287462"/>
              <a:chExt cx="9677400" cy="4490258"/>
            </a:xfrm>
          </p:grpSpPr>
          <p:sp>
            <p:nvSpPr>
              <p:cNvPr id="131" name="Rectangle 130"/>
              <p:cNvSpPr/>
              <p:nvPr/>
            </p:nvSpPr>
            <p:spPr bwMode="auto">
              <a:xfrm>
                <a:off x="1036637" y="1287462"/>
                <a:ext cx="9677400" cy="4490258"/>
              </a:xfrm>
              <a:prstGeom prst="rect">
                <a:avLst/>
              </a:prstGeom>
              <a:ln w="34925" cap="rnd">
                <a:solidFill>
                  <a:schemeClr val="accent6"/>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t" anchorCtr="1" forceAA="0" compatLnSpc="1">
                <a:prstTxWarp prst="textNoShape">
                  <a:avLst/>
                </a:prstTxWarp>
                <a:noAutofit/>
              </a:bodyPr>
              <a:lstStyle/>
              <a:p>
                <a:pPr algn="ctr" defTabSz="932472" fontAlgn="base">
                  <a:lnSpc>
                    <a:spcPct val="90000"/>
                  </a:lnSpc>
                  <a:spcBef>
                    <a:spcPct val="0"/>
                  </a:spcBef>
                  <a:spcAft>
                    <a:spcPct val="0"/>
                  </a:spcAft>
                </a:pPr>
                <a:r>
                  <a:rPr lang="en-US" sz="20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VMSS#1</a:t>
                </a:r>
              </a:p>
            </p:txBody>
          </p:sp>
          <p:cxnSp>
            <p:nvCxnSpPr>
              <p:cNvPr id="132" name="Straight Connector 131"/>
              <p:cNvCxnSpPr/>
              <p:nvPr/>
            </p:nvCxnSpPr>
            <p:spPr>
              <a:xfrm>
                <a:off x="1036637" y="2064222"/>
                <a:ext cx="9677400" cy="0"/>
              </a:xfrm>
              <a:prstGeom prst="line">
                <a:avLst/>
              </a:prstGeom>
              <a:ln w="34925" cap="rnd">
                <a:solidFill>
                  <a:schemeClr val="accent6"/>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28" name="Rectangle 127"/>
            <p:cNvSpPr/>
            <p:nvPr/>
          </p:nvSpPr>
          <p:spPr bwMode="auto">
            <a:xfrm>
              <a:off x="1570037" y="3704877"/>
              <a:ext cx="685800" cy="1327841"/>
            </a:xfrm>
            <a:prstGeom prst="rect">
              <a:avLst/>
            </a:prstGeom>
            <a:ln w="34925" cap="rnd">
              <a:solidFill>
                <a:schemeClr val="bg2">
                  <a:lumMod val="2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VM</a:t>
              </a:r>
            </a:p>
          </p:txBody>
        </p:sp>
        <p:sp>
          <p:nvSpPr>
            <p:cNvPr id="129" name="Rectangle 128"/>
            <p:cNvSpPr/>
            <p:nvPr/>
          </p:nvSpPr>
          <p:spPr bwMode="auto">
            <a:xfrm>
              <a:off x="1912937" y="3871324"/>
              <a:ext cx="685800" cy="1327841"/>
            </a:xfrm>
            <a:prstGeom prst="rect">
              <a:avLst/>
            </a:prstGeom>
            <a:ln w="34925" cap="rnd">
              <a:solidFill>
                <a:schemeClr val="bg2">
                  <a:lumMod val="2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VM</a:t>
              </a:r>
            </a:p>
          </p:txBody>
        </p:sp>
        <p:sp>
          <p:nvSpPr>
            <p:cNvPr id="130" name="Rectangle 129"/>
            <p:cNvSpPr/>
            <p:nvPr/>
          </p:nvSpPr>
          <p:spPr bwMode="auto">
            <a:xfrm>
              <a:off x="2255837" y="4057496"/>
              <a:ext cx="685800" cy="1327841"/>
            </a:xfrm>
            <a:prstGeom prst="rect">
              <a:avLst/>
            </a:prstGeom>
            <a:ln w="34925" cap="rnd">
              <a:solidFill>
                <a:schemeClr val="bg2">
                  <a:lumMod val="2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VM</a:t>
              </a:r>
            </a:p>
          </p:txBody>
        </p:sp>
      </p:grpSp>
      <p:grpSp>
        <p:nvGrpSpPr>
          <p:cNvPr id="204" name="Group 203"/>
          <p:cNvGrpSpPr/>
          <p:nvPr/>
        </p:nvGrpSpPr>
        <p:grpSpPr>
          <a:xfrm>
            <a:off x="1057274" y="1287462"/>
            <a:ext cx="10976097" cy="5466292"/>
            <a:chOff x="1057274" y="1287462"/>
            <a:chExt cx="10976097" cy="5466292"/>
          </a:xfrm>
        </p:grpSpPr>
        <p:sp>
          <p:nvSpPr>
            <p:cNvPr id="60" name="Rectangle 59"/>
            <p:cNvSpPr/>
            <p:nvPr/>
          </p:nvSpPr>
          <p:spPr bwMode="auto">
            <a:xfrm>
              <a:off x="10028237" y="4124737"/>
              <a:ext cx="1700334" cy="665692"/>
            </a:xfrm>
            <a:prstGeom prst="rect">
              <a:avLst/>
            </a:prstGeom>
            <a:ln w="34925" cap="rnd">
              <a:solidFill>
                <a:schemeClr val="bg2">
                  <a:lumMod val="2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For Diagnostics</a:t>
              </a:r>
            </a:p>
          </p:txBody>
        </p:sp>
        <p:sp>
          <p:nvSpPr>
            <p:cNvPr id="62" name="TextBox 61"/>
            <p:cNvSpPr txBox="1"/>
            <p:nvPr/>
          </p:nvSpPr>
          <p:spPr>
            <a:xfrm>
              <a:off x="9972191" y="3623147"/>
              <a:ext cx="1897443" cy="544765"/>
            </a:xfrm>
            <a:prstGeom prst="rect">
              <a:avLst/>
            </a:prstGeom>
            <a:noFill/>
          </p:spPr>
          <p:txBody>
            <a:bodyPr wrap="none" lIns="182880" tIns="146304" rIns="182880" bIns="146304" rtlCol="0">
              <a:spAutoFit/>
            </a:bodyPr>
            <a:lstStyle/>
            <a:p>
              <a:pPr>
                <a:lnSpc>
                  <a:spcPct val="90000"/>
                </a:lnSpc>
                <a:spcAft>
                  <a:spcPts val="600"/>
                </a:spcAft>
              </a:pPr>
              <a:r>
                <a:rPr lang="en-US" b="1" dirty="0">
                  <a:solidFill>
                    <a:schemeClr val="accent1"/>
                  </a:solidFill>
                </a:rPr>
                <a:t>Azure Storage</a:t>
              </a:r>
            </a:p>
          </p:txBody>
        </p:sp>
        <p:sp>
          <p:nvSpPr>
            <p:cNvPr id="63" name="Rectangle 62"/>
            <p:cNvSpPr/>
            <p:nvPr/>
          </p:nvSpPr>
          <p:spPr bwMode="auto">
            <a:xfrm>
              <a:off x="10028237" y="4945062"/>
              <a:ext cx="1700334" cy="665692"/>
            </a:xfrm>
            <a:prstGeom prst="rect">
              <a:avLst/>
            </a:prstGeom>
            <a:ln w="34925" cap="rnd">
              <a:solidFill>
                <a:schemeClr val="bg2">
                  <a:lumMod val="2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For SF logs</a:t>
              </a:r>
            </a:p>
          </p:txBody>
        </p:sp>
        <p:sp>
          <p:nvSpPr>
            <p:cNvPr id="65" name="Rectangle 64"/>
            <p:cNvSpPr/>
            <p:nvPr/>
          </p:nvSpPr>
          <p:spPr bwMode="auto">
            <a:xfrm>
              <a:off x="10028237" y="5783262"/>
              <a:ext cx="1700334" cy="665692"/>
            </a:xfrm>
            <a:prstGeom prst="rect">
              <a:avLst/>
            </a:prstGeom>
            <a:ln w="34925" cap="rnd">
              <a:solidFill>
                <a:schemeClr val="bg2">
                  <a:lumMod val="2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For VHDs</a:t>
              </a:r>
            </a:p>
          </p:txBody>
        </p:sp>
        <p:sp>
          <p:nvSpPr>
            <p:cNvPr id="66" name="Rectangle 65"/>
            <p:cNvSpPr/>
            <p:nvPr/>
          </p:nvSpPr>
          <p:spPr bwMode="auto">
            <a:xfrm>
              <a:off x="10180637" y="5935662"/>
              <a:ext cx="1700334" cy="665692"/>
            </a:xfrm>
            <a:prstGeom prst="rect">
              <a:avLst/>
            </a:prstGeom>
            <a:ln w="34925" cap="rnd">
              <a:solidFill>
                <a:schemeClr val="bg2">
                  <a:lumMod val="2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For VHDs</a:t>
              </a:r>
            </a:p>
          </p:txBody>
        </p:sp>
        <p:sp>
          <p:nvSpPr>
            <p:cNvPr id="67" name="Rectangle 66"/>
            <p:cNvSpPr/>
            <p:nvPr/>
          </p:nvSpPr>
          <p:spPr bwMode="auto">
            <a:xfrm>
              <a:off x="10333037" y="6088062"/>
              <a:ext cx="1700334" cy="665692"/>
            </a:xfrm>
            <a:prstGeom prst="rect">
              <a:avLst/>
            </a:prstGeom>
            <a:ln w="34925" cap="rnd">
              <a:solidFill>
                <a:schemeClr val="bg2">
                  <a:lumMod val="2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For VHDs</a:t>
              </a:r>
            </a:p>
          </p:txBody>
        </p:sp>
        <p:grpSp>
          <p:nvGrpSpPr>
            <p:cNvPr id="133" name="Group 132"/>
            <p:cNvGrpSpPr/>
            <p:nvPr/>
          </p:nvGrpSpPr>
          <p:grpSpPr>
            <a:xfrm>
              <a:off x="1057274" y="1287462"/>
              <a:ext cx="7543800" cy="5313892"/>
              <a:chOff x="1036637" y="1287462"/>
              <a:chExt cx="9677400" cy="4490258"/>
            </a:xfrm>
            <a:solidFill>
              <a:schemeClr val="accent5">
                <a:lumMod val="20000"/>
                <a:lumOff val="80000"/>
              </a:schemeClr>
            </a:solidFill>
          </p:grpSpPr>
          <p:sp>
            <p:nvSpPr>
              <p:cNvPr id="134" name="Rectangle 133"/>
              <p:cNvSpPr/>
              <p:nvPr/>
            </p:nvSpPr>
            <p:spPr bwMode="auto">
              <a:xfrm>
                <a:off x="1036637" y="1287462"/>
                <a:ext cx="9677400" cy="4490258"/>
              </a:xfrm>
              <a:prstGeom prst="rect">
                <a:avLst/>
              </a:prstGeom>
              <a:grpFill/>
              <a:ln w="34925" cap="rnd">
                <a:solidFill>
                  <a:schemeClr val="accent1"/>
                </a:solidFill>
                <a:prstDash val="sysDash"/>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t" anchorCtr="1" forceAA="0" compatLnSpc="1">
                <a:prstTxWarp prst="textNoShape">
                  <a:avLst/>
                </a:prstTxWarp>
                <a:noAutofit/>
              </a:bodyPr>
              <a:lstStyle/>
              <a:p>
                <a:pPr algn="ctr" defTabSz="932472" fontAlgn="base">
                  <a:lnSpc>
                    <a:spcPct val="90000"/>
                  </a:lnSpc>
                  <a:spcBef>
                    <a:spcPct val="0"/>
                  </a:spcBef>
                  <a:spcAft>
                    <a:spcPct val="0"/>
                  </a:spcAft>
                </a:pPr>
                <a:r>
                  <a:rPr lang="en-US" sz="24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Service Fabric Cluster</a:t>
                </a:r>
              </a:p>
            </p:txBody>
          </p:sp>
          <p:cxnSp>
            <p:nvCxnSpPr>
              <p:cNvPr id="135" name="Straight Connector 134"/>
              <p:cNvCxnSpPr/>
              <p:nvPr/>
            </p:nvCxnSpPr>
            <p:spPr>
              <a:xfrm>
                <a:off x="1036637" y="1838710"/>
                <a:ext cx="9677400" cy="0"/>
              </a:xfrm>
              <a:prstGeom prst="line">
                <a:avLst/>
              </a:prstGeom>
              <a:grpFill/>
              <a:ln w="34925" cap="rnd">
                <a:solidFill>
                  <a:schemeClr val="accent1"/>
                </a:solidFill>
                <a:prstDash val="sysDash"/>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1168277" y="2049462"/>
              <a:ext cx="8555160" cy="4477854"/>
              <a:chOff x="1036637" y="1287462"/>
              <a:chExt cx="9677400" cy="4490258"/>
            </a:xfrm>
            <a:solidFill>
              <a:schemeClr val="accent2">
                <a:lumMod val="20000"/>
                <a:lumOff val="80000"/>
                <a:alpha val="46000"/>
              </a:schemeClr>
            </a:solidFill>
          </p:grpSpPr>
          <p:sp>
            <p:nvSpPr>
              <p:cNvPr id="15" name="Rectangle 14"/>
              <p:cNvSpPr/>
              <p:nvPr/>
            </p:nvSpPr>
            <p:spPr bwMode="auto">
              <a:xfrm>
                <a:off x="1036637" y="1287462"/>
                <a:ext cx="9677400" cy="4490258"/>
              </a:xfrm>
              <a:prstGeom prst="rect">
                <a:avLst/>
              </a:prstGeom>
              <a:grpFill/>
              <a:ln w="34925" cap="rnd">
                <a:solidFill>
                  <a:schemeClr val="accent2"/>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t" anchorCtr="1" forceAA="0" compatLnSpc="1">
                <a:prstTxWarp prst="textNoShape">
                  <a:avLst/>
                </a:prstTxWarp>
                <a:noAutofit/>
              </a:bodyPr>
              <a:lstStyle/>
              <a:p>
                <a:pPr algn="ctr" defTabSz="932472" fontAlgn="base">
                  <a:lnSpc>
                    <a:spcPct val="90000"/>
                  </a:lnSpc>
                  <a:spcBef>
                    <a:spcPct val="0"/>
                  </a:spcBef>
                  <a:spcAft>
                    <a:spcPct val="0"/>
                  </a:spcAft>
                </a:pPr>
                <a:r>
                  <a:rPr lang="en-US" sz="24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VNET</a:t>
                </a:r>
              </a:p>
            </p:txBody>
          </p:sp>
          <p:cxnSp>
            <p:nvCxnSpPr>
              <p:cNvPr id="16" name="Straight Connector 15"/>
              <p:cNvCxnSpPr/>
              <p:nvPr/>
            </p:nvCxnSpPr>
            <p:spPr>
              <a:xfrm>
                <a:off x="1036637" y="1838710"/>
                <a:ext cx="9677400" cy="0"/>
              </a:xfrm>
              <a:prstGeom prst="line">
                <a:avLst/>
              </a:prstGeom>
              <a:grpFill/>
              <a:ln w="34925" cap="rnd">
                <a:solidFill>
                  <a:schemeClr val="accent2"/>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170" name="Group 169"/>
            <p:cNvGrpSpPr/>
            <p:nvPr/>
          </p:nvGrpSpPr>
          <p:grpSpPr>
            <a:xfrm>
              <a:off x="1209674" y="2641483"/>
              <a:ext cx="7273803" cy="3675179"/>
              <a:chOff x="1209674" y="2641483"/>
              <a:chExt cx="7273803" cy="3675179"/>
            </a:xfrm>
          </p:grpSpPr>
          <p:grpSp>
            <p:nvGrpSpPr>
              <p:cNvPr id="171" name="Group 170"/>
              <p:cNvGrpSpPr/>
              <p:nvPr/>
            </p:nvGrpSpPr>
            <p:grpSpPr>
              <a:xfrm>
                <a:off x="6138289" y="2641483"/>
                <a:ext cx="2345188" cy="3657600"/>
                <a:chOff x="4133468" y="2005163"/>
                <a:chExt cx="9677399" cy="4490258"/>
              </a:xfrm>
              <a:solidFill>
                <a:schemeClr val="accent3">
                  <a:alpha val="68000"/>
                </a:schemeClr>
              </a:solidFill>
            </p:grpSpPr>
            <p:sp>
              <p:nvSpPr>
                <p:cNvPr id="178" name="Rectangle 177"/>
                <p:cNvSpPr/>
                <p:nvPr/>
              </p:nvSpPr>
              <p:spPr bwMode="auto">
                <a:xfrm>
                  <a:off x="4133468" y="2005163"/>
                  <a:ext cx="9677399" cy="4490258"/>
                </a:xfrm>
                <a:prstGeom prst="rect">
                  <a:avLst/>
                </a:prstGeom>
                <a:grpFill/>
                <a:ln w="34925" cap="rnd">
                  <a:solidFill>
                    <a:schemeClr val="accent3">
                      <a:lumMod val="50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20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LB#3</a:t>
                  </a:r>
                </a:p>
              </p:txBody>
            </p:sp>
            <p:cxnSp>
              <p:nvCxnSpPr>
                <p:cNvPr id="179" name="Straight Connector 178"/>
                <p:cNvCxnSpPr/>
                <p:nvPr/>
              </p:nvCxnSpPr>
              <p:spPr>
                <a:xfrm>
                  <a:off x="4133468" y="5877764"/>
                  <a:ext cx="9677399" cy="0"/>
                </a:xfrm>
                <a:prstGeom prst="line">
                  <a:avLst/>
                </a:prstGeom>
                <a:grpFill/>
                <a:ln w="34925" cap="rnd">
                  <a:solidFill>
                    <a:schemeClr val="accent3">
                      <a:lumMod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172" name="Group 171"/>
              <p:cNvGrpSpPr/>
              <p:nvPr/>
            </p:nvGrpSpPr>
            <p:grpSpPr>
              <a:xfrm>
                <a:off x="3648074" y="2659062"/>
                <a:ext cx="2345188" cy="3657600"/>
                <a:chOff x="4133468" y="2005163"/>
                <a:chExt cx="9677399" cy="4490258"/>
              </a:xfrm>
              <a:solidFill>
                <a:schemeClr val="accent3">
                  <a:alpha val="68000"/>
                </a:schemeClr>
              </a:solidFill>
            </p:grpSpPr>
            <p:sp>
              <p:nvSpPr>
                <p:cNvPr id="176" name="Rectangle 175"/>
                <p:cNvSpPr/>
                <p:nvPr/>
              </p:nvSpPr>
              <p:spPr bwMode="auto">
                <a:xfrm>
                  <a:off x="4133468" y="2005163"/>
                  <a:ext cx="9677399" cy="4490258"/>
                </a:xfrm>
                <a:prstGeom prst="rect">
                  <a:avLst/>
                </a:prstGeom>
                <a:grpFill/>
                <a:ln w="34925" cap="rnd">
                  <a:solidFill>
                    <a:schemeClr val="accent3">
                      <a:lumMod val="50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20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LB#2</a:t>
                  </a:r>
                </a:p>
              </p:txBody>
            </p:sp>
            <p:cxnSp>
              <p:nvCxnSpPr>
                <p:cNvPr id="177" name="Straight Connector 176"/>
                <p:cNvCxnSpPr/>
                <p:nvPr/>
              </p:nvCxnSpPr>
              <p:spPr>
                <a:xfrm>
                  <a:off x="4133468" y="5877764"/>
                  <a:ext cx="9677399" cy="0"/>
                </a:xfrm>
                <a:prstGeom prst="line">
                  <a:avLst/>
                </a:prstGeom>
                <a:grpFill/>
                <a:ln w="34925" cap="rnd">
                  <a:solidFill>
                    <a:schemeClr val="accent3">
                      <a:lumMod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173" name="Group 172"/>
              <p:cNvGrpSpPr/>
              <p:nvPr/>
            </p:nvGrpSpPr>
            <p:grpSpPr>
              <a:xfrm>
                <a:off x="1209674" y="2659062"/>
                <a:ext cx="2345188" cy="3657600"/>
                <a:chOff x="4133468" y="2005163"/>
                <a:chExt cx="9677399" cy="4490258"/>
              </a:xfrm>
              <a:solidFill>
                <a:schemeClr val="accent3">
                  <a:alpha val="68000"/>
                </a:schemeClr>
              </a:solidFill>
            </p:grpSpPr>
            <p:sp>
              <p:nvSpPr>
                <p:cNvPr id="174" name="Rectangle 173"/>
                <p:cNvSpPr/>
                <p:nvPr/>
              </p:nvSpPr>
              <p:spPr bwMode="auto">
                <a:xfrm>
                  <a:off x="4133468" y="2005163"/>
                  <a:ext cx="9677399" cy="4490258"/>
                </a:xfrm>
                <a:prstGeom prst="rect">
                  <a:avLst/>
                </a:prstGeom>
                <a:grpFill/>
                <a:ln w="34925" cap="rnd">
                  <a:solidFill>
                    <a:schemeClr val="accent3">
                      <a:lumMod val="50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20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LB#1</a:t>
                  </a:r>
                </a:p>
              </p:txBody>
            </p:sp>
            <p:cxnSp>
              <p:nvCxnSpPr>
                <p:cNvPr id="175" name="Straight Connector 174"/>
                <p:cNvCxnSpPr/>
                <p:nvPr/>
              </p:nvCxnSpPr>
              <p:spPr>
                <a:xfrm>
                  <a:off x="4133468" y="5877764"/>
                  <a:ext cx="9677399" cy="0"/>
                </a:xfrm>
                <a:prstGeom prst="line">
                  <a:avLst/>
                </a:prstGeom>
                <a:grpFill/>
                <a:ln w="34925" cap="rnd">
                  <a:solidFill>
                    <a:schemeClr val="accent3">
                      <a:lumMod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grpSp>
        <p:grpSp>
          <p:nvGrpSpPr>
            <p:cNvPr id="180" name="Group 179"/>
            <p:cNvGrpSpPr/>
            <p:nvPr/>
          </p:nvGrpSpPr>
          <p:grpSpPr>
            <a:xfrm>
              <a:off x="1417637" y="3183588"/>
              <a:ext cx="6781800" cy="2467383"/>
              <a:chOff x="1417637" y="3183588"/>
              <a:chExt cx="6781800" cy="2467383"/>
            </a:xfrm>
          </p:grpSpPr>
          <p:grpSp>
            <p:nvGrpSpPr>
              <p:cNvPr id="181" name="Group 180"/>
              <p:cNvGrpSpPr/>
              <p:nvPr/>
            </p:nvGrpSpPr>
            <p:grpSpPr>
              <a:xfrm>
                <a:off x="1417637" y="3183588"/>
                <a:ext cx="1866900" cy="2467382"/>
                <a:chOff x="1417637" y="3079356"/>
                <a:chExt cx="1866900" cy="2409779"/>
              </a:xfrm>
            </p:grpSpPr>
            <p:grpSp>
              <p:nvGrpSpPr>
                <p:cNvPr id="196" name="Group 195"/>
                <p:cNvGrpSpPr/>
                <p:nvPr/>
              </p:nvGrpSpPr>
              <p:grpSpPr>
                <a:xfrm>
                  <a:off x="1417637" y="3079356"/>
                  <a:ext cx="1866900" cy="2409779"/>
                  <a:chOff x="1036637" y="1287462"/>
                  <a:chExt cx="9677400" cy="3788296"/>
                </a:xfrm>
              </p:grpSpPr>
              <p:sp>
                <p:nvSpPr>
                  <p:cNvPr id="200" name="Rectangle 199"/>
                  <p:cNvSpPr/>
                  <p:nvPr/>
                </p:nvSpPr>
                <p:spPr bwMode="auto">
                  <a:xfrm>
                    <a:off x="1036637" y="1287462"/>
                    <a:ext cx="9677400" cy="3788296"/>
                  </a:xfrm>
                  <a:prstGeom prst="rect">
                    <a:avLst/>
                  </a:prstGeom>
                  <a:ln w="34925" cap="rnd">
                    <a:solidFill>
                      <a:schemeClr val="accent6"/>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t" anchorCtr="1" forceAA="0" compatLnSpc="1">
                    <a:prstTxWarp prst="textNoShape">
                      <a:avLst/>
                    </a:prstTxWarp>
                    <a:noAutofit/>
                  </a:bodyPr>
                  <a:lstStyle/>
                  <a:p>
                    <a:pPr algn="ctr" defTabSz="932472" fontAlgn="base">
                      <a:lnSpc>
                        <a:spcPct val="90000"/>
                      </a:lnSpc>
                      <a:spcBef>
                        <a:spcPct val="0"/>
                      </a:spcBef>
                      <a:spcAft>
                        <a:spcPct val="0"/>
                      </a:spcAft>
                    </a:pPr>
                    <a:r>
                      <a:rPr lang="en-US" sz="20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VMSS#1</a:t>
                    </a:r>
                  </a:p>
                </p:txBody>
              </p:sp>
              <p:cxnSp>
                <p:nvCxnSpPr>
                  <p:cNvPr id="201" name="Straight Connector 200"/>
                  <p:cNvCxnSpPr/>
                  <p:nvPr/>
                </p:nvCxnSpPr>
                <p:spPr>
                  <a:xfrm>
                    <a:off x="1036637" y="2064222"/>
                    <a:ext cx="9677400" cy="0"/>
                  </a:xfrm>
                  <a:prstGeom prst="line">
                    <a:avLst/>
                  </a:prstGeom>
                  <a:ln w="34925" cap="rnd">
                    <a:solidFill>
                      <a:schemeClr val="accent6"/>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97" name="Rectangle 196"/>
                <p:cNvSpPr/>
                <p:nvPr/>
              </p:nvSpPr>
              <p:spPr bwMode="auto">
                <a:xfrm>
                  <a:off x="1570037" y="3704877"/>
                  <a:ext cx="685800" cy="1327841"/>
                </a:xfrm>
                <a:prstGeom prst="rect">
                  <a:avLst/>
                </a:prstGeom>
                <a:ln w="34925" cap="rnd">
                  <a:solidFill>
                    <a:schemeClr val="bg2">
                      <a:lumMod val="2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VM</a:t>
                  </a:r>
                </a:p>
              </p:txBody>
            </p:sp>
            <p:sp>
              <p:nvSpPr>
                <p:cNvPr id="198" name="Rectangle 197"/>
                <p:cNvSpPr/>
                <p:nvPr/>
              </p:nvSpPr>
              <p:spPr bwMode="auto">
                <a:xfrm>
                  <a:off x="1912937" y="3871324"/>
                  <a:ext cx="685800" cy="1327841"/>
                </a:xfrm>
                <a:prstGeom prst="rect">
                  <a:avLst/>
                </a:prstGeom>
                <a:ln w="34925" cap="rnd">
                  <a:solidFill>
                    <a:schemeClr val="bg2">
                      <a:lumMod val="2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VM</a:t>
                  </a:r>
                </a:p>
              </p:txBody>
            </p:sp>
            <p:sp>
              <p:nvSpPr>
                <p:cNvPr id="199" name="Rectangle 198"/>
                <p:cNvSpPr/>
                <p:nvPr/>
              </p:nvSpPr>
              <p:spPr bwMode="auto">
                <a:xfrm>
                  <a:off x="2255837" y="4057496"/>
                  <a:ext cx="685800" cy="1327841"/>
                </a:xfrm>
                <a:prstGeom prst="rect">
                  <a:avLst/>
                </a:prstGeom>
                <a:ln w="34925" cap="rnd">
                  <a:solidFill>
                    <a:schemeClr val="bg2">
                      <a:lumMod val="2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VM</a:t>
                  </a:r>
                </a:p>
              </p:txBody>
            </p:sp>
          </p:grpSp>
          <p:grpSp>
            <p:nvGrpSpPr>
              <p:cNvPr id="182" name="Group 181"/>
              <p:cNvGrpSpPr/>
              <p:nvPr/>
            </p:nvGrpSpPr>
            <p:grpSpPr>
              <a:xfrm>
                <a:off x="3817937" y="3266899"/>
                <a:ext cx="1866900" cy="2384071"/>
                <a:chOff x="1417637" y="3079356"/>
                <a:chExt cx="1866900" cy="2856305"/>
              </a:xfrm>
            </p:grpSpPr>
            <p:grpSp>
              <p:nvGrpSpPr>
                <p:cNvPr id="190" name="Group 189"/>
                <p:cNvGrpSpPr/>
                <p:nvPr/>
              </p:nvGrpSpPr>
              <p:grpSpPr>
                <a:xfrm>
                  <a:off x="1417637" y="3079356"/>
                  <a:ext cx="1866900" cy="2856305"/>
                  <a:chOff x="1036637" y="1287462"/>
                  <a:chExt cx="9677400" cy="4490258"/>
                </a:xfrm>
              </p:grpSpPr>
              <p:sp>
                <p:nvSpPr>
                  <p:cNvPr id="194" name="Rectangle 193"/>
                  <p:cNvSpPr/>
                  <p:nvPr/>
                </p:nvSpPr>
                <p:spPr bwMode="auto">
                  <a:xfrm>
                    <a:off x="1036637" y="1287462"/>
                    <a:ext cx="9677400" cy="4490258"/>
                  </a:xfrm>
                  <a:prstGeom prst="rect">
                    <a:avLst/>
                  </a:prstGeom>
                  <a:ln w="34925" cap="rnd">
                    <a:solidFill>
                      <a:schemeClr val="accent6"/>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t" anchorCtr="1" forceAA="0" compatLnSpc="1">
                    <a:prstTxWarp prst="textNoShape">
                      <a:avLst/>
                    </a:prstTxWarp>
                    <a:noAutofit/>
                  </a:bodyPr>
                  <a:lstStyle/>
                  <a:p>
                    <a:pPr algn="ctr" defTabSz="932472" fontAlgn="base">
                      <a:lnSpc>
                        <a:spcPct val="90000"/>
                      </a:lnSpc>
                      <a:spcBef>
                        <a:spcPct val="0"/>
                      </a:spcBef>
                      <a:spcAft>
                        <a:spcPct val="0"/>
                      </a:spcAft>
                    </a:pPr>
                    <a:r>
                      <a:rPr lang="en-US" sz="20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VMSS#1</a:t>
                    </a:r>
                  </a:p>
                </p:txBody>
              </p:sp>
              <p:cxnSp>
                <p:nvCxnSpPr>
                  <p:cNvPr id="195" name="Straight Connector 194"/>
                  <p:cNvCxnSpPr/>
                  <p:nvPr/>
                </p:nvCxnSpPr>
                <p:spPr>
                  <a:xfrm>
                    <a:off x="1036637" y="2064222"/>
                    <a:ext cx="9677400" cy="0"/>
                  </a:xfrm>
                  <a:prstGeom prst="line">
                    <a:avLst/>
                  </a:prstGeom>
                  <a:ln w="34925" cap="rnd">
                    <a:solidFill>
                      <a:schemeClr val="accent6"/>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91" name="Rectangle 190"/>
                <p:cNvSpPr/>
                <p:nvPr/>
              </p:nvSpPr>
              <p:spPr bwMode="auto">
                <a:xfrm>
                  <a:off x="1570037" y="3704877"/>
                  <a:ext cx="685800" cy="1327841"/>
                </a:xfrm>
                <a:prstGeom prst="rect">
                  <a:avLst/>
                </a:prstGeom>
                <a:ln w="34925" cap="rnd">
                  <a:solidFill>
                    <a:schemeClr val="bg2">
                      <a:lumMod val="2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VM</a:t>
                  </a:r>
                </a:p>
              </p:txBody>
            </p:sp>
            <p:sp>
              <p:nvSpPr>
                <p:cNvPr id="192" name="Rectangle 191"/>
                <p:cNvSpPr/>
                <p:nvPr/>
              </p:nvSpPr>
              <p:spPr bwMode="auto">
                <a:xfrm>
                  <a:off x="1912937" y="3871324"/>
                  <a:ext cx="685800" cy="1327841"/>
                </a:xfrm>
                <a:prstGeom prst="rect">
                  <a:avLst/>
                </a:prstGeom>
                <a:ln w="34925" cap="rnd">
                  <a:solidFill>
                    <a:schemeClr val="bg2">
                      <a:lumMod val="2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VM</a:t>
                  </a:r>
                </a:p>
              </p:txBody>
            </p:sp>
            <p:sp>
              <p:nvSpPr>
                <p:cNvPr id="193" name="Rectangle 192"/>
                <p:cNvSpPr/>
                <p:nvPr/>
              </p:nvSpPr>
              <p:spPr bwMode="auto">
                <a:xfrm>
                  <a:off x="2255837" y="4057496"/>
                  <a:ext cx="685800" cy="1327841"/>
                </a:xfrm>
                <a:prstGeom prst="rect">
                  <a:avLst/>
                </a:prstGeom>
                <a:ln w="34925" cap="rnd">
                  <a:solidFill>
                    <a:schemeClr val="bg2">
                      <a:lumMod val="2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VM</a:t>
                  </a:r>
                </a:p>
              </p:txBody>
            </p:sp>
          </p:grpSp>
          <p:grpSp>
            <p:nvGrpSpPr>
              <p:cNvPr id="183" name="Group 182"/>
              <p:cNvGrpSpPr/>
              <p:nvPr/>
            </p:nvGrpSpPr>
            <p:grpSpPr>
              <a:xfrm>
                <a:off x="6332537" y="3276071"/>
                <a:ext cx="1866900" cy="2374900"/>
                <a:chOff x="1417637" y="3079356"/>
                <a:chExt cx="1866900" cy="2856305"/>
              </a:xfrm>
            </p:grpSpPr>
            <p:grpSp>
              <p:nvGrpSpPr>
                <p:cNvPr id="184" name="Group 183"/>
                <p:cNvGrpSpPr/>
                <p:nvPr/>
              </p:nvGrpSpPr>
              <p:grpSpPr>
                <a:xfrm>
                  <a:off x="1417637" y="3079356"/>
                  <a:ext cx="1866900" cy="2856305"/>
                  <a:chOff x="1036637" y="1287462"/>
                  <a:chExt cx="9677400" cy="4490258"/>
                </a:xfrm>
              </p:grpSpPr>
              <p:sp>
                <p:nvSpPr>
                  <p:cNvPr id="188" name="Rectangle 187"/>
                  <p:cNvSpPr/>
                  <p:nvPr/>
                </p:nvSpPr>
                <p:spPr bwMode="auto">
                  <a:xfrm>
                    <a:off x="1036637" y="1287462"/>
                    <a:ext cx="9677400" cy="4490258"/>
                  </a:xfrm>
                  <a:prstGeom prst="rect">
                    <a:avLst/>
                  </a:prstGeom>
                  <a:ln w="34925" cap="rnd">
                    <a:solidFill>
                      <a:schemeClr val="accent6"/>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t" anchorCtr="1" forceAA="0" compatLnSpc="1">
                    <a:prstTxWarp prst="textNoShape">
                      <a:avLst/>
                    </a:prstTxWarp>
                    <a:noAutofit/>
                  </a:bodyPr>
                  <a:lstStyle/>
                  <a:p>
                    <a:pPr algn="ctr" defTabSz="932472" fontAlgn="base">
                      <a:lnSpc>
                        <a:spcPct val="90000"/>
                      </a:lnSpc>
                      <a:spcBef>
                        <a:spcPct val="0"/>
                      </a:spcBef>
                      <a:spcAft>
                        <a:spcPct val="0"/>
                      </a:spcAft>
                    </a:pPr>
                    <a:r>
                      <a:rPr lang="en-US" sz="20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VMSS#1</a:t>
                    </a:r>
                  </a:p>
                </p:txBody>
              </p:sp>
              <p:cxnSp>
                <p:nvCxnSpPr>
                  <p:cNvPr id="189" name="Straight Connector 188"/>
                  <p:cNvCxnSpPr/>
                  <p:nvPr/>
                </p:nvCxnSpPr>
                <p:spPr>
                  <a:xfrm>
                    <a:off x="1036637" y="2064222"/>
                    <a:ext cx="9677400" cy="0"/>
                  </a:xfrm>
                  <a:prstGeom prst="line">
                    <a:avLst/>
                  </a:prstGeom>
                  <a:ln w="34925" cap="rnd">
                    <a:solidFill>
                      <a:schemeClr val="accent6"/>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185" name="Rectangle 184"/>
                <p:cNvSpPr/>
                <p:nvPr/>
              </p:nvSpPr>
              <p:spPr bwMode="auto">
                <a:xfrm>
                  <a:off x="1570037" y="3704877"/>
                  <a:ext cx="685800" cy="1327841"/>
                </a:xfrm>
                <a:prstGeom prst="rect">
                  <a:avLst/>
                </a:prstGeom>
                <a:ln w="34925" cap="rnd">
                  <a:solidFill>
                    <a:schemeClr val="bg2">
                      <a:lumMod val="2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VM</a:t>
                  </a:r>
                </a:p>
              </p:txBody>
            </p:sp>
            <p:sp>
              <p:nvSpPr>
                <p:cNvPr id="186" name="Rectangle 185"/>
                <p:cNvSpPr/>
                <p:nvPr/>
              </p:nvSpPr>
              <p:spPr bwMode="auto">
                <a:xfrm>
                  <a:off x="1912937" y="3871324"/>
                  <a:ext cx="685800" cy="1327841"/>
                </a:xfrm>
                <a:prstGeom prst="rect">
                  <a:avLst/>
                </a:prstGeom>
                <a:ln w="34925" cap="rnd">
                  <a:solidFill>
                    <a:schemeClr val="bg2">
                      <a:lumMod val="2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VM</a:t>
                  </a:r>
                </a:p>
              </p:txBody>
            </p:sp>
            <p:sp>
              <p:nvSpPr>
                <p:cNvPr id="187" name="Rectangle 186"/>
                <p:cNvSpPr/>
                <p:nvPr/>
              </p:nvSpPr>
              <p:spPr bwMode="auto">
                <a:xfrm>
                  <a:off x="2255837" y="4057496"/>
                  <a:ext cx="685800" cy="1327841"/>
                </a:xfrm>
                <a:prstGeom prst="rect">
                  <a:avLst/>
                </a:prstGeom>
                <a:ln w="34925" cap="rnd">
                  <a:solidFill>
                    <a:schemeClr val="bg2">
                      <a:lumMod val="25000"/>
                    </a:schemeClr>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VM</a:t>
                  </a:r>
                </a:p>
              </p:txBody>
            </p:sp>
          </p:grpSp>
        </p:grpSp>
      </p:grpSp>
      <p:grpSp>
        <p:nvGrpSpPr>
          <p:cNvPr id="206" name="Group 205"/>
          <p:cNvGrpSpPr/>
          <p:nvPr/>
        </p:nvGrpSpPr>
        <p:grpSpPr>
          <a:xfrm>
            <a:off x="1277368" y="2698427"/>
            <a:ext cx="7086600" cy="3027892"/>
            <a:chOff x="1265237" y="1439862"/>
            <a:chExt cx="7086600" cy="3027892"/>
          </a:xfrm>
          <a:solidFill>
            <a:schemeClr val="accent5">
              <a:alpha val="23000"/>
            </a:schemeClr>
          </a:solidFill>
        </p:grpSpPr>
        <p:grpSp>
          <p:nvGrpSpPr>
            <p:cNvPr id="207" name="Group 206"/>
            <p:cNvGrpSpPr/>
            <p:nvPr/>
          </p:nvGrpSpPr>
          <p:grpSpPr>
            <a:xfrm>
              <a:off x="1265237" y="1439862"/>
              <a:ext cx="2171700" cy="3027892"/>
              <a:chOff x="1036637" y="1287462"/>
              <a:chExt cx="9677400" cy="4490260"/>
            </a:xfrm>
            <a:grpFill/>
          </p:grpSpPr>
          <p:sp>
            <p:nvSpPr>
              <p:cNvPr id="214" name="Rectangle 213"/>
              <p:cNvSpPr/>
              <p:nvPr/>
            </p:nvSpPr>
            <p:spPr bwMode="auto">
              <a:xfrm>
                <a:off x="1036637" y="1287462"/>
                <a:ext cx="9677400" cy="4490260"/>
              </a:xfrm>
              <a:prstGeom prst="rect">
                <a:avLst/>
              </a:prstGeom>
              <a:grpFill/>
              <a:ln w="34925" cap="rnd">
                <a:solidFill>
                  <a:schemeClr val="accent5"/>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t" anchorCtr="1" forceAA="0" compatLnSpc="1">
                <a:prstTxWarp prst="textNoShape">
                  <a:avLst/>
                </a:prstTxWarp>
                <a:noAutofit/>
              </a:bodyPr>
              <a:lstStyle/>
              <a:p>
                <a:pPr algn="ctr" defTabSz="932472" fontAlgn="base">
                  <a:lnSpc>
                    <a:spcPct val="90000"/>
                  </a:lnSpc>
                  <a:spcBef>
                    <a:spcPct val="0"/>
                  </a:spcBef>
                  <a:spcAft>
                    <a:spcPct val="0"/>
                  </a:spcAft>
                </a:pPr>
                <a:r>
                  <a:rPr lang="en-US" sz="20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NSG#1</a:t>
                </a:r>
              </a:p>
            </p:txBody>
          </p:sp>
          <p:cxnSp>
            <p:nvCxnSpPr>
              <p:cNvPr id="215" name="Straight Connector 214"/>
              <p:cNvCxnSpPr/>
              <p:nvPr/>
            </p:nvCxnSpPr>
            <p:spPr>
              <a:xfrm>
                <a:off x="1036637" y="1838710"/>
                <a:ext cx="9677400" cy="0"/>
              </a:xfrm>
              <a:prstGeom prst="line">
                <a:avLst/>
              </a:prstGeom>
              <a:grpFill/>
              <a:ln w="34925" cap="rnd">
                <a:solidFill>
                  <a:schemeClr val="accent5"/>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208" name="Group 207"/>
            <p:cNvGrpSpPr/>
            <p:nvPr/>
          </p:nvGrpSpPr>
          <p:grpSpPr>
            <a:xfrm>
              <a:off x="3703637" y="1439862"/>
              <a:ext cx="2171700" cy="3027892"/>
              <a:chOff x="1036637" y="1287462"/>
              <a:chExt cx="9677400" cy="4490260"/>
            </a:xfrm>
            <a:grpFill/>
          </p:grpSpPr>
          <p:sp>
            <p:nvSpPr>
              <p:cNvPr id="212" name="Rectangle 211"/>
              <p:cNvSpPr/>
              <p:nvPr/>
            </p:nvSpPr>
            <p:spPr bwMode="auto">
              <a:xfrm>
                <a:off x="1036637" y="1287462"/>
                <a:ext cx="9677400" cy="4490260"/>
              </a:xfrm>
              <a:prstGeom prst="rect">
                <a:avLst/>
              </a:prstGeom>
              <a:grpFill/>
              <a:ln w="34925" cap="rnd">
                <a:solidFill>
                  <a:schemeClr val="accent5"/>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t" anchorCtr="1" forceAA="0" compatLnSpc="1">
                <a:prstTxWarp prst="textNoShape">
                  <a:avLst/>
                </a:prstTxWarp>
                <a:noAutofit/>
              </a:bodyPr>
              <a:lstStyle/>
              <a:p>
                <a:pPr algn="ctr" defTabSz="932472" fontAlgn="base">
                  <a:lnSpc>
                    <a:spcPct val="90000"/>
                  </a:lnSpc>
                  <a:spcBef>
                    <a:spcPct val="0"/>
                  </a:spcBef>
                  <a:spcAft>
                    <a:spcPct val="0"/>
                  </a:spcAft>
                </a:pPr>
                <a:r>
                  <a:rPr lang="en-US" sz="20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NSG#2</a:t>
                </a:r>
              </a:p>
            </p:txBody>
          </p:sp>
          <p:cxnSp>
            <p:nvCxnSpPr>
              <p:cNvPr id="213" name="Straight Connector 212"/>
              <p:cNvCxnSpPr/>
              <p:nvPr/>
            </p:nvCxnSpPr>
            <p:spPr>
              <a:xfrm>
                <a:off x="1036637" y="1838710"/>
                <a:ext cx="9677400" cy="0"/>
              </a:xfrm>
              <a:prstGeom prst="line">
                <a:avLst/>
              </a:prstGeom>
              <a:grpFill/>
              <a:ln w="34925" cap="rnd">
                <a:solidFill>
                  <a:schemeClr val="accent5"/>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209" name="Group 208"/>
            <p:cNvGrpSpPr/>
            <p:nvPr/>
          </p:nvGrpSpPr>
          <p:grpSpPr>
            <a:xfrm>
              <a:off x="6180137" y="1439862"/>
              <a:ext cx="2171700" cy="3027892"/>
              <a:chOff x="1036637" y="1287462"/>
              <a:chExt cx="9677400" cy="4490260"/>
            </a:xfrm>
            <a:grpFill/>
          </p:grpSpPr>
          <p:sp>
            <p:nvSpPr>
              <p:cNvPr id="210" name="Rectangle 209"/>
              <p:cNvSpPr/>
              <p:nvPr/>
            </p:nvSpPr>
            <p:spPr bwMode="auto">
              <a:xfrm>
                <a:off x="1036637" y="1287462"/>
                <a:ext cx="9677400" cy="4490260"/>
              </a:xfrm>
              <a:prstGeom prst="rect">
                <a:avLst/>
              </a:prstGeom>
              <a:grpFill/>
              <a:ln w="34925" cap="rnd">
                <a:solidFill>
                  <a:schemeClr val="accent5"/>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182880" tIns="146304" rIns="182880" bIns="146304" numCol="1" spcCol="0" rtlCol="0" fromWordArt="0" anchor="t" anchorCtr="1" forceAA="0" compatLnSpc="1">
                <a:prstTxWarp prst="textNoShape">
                  <a:avLst/>
                </a:prstTxWarp>
                <a:noAutofit/>
              </a:bodyPr>
              <a:lstStyle/>
              <a:p>
                <a:pPr algn="ctr" defTabSz="932472" fontAlgn="base">
                  <a:lnSpc>
                    <a:spcPct val="90000"/>
                  </a:lnSpc>
                  <a:spcBef>
                    <a:spcPct val="0"/>
                  </a:spcBef>
                  <a:spcAft>
                    <a:spcPct val="0"/>
                  </a:spcAft>
                </a:pPr>
                <a:r>
                  <a:rPr lang="en-US" sz="20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rPr>
                  <a:t>NSG#2</a:t>
                </a:r>
                <a:endParaRPr lang="en-US" sz="2400" dirty="0">
                  <a:ln w="0"/>
                  <a:solidFill>
                    <a:schemeClr val="tx1"/>
                  </a:solidFill>
                  <a:effectLst>
                    <a:outerShdw blurRad="38100" dist="19050" dir="2700000" algn="tl" rotWithShape="0">
                      <a:schemeClr val="dk1">
                        <a:alpha val="40000"/>
                      </a:schemeClr>
                    </a:outerShdw>
                  </a:effectLst>
                  <a:ea typeface="Segoe UI" pitchFamily="34" charset="0"/>
                  <a:cs typeface="Segoe UI" pitchFamily="34" charset="0"/>
                </a:endParaRPr>
              </a:p>
            </p:txBody>
          </p:sp>
          <p:cxnSp>
            <p:nvCxnSpPr>
              <p:cNvPr id="211" name="Straight Connector 210"/>
              <p:cNvCxnSpPr/>
              <p:nvPr/>
            </p:nvCxnSpPr>
            <p:spPr>
              <a:xfrm>
                <a:off x="1036637" y="1838710"/>
                <a:ext cx="9677400" cy="0"/>
              </a:xfrm>
              <a:prstGeom prst="line">
                <a:avLst/>
              </a:prstGeom>
              <a:grpFill/>
              <a:ln w="34925" cap="rnd">
                <a:solidFill>
                  <a:schemeClr val="accent5"/>
                </a:solidFill>
                <a:headEnd type="none"/>
                <a:tailEnd type="none"/>
              </a:ln>
            </p:spPr>
            <p:style>
              <a:lnRef idx="1">
                <a:schemeClr val="accent1"/>
              </a:lnRef>
              <a:fillRef idx="0">
                <a:schemeClr val="accent1"/>
              </a:fillRef>
              <a:effectRef idx="0">
                <a:schemeClr val="accent1"/>
              </a:effectRef>
              <a:fontRef idx="minor">
                <a:schemeClr val="tx1"/>
              </a:fontRef>
            </p:style>
          </p:cxnSp>
        </p:grpSp>
      </p:grpSp>
      <p:grpSp>
        <p:nvGrpSpPr>
          <p:cNvPr id="216" name="Group 215"/>
          <p:cNvGrpSpPr/>
          <p:nvPr/>
        </p:nvGrpSpPr>
        <p:grpSpPr>
          <a:xfrm>
            <a:off x="8580437" y="3786822"/>
            <a:ext cx="1082797" cy="1234440"/>
            <a:chOff x="8809037" y="3786822"/>
            <a:chExt cx="1082797" cy="1234440"/>
          </a:xfrm>
        </p:grpSpPr>
        <p:sp>
          <p:nvSpPr>
            <p:cNvPr id="217" name="TextBox 216"/>
            <p:cNvSpPr txBox="1"/>
            <p:nvPr/>
          </p:nvSpPr>
          <p:spPr>
            <a:xfrm>
              <a:off x="8809037" y="4559597"/>
              <a:ext cx="1082797" cy="461665"/>
            </a:xfrm>
            <a:prstGeom prst="rect">
              <a:avLst/>
            </a:prstGeom>
            <a:noFill/>
          </p:spPr>
          <p:txBody>
            <a:bodyPr wrap="none" lIns="182880" tIns="146304" rIns="182880" bIns="146304" rtlCol="0">
              <a:spAutoFit/>
            </a:bodyPr>
            <a:lstStyle/>
            <a:p>
              <a:pPr>
                <a:lnSpc>
                  <a:spcPct val="90000"/>
                </a:lnSpc>
                <a:spcAft>
                  <a:spcPts val="600"/>
                </a:spcAft>
              </a:pPr>
              <a:r>
                <a:rPr lang="en-US" sz="1200" b="1" dirty="0">
                  <a:solidFill>
                    <a:schemeClr val="accent2"/>
                  </a:solidFill>
                </a:rPr>
                <a:t>Jump box</a:t>
              </a:r>
            </a:p>
          </p:txBody>
        </p:sp>
        <p:pic>
          <p:nvPicPr>
            <p:cNvPr id="218" name="Picture 217"/>
            <p:cNvPicPr>
              <a:picLocks noChangeAspect="1"/>
            </p:cNvPicPr>
            <p:nvPr/>
          </p:nvPicPr>
          <p:blipFill>
            <a:blip r:embed="rId3"/>
            <a:stretch>
              <a:fillRect/>
            </a:stretch>
          </p:blipFill>
          <p:spPr>
            <a:xfrm>
              <a:off x="8809037" y="3786822"/>
              <a:ext cx="965200" cy="914400"/>
            </a:xfrm>
            <a:prstGeom prst="rect">
              <a:avLst/>
            </a:prstGeom>
          </p:spPr>
        </p:pic>
      </p:grpSp>
    </p:spTree>
    <p:extLst>
      <p:ext uri="{BB962C8B-B14F-4D97-AF65-F5344CB8AC3E}">
        <p14:creationId xmlns:p14="http://schemas.microsoft.com/office/powerpoint/2010/main" val="18901821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NSG ports</a:t>
            </a:r>
            <a:r>
              <a:rPr lang="en-US" dirty="0"/>
              <a:t> </a:t>
            </a:r>
            <a:r>
              <a:rPr lang="en-US"/>
              <a:t>that </a:t>
            </a:r>
            <a:r>
              <a:rPr lang="en-US" dirty="0"/>
              <a:t>needs to be </a:t>
            </a:r>
            <a:r>
              <a:rPr lang="en-US"/>
              <a:t>opened</a:t>
            </a:r>
            <a:endParaRPr lang="en-US" dirty="0"/>
          </a:p>
        </p:txBody>
      </p:sp>
      <p:sp>
        <p:nvSpPr>
          <p:cNvPr id="2" name="Rectangle 1"/>
          <p:cNvSpPr/>
          <p:nvPr/>
        </p:nvSpPr>
        <p:spPr>
          <a:xfrm>
            <a:off x="1493837" y="2354262"/>
            <a:ext cx="7848600" cy="2677656"/>
          </a:xfrm>
          <a:prstGeom prst="rect">
            <a:avLst/>
          </a:prstGeom>
        </p:spPr>
        <p:txBody>
          <a:bodyPr wrap="square">
            <a:spAutoFit/>
          </a:bodyPr>
          <a:lstStyle/>
          <a:p>
            <a:pPr marL="285750" indent="-285750">
              <a:buFont typeface="Arial" panose="020B0604020202020204" pitchFamily="34" charset="0"/>
              <a:buChar char="•"/>
            </a:pPr>
            <a:r>
              <a:rPr lang="en-US" sz="2400" dirty="0" err="1"/>
              <a:t>ClientConnectionEndpoint</a:t>
            </a:r>
            <a:r>
              <a:rPr lang="en-US" sz="2400" dirty="0"/>
              <a:t> (TCP): 19000</a:t>
            </a:r>
          </a:p>
          <a:p>
            <a:pPr marL="285750" indent="-285750">
              <a:buFont typeface="Arial" panose="020B0604020202020204" pitchFamily="34" charset="0"/>
              <a:buChar char="•"/>
            </a:pPr>
            <a:r>
              <a:rPr lang="en-US" sz="2400" dirty="0" err="1"/>
              <a:t>HttpGatewayEndpoint</a:t>
            </a:r>
            <a:r>
              <a:rPr lang="en-US" sz="2400" dirty="0"/>
              <a:t> (HTTP/TCP): 19080</a:t>
            </a:r>
          </a:p>
          <a:p>
            <a:pPr marL="285750" indent="-285750">
              <a:buFont typeface="Arial" panose="020B0604020202020204" pitchFamily="34" charset="0"/>
              <a:buChar char="•"/>
            </a:pPr>
            <a:r>
              <a:rPr lang="en-US" sz="2400" dirty="0"/>
              <a:t>SMB – 445 and 135</a:t>
            </a:r>
          </a:p>
          <a:p>
            <a:pPr marL="285750" indent="-285750">
              <a:buFont typeface="Arial" panose="020B0604020202020204" pitchFamily="34" charset="0"/>
              <a:buChar char="•"/>
            </a:pPr>
            <a:r>
              <a:rPr lang="en-US" sz="2400" dirty="0" err="1"/>
              <a:t>ClusterConnectionEndpointPort</a:t>
            </a:r>
            <a:r>
              <a:rPr lang="en-US" sz="2400" dirty="0"/>
              <a:t> (TCP): 9025</a:t>
            </a:r>
          </a:p>
          <a:p>
            <a:pPr marL="285750" indent="-285750">
              <a:buFont typeface="Arial" panose="020B0604020202020204" pitchFamily="34" charset="0"/>
              <a:buChar char="•"/>
            </a:pPr>
            <a:r>
              <a:rPr lang="en-US" sz="2400" dirty="0" err="1"/>
              <a:t>LeaseDriverEndpointPort</a:t>
            </a:r>
            <a:r>
              <a:rPr lang="en-US" sz="2400" dirty="0"/>
              <a:t> (TCP): 9026,</a:t>
            </a:r>
          </a:p>
          <a:p>
            <a:pPr marL="285750" indent="-285750">
              <a:buFont typeface="Arial" panose="020B0604020202020204" pitchFamily="34" charset="0"/>
              <a:buChar char="•"/>
            </a:pPr>
            <a:r>
              <a:rPr lang="en-US" sz="2400" dirty="0"/>
              <a:t>Ephemeral Port range – min 256 ports</a:t>
            </a:r>
          </a:p>
          <a:p>
            <a:pPr marL="285750" indent="-285750">
              <a:buFont typeface="Arial" panose="020B0604020202020204" pitchFamily="34" charset="0"/>
              <a:buChar char="•"/>
            </a:pPr>
            <a:r>
              <a:rPr lang="en-US" sz="2400" dirty="0"/>
              <a:t>App ports –as needed</a:t>
            </a:r>
            <a:r>
              <a:rPr lang="en-US" dirty="0"/>
              <a:t>.</a:t>
            </a:r>
          </a:p>
        </p:txBody>
      </p:sp>
    </p:spTree>
    <p:extLst>
      <p:ext uri="{BB962C8B-B14F-4D97-AF65-F5344CB8AC3E}">
        <p14:creationId xmlns:p14="http://schemas.microsoft.com/office/powerpoint/2010/main" val="110624632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5482" y="1210297"/>
            <a:ext cx="10895054" cy="5419945"/>
          </a:xfrm>
        </p:spPr>
        <p:txBody>
          <a:bodyPr/>
          <a:lstStyle/>
          <a:p>
            <a:r>
              <a:rPr lang="en-US" dirty="0"/>
              <a:t>ARM Template review </a:t>
            </a:r>
            <a:br>
              <a:rPr lang="en-US" dirty="0"/>
            </a:br>
            <a:r>
              <a:rPr lang="en-US" dirty="0"/>
              <a:t/>
            </a:r>
            <a:br>
              <a:rPr lang="en-US" dirty="0"/>
            </a:br>
            <a:r>
              <a:rPr lang="en-US" sz="5400" dirty="0"/>
              <a:t>- 15 node , 3 </a:t>
            </a:r>
            <a:r>
              <a:rPr lang="en-US" sz="5400" dirty="0" err="1"/>
              <a:t>nodetype</a:t>
            </a:r>
            <a:r>
              <a:rPr lang="en-US" sz="5400" dirty="0"/>
              <a:t> , 1 Jump box</a:t>
            </a:r>
            <a:br>
              <a:rPr lang="en-US" sz="5400" dirty="0"/>
            </a:br>
            <a:r>
              <a:rPr lang="en-US" sz="5400" dirty="0"/>
              <a:t>- with NSG</a:t>
            </a:r>
            <a:br>
              <a:rPr lang="en-US" sz="5400" dirty="0"/>
            </a:br>
            <a:r>
              <a:rPr lang="en-US" sz="5400" dirty="0"/>
              <a:t>- with a Jump box</a:t>
            </a:r>
            <a:r>
              <a:rPr lang="en-US" dirty="0"/>
              <a:t/>
            </a:r>
            <a:br>
              <a:rPr lang="en-US" dirty="0"/>
            </a:br>
            <a:endParaRPr lang="en-US" dirty="0"/>
          </a:p>
        </p:txBody>
      </p:sp>
      <p:sp>
        <p:nvSpPr>
          <p:cNvPr id="3" name="Text Placeholder 2"/>
          <p:cNvSpPr>
            <a:spLocks noGrp="1"/>
          </p:cNvSpPr>
          <p:nvPr>
            <p:ph type="body" sz="quarter" idx="12"/>
          </p:nvPr>
        </p:nvSpPr>
        <p:spPr>
          <a:xfrm>
            <a:off x="9418637" y="5891578"/>
            <a:ext cx="1904730" cy="738664"/>
          </a:xfrm>
        </p:spPr>
        <p:txBody>
          <a:bodyPr/>
          <a:lstStyle/>
          <a:p>
            <a:r>
              <a:rPr lang="en-US" sz="3200" b="1" dirty="0"/>
              <a:t>Demo#2</a:t>
            </a:r>
          </a:p>
        </p:txBody>
      </p:sp>
    </p:spTree>
    <p:extLst>
      <p:ext uri="{BB962C8B-B14F-4D97-AF65-F5344CB8AC3E}">
        <p14:creationId xmlns:p14="http://schemas.microsoft.com/office/powerpoint/2010/main" val="8176251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814820" y="1322904"/>
            <a:ext cx="10810833" cy="5529935"/>
          </a:xfrm>
        </p:spPr>
        <p:txBody>
          <a:bodyPr/>
          <a:lstStyle/>
          <a:p>
            <a:r>
              <a:rPr lang="en-US" sz="3672" dirty="0"/>
              <a:t>Ability to select a supported Fabric version</a:t>
            </a:r>
          </a:p>
          <a:p>
            <a:pPr lvl="1"/>
            <a:r>
              <a:rPr lang="en-US" sz="2040" dirty="0"/>
              <a:t>Set the upgrade mode to – Automatic or Manual</a:t>
            </a:r>
          </a:p>
          <a:p>
            <a:pPr lvl="1"/>
            <a:r>
              <a:rPr lang="en-US" sz="2040" dirty="0"/>
              <a:t>Select the specific fabric version Via APIs or Portal</a:t>
            </a:r>
          </a:p>
          <a:p>
            <a:r>
              <a:rPr lang="en-US" sz="3672" dirty="0"/>
              <a:t>You can switch between Automatic and Manual</a:t>
            </a:r>
          </a:p>
          <a:p>
            <a:r>
              <a:rPr lang="en-US" sz="3672" dirty="0"/>
              <a:t>You have 60 days to adopt the new version</a:t>
            </a:r>
          </a:p>
          <a:p>
            <a:r>
              <a:rPr lang="en-US" sz="3672" dirty="0"/>
              <a:t>A warning is generated 14 days prior to your cluster going out of support</a:t>
            </a:r>
          </a:p>
          <a:p>
            <a:r>
              <a:rPr lang="en-US" sz="3672" dirty="0"/>
              <a:t>New versions are announced on the team blog</a:t>
            </a:r>
          </a:p>
          <a:p>
            <a:endParaRPr lang="en-US" sz="3672" dirty="0"/>
          </a:p>
          <a:p>
            <a:r>
              <a:rPr lang="en-US" sz="2856" dirty="0"/>
              <a:t>For more details visit this </a:t>
            </a:r>
            <a:r>
              <a:rPr lang="en-US" sz="2856" dirty="0">
                <a:hlinkClick r:id="rId3"/>
              </a:rPr>
              <a:t>Manage your cluster version page</a:t>
            </a:r>
            <a:r>
              <a:rPr lang="en-US" sz="2856" dirty="0"/>
              <a:t> </a:t>
            </a:r>
          </a:p>
        </p:txBody>
      </p:sp>
      <p:sp>
        <p:nvSpPr>
          <p:cNvPr id="3" name="Title 2"/>
          <p:cNvSpPr>
            <a:spLocks noGrp="1"/>
          </p:cNvSpPr>
          <p:nvPr>
            <p:ph type="title"/>
          </p:nvPr>
        </p:nvSpPr>
        <p:spPr>
          <a:xfrm>
            <a:off x="857767" y="260032"/>
            <a:ext cx="10724938" cy="1351952"/>
          </a:xfrm>
        </p:spPr>
        <p:txBody>
          <a:bodyPr/>
          <a:lstStyle/>
          <a:p>
            <a:r>
              <a:rPr lang="en-US" dirty="0"/>
              <a:t>Manage you Cluster Version</a:t>
            </a:r>
          </a:p>
        </p:txBody>
      </p:sp>
    </p:spTree>
    <p:extLst>
      <p:ext uri="{BB962C8B-B14F-4D97-AF65-F5344CB8AC3E}">
        <p14:creationId xmlns:p14="http://schemas.microsoft.com/office/powerpoint/2010/main" val="378804224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Cluster Fabric Upgrade</a:t>
            </a:r>
          </a:p>
        </p:txBody>
      </p:sp>
      <p:sp>
        <p:nvSpPr>
          <p:cNvPr id="3" name="Content Placeholder 2"/>
          <p:cNvSpPr>
            <a:spLocks noGrp="1"/>
          </p:cNvSpPr>
          <p:nvPr>
            <p:ph idx="1"/>
          </p:nvPr>
        </p:nvSpPr>
        <p:spPr>
          <a:xfrm>
            <a:off x="707916" y="3638222"/>
            <a:ext cx="10724938" cy="4437962"/>
          </a:xfrm>
        </p:spPr>
        <p:txBody>
          <a:bodyPr/>
          <a:lstStyle/>
          <a:p>
            <a:endParaRPr lang="en-US" dirty="0"/>
          </a:p>
          <a:p>
            <a:endParaRPr lang="en-US" dirty="0"/>
          </a:p>
          <a:p>
            <a:r>
              <a:rPr lang="en-US" dirty="0"/>
              <a:t>Factors to consider when choosing the </a:t>
            </a:r>
            <a:r>
              <a:rPr lang="en-US" dirty="0" err="1"/>
              <a:t>upgrademode</a:t>
            </a:r>
            <a:endParaRPr lang="en-US" dirty="0"/>
          </a:p>
          <a:p>
            <a:pPr lvl="1"/>
            <a:r>
              <a:rPr lang="en-US" dirty="0"/>
              <a:t>Availability of your service </a:t>
            </a:r>
          </a:p>
          <a:p>
            <a:pPr lvl="1"/>
            <a:r>
              <a:rPr lang="en-US" dirty="0"/>
              <a:t>Need for predictability of performance</a:t>
            </a:r>
          </a:p>
          <a:p>
            <a:pPr lvl="1"/>
            <a:r>
              <a:rPr lang="en-US" dirty="0"/>
              <a:t>Freedom of choice to select the velocity</a:t>
            </a:r>
          </a:p>
          <a:p>
            <a:pPr lvl="1"/>
            <a:r>
              <a:rPr lang="en-US" dirty="0"/>
              <a:t>Support considerations </a:t>
            </a:r>
          </a:p>
          <a:p>
            <a:pPr lvl="1"/>
            <a:r>
              <a:rPr lang="en-US" dirty="0"/>
              <a:t>Recommendation of upgrade mode for  – for dev, test, PPL, prod</a:t>
            </a:r>
          </a:p>
          <a:p>
            <a:endParaRPr lang="en-US" dirty="0"/>
          </a:p>
          <a:p>
            <a:endParaRPr lang="en-US" dirty="0"/>
          </a:p>
          <a:p>
            <a:pPr lvl="1"/>
            <a:endParaRPr lang="en-US" dirty="0"/>
          </a:p>
        </p:txBody>
      </p:sp>
      <p:grpSp>
        <p:nvGrpSpPr>
          <p:cNvPr id="4" name="Group 3"/>
          <p:cNvGrpSpPr/>
          <p:nvPr/>
        </p:nvGrpSpPr>
        <p:grpSpPr>
          <a:xfrm>
            <a:off x="4313237" y="1307391"/>
            <a:ext cx="6144075" cy="2755831"/>
            <a:chOff x="66518" y="1429103"/>
            <a:chExt cx="11609284" cy="5095790"/>
          </a:xfrm>
        </p:grpSpPr>
        <p:sp>
          <p:nvSpPr>
            <p:cNvPr id="5" name="Rounded Rectangle 121"/>
            <p:cNvSpPr/>
            <p:nvPr/>
          </p:nvSpPr>
          <p:spPr bwMode="auto">
            <a:xfrm>
              <a:off x="875468" y="1429103"/>
              <a:ext cx="2648020" cy="2072545"/>
            </a:xfrm>
            <a:prstGeom prst="roundRect">
              <a:avLst>
                <a:gd name="adj" fmla="val 5175"/>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02" tIns="146241" rIns="182802" bIns="146241" numCol="1" spcCol="0" rtlCol="0" fromWordArt="0" anchor="t" anchorCtr="0" forceAA="0" compatLnSpc="1">
              <a:prstTxWarp prst="textNoShape">
                <a:avLst/>
              </a:prstTxWarp>
              <a:noAutofit/>
            </a:bodyPr>
            <a:lstStyle/>
            <a:p>
              <a:pPr algn="ctr" defTabSz="931935">
                <a:lnSpc>
                  <a:spcPct val="90000"/>
                </a:lnSpc>
                <a:defRPr/>
              </a:pPr>
              <a:r>
                <a:rPr lang="en-US" sz="1020" dirty="0">
                  <a:gradFill>
                    <a:gsLst>
                      <a:gs pos="0">
                        <a:srgbClr val="FFFFFF"/>
                      </a:gs>
                      <a:gs pos="100000">
                        <a:srgbClr val="FFFFFF"/>
                      </a:gs>
                    </a:gsLst>
                    <a:lin ang="5400000" scaled="0"/>
                  </a:gradFill>
                  <a:latin typeface="Segoe UI"/>
                  <a:ea typeface="Segoe UI" pitchFamily="34" charset="0"/>
                  <a:cs typeface="Segoe UI" pitchFamily="34" charset="0"/>
                </a:rPr>
                <a:t>Source Control</a:t>
              </a:r>
            </a:p>
          </p:txBody>
        </p:sp>
        <p:sp>
          <p:nvSpPr>
            <p:cNvPr id="6" name="Rounded Rectangle 6"/>
            <p:cNvSpPr/>
            <p:nvPr/>
          </p:nvSpPr>
          <p:spPr bwMode="auto">
            <a:xfrm>
              <a:off x="6105535" y="1444561"/>
              <a:ext cx="2099013" cy="2072545"/>
            </a:xfrm>
            <a:prstGeom prst="roundRect">
              <a:avLst>
                <a:gd name="adj" fmla="val 5175"/>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algn="ctr" defTabSz="931935">
                <a:lnSpc>
                  <a:spcPct val="90000"/>
                </a:lnSpc>
                <a:defRPr/>
              </a:pPr>
              <a:r>
                <a:rPr lang="en-US" sz="918" dirty="0">
                  <a:gradFill>
                    <a:gsLst>
                      <a:gs pos="0">
                        <a:srgbClr val="FFFFFF"/>
                      </a:gs>
                      <a:gs pos="100000">
                        <a:srgbClr val="FFFFFF"/>
                      </a:gs>
                    </a:gsLst>
                    <a:lin ang="5400000" scaled="0"/>
                  </a:gradFill>
                  <a:latin typeface="Segoe UI"/>
                  <a:ea typeface="Segoe UI" pitchFamily="34" charset="0"/>
                  <a:cs typeface="Segoe UI" pitchFamily="34" charset="0"/>
                </a:rPr>
                <a:t>Build</a:t>
              </a:r>
            </a:p>
          </p:txBody>
        </p:sp>
        <p:cxnSp>
          <p:nvCxnSpPr>
            <p:cNvPr id="7" name="Straight Connector 6"/>
            <p:cNvCxnSpPr>
              <a:stCxn id="5" idx="2"/>
              <a:endCxn id="59" idx="0"/>
            </p:cNvCxnSpPr>
            <p:nvPr/>
          </p:nvCxnSpPr>
          <p:spPr>
            <a:xfrm flipH="1">
              <a:off x="2168817" y="3501649"/>
              <a:ext cx="30661" cy="1752570"/>
            </a:xfrm>
            <a:prstGeom prst="line">
              <a:avLst/>
            </a:prstGeom>
            <a:ln w="38100">
              <a:solidFill>
                <a:schemeClr val="tx1"/>
              </a:solidFill>
              <a:prstDash val="sysDot"/>
              <a:headEnd type="none"/>
              <a:tailEnd type="none"/>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1204557" y="5190134"/>
              <a:ext cx="1901685" cy="1096897"/>
              <a:chOff x="940119" y="5293964"/>
              <a:chExt cx="1940093" cy="1119051"/>
            </a:xfrm>
          </p:grpSpPr>
          <p:sp>
            <p:nvSpPr>
              <p:cNvPr id="58" name="Rectangle 154"/>
              <p:cNvSpPr>
                <a:spLocks noChangeArrowheads="1"/>
              </p:cNvSpPr>
              <p:nvPr/>
            </p:nvSpPr>
            <p:spPr bwMode="auto">
              <a:xfrm>
                <a:off x="1171231" y="5293964"/>
                <a:ext cx="1505245" cy="1027824"/>
              </a:xfrm>
              <a:prstGeom prst="rect">
                <a:avLst/>
              </a:prstGeom>
              <a:solidFill>
                <a:schemeClr val="bg2">
                  <a:lumMod val="2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4" tIns="45706" rIns="91414" bIns="45706" numCol="1" anchor="t" anchorCtr="0" compatLnSpc="1">
                <a:prstTxWarp prst="textNoShape">
                  <a:avLst/>
                </a:prstTxWarp>
              </a:bodyPr>
              <a:lstStyle/>
              <a:p>
                <a:pPr defTabSz="932384">
                  <a:defRPr/>
                </a:pPr>
                <a:endParaRPr lang="en-US" sz="1020">
                  <a:solidFill>
                    <a:srgbClr val="FFFFFF"/>
                  </a:solidFill>
                  <a:latin typeface="Segoe UI"/>
                </a:endParaRPr>
              </a:p>
            </p:txBody>
          </p:sp>
          <p:sp>
            <p:nvSpPr>
              <p:cNvPr id="59" name="Rectangle 156"/>
              <p:cNvSpPr>
                <a:spLocks noChangeArrowheads="1"/>
              </p:cNvSpPr>
              <p:nvPr/>
            </p:nvSpPr>
            <p:spPr bwMode="auto">
              <a:xfrm>
                <a:off x="1224447" y="5359343"/>
                <a:ext cx="1398813" cy="897066"/>
              </a:xfrm>
              <a:prstGeom prst="rect">
                <a:avLst/>
              </a:prstGeom>
              <a:solidFill>
                <a:schemeClr val="tx1">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4" tIns="45706" rIns="91414" bIns="45706" numCol="1" anchor="t" anchorCtr="0" compatLnSpc="1">
                <a:prstTxWarp prst="textNoShape">
                  <a:avLst/>
                </a:prstTxWarp>
              </a:bodyPr>
              <a:lstStyle/>
              <a:p>
                <a:pPr defTabSz="932384">
                  <a:defRPr/>
                </a:pPr>
                <a:endParaRPr lang="en-US" sz="1020">
                  <a:solidFill>
                    <a:srgbClr val="FFFFFF"/>
                  </a:solidFill>
                  <a:latin typeface="Segoe UI"/>
                </a:endParaRPr>
              </a:p>
            </p:txBody>
          </p:sp>
          <p:sp>
            <p:nvSpPr>
              <p:cNvPr id="60" name="Freeform 158"/>
              <p:cNvSpPr>
                <a:spLocks/>
              </p:cNvSpPr>
              <p:nvPr/>
            </p:nvSpPr>
            <p:spPr bwMode="auto">
              <a:xfrm>
                <a:off x="940119" y="6336991"/>
                <a:ext cx="1940093" cy="76024"/>
              </a:xfrm>
              <a:custGeom>
                <a:avLst/>
                <a:gdLst>
                  <a:gd name="T0" fmla="*/ 0 w 1454"/>
                  <a:gd name="T1" fmla="*/ 0 h 57"/>
                  <a:gd name="T2" fmla="*/ 0 w 1454"/>
                  <a:gd name="T3" fmla="*/ 4 h 57"/>
                  <a:gd name="T4" fmla="*/ 53 w 1454"/>
                  <a:gd name="T5" fmla="*/ 57 h 57"/>
                  <a:gd name="T6" fmla="*/ 1400 w 1454"/>
                  <a:gd name="T7" fmla="*/ 57 h 57"/>
                  <a:gd name="T8" fmla="*/ 1454 w 1454"/>
                  <a:gd name="T9" fmla="*/ 4 h 57"/>
                  <a:gd name="T10" fmla="*/ 1454 w 1454"/>
                  <a:gd name="T11" fmla="*/ 0 h 57"/>
                  <a:gd name="T12" fmla="*/ 0 w 1454"/>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1454" h="57">
                    <a:moveTo>
                      <a:pt x="0" y="0"/>
                    </a:moveTo>
                    <a:cubicBezTo>
                      <a:pt x="0" y="4"/>
                      <a:pt x="0" y="4"/>
                      <a:pt x="0" y="4"/>
                    </a:cubicBezTo>
                    <a:cubicBezTo>
                      <a:pt x="0" y="33"/>
                      <a:pt x="24" y="57"/>
                      <a:pt x="53" y="57"/>
                    </a:cubicBezTo>
                    <a:cubicBezTo>
                      <a:pt x="1400" y="57"/>
                      <a:pt x="1400" y="57"/>
                      <a:pt x="1400" y="57"/>
                    </a:cubicBezTo>
                    <a:cubicBezTo>
                      <a:pt x="1430" y="57"/>
                      <a:pt x="1454" y="33"/>
                      <a:pt x="1454" y="4"/>
                    </a:cubicBezTo>
                    <a:cubicBezTo>
                      <a:pt x="1454" y="0"/>
                      <a:pt x="1454" y="0"/>
                      <a:pt x="1454" y="0"/>
                    </a:cubicBezTo>
                    <a:lnTo>
                      <a:pt x="0" y="0"/>
                    </a:lnTo>
                    <a:close/>
                  </a:path>
                </a:pathLst>
              </a:custGeom>
              <a:solidFill>
                <a:schemeClr val="bg2">
                  <a:lumMod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4" tIns="45706" rIns="91414" bIns="45706" numCol="1" anchor="t" anchorCtr="0" compatLnSpc="1">
                <a:prstTxWarp prst="textNoShape">
                  <a:avLst/>
                </a:prstTxWarp>
              </a:bodyPr>
              <a:lstStyle/>
              <a:p>
                <a:pPr defTabSz="932384">
                  <a:defRPr/>
                </a:pPr>
                <a:endParaRPr lang="en-US" sz="1020">
                  <a:solidFill>
                    <a:srgbClr val="FFFFFF"/>
                  </a:solidFill>
                  <a:latin typeface="Segoe UI"/>
                </a:endParaRPr>
              </a:p>
            </p:txBody>
          </p:sp>
        </p:grpSp>
        <p:pic>
          <p:nvPicPr>
            <p:cNvPr id="9" name="Picture 28"/>
            <p:cNvPicPr>
              <a:picLocks noChangeAspect="1"/>
            </p:cNvPicPr>
            <p:nvPr/>
          </p:nvPicPr>
          <p:blipFill rotWithShape="1">
            <a:blip r:embed="rId3">
              <a:extLst>
                <a:ext uri="{28A0092B-C50C-407E-A947-70E740481C1C}">
                  <a14:useLocalDpi xmlns:a14="http://schemas.microsoft.com/office/drawing/2010/main" val="0"/>
                </a:ext>
              </a:extLst>
            </a:blip>
            <a:srcRect b="35075"/>
            <a:stretch/>
          </p:blipFill>
          <p:spPr bwMode="auto">
            <a:xfrm>
              <a:off x="6545644" y="2144615"/>
              <a:ext cx="1005130" cy="863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Accepted DEV"/>
            <p:cNvGrpSpPr/>
            <p:nvPr/>
          </p:nvGrpSpPr>
          <p:grpSpPr>
            <a:xfrm>
              <a:off x="6986530" y="2917060"/>
              <a:ext cx="447808" cy="447808"/>
              <a:chOff x="4084560" y="4337765"/>
              <a:chExt cx="456852" cy="456852"/>
            </a:xfrm>
          </p:grpSpPr>
          <p:sp>
            <p:nvSpPr>
              <p:cNvPr id="56" name="Accepted"/>
              <p:cNvSpPr/>
              <p:nvPr/>
            </p:nvSpPr>
            <p:spPr bwMode="auto">
              <a:xfrm>
                <a:off x="4084560" y="4337765"/>
                <a:ext cx="456852" cy="456852"/>
              </a:xfrm>
              <a:prstGeom prst="ellipse">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114" fontAlgn="base">
                  <a:lnSpc>
                    <a:spcPct val="90000"/>
                  </a:lnSpc>
                  <a:spcBef>
                    <a:spcPct val="0"/>
                  </a:spcBef>
                  <a:spcAft>
                    <a:spcPct val="0"/>
                  </a:spcAft>
                  <a:defRPr/>
                </a:pPr>
                <a:endParaRPr lang="en-US" sz="1224" b="1"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7" name="Freeform 26"/>
              <p:cNvSpPr>
                <a:spLocks/>
              </p:cNvSpPr>
              <p:nvPr/>
            </p:nvSpPr>
            <p:spPr bwMode="auto">
              <a:xfrm>
                <a:off x="4222325" y="4528084"/>
                <a:ext cx="301100" cy="266531"/>
              </a:xfrm>
              <a:custGeom>
                <a:avLst/>
                <a:gdLst>
                  <a:gd name="T0" fmla="*/ 1202 w 1202"/>
                  <a:gd name="T1" fmla="*/ 175 h 1064"/>
                  <a:gd name="T2" fmla="*/ 975 w 1202"/>
                  <a:gd name="T3" fmla="*/ 0 h 1064"/>
                  <a:gd name="T4" fmla="*/ 458 w 1202"/>
                  <a:gd name="T5" fmla="*/ 676 h 1064"/>
                  <a:gd name="T6" fmla="*/ 163 w 1202"/>
                  <a:gd name="T7" fmla="*/ 449 h 1064"/>
                  <a:gd name="T8" fmla="*/ 0 w 1202"/>
                  <a:gd name="T9" fmla="*/ 662 h 1064"/>
                  <a:gd name="T10" fmla="*/ 522 w 1202"/>
                  <a:gd name="T11" fmla="*/ 1064 h 1064"/>
                  <a:gd name="T12" fmla="*/ 685 w 1202"/>
                  <a:gd name="T13" fmla="*/ 851 h 1064"/>
                  <a:gd name="T14" fmla="*/ 685 w 1202"/>
                  <a:gd name="T15" fmla="*/ 851 h 1064"/>
                  <a:gd name="T16" fmla="*/ 1202 w 1202"/>
                  <a:gd name="T17" fmla="*/ 175 h 10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02" h="1064">
                    <a:moveTo>
                      <a:pt x="1202" y="175"/>
                    </a:moveTo>
                    <a:lnTo>
                      <a:pt x="975" y="0"/>
                    </a:lnTo>
                    <a:lnTo>
                      <a:pt x="458" y="676"/>
                    </a:lnTo>
                    <a:lnTo>
                      <a:pt x="163" y="449"/>
                    </a:lnTo>
                    <a:lnTo>
                      <a:pt x="0" y="662"/>
                    </a:lnTo>
                    <a:lnTo>
                      <a:pt x="522" y="1064"/>
                    </a:lnTo>
                    <a:lnTo>
                      <a:pt x="685" y="851"/>
                    </a:lnTo>
                    <a:lnTo>
                      <a:pt x="685" y="851"/>
                    </a:lnTo>
                    <a:lnTo>
                      <a:pt x="1202" y="175"/>
                    </a:lnTo>
                    <a:close/>
                  </a:path>
                </a:pathLst>
              </a:custGeom>
              <a:solidFill>
                <a:schemeClr val="bg1">
                  <a:lumMod val="95000"/>
                </a:schemeClr>
              </a:solidFill>
              <a:ln>
                <a:noFill/>
              </a:ln>
            </p:spPr>
            <p:txBody>
              <a:bodyPr vert="horz" wrap="square" lIns="91414" tIns="45706" rIns="91414" bIns="45706" numCol="1" anchor="t" anchorCtr="0" compatLnSpc="1">
                <a:prstTxWarp prst="textNoShape">
                  <a:avLst/>
                </a:prstTxWarp>
              </a:bodyPr>
              <a:lstStyle/>
              <a:p>
                <a:pPr defTabSz="913833">
                  <a:defRPr/>
                </a:pPr>
                <a:endParaRPr lang="en-US" sz="1020">
                  <a:solidFill>
                    <a:srgbClr val="000000"/>
                  </a:solidFill>
                  <a:latin typeface="Segoe UI"/>
                </a:endParaRPr>
              </a:p>
            </p:txBody>
          </p:sp>
        </p:grpSp>
        <p:cxnSp>
          <p:nvCxnSpPr>
            <p:cNvPr id="11" name="Straight Arrow Connector 10"/>
            <p:cNvCxnSpPr>
              <a:stCxn id="5" idx="3"/>
              <a:endCxn id="6" idx="1"/>
            </p:cNvCxnSpPr>
            <p:nvPr/>
          </p:nvCxnSpPr>
          <p:spPr>
            <a:xfrm>
              <a:off x="3523489" y="2465376"/>
              <a:ext cx="2582046" cy="15458"/>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7267007" y="3517107"/>
              <a:ext cx="11811" cy="533427"/>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endCxn id="6" idx="2"/>
            </p:cNvCxnSpPr>
            <p:nvPr/>
          </p:nvCxnSpPr>
          <p:spPr>
            <a:xfrm flipV="1">
              <a:off x="7155029" y="3517107"/>
              <a:ext cx="12" cy="491758"/>
            </a:xfrm>
            <a:prstGeom prst="straightConnector1">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nvGrpSpPr>
            <p:cNvPr id="14" name="Group 13"/>
            <p:cNvGrpSpPr/>
            <p:nvPr/>
          </p:nvGrpSpPr>
          <p:grpSpPr>
            <a:xfrm>
              <a:off x="2054598" y="5381082"/>
              <a:ext cx="425797" cy="441731"/>
              <a:chOff x="1707792" y="5550508"/>
              <a:chExt cx="434335" cy="450589"/>
            </a:xfrm>
          </p:grpSpPr>
          <p:grpSp>
            <p:nvGrpSpPr>
              <p:cNvPr id="51" name="Group 50"/>
              <p:cNvGrpSpPr/>
              <p:nvPr/>
            </p:nvGrpSpPr>
            <p:grpSpPr>
              <a:xfrm>
                <a:off x="1707792" y="5550508"/>
                <a:ext cx="433342" cy="450589"/>
                <a:chOff x="652595" y="2571201"/>
                <a:chExt cx="609169" cy="633414"/>
              </a:xfrm>
            </p:grpSpPr>
            <p:sp>
              <p:nvSpPr>
                <p:cNvPr id="53" name="Freeform 11"/>
                <p:cNvSpPr>
                  <a:spLocks/>
                </p:cNvSpPr>
                <p:nvPr/>
              </p:nvSpPr>
              <p:spPr bwMode="auto">
                <a:xfrm>
                  <a:off x="652595" y="2571201"/>
                  <a:ext cx="609169" cy="633414"/>
                </a:xfrm>
                <a:custGeom>
                  <a:avLst/>
                  <a:gdLst>
                    <a:gd name="T0" fmla="*/ 67 w 644"/>
                    <a:gd name="T1" fmla="*/ 0 h 671"/>
                    <a:gd name="T2" fmla="*/ 0 w 644"/>
                    <a:gd name="T3" fmla="*/ 68 h 671"/>
                    <a:gd name="T4" fmla="*/ 0 w 644"/>
                    <a:gd name="T5" fmla="*/ 603 h 671"/>
                    <a:gd name="T6" fmla="*/ 67 w 644"/>
                    <a:gd name="T7" fmla="*/ 671 h 671"/>
                    <a:gd name="T8" fmla="*/ 576 w 644"/>
                    <a:gd name="T9" fmla="*/ 671 h 671"/>
                    <a:gd name="T10" fmla="*/ 644 w 644"/>
                    <a:gd name="T11" fmla="*/ 603 h 671"/>
                    <a:gd name="T12" fmla="*/ 644 w 644"/>
                    <a:gd name="T13" fmla="*/ 193 h 671"/>
                    <a:gd name="T14" fmla="*/ 644 w 644"/>
                    <a:gd name="T15" fmla="*/ 127 h 671"/>
                    <a:gd name="T16" fmla="*/ 515 w 644"/>
                    <a:gd name="T17" fmla="*/ 0 h 671"/>
                    <a:gd name="T18" fmla="*/ 445 w 644"/>
                    <a:gd name="T19" fmla="*/ 0 h 671"/>
                    <a:gd name="T20" fmla="*/ 67 w 644"/>
                    <a:gd name="T21" fmla="*/ 0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4" h="671">
                      <a:moveTo>
                        <a:pt x="67" y="0"/>
                      </a:moveTo>
                      <a:cubicBezTo>
                        <a:pt x="30" y="0"/>
                        <a:pt x="0" y="30"/>
                        <a:pt x="0" y="68"/>
                      </a:cubicBezTo>
                      <a:cubicBezTo>
                        <a:pt x="0" y="603"/>
                        <a:pt x="0" y="603"/>
                        <a:pt x="0" y="603"/>
                      </a:cubicBezTo>
                      <a:cubicBezTo>
                        <a:pt x="0" y="641"/>
                        <a:pt x="30" y="671"/>
                        <a:pt x="67" y="671"/>
                      </a:cubicBezTo>
                      <a:cubicBezTo>
                        <a:pt x="576" y="671"/>
                        <a:pt x="576" y="671"/>
                        <a:pt x="576" y="671"/>
                      </a:cubicBezTo>
                      <a:cubicBezTo>
                        <a:pt x="613" y="671"/>
                        <a:pt x="644" y="641"/>
                        <a:pt x="644" y="603"/>
                      </a:cubicBezTo>
                      <a:cubicBezTo>
                        <a:pt x="644" y="193"/>
                        <a:pt x="644" y="193"/>
                        <a:pt x="644" y="193"/>
                      </a:cubicBezTo>
                      <a:cubicBezTo>
                        <a:pt x="644" y="156"/>
                        <a:pt x="644" y="127"/>
                        <a:pt x="644" y="127"/>
                      </a:cubicBezTo>
                      <a:cubicBezTo>
                        <a:pt x="515" y="0"/>
                        <a:pt x="515" y="0"/>
                        <a:pt x="515" y="0"/>
                      </a:cubicBezTo>
                      <a:cubicBezTo>
                        <a:pt x="515" y="0"/>
                        <a:pt x="482" y="0"/>
                        <a:pt x="445" y="0"/>
                      </a:cubicBezTo>
                      <a:lnTo>
                        <a:pt x="67" y="0"/>
                      </a:lnTo>
                      <a:close/>
                    </a:path>
                  </a:pathLst>
                </a:custGeom>
                <a:solidFill>
                  <a:srgbClr val="B9B9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8" tIns="45694" rIns="91388" bIns="45694" numCol="1" anchor="t" anchorCtr="0" compatLnSpc="1">
                  <a:prstTxWarp prst="textNoShape">
                    <a:avLst/>
                  </a:prstTxWarp>
                </a:bodyPr>
                <a:lstStyle/>
                <a:p>
                  <a:pPr defTabSz="932026">
                    <a:defRPr/>
                  </a:pPr>
                  <a:endParaRPr lang="en-US" sz="1020">
                    <a:solidFill>
                      <a:srgbClr val="FFFFFF"/>
                    </a:solidFill>
                    <a:latin typeface="Segoe UI"/>
                  </a:endParaRPr>
                </a:p>
              </p:txBody>
            </p:sp>
            <p:sp>
              <p:nvSpPr>
                <p:cNvPr id="54" name="Freeform 6"/>
                <p:cNvSpPr>
                  <a:spLocks/>
                </p:cNvSpPr>
                <p:nvPr/>
              </p:nvSpPr>
              <p:spPr bwMode="auto">
                <a:xfrm>
                  <a:off x="828249" y="2734135"/>
                  <a:ext cx="107771" cy="333265"/>
                </a:xfrm>
                <a:custGeom>
                  <a:avLst/>
                  <a:gdLst>
                    <a:gd name="T0" fmla="*/ 23 w 86"/>
                    <a:gd name="T1" fmla="*/ 56 h 265"/>
                    <a:gd name="T2" fmla="*/ 23 w 86"/>
                    <a:gd name="T3" fmla="*/ 90 h 265"/>
                    <a:gd name="T4" fmla="*/ 0 w 86"/>
                    <a:gd name="T5" fmla="*/ 119 h 265"/>
                    <a:gd name="T6" fmla="*/ 0 w 86"/>
                    <a:gd name="T7" fmla="*/ 146 h 265"/>
                    <a:gd name="T8" fmla="*/ 23 w 86"/>
                    <a:gd name="T9" fmla="*/ 174 h 265"/>
                    <a:gd name="T10" fmla="*/ 23 w 86"/>
                    <a:gd name="T11" fmla="*/ 210 h 265"/>
                    <a:gd name="T12" fmla="*/ 36 w 86"/>
                    <a:gd name="T13" fmla="*/ 251 h 265"/>
                    <a:gd name="T14" fmla="*/ 86 w 86"/>
                    <a:gd name="T15" fmla="*/ 265 h 265"/>
                    <a:gd name="T16" fmla="*/ 86 w 86"/>
                    <a:gd name="T17" fmla="*/ 237 h 265"/>
                    <a:gd name="T18" fmla="*/ 67 w 86"/>
                    <a:gd name="T19" fmla="*/ 231 h 265"/>
                    <a:gd name="T20" fmla="*/ 62 w 86"/>
                    <a:gd name="T21" fmla="*/ 210 h 265"/>
                    <a:gd name="T22" fmla="*/ 62 w 86"/>
                    <a:gd name="T23" fmla="*/ 179 h 265"/>
                    <a:gd name="T24" fmla="*/ 39 w 86"/>
                    <a:gd name="T25" fmla="*/ 133 h 265"/>
                    <a:gd name="T26" fmla="*/ 39 w 86"/>
                    <a:gd name="T27" fmla="*/ 132 h 265"/>
                    <a:gd name="T28" fmla="*/ 62 w 86"/>
                    <a:gd name="T29" fmla="*/ 87 h 265"/>
                    <a:gd name="T30" fmla="*/ 62 w 86"/>
                    <a:gd name="T31" fmla="*/ 55 h 265"/>
                    <a:gd name="T32" fmla="*/ 86 w 86"/>
                    <a:gd name="T33" fmla="*/ 28 h 265"/>
                    <a:gd name="T34" fmla="*/ 86 w 86"/>
                    <a:gd name="T35" fmla="*/ 0 h 265"/>
                    <a:gd name="T36" fmla="*/ 36 w 86"/>
                    <a:gd name="T37" fmla="*/ 14 h 265"/>
                    <a:gd name="T38" fmla="*/ 23 w 86"/>
                    <a:gd name="T39" fmla="*/ 56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6" h="265">
                      <a:moveTo>
                        <a:pt x="23" y="56"/>
                      </a:moveTo>
                      <a:lnTo>
                        <a:pt x="23" y="90"/>
                      </a:lnTo>
                      <a:cubicBezTo>
                        <a:pt x="23" y="109"/>
                        <a:pt x="16" y="119"/>
                        <a:pt x="0" y="119"/>
                      </a:cubicBezTo>
                      <a:lnTo>
                        <a:pt x="0" y="146"/>
                      </a:lnTo>
                      <a:cubicBezTo>
                        <a:pt x="16" y="146"/>
                        <a:pt x="23" y="156"/>
                        <a:pt x="23" y="174"/>
                      </a:cubicBezTo>
                      <a:lnTo>
                        <a:pt x="23" y="210"/>
                      </a:lnTo>
                      <a:cubicBezTo>
                        <a:pt x="23" y="229"/>
                        <a:pt x="27" y="243"/>
                        <a:pt x="36" y="251"/>
                      </a:cubicBezTo>
                      <a:cubicBezTo>
                        <a:pt x="45" y="260"/>
                        <a:pt x="62" y="265"/>
                        <a:pt x="86" y="265"/>
                      </a:cubicBezTo>
                      <a:lnTo>
                        <a:pt x="86" y="237"/>
                      </a:lnTo>
                      <a:cubicBezTo>
                        <a:pt x="77" y="237"/>
                        <a:pt x="71" y="235"/>
                        <a:pt x="67" y="231"/>
                      </a:cubicBezTo>
                      <a:cubicBezTo>
                        <a:pt x="64" y="227"/>
                        <a:pt x="62" y="220"/>
                        <a:pt x="62" y="210"/>
                      </a:cubicBezTo>
                      <a:lnTo>
                        <a:pt x="62" y="179"/>
                      </a:lnTo>
                      <a:cubicBezTo>
                        <a:pt x="62" y="154"/>
                        <a:pt x="54" y="139"/>
                        <a:pt x="39" y="133"/>
                      </a:cubicBezTo>
                      <a:lnTo>
                        <a:pt x="39" y="132"/>
                      </a:lnTo>
                      <a:cubicBezTo>
                        <a:pt x="54" y="126"/>
                        <a:pt x="62" y="111"/>
                        <a:pt x="62" y="87"/>
                      </a:cubicBezTo>
                      <a:lnTo>
                        <a:pt x="62" y="55"/>
                      </a:lnTo>
                      <a:cubicBezTo>
                        <a:pt x="62" y="37"/>
                        <a:pt x="70" y="28"/>
                        <a:pt x="86" y="28"/>
                      </a:cubicBezTo>
                      <a:lnTo>
                        <a:pt x="86" y="0"/>
                      </a:lnTo>
                      <a:cubicBezTo>
                        <a:pt x="62" y="0"/>
                        <a:pt x="46" y="5"/>
                        <a:pt x="36" y="14"/>
                      </a:cubicBezTo>
                      <a:cubicBezTo>
                        <a:pt x="28" y="23"/>
                        <a:pt x="23" y="37"/>
                        <a:pt x="23" y="56"/>
                      </a:cubicBezTo>
                      <a:close/>
                    </a:path>
                  </a:pathLst>
                </a:custGeom>
                <a:solidFill>
                  <a:schemeClr val="bg1"/>
                </a:solidFill>
                <a:ln w="0">
                  <a:noFill/>
                  <a:prstDash val="solid"/>
                  <a:round/>
                  <a:headEnd/>
                  <a:tailEnd/>
                </a:ln>
              </p:spPr>
              <p:txBody>
                <a:bodyPr vert="horz" wrap="square" lIns="91388" tIns="45694" rIns="91388" bIns="45694" numCol="1" anchor="t" anchorCtr="0" compatLnSpc="1">
                  <a:prstTxWarp prst="textNoShape">
                    <a:avLst/>
                  </a:prstTxWarp>
                </a:bodyPr>
                <a:lstStyle/>
                <a:p>
                  <a:pPr defTabSz="932026">
                    <a:defRPr/>
                  </a:pPr>
                  <a:endParaRPr lang="en-US" sz="1020">
                    <a:solidFill>
                      <a:srgbClr val="FFFFFF"/>
                    </a:solidFill>
                    <a:latin typeface="Segoe UI"/>
                  </a:endParaRPr>
                </a:p>
              </p:txBody>
            </p:sp>
            <p:sp>
              <p:nvSpPr>
                <p:cNvPr id="55" name="Freeform 7"/>
                <p:cNvSpPr>
                  <a:spLocks/>
                </p:cNvSpPr>
                <p:nvPr/>
              </p:nvSpPr>
              <p:spPr bwMode="auto">
                <a:xfrm>
                  <a:off x="1000685" y="2734135"/>
                  <a:ext cx="107771" cy="333265"/>
                </a:xfrm>
                <a:custGeom>
                  <a:avLst/>
                  <a:gdLst>
                    <a:gd name="T0" fmla="*/ 62 w 85"/>
                    <a:gd name="T1" fmla="*/ 90 h 265"/>
                    <a:gd name="T2" fmla="*/ 62 w 85"/>
                    <a:gd name="T3" fmla="*/ 56 h 265"/>
                    <a:gd name="T4" fmla="*/ 50 w 85"/>
                    <a:gd name="T5" fmla="*/ 15 h 265"/>
                    <a:gd name="T6" fmla="*/ 0 w 85"/>
                    <a:gd name="T7" fmla="*/ 0 h 265"/>
                    <a:gd name="T8" fmla="*/ 0 w 85"/>
                    <a:gd name="T9" fmla="*/ 28 h 265"/>
                    <a:gd name="T10" fmla="*/ 24 w 85"/>
                    <a:gd name="T11" fmla="*/ 55 h 265"/>
                    <a:gd name="T12" fmla="*/ 24 w 85"/>
                    <a:gd name="T13" fmla="*/ 85 h 265"/>
                    <a:gd name="T14" fmla="*/ 47 w 85"/>
                    <a:gd name="T15" fmla="*/ 132 h 265"/>
                    <a:gd name="T16" fmla="*/ 47 w 85"/>
                    <a:gd name="T17" fmla="*/ 133 h 265"/>
                    <a:gd name="T18" fmla="*/ 24 w 85"/>
                    <a:gd name="T19" fmla="*/ 178 h 265"/>
                    <a:gd name="T20" fmla="*/ 24 w 85"/>
                    <a:gd name="T21" fmla="*/ 210 h 265"/>
                    <a:gd name="T22" fmla="*/ 19 w 85"/>
                    <a:gd name="T23" fmla="*/ 231 h 265"/>
                    <a:gd name="T24" fmla="*/ 0 w 85"/>
                    <a:gd name="T25" fmla="*/ 237 h 265"/>
                    <a:gd name="T26" fmla="*/ 0 w 85"/>
                    <a:gd name="T27" fmla="*/ 265 h 265"/>
                    <a:gd name="T28" fmla="*/ 50 w 85"/>
                    <a:gd name="T29" fmla="*/ 251 h 265"/>
                    <a:gd name="T30" fmla="*/ 62 w 85"/>
                    <a:gd name="T31" fmla="*/ 209 h 265"/>
                    <a:gd name="T32" fmla="*/ 62 w 85"/>
                    <a:gd name="T33" fmla="*/ 174 h 265"/>
                    <a:gd name="T34" fmla="*/ 85 w 85"/>
                    <a:gd name="T35" fmla="*/ 146 h 265"/>
                    <a:gd name="T36" fmla="*/ 85 w 85"/>
                    <a:gd name="T37" fmla="*/ 119 h 265"/>
                    <a:gd name="T38" fmla="*/ 62 w 85"/>
                    <a:gd name="T39" fmla="*/ 90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 h="265">
                      <a:moveTo>
                        <a:pt x="62" y="90"/>
                      </a:moveTo>
                      <a:lnTo>
                        <a:pt x="62" y="56"/>
                      </a:lnTo>
                      <a:cubicBezTo>
                        <a:pt x="62" y="37"/>
                        <a:pt x="58" y="23"/>
                        <a:pt x="50" y="15"/>
                      </a:cubicBezTo>
                      <a:cubicBezTo>
                        <a:pt x="40" y="5"/>
                        <a:pt x="23" y="0"/>
                        <a:pt x="0" y="0"/>
                      </a:cubicBezTo>
                      <a:lnTo>
                        <a:pt x="0" y="28"/>
                      </a:lnTo>
                      <a:cubicBezTo>
                        <a:pt x="16" y="28"/>
                        <a:pt x="24" y="37"/>
                        <a:pt x="24" y="55"/>
                      </a:cubicBezTo>
                      <a:lnTo>
                        <a:pt x="24" y="85"/>
                      </a:lnTo>
                      <a:cubicBezTo>
                        <a:pt x="24" y="110"/>
                        <a:pt x="32" y="126"/>
                        <a:pt x="47" y="132"/>
                      </a:cubicBezTo>
                      <a:lnTo>
                        <a:pt x="47" y="133"/>
                      </a:lnTo>
                      <a:cubicBezTo>
                        <a:pt x="32" y="139"/>
                        <a:pt x="24" y="154"/>
                        <a:pt x="24" y="178"/>
                      </a:cubicBezTo>
                      <a:lnTo>
                        <a:pt x="24" y="210"/>
                      </a:lnTo>
                      <a:cubicBezTo>
                        <a:pt x="24" y="219"/>
                        <a:pt x="22" y="226"/>
                        <a:pt x="19" y="231"/>
                      </a:cubicBezTo>
                      <a:cubicBezTo>
                        <a:pt x="15" y="235"/>
                        <a:pt x="9" y="237"/>
                        <a:pt x="0" y="237"/>
                      </a:cubicBezTo>
                      <a:lnTo>
                        <a:pt x="0" y="265"/>
                      </a:lnTo>
                      <a:cubicBezTo>
                        <a:pt x="24" y="265"/>
                        <a:pt x="41" y="260"/>
                        <a:pt x="50" y="251"/>
                      </a:cubicBezTo>
                      <a:cubicBezTo>
                        <a:pt x="58" y="242"/>
                        <a:pt x="62" y="229"/>
                        <a:pt x="62" y="209"/>
                      </a:cubicBezTo>
                      <a:lnTo>
                        <a:pt x="62" y="174"/>
                      </a:lnTo>
                      <a:cubicBezTo>
                        <a:pt x="62" y="156"/>
                        <a:pt x="70" y="146"/>
                        <a:pt x="85" y="146"/>
                      </a:cubicBezTo>
                      <a:lnTo>
                        <a:pt x="85" y="119"/>
                      </a:lnTo>
                      <a:cubicBezTo>
                        <a:pt x="70" y="119"/>
                        <a:pt x="62" y="109"/>
                        <a:pt x="62" y="90"/>
                      </a:cubicBezTo>
                      <a:close/>
                    </a:path>
                  </a:pathLst>
                </a:custGeom>
                <a:solidFill>
                  <a:schemeClr val="bg1"/>
                </a:solidFill>
                <a:ln w="0">
                  <a:noFill/>
                  <a:prstDash val="solid"/>
                  <a:round/>
                  <a:headEnd/>
                  <a:tailEnd/>
                </a:ln>
              </p:spPr>
              <p:txBody>
                <a:bodyPr vert="horz" wrap="square" lIns="91388" tIns="45694" rIns="91388" bIns="45694" numCol="1" anchor="t" anchorCtr="0" compatLnSpc="1">
                  <a:prstTxWarp prst="textNoShape">
                    <a:avLst/>
                  </a:prstTxWarp>
                </a:bodyPr>
                <a:lstStyle/>
                <a:p>
                  <a:pPr defTabSz="932026">
                    <a:defRPr/>
                  </a:pPr>
                  <a:endParaRPr lang="en-US" sz="1020">
                    <a:solidFill>
                      <a:srgbClr val="FFFFFF"/>
                    </a:solidFill>
                    <a:latin typeface="Segoe UI"/>
                  </a:endParaRPr>
                </a:p>
              </p:txBody>
            </p:sp>
          </p:grpSp>
          <p:sp>
            <p:nvSpPr>
              <p:cNvPr id="52" name="Freeform 12"/>
              <p:cNvSpPr>
                <a:spLocks/>
              </p:cNvSpPr>
              <p:nvPr/>
            </p:nvSpPr>
            <p:spPr bwMode="auto">
              <a:xfrm>
                <a:off x="2052638" y="5550508"/>
                <a:ext cx="89489" cy="85748"/>
              </a:xfrm>
              <a:custGeom>
                <a:avLst/>
                <a:gdLst>
                  <a:gd name="T0" fmla="*/ 81 w 81"/>
                  <a:gd name="T1" fmla="*/ 79 h 79"/>
                  <a:gd name="T2" fmla="*/ 0 w 81"/>
                  <a:gd name="T3" fmla="*/ 0 h 79"/>
                  <a:gd name="T4" fmla="*/ 0 w 81"/>
                  <a:gd name="T5" fmla="*/ 79 h 79"/>
                  <a:gd name="T6" fmla="*/ 81 w 81"/>
                  <a:gd name="T7" fmla="*/ 79 h 79"/>
                </a:gdLst>
                <a:ahLst/>
                <a:cxnLst>
                  <a:cxn ang="0">
                    <a:pos x="T0" y="T1"/>
                  </a:cxn>
                  <a:cxn ang="0">
                    <a:pos x="T2" y="T3"/>
                  </a:cxn>
                  <a:cxn ang="0">
                    <a:pos x="T4" y="T5"/>
                  </a:cxn>
                  <a:cxn ang="0">
                    <a:pos x="T6" y="T7"/>
                  </a:cxn>
                </a:cxnLst>
                <a:rect l="0" t="0" r="r" b="b"/>
                <a:pathLst>
                  <a:path w="81" h="79">
                    <a:moveTo>
                      <a:pt x="81" y="79"/>
                    </a:moveTo>
                    <a:lnTo>
                      <a:pt x="0" y="0"/>
                    </a:lnTo>
                    <a:lnTo>
                      <a:pt x="0" y="79"/>
                    </a:lnTo>
                    <a:lnTo>
                      <a:pt x="81" y="79"/>
                    </a:lnTo>
                    <a:close/>
                  </a:path>
                </a:pathLst>
              </a:custGeom>
              <a:solidFill>
                <a:srgbClr val="969696"/>
              </a:solidFill>
              <a:ln>
                <a:noFill/>
              </a:ln>
              <a:extLst/>
            </p:spPr>
            <p:txBody>
              <a:bodyPr vert="horz" wrap="square" lIns="91401" tIns="45700" rIns="91401" bIns="45700" numCol="1" anchor="t" anchorCtr="0" compatLnSpc="1">
                <a:prstTxWarp prst="textNoShape">
                  <a:avLst/>
                </a:prstTxWarp>
              </a:bodyPr>
              <a:lstStyle/>
              <a:p>
                <a:pPr defTabSz="932205">
                  <a:defRPr/>
                </a:pPr>
                <a:endParaRPr lang="en-US" sz="1020" dirty="0">
                  <a:solidFill>
                    <a:srgbClr val="FFFFFF"/>
                  </a:solidFill>
                  <a:latin typeface="Segoe UI"/>
                </a:endParaRPr>
              </a:p>
            </p:txBody>
          </p:sp>
        </p:grpSp>
        <p:grpSp>
          <p:nvGrpSpPr>
            <p:cNvPr id="15" name="Group 14"/>
            <p:cNvGrpSpPr/>
            <p:nvPr/>
          </p:nvGrpSpPr>
          <p:grpSpPr>
            <a:xfrm>
              <a:off x="3359552" y="4710410"/>
              <a:ext cx="321734" cy="111031"/>
              <a:chOff x="8334103" y="3143135"/>
              <a:chExt cx="582929" cy="201169"/>
            </a:xfrm>
          </p:grpSpPr>
          <p:pic>
            <p:nvPicPr>
              <p:cNvPr id="49" name="Picture 48"/>
              <p:cNvPicPr>
                <a:picLocks/>
              </p:cNvPicPr>
              <p:nvPr/>
            </p:nvPicPr>
            <p:blipFill>
              <a:blip r:embed="rId4"/>
              <a:stretch>
                <a:fillRect/>
              </a:stretch>
            </p:blipFill>
            <p:spPr>
              <a:xfrm>
                <a:off x="8334103" y="3143135"/>
                <a:ext cx="186403" cy="201169"/>
              </a:xfrm>
              <a:prstGeom prst="rect">
                <a:avLst/>
              </a:prstGeom>
            </p:spPr>
          </p:pic>
          <p:pic>
            <p:nvPicPr>
              <p:cNvPr id="50" name="Picture 49"/>
              <p:cNvPicPr>
                <a:picLocks/>
              </p:cNvPicPr>
              <p:nvPr/>
            </p:nvPicPr>
            <p:blipFill>
              <a:blip r:embed="rId4"/>
              <a:stretch>
                <a:fillRect/>
              </a:stretch>
            </p:blipFill>
            <p:spPr>
              <a:xfrm flipH="1">
                <a:off x="8734152" y="3143135"/>
                <a:ext cx="182880" cy="201169"/>
              </a:xfrm>
              <a:prstGeom prst="rect">
                <a:avLst/>
              </a:prstGeom>
            </p:spPr>
          </p:pic>
        </p:grpSp>
        <p:sp>
          <p:nvSpPr>
            <p:cNvPr id="16" name="TextBox 15"/>
            <p:cNvSpPr txBox="1"/>
            <p:nvPr/>
          </p:nvSpPr>
          <p:spPr>
            <a:xfrm>
              <a:off x="3360287" y="5085007"/>
              <a:ext cx="392328" cy="213070"/>
            </a:xfrm>
            <a:prstGeom prst="rect">
              <a:avLst/>
            </a:prstGeom>
            <a:noFill/>
          </p:spPr>
          <p:txBody>
            <a:bodyPr wrap="none" lIns="0" tIns="0" rIns="0" bIns="0" rtlCol="0">
              <a:spAutoFit/>
            </a:bodyPr>
            <a:lstStyle/>
            <a:p>
              <a:pPr defTabSz="932384">
                <a:lnSpc>
                  <a:spcPct val="90000"/>
                </a:lnSpc>
                <a:spcAft>
                  <a:spcPts val="600"/>
                </a:spcAft>
                <a:defRPr/>
              </a:pPr>
              <a:r>
                <a:rPr lang="en-US" sz="816" b="1" dirty="0">
                  <a:gradFill>
                    <a:gsLst>
                      <a:gs pos="2917">
                        <a:srgbClr val="FFFFFF"/>
                      </a:gs>
                      <a:gs pos="30000">
                        <a:srgbClr val="FFFFFF"/>
                      </a:gs>
                    </a:gsLst>
                    <a:lin ang="5400000" scaled="0"/>
                  </a:gradFill>
                  <a:latin typeface="Segoe UI"/>
                </a:rPr>
                <a:t>OPS</a:t>
              </a:r>
            </a:p>
          </p:txBody>
        </p:sp>
        <p:pic>
          <p:nvPicPr>
            <p:cNvPr id="17" name="Picture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48809" y="4373627"/>
              <a:ext cx="1074351" cy="2109052"/>
            </a:xfrm>
            <a:prstGeom prst="rect">
              <a:avLst/>
            </a:prstGeom>
          </p:spPr>
        </p:pic>
        <p:sp>
          <p:nvSpPr>
            <p:cNvPr id="18" name="TextBox 17"/>
            <p:cNvSpPr txBox="1"/>
            <p:nvPr/>
          </p:nvSpPr>
          <p:spPr>
            <a:xfrm>
              <a:off x="3186385" y="5132790"/>
              <a:ext cx="392328" cy="213070"/>
            </a:xfrm>
            <a:prstGeom prst="rect">
              <a:avLst/>
            </a:prstGeom>
            <a:noFill/>
          </p:spPr>
          <p:txBody>
            <a:bodyPr wrap="none" lIns="0" tIns="0" rIns="0" bIns="0" rtlCol="0">
              <a:spAutoFit/>
            </a:bodyPr>
            <a:lstStyle/>
            <a:p>
              <a:pPr defTabSz="932384">
                <a:lnSpc>
                  <a:spcPct val="90000"/>
                </a:lnSpc>
                <a:spcAft>
                  <a:spcPts val="600"/>
                </a:spcAft>
                <a:defRPr/>
              </a:pPr>
              <a:r>
                <a:rPr lang="en-US" sz="816" b="1" dirty="0">
                  <a:solidFill>
                    <a:schemeClr val="accent2">
                      <a:lumMod val="60000"/>
                      <a:lumOff val="40000"/>
                    </a:schemeClr>
                  </a:solidFill>
                  <a:latin typeface="Segoe UI"/>
                </a:rPr>
                <a:t>OPS</a:t>
              </a:r>
            </a:p>
          </p:txBody>
        </p:sp>
        <p:cxnSp>
          <p:nvCxnSpPr>
            <p:cNvPr id="19" name="Straight Arrow Connector 18"/>
            <p:cNvCxnSpPr>
              <a:cxnSpLocks/>
              <a:stCxn id="6" idx="3"/>
            </p:cNvCxnSpPr>
            <p:nvPr/>
          </p:nvCxnSpPr>
          <p:spPr>
            <a:xfrm flipV="1">
              <a:off x="8204548" y="2462528"/>
              <a:ext cx="1679613" cy="18306"/>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cxnSpLocks/>
              <a:stCxn id="6" idx="3"/>
              <a:endCxn id="45" idx="1"/>
            </p:cNvCxnSpPr>
            <p:nvPr/>
          </p:nvCxnSpPr>
          <p:spPr>
            <a:xfrm>
              <a:off x="8204548" y="2480834"/>
              <a:ext cx="1331930" cy="2400889"/>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1" name="Group 20"/>
            <p:cNvGrpSpPr/>
            <p:nvPr/>
          </p:nvGrpSpPr>
          <p:grpSpPr>
            <a:xfrm>
              <a:off x="9884160" y="1615197"/>
              <a:ext cx="1694661" cy="1694661"/>
              <a:chOff x="9285108" y="1568259"/>
              <a:chExt cx="1728642" cy="1728642"/>
            </a:xfrm>
          </p:grpSpPr>
          <p:pic>
            <p:nvPicPr>
              <p:cNvPr id="47" name="Picture 4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85108" y="1568259"/>
                <a:ext cx="1728642" cy="1728642"/>
              </a:xfrm>
              <a:prstGeom prst="rect">
                <a:avLst/>
              </a:prstGeom>
            </p:spPr>
          </p:pic>
          <p:sp>
            <p:nvSpPr>
              <p:cNvPr id="48" name="TextBox 47"/>
              <p:cNvSpPr txBox="1"/>
              <p:nvPr/>
            </p:nvSpPr>
            <p:spPr>
              <a:xfrm>
                <a:off x="9607869" y="2198501"/>
                <a:ext cx="1203324" cy="856217"/>
              </a:xfrm>
              <a:prstGeom prst="rect">
                <a:avLst/>
              </a:prstGeom>
              <a:noFill/>
            </p:spPr>
            <p:txBody>
              <a:bodyPr wrap="none" lIns="182854" tIns="146283" rIns="182854" bIns="146283" rtlCol="0">
                <a:spAutoFit/>
              </a:bodyPr>
              <a:lstStyle/>
              <a:p>
                <a:pPr>
                  <a:lnSpc>
                    <a:spcPct val="90000"/>
                  </a:lnSpc>
                  <a:spcAft>
                    <a:spcPts val="600"/>
                  </a:spcAft>
                </a:pPr>
                <a:r>
                  <a:rPr lang="en-US" sz="1122" b="1" dirty="0">
                    <a:gradFill>
                      <a:gsLst>
                        <a:gs pos="2917">
                          <a:schemeClr val="tx1"/>
                        </a:gs>
                        <a:gs pos="30000">
                          <a:schemeClr val="tx1"/>
                        </a:gs>
                      </a:gsLst>
                      <a:lin ang="5400000" scaled="0"/>
                    </a:gradFill>
                  </a:rPr>
                  <a:t>PPL</a:t>
                </a:r>
              </a:p>
            </p:txBody>
          </p:sp>
        </p:grpSp>
        <p:grpSp>
          <p:nvGrpSpPr>
            <p:cNvPr id="22" name="Group 21"/>
            <p:cNvGrpSpPr/>
            <p:nvPr/>
          </p:nvGrpSpPr>
          <p:grpSpPr>
            <a:xfrm>
              <a:off x="9536478" y="3812061"/>
              <a:ext cx="2139324" cy="2139324"/>
              <a:chOff x="8741267" y="3888004"/>
              <a:chExt cx="2182222" cy="2182222"/>
            </a:xfrm>
          </p:grpSpPr>
          <p:pic>
            <p:nvPicPr>
              <p:cNvPr id="45" name="Picture 4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41267" y="3888004"/>
                <a:ext cx="2182222" cy="2182222"/>
              </a:xfrm>
              <a:prstGeom prst="rect">
                <a:avLst/>
              </a:prstGeom>
            </p:spPr>
          </p:pic>
          <p:sp>
            <p:nvSpPr>
              <p:cNvPr id="46" name="TextBox 45"/>
              <p:cNvSpPr txBox="1"/>
              <p:nvPr/>
            </p:nvSpPr>
            <p:spPr>
              <a:xfrm>
                <a:off x="9235724" y="4831874"/>
                <a:ext cx="1493228" cy="856218"/>
              </a:xfrm>
              <a:prstGeom prst="rect">
                <a:avLst/>
              </a:prstGeom>
              <a:noFill/>
            </p:spPr>
            <p:txBody>
              <a:bodyPr wrap="none" lIns="182854" tIns="146283" rIns="182854" bIns="146283" rtlCol="0">
                <a:spAutoFit/>
              </a:bodyPr>
              <a:lstStyle/>
              <a:p>
                <a:pPr>
                  <a:lnSpc>
                    <a:spcPct val="90000"/>
                  </a:lnSpc>
                  <a:spcAft>
                    <a:spcPts val="600"/>
                  </a:spcAft>
                </a:pPr>
                <a:r>
                  <a:rPr lang="en-US" sz="1122" b="1" dirty="0">
                    <a:gradFill>
                      <a:gsLst>
                        <a:gs pos="2917">
                          <a:schemeClr val="tx1"/>
                        </a:gs>
                        <a:gs pos="30000">
                          <a:schemeClr val="tx1"/>
                        </a:gs>
                      </a:gsLst>
                      <a:lin ang="5400000" scaled="0"/>
                    </a:gradFill>
                  </a:rPr>
                  <a:t>PROD</a:t>
                </a:r>
              </a:p>
            </p:txBody>
          </p:sp>
        </p:grpSp>
        <p:grpSp>
          <p:nvGrpSpPr>
            <p:cNvPr id="23" name="CODE 2" descr="Down:  Group 65"/>
            <p:cNvGrpSpPr/>
            <p:nvPr/>
          </p:nvGrpSpPr>
          <p:grpSpPr>
            <a:xfrm>
              <a:off x="1753739" y="2385248"/>
              <a:ext cx="527551" cy="549859"/>
              <a:chOff x="2328300" y="3506767"/>
              <a:chExt cx="551703" cy="575034"/>
            </a:xfrm>
          </p:grpSpPr>
          <p:sp>
            <p:nvSpPr>
              <p:cNvPr id="36" name="AutoShape 3"/>
              <p:cNvSpPr>
                <a:spLocks noChangeAspect="1" noChangeArrowheads="1" noTextEdit="1"/>
              </p:cNvSpPr>
              <p:nvPr/>
            </p:nvSpPr>
            <p:spPr bwMode="auto">
              <a:xfrm>
                <a:off x="2330370" y="3507272"/>
                <a:ext cx="543013" cy="555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1" tIns="45700" rIns="91401" bIns="45700" numCol="1" anchor="t" anchorCtr="0" compatLnSpc="1">
                <a:prstTxWarp prst="textNoShape">
                  <a:avLst/>
                </a:prstTxWarp>
              </a:bodyPr>
              <a:lstStyle/>
              <a:p>
                <a:pPr defTabSz="932205">
                  <a:defRPr/>
                </a:pPr>
                <a:endParaRPr lang="en-US" sz="1020">
                  <a:solidFill>
                    <a:srgbClr val="FFFFFF"/>
                  </a:solidFill>
                  <a:latin typeface="Segoe UI"/>
                </a:endParaRPr>
              </a:p>
            </p:txBody>
          </p:sp>
          <p:grpSp>
            <p:nvGrpSpPr>
              <p:cNvPr id="37" name="Group 36"/>
              <p:cNvGrpSpPr/>
              <p:nvPr/>
            </p:nvGrpSpPr>
            <p:grpSpPr>
              <a:xfrm>
                <a:off x="2328300" y="3506767"/>
                <a:ext cx="551703" cy="575034"/>
                <a:chOff x="3937001" y="4448175"/>
                <a:chExt cx="638175" cy="665163"/>
              </a:xfrm>
            </p:grpSpPr>
            <p:grpSp>
              <p:nvGrpSpPr>
                <p:cNvPr id="38" name="Group 10"/>
                <p:cNvGrpSpPr>
                  <a:grpSpLocks noChangeAspect="1"/>
                </p:cNvGrpSpPr>
                <p:nvPr/>
              </p:nvGrpSpPr>
              <p:grpSpPr bwMode="auto">
                <a:xfrm>
                  <a:off x="3937001" y="4448175"/>
                  <a:ext cx="638175" cy="665163"/>
                  <a:chOff x="2480" y="2802"/>
                  <a:chExt cx="402" cy="419"/>
                </a:xfrm>
              </p:grpSpPr>
              <p:sp>
                <p:nvSpPr>
                  <p:cNvPr id="42" name="AutoShape 9"/>
                  <p:cNvSpPr>
                    <a:spLocks noChangeAspect="1" noChangeArrowheads="1" noTextEdit="1"/>
                  </p:cNvSpPr>
                  <p:nvPr/>
                </p:nvSpPr>
                <p:spPr bwMode="auto">
                  <a:xfrm>
                    <a:off x="2481" y="2802"/>
                    <a:ext cx="400"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1" tIns="45700" rIns="91401" bIns="45700" numCol="1" anchor="t" anchorCtr="0" compatLnSpc="1">
                    <a:prstTxWarp prst="textNoShape">
                      <a:avLst/>
                    </a:prstTxWarp>
                  </a:bodyPr>
                  <a:lstStyle/>
                  <a:p>
                    <a:pPr defTabSz="932205">
                      <a:defRPr/>
                    </a:pPr>
                    <a:endParaRPr lang="en-US" sz="1020">
                      <a:solidFill>
                        <a:srgbClr val="FFFFFF"/>
                      </a:solidFill>
                      <a:latin typeface="Segoe UI"/>
                    </a:endParaRPr>
                  </a:p>
                </p:txBody>
              </p:sp>
              <p:sp>
                <p:nvSpPr>
                  <p:cNvPr id="43" name="Freeform 11"/>
                  <p:cNvSpPr>
                    <a:spLocks/>
                  </p:cNvSpPr>
                  <p:nvPr/>
                </p:nvSpPr>
                <p:spPr bwMode="auto">
                  <a:xfrm>
                    <a:off x="2480" y="2802"/>
                    <a:ext cx="402" cy="418"/>
                  </a:xfrm>
                  <a:custGeom>
                    <a:avLst/>
                    <a:gdLst>
                      <a:gd name="T0" fmla="*/ 67 w 644"/>
                      <a:gd name="T1" fmla="*/ 0 h 671"/>
                      <a:gd name="T2" fmla="*/ 0 w 644"/>
                      <a:gd name="T3" fmla="*/ 68 h 671"/>
                      <a:gd name="T4" fmla="*/ 0 w 644"/>
                      <a:gd name="T5" fmla="*/ 603 h 671"/>
                      <a:gd name="T6" fmla="*/ 67 w 644"/>
                      <a:gd name="T7" fmla="*/ 671 h 671"/>
                      <a:gd name="T8" fmla="*/ 576 w 644"/>
                      <a:gd name="T9" fmla="*/ 671 h 671"/>
                      <a:gd name="T10" fmla="*/ 644 w 644"/>
                      <a:gd name="T11" fmla="*/ 603 h 671"/>
                      <a:gd name="T12" fmla="*/ 644 w 644"/>
                      <a:gd name="T13" fmla="*/ 193 h 671"/>
                      <a:gd name="T14" fmla="*/ 644 w 644"/>
                      <a:gd name="T15" fmla="*/ 127 h 671"/>
                      <a:gd name="T16" fmla="*/ 515 w 644"/>
                      <a:gd name="T17" fmla="*/ 0 h 671"/>
                      <a:gd name="T18" fmla="*/ 445 w 644"/>
                      <a:gd name="T19" fmla="*/ 0 h 671"/>
                      <a:gd name="T20" fmla="*/ 67 w 644"/>
                      <a:gd name="T21" fmla="*/ 0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4" h="671">
                        <a:moveTo>
                          <a:pt x="67" y="0"/>
                        </a:moveTo>
                        <a:cubicBezTo>
                          <a:pt x="30" y="0"/>
                          <a:pt x="0" y="30"/>
                          <a:pt x="0" y="68"/>
                        </a:cubicBezTo>
                        <a:cubicBezTo>
                          <a:pt x="0" y="603"/>
                          <a:pt x="0" y="603"/>
                          <a:pt x="0" y="603"/>
                        </a:cubicBezTo>
                        <a:cubicBezTo>
                          <a:pt x="0" y="641"/>
                          <a:pt x="30" y="671"/>
                          <a:pt x="67" y="671"/>
                        </a:cubicBezTo>
                        <a:cubicBezTo>
                          <a:pt x="576" y="671"/>
                          <a:pt x="576" y="671"/>
                          <a:pt x="576" y="671"/>
                        </a:cubicBezTo>
                        <a:cubicBezTo>
                          <a:pt x="613" y="671"/>
                          <a:pt x="644" y="641"/>
                          <a:pt x="644" y="603"/>
                        </a:cubicBezTo>
                        <a:cubicBezTo>
                          <a:pt x="644" y="193"/>
                          <a:pt x="644" y="193"/>
                          <a:pt x="644" y="193"/>
                        </a:cubicBezTo>
                        <a:cubicBezTo>
                          <a:pt x="644" y="156"/>
                          <a:pt x="644" y="127"/>
                          <a:pt x="644" y="127"/>
                        </a:cubicBezTo>
                        <a:cubicBezTo>
                          <a:pt x="515" y="0"/>
                          <a:pt x="515" y="0"/>
                          <a:pt x="515" y="0"/>
                        </a:cubicBezTo>
                        <a:cubicBezTo>
                          <a:pt x="515" y="0"/>
                          <a:pt x="482" y="0"/>
                          <a:pt x="445" y="0"/>
                        </a:cubicBezTo>
                        <a:lnTo>
                          <a:pt x="67" y="0"/>
                        </a:lnTo>
                        <a:close/>
                      </a:path>
                    </a:pathLst>
                  </a:custGeom>
                  <a:solidFill>
                    <a:srgbClr val="B9B9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1" tIns="45700" rIns="91401" bIns="45700" numCol="1" anchor="t" anchorCtr="0" compatLnSpc="1">
                    <a:prstTxWarp prst="textNoShape">
                      <a:avLst/>
                    </a:prstTxWarp>
                  </a:bodyPr>
                  <a:lstStyle/>
                  <a:p>
                    <a:pPr defTabSz="932205">
                      <a:defRPr/>
                    </a:pPr>
                    <a:endParaRPr lang="en-US" sz="1020">
                      <a:solidFill>
                        <a:srgbClr val="FFFFFF"/>
                      </a:solidFill>
                      <a:latin typeface="Segoe UI"/>
                    </a:endParaRPr>
                  </a:p>
                </p:txBody>
              </p:sp>
              <p:sp>
                <p:nvSpPr>
                  <p:cNvPr id="44" name="Freeform 12"/>
                  <p:cNvSpPr>
                    <a:spLocks/>
                  </p:cNvSpPr>
                  <p:nvPr/>
                </p:nvSpPr>
                <p:spPr bwMode="auto">
                  <a:xfrm>
                    <a:off x="2801" y="2802"/>
                    <a:ext cx="81" cy="79"/>
                  </a:xfrm>
                  <a:custGeom>
                    <a:avLst/>
                    <a:gdLst>
                      <a:gd name="T0" fmla="*/ 81 w 81"/>
                      <a:gd name="T1" fmla="*/ 79 h 79"/>
                      <a:gd name="T2" fmla="*/ 0 w 81"/>
                      <a:gd name="T3" fmla="*/ 0 h 79"/>
                      <a:gd name="T4" fmla="*/ 0 w 81"/>
                      <a:gd name="T5" fmla="*/ 79 h 79"/>
                      <a:gd name="T6" fmla="*/ 81 w 81"/>
                      <a:gd name="T7" fmla="*/ 79 h 79"/>
                    </a:gdLst>
                    <a:ahLst/>
                    <a:cxnLst>
                      <a:cxn ang="0">
                        <a:pos x="T0" y="T1"/>
                      </a:cxn>
                      <a:cxn ang="0">
                        <a:pos x="T2" y="T3"/>
                      </a:cxn>
                      <a:cxn ang="0">
                        <a:pos x="T4" y="T5"/>
                      </a:cxn>
                      <a:cxn ang="0">
                        <a:pos x="T6" y="T7"/>
                      </a:cxn>
                    </a:cxnLst>
                    <a:rect l="0" t="0" r="r" b="b"/>
                    <a:pathLst>
                      <a:path w="81" h="79">
                        <a:moveTo>
                          <a:pt x="81" y="79"/>
                        </a:moveTo>
                        <a:lnTo>
                          <a:pt x="0" y="0"/>
                        </a:lnTo>
                        <a:lnTo>
                          <a:pt x="0" y="79"/>
                        </a:lnTo>
                        <a:lnTo>
                          <a:pt x="81" y="79"/>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1" tIns="45700" rIns="91401" bIns="45700" numCol="1" anchor="t" anchorCtr="0" compatLnSpc="1">
                    <a:prstTxWarp prst="textNoShape">
                      <a:avLst/>
                    </a:prstTxWarp>
                  </a:bodyPr>
                  <a:lstStyle/>
                  <a:p>
                    <a:pPr defTabSz="932205">
                      <a:defRPr/>
                    </a:pPr>
                    <a:endParaRPr lang="en-US" sz="1020">
                      <a:solidFill>
                        <a:srgbClr val="FFFFFF"/>
                      </a:solidFill>
                      <a:latin typeface="Segoe UI"/>
                    </a:endParaRPr>
                  </a:p>
                </p:txBody>
              </p:sp>
            </p:grpSp>
            <p:grpSp>
              <p:nvGrpSpPr>
                <p:cNvPr id="39" name="Group 38"/>
                <p:cNvGrpSpPr/>
                <p:nvPr/>
              </p:nvGrpSpPr>
              <p:grpSpPr>
                <a:xfrm>
                  <a:off x="4120302" y="4618868"/>
                  <a:ext cx="293550" cy="349134"/>
                  <a:chOff x="4662074" y="4335997"/>
                  <a:chExt cx="234105" cy="278433"/>
                </a:xfrm>
              </p:grpSpPr>
              <p:sp>
                <p:nvSpPr>
                  <p:cNvPr id="40" name="Freeform 6"/>
                  <p:cNvSpPr>
                    <a:spLocks/>
                  </p:cNvSpPr>
                  <p:nvPr/>
                </p:nvSpPr>
                <p:spPr bwMode="auto">
                  <a:xfrm>
                    <a:off x="4662074" y="4335997"/>
                    <a:ext cx="90040" cy="278433"/>
                  </a:xfrm>
                  <a:custGeom>
                    <a:avLst/>
                    <a:gdLst>
                      <a:gd name="T0" fmla="*/ 23 w 86"/>
                      <a:gd name="T1" fmla="*/ 56 h 265"/>
                      <a:gd name="T2" fmla="*/ 23 w 86"/>
                      <a:gd name="T3" fmla="*/ 90 h 265"/>
                      <a:gd name="T4" fmla="*/ 0 w 86"/>
                      <a:gd name="T5" fmla="*/ 119 h 265"/>
                      <a:gd name="T6" fmla="*/ 0 w 86"/>
                      <a:gd name="T7" fmla="*/ 146 h 265"/>
                      <a:gd name="T8" fmla="*/ 23 w 86"/>
                      <a:gd name="T9" fmla="*/ 174 h 265"/>
                      <a:gd name="T10" fmla="*/ 23 w 86"/>
                      <a:gd name="T11" fmla="*/ 210 h 265"/>
                      <a:gd name="T12" fmla="*/ 36 w 86"/>
                      <a:gd name="T13" fmla="*/ 251 h 265"/>
                      <a:gd name="T14" fmla="*/ 86 w 86"/>
                      <a:gd name="T15" fmla="*/ 265 h 265"/>
                      <a:gd name="T16" fmla="*/ 86 w 86"/>
                      <a:gd name="T17" fmla="*/ 237 h 265"/>
                      <a:gd name="T18" fmla="*/ 67 w 86"/>
                      <a:gd name="T19" fmla="*/ 231 h 265"/>
                      <a:gd name="T20" fmla="*/ 62 w 86"/>
                      <a:gd name="T21" fmla="*/ 210 h 265"/>
                      <a:gd name="T22" fmla="*/ 62 w 86"/>
                      <a:gd name="T23" fmla="*/ 179 h 265"/>
                      <a:gd name="T24" fmla="*/ 39 w 86"/>
                      <a:gd name="T25" fmla="*/ 133 h 265"/>
                      <a:gd name="T26" fmla="*/ 39 w 86"/>
                      <a:gd name="T27" fmla="*/ 132 h 265"/>
                      <a:gd name="T28" fmla="*/ 62 w 86"/>
                      <a:gd name="T29" fmla="*/ 87 h 265"/>
                      <a:gd name="T30" fmla="*/ 62 w 86"/>
                      <a:gd name="T31" fmla="*/ 55 h 265"/>
                      <a:gd name="T32" fmla="*/ 86 w 86"/>
                      <a:gd name="T33" fmla="*/ 28 h 265"/>
                      <a:gd name="T34" fmla="*/ 86 w 86"/>
                      <a:gd name="T35" fmla="*/ 0 h 265"/>
                      <a:gd name="T36" fmla="*/ 36 w 86"/>
                      <a:gd name="T37" fmla="*/ 14 h 265"/>
                      <a:gd name="T38" fmla="*/ 23 w 86"/>
                      <a:gd name="T39" fmla="*/ 56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6" h="265">
                        <a:moveTo>
                          <a:pt x="23" y="56"/>
                        </a:moveTo>
                        <a:lnTo>
                          <a:pt x="23" y="90"/>
                        </a:lnTo>
                        <a:cubicBezTo>
                          <a:pt x="23" y="109"/>
                          <a:pt x="16" y="119"/>
                          <a:pt x="0" y="119"/>
                        </a:cubicBezTo>
                        <a:lnTo>
                          <a:pt x="0" y="146"/>
                        </a:lnTo>
                        <a:cubicBezTo>
                          <a:pt x="16" y="146"/>
                          <a:pt x="23" y="156"/>
                          <a:pt x="23" y="174"/>
                        </a:cubicBezTo>
                        <a:lnTo>
                          <a:pt x="23" y="210"/>
                        </a:lnTo>
                        <a:cubicBezTo>
                          <a:pt x="23" y="229"/>
                          <a:pt x="27" y="243"/>
                          <a:pt x="36" y="251"/>
                        </a:cubicBezTo>
                        <a:cubicBezTo>
                          <a:pt x="45" y="260"/>
                          <a:pt x="62" y="265"/>
                          <a:pt x="86" y="265"/>
                        </a:cubicBezTo>
                        <a:lnTo>
                          <a:pt x="86" y="237"/>
                        </a:lnTo>
                        <a:cubicBezTo>
                          <a:pt x="77" y="237"/>
                          <a:pt x="71" y="235"/>
                          <a:pt x="67" y="231"/>
                        </a:cubicBezTo>
                        <a:cubicBezTo>
                          <a:pt x="64" y="227"/>
                          <a:pt x="62" y="220"/>
                          <a:pt x="62" y="210"/>
                        </a:cubicBezTo>
                        <a:lnTo>
                          <a:pt x="62" y="179"/>
                        </a:lnTo>
                        <a:cubicBezTo>
                          <a:pt x="62" y="154"/>
                          <a:pt x="54" y="139"/>
                          <a:pt x="39" y="133"/>
                        </a:cubicBezTo>
                        <a:lnTo>
                          <a:pt x="39" y="132"/>
                        </a:lnTo>
                        <a:cubicBezTo>
                          <a:pt x="54" y="126"/>
                          <a:pt x="62" y="111"/>
                          <a:pt x="62" y="87"/>
                        </a:cubicBezTo>
                        <a:lnTo>
                          <a:pt x="62" y="55"/>
                        </a:lnTo>
                        <a:cubicBezTo>
                          <a:pt x="62" y="37"/>
                          <a:pt x="70" y="28"/>
                          <a:pt x="86" y="28"/>
                        </a:cubicBezTo>
                        <a:lnTo>
                          <a:pt x="86" y="0"/>
                        </a:lnTo>
                        <a:cubicBezTo>
                          <a:pt x="62" y="0"/>
                          <a:pt x="46" y="5"/>
                          <a:pt x="36" y="14"/>
                        </a:cubicBezTo>
                        <a:cubicBezTo>
                          <a:pt x="28" y="23"/>
                          <a:pt x="23" y="37"/>
                          <a:pt x="23" y="56"/>
                        </a:cubicBezTo>
                        <a:close/>
                      </a:path>
                    </a:pathLst>
                  </a:custGeom>
                  <a:solidFill>
                    <a:schemeClr val="bg1"/>
                  </a:solidFill>
                  <a:ln w="0">
                    <a:noFill/>
                    <a:prstDash val="solid"/>
                    <a:round/>
                    <a:headEnd/>
                    <a:tailEnd/>
                  </a:ln>
                </p:spPr>
                <p:txBody>
                  <a:bodyPr vert="horz" wrap="square" lIns="91401" tIns="45700" rIns="91401" bIns="45700" numCol="1" anchor="t" anchorCtr="0" compatLnSpc="1">
                    <a:prstTxWarp prst="textNoShape">
                      <a:avLst/>
                    </a:prstTxWarp>
                  </a:bodyPr>
                  <a:lstStyle/>
                  <a:p>
                    <a:pPr defTabSz="932205">
                      <a:defRPr/>
                    </a:pPr>
                    <a:endParaRPr lang="en-US" sz="1020">
                      <a:solidFill>
                        <a:srgbClr val="FFFFFF"/>
                      </a:solidFill>
                      <a:latin typeface="Segoe UI"/>
                    </a:endParaRPr>
                  </a:p>
                </p:txBody>
              </p:sp>
              <p:sp>
                <p:nvSpPr>
                  <p:cNvPr id="41" name="Freeform 7"/>
                  <p:cNvSpPr>
                    <a:spLocks/>
                  </p:cNvSpPr>
                  <p:nvPr/>
                </p:nvSpPr>
                <p:spPr bwMode="auto">
                  <a:xfrm>
                    <a:off x="4806139" y="4335997"/>
                    <a:ext cx="90040" cy="278433"/>
                  </a:xfrm>
                  <a:custGeom>
                    <a:avLst/>
                    <a:gdLst>
                      <a:gd name="T0" fmla="*/ 62 w 85"/>
                      <a:gd name="T1" fmla="*/ 90 h 265"/>
                      <a:gd name="T2" fmla="*/ 62 w 85"/>
                      <a:gd name="T3" fmla="*/ 56 h 265"/>
                      <a:gd name="T4" fmla="*/ 50 w 85"/>
                      <a:gd name="T5" fmla="*/ 15 h 265"/>
                      <a:gd name="T6" fmla="*/ 0 w 85"/>
                      <a:gd name="T7" fmla="*/ 0 h 265"/>
                      <a:gd name="T8" fmla="*/ 0 w 85"/>
                      <a:gd name="T9" fmla="*/ 28 h 265"/>
                      <a:gd name="T10" fmla="*/ 24 w 85"/>
                      <a:gd name="T11" fmla="*/ 55 h 265"/>
                      <a:gd name="T12" fmla="*/ 24 w 85"/>
                      <a:gd name="T13" fmla="*/ 85 h 265"/>
                      <a:gd name="T14" fmla="*/ 47 w 85"/>
                      <a:gd name="T15" fmla="*/ 132 h 265"/>
                      <a:gd name="T16" fmla="*/ 47 w 85"/>
                      <a:gd name="T17" fmla="*/ 133 h 265"/>
                      <a:gd name="T18" fmla="*/ 24 w 85"/>
                      <a:gd name="T19" fmla="*/ 178 h 265"/>
                      <a:gd name="T20" fmla="*/ 24 w 85"/>
                      <a:gd name="T21" fmla="*/ 210 h 265"/>
                      <a:gd name="T22" fmla="*/ 19 w 85"/>
                      <a:gd name="T23" fmla="*/ 231 h 265"/>
                      <a:gd name="T24" fmla="*/ 0 w 85"/>
                      <a:gd name="T25" fmla="*/ 237 h 265"/>
                      <a:gd name="T26" fmla="*/ 0 w 85"/>
                      <a:gd name="T27" fmla="*/ 265 h 265"/>
                      <a:gd name="T28" fmla="*/ 50 w 85"/>
                      <a:gd name="T29" fmla="*/ 251 h 265"/>
                      <a:gd name="T30" fmla="*/ 62 w 85"/>
                      <a:gd name="T31" fmla="*/ 209 h 265"/>
                      <a:gd name="T32" fmla="*/ 62 w 85"/>
                      <a:gd name="T33" fmla="*/ 174 h 265"/>
                      <a:gd name="T34" fmla="*/ 85 w 85"/>
                      <a:gd name="T35" fmla="*/ 146 h 265"/>
                      <a:gd name="T36" fmla="*/ 85 w 85"/>
                      <a:gd name="T37" fmla="*/ 119 h 265"/>
                      <a:gd name="T38" fmla="*/ 62 w 85"/>
                      <a:gd name="T39" fmla="*/ 90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 h="265">
                        <a:moveTo>
                          <a:pt x="62" y="90"/>
                        </a:moveTo>
                        <a:lnTo>
                          <a:pt x="62" y="56"/>
                        </a:lnTo>
                        <a:cubicBezTo>
                          <a:pt x="62" y="37"/>
                          <a:pt x="58" y="23"/>
                          <a:pt x="50" y="15"/>
                        </a:cubicBezTo>
                        <a:cubicBezTo>
                          <a:pt x="40" y="5"/>
                          <a:pt x="23" y="0"/>
                          <a:pt x="0" y="0"/>
                        </a:cubicBezTo>
                        <a:lnTo>
                          <a:pt x="0" y="28"/>
                        </a:lnTo>
                        <a:cubicBezTo>
                          <a:pt x="16" y="28"/>
                          <a:pt x="24" y="37"/>
                          <a:pt x="24" y="55"/>
                        </a:cubicBezTo>
                        <a:lnTo>
                          <a:pt x="24" y="85"/>
                        </a:lnTo>
                        <a:cubicBezTo>
                          <a:pt x="24" y="110"/>
                          <a:pt x="32" y="126"/>
                          <a:pt x="47" y="132"/>
                        </a:cubicBezTo>
                        <a:lnTo>
                          <a:pt x="47" y="133"/>
                        </a:lnTo>
                        <a:cubicBezTo>
                          <a:pt x="32" y="139"/>
                          <a:pt x="24" y="154"/>
                          <a:pt x="24" y="178"/>
                        </a:cubicBezTo>
                        <a:lnTo>
                          <a:pt x="24" y="210"/>
                        </a:lnTo>
                        <a:cubicBezTo>
                          <a:pt x="24" y="219"/>
                          <a:pt x="22" y="226"/>
                          <a:pt x="19" y="231"/>
                        </a:cubicBezTo>
                        <a:cubicBezTo>
                          <a:pt x="15" y="235"/>
                          <a:pt x="9" y="237"/>
                          <a:pt x="0" y="237"/>
                        </a:cubicBezTo>
                        <a:lnTo>
                          <a:pt x="0" y="265"/>
                        </a:lnTo>
                        <a:cubicBezTo>
                          <a:pt x="24" y="265"/>
                          <a:pt x="41" y="260"/>
                          <a:pt x="50" y="251"/>
                        </a:cubicBezTo>
                        <a:cubicBezTo>
                          <a:pt x="58" y="242"/>
                          <a:pt x="62" y="229"/>
                          <a:pt x="62" y="209"/>
                        </a:cubicBezTo>
                        <a:lnTo>
                          <a:pt x="62" y="174"/>
                        </a:lnTo>
                        <a:cubicBezTo>
                          <a:pt x="62" y="156"/>
                          <a:pt x="70" y="146"/>
                          <a:pt x="85" y="146"/>
                        </a:cubicBezTo>
                        <a:lnTo>
                          <a:pt x="85" y="119"/>
                        </a:lnTo>
                        <a:cubicBezTo>
                          <a:pt x="70" y="119"/>
                          <a:pt x="62" y="109"/>
                          <a:pt x="62" y="90"/>
                        </a:cubicBezTo>
                        <a:close/>
                      </a:path>
                    </a:pathLst>
                  </a:custGeom>
                  <a:solidFill>
                    <a:schemeClr val="bg1"/>
                  </a:solidFill>
                  <a:ln w="0">
                    <a:noFill/>
                    <a:prstDash val="solid"/>
                    <a:round/>
                    <a:headEnd/>
                    <a:tailEnd/>
                  </a:ln>
                </p:spPr>
                <p:txBody>
                  <a:bodyPr vert="horz" wrap="square" lIns="91401" tIns="45700" rIns="91401" bIns="45700" numCol="1" anchor="t" anchorCtr="0" compatLnSpc="1">
                    <a:prstTxWarp prst="textNoShape">
                      <a:avLst/>
                    </a:prstTxWarp>
                  </a:bodyPr>
                  <a:lstStyle/>
                  <a:p>
                    <a:pPr defTabSz="932205">
                      <a:defRPr/>
                    </a:pPr>
                    <a:endParaRPr lang="en-US" sz="1020">
                      <a:solidFill>
                        <a:srgbClr val="FFFFFF"/>
                      </a:solidFill>
                      <a:latin typeface="Segoe UI"/>
                    </a:endParaRPr>
                  </a:p>
                </p:txBody>
              </p:sp>
            </p:grpSp>
          </p:grpSp>
        </p:grpSp>
        <p:cxnSp>
          <p:nvCxnSpPr>
            <p:cNvPr id="24" name="Straight Connector 23"/>
            <p:cNvCxnSpPr/>
            <p:nvPr/>
          </p:nvCxnSpPr>
          <p:spPr>
            <a:xfrm flipH="1" flipV="1">
              <a:off x="1174297" y="4075313"/>
              <a:ext cx="2189667" cy="10841"/>
            </a:xfrm>
            <a:prstGeom prst="line">
              <a:avLst/>
            </a:prstGeom>
            <a:ln w="19050">
              <a:solidFill>
                <a:schemeClr val="tx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flipH="1">
              <a:off x="1380622" y="3727583"/>
              <a:ext cx="1725618" cy="766177"/>
            </a:xfrm>
            <a:prstGeom prst="rect">
              <a:avLst/>
            </a:prstGeom>
            <a:noFill/>
          </p:spPr>
          <p:txBody>
            <a:bodyPr wrap="square" rtlCol="0">
              <a:spAutoFit/>
            </a:bodyPr>
            <a:lstStyle/>
            <a:p>
              <a:r>
                <a:rPr lang="en-US" sz="1020" dirty="0"/>
                <a:t>Inner Dev Loop</a:t>
              </a:r>
            </a:p>
          </p:txBody>
        </p:sp>
        <p:pic>
          <p:nvPicPr>
            <p:cNvPr id="26" name="Picture 2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27116" y="2152611"/>
              <a:ext cx="650501" cy="672619"/>
            </a:xfrm>
            <a:prstGeom prst="rect">
              <a:avLst/>
            </a:prstGeom>
          </p:spPr>
        </p:pic>
        <p:pic>
          <p:nvPicPr>
            <p:cNvPr id="27" name="Picture 2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11695" y="2144524"/>
              <a:ext cx="650501" cy="672619"/>
            </a:xfrm>
            <a:prstGeom prst="rect">
              <a:avLst/>
            </a:prstGeom>
          </p:spPr>
        </p:pic>
        <p:pic>
          <p:nvPicPr>
            <p:cNvPr id="28" name="Picture 2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82458" y="3498800"/>
              <a:ext cx="650501" cy="672619"/>
            </a:xfrm>
            <a:prstGeom prst="rect">
              <a:avLst/>
            </a:prstGeom>
          </p:spPr>
        </p:pic>
        <p:grpSp>
          <p:nvGrpSpPr>
            <p:cNvPr id="29" name="Group 28"/>
            <p:cNvGrpSpPr/>
            <p:nvPr/>
          </p:nvGrpSpPr>
          <p:grpSpPr>
            <a:xfrm>
              <a:off x="6363125" y="4119486"/>
              <a:ext cx="1654809" cy="1559721"/>
              <a:chOff x="6363125" y="4119486"/>
              <a:chExt cx="1654809" cy="1559721"/>
            </a:xfrm>
          </p:grpSpPr>
          <p:pic>
            <p:nvPicPr>
              <p:cNvPr id="32" name="Test"/>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006515" y="4968655"/>
                <a:ext cx="368027" cy="375243"/>
              </a:xfrm>
              <a:prstGeom prst="rect">
                <a:avLst/>
              </a:prstGeom>
            </p:spPr>
          </p:pic>
          <p:grpSp>
            <p:nvGrpSpPr>
              <p:cNvPr id="33" name="Group 32"/>
              <p:cNvGrpSpPr/>
              <p:nvPr/>
            </p:nvGrpSpPr>
            <p:grpSpPr>
              <a:xfrm>
                <a:off x="6363125" y="4119486"/>
                <a:ext cx="1654809" cy="1559721"/>
                <a:chOff x="8884890" y="4054695"/>
                <a:chExt cx="2182222" cy="2182222"/>
              </a:xfrm>
            </p:grpSpPr>
            <p:pic>
              <p:nvPicPr>
                <p:cNvPr id="34" name="Picture 3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84890" y="4054695"/>
                  <a:ext cx="2182222" cy="2182222"/>
                </a:xfrm>
                <a:prstGeom prst="rect">
                  <a:avLst/>
                </a:prstGeom>
              </p:spPr>
            </p:pic>
            <p:sp>
              <p:nvSpPr>
                <p:cNvPr id="35" name="TextBox 34"/>
                <p:cNvSpPr txBox="1"/>
                <p:nvPr/>
              </p:nvSpPr>
              <p:spPr>
                <a:xfrm>
                  <a:off x="9187552" y="4705313"/>
                  <a:ext cx="1637125" cy="1174394"/>
                </a:xfrm>
                <a:prstGeom prst="rect">
                  <a:avLst/>
                </a:prstGeom>
                <a:noFill/>
              </p:spPr>
              <p:txBody>
                <a:bodyPr wrap="none" lIns="182854" tIns="146283" rIns="182854" bIns="146283" rtlCol="0">
                  <a:spAutoFit/>
                </a:bodyPr>
                <a:lstStyle/>
                <a:p>
                  <a:pPr algn="ctr">
                    <a:lnSpc>
                      <a:spcPct val="90000"/>
                    </a:lnSpc>
                    <a:spcAft>
                      <a:spcPts val="600"/>
                    </a:spcAft>
                  </a:pPr>
                  <a:r>
                    <a:rPr lang="en-US" sz="1122" b="1" dirty="0">
                      <a:gradFill>
                        <a:gsLst>
                          <a:gs pos="2917">
                            <a:schemeClr val="tx1"/>
                          </a:gs>
                          <a:gs pos="30000">
                            <a:schemeClr val="tx1"/>
                          </a:gs>
                        </a:gsLst>
                        <a:lin ang="5400000" scaled="0"/>
                      </a:gradFill>
                    </a:rPr>
                    <a:t>Test</a:t>
                  </a:r>
                </a:p>
              </p:txBody>
            </p:sp>
          </p:grpSp>
        </p:grpSp>
        <p:pic>
          <p:nvPicPr>
            <p:cNvPr id="30" name="Picture 2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6518" y="4057588"/>
              <a:ext cx="1378494" cy="2467305"/>
            </a:xfrm>
            <a:prstGeom prst="rect">
              <a:avLst/>
            </a:prstGeom>
          </p:spPr>
        </p:pic>
        <p:sp>
          <p:nvSpPr>
            <p:cNvPr id="31" name="TextBox 30"/>
            <p:cNvSpPr txBox="1"/>
            <p:nvPr/>
          </p:nvSpPr>
          <p:spPr>
            <a:xfrm>
              <a:off x="873283" y="5085007"/>
              <a:ext cx="392328" cy="213070"/>
            </a:xfrm>
            <a:prstGeom prst="rect">
              <a:avLst/>
            </a:prstGeom>
            <a:noFill/>
          </p:spPr>
          <p:txBody>
            <a:bodyPr wrap="none" lIns="0" tIns="0" rIns="0" bIns="0" rtlCol="0">
              <a:spAutoFit/>
            </a:bodyPr>
            <a:lstStyle/>
            <a:p>
              <a:pPr defTabSz="932384">
                <a:lnSpc>
                  <a:spcPct val="90000"/>
                </a:lnSpc>
                <a:spcAft>
                  <a:spcPts val="600"/>
                </a:spcAft>
                <a:defRPr/>
              </a:pPr>
              <a:r>
                <a:rPr lang="en-US" sz="816" b="1" dirty="0">
                  <a:gradFill>
                    <a:gsLst>
                      <a:gs pos="2917">
                        <a:srgbClr val="505050">
                          <a:lumMod val="50000"/>
                        </a:srgbClr>
                      </a:gs>
                      <a:gs pos="74000">
                        <a:srgbClr val="505050">
                          <a:lumMod val="50000"/>
                        </a:srgbClr>
                      </a:gs>
                    </a:gsLst>
                    <a:lin ang="5400000" scaled="0"/>
                  </a:gradFill>
                  <a:latin typeface="Segoe UI"/>
                </a:rPr>
                <a:t>DEV</a:t>
              </a:r>
            </a:p>
          </p:txBody>
        </p:sp>
      </p:grpSp>
    </p:spTree>
    <p:extLst>
      <p:ext uri="{BB962C8B-B14F-4D97-AF65-F5344CB8AC3E}">
        <p14:creationId xmlns:p14="http://schemas.microsoft.com/office/powerpoint/2010/main" val="365275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75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topics to consider</a:t>
            </a:r>
          </a:p>
        </p:txBody>
      </p:sp>
      <p:sp>
        <p:nvSpPr>
          <p:cNvPr id="6" name="Text Placeholder 5"/>
          <p:cNvSpPr>
            <a:spLocks noGrp="1"/>
          </p:cNvSpPr>
          <p:nvPr>
            <p:ph type="body" sz="quarter" idx="10"/>
          </p:nvPr>
        </p:nvSpPr>
        <p:spPr>
          <a:xfrm>
            <a:off x="365760" y="1371600"/>
            <a:ext cx="11704320" cy="1855893"/>
          </a:xfrm>
        </p:spPr>
        <p:txBody>
          <a:bodyPr/>
          <a:lstStyle/>
          <a:p>
            <a:pPr marL="457200" indent="-457200">
              <a:buFont typeface="Arial" panose="020B0604020202020204" pitchFamily="34" charset="0"/>
              <a:buChar char="•"/>
            </a:pPr>
            <a:r>
              <a:rPr lang="en-US" dirty="0"/>
              <a:t>Cluster monitoring and diagnostics</a:t>
            </a:r>
          </a:p>
          <a:p>
            <a:pPr marL="800100" lvl="3" indent="-342900">
              <a:buFont typeface="Arial" panose="020B0604020202020204" pitchFamily="34" charset="0"/>
              <a:buChar char="•"/>
            </a:pPr>
            <a:r>
              <a:rPr lang="en-US" dirty="0"/>
              <a:t>Coming up in the next session with Todd and Haishi.</a:t>
            </a:r>
          </a:p>
          <a:p>
            <a:pPr marL="457200" indent="-457200">
              <a:buFont typeface="Arial" panose="020B0604020202020204" pitchFamily="34" charset="0"/>
              <a:buChar char="•"/>
            </a:pPr>
            <a:r>
              <a:rPr lang="en-US" dirty="0"/>
              <a:t>Disaster Recovery Planning</a:t>
            </a:r>
          </a:p>
          <a:p>
            <a:endParaRPr lang="en-US" dirty="0"/>
          </a:p>
        </p:txBody>
      </p:sp>
    </p:spTree>
    <p:extLst>
      <p:ext uri="{BB962C8B-B14F-4D97-AF65-F5344CB8AC3E}">
        <p14:creationId xmlns:p14="http://schemas.microsoft.com/office/powerpoint/2010/main" val="2003664188"/>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 planning</a:t>
            </a:r>
          </a:p>
        </p:txBody>
      </p:sp>
      <p:sp>
        <p:nvSpPr>
          <p:cNvPr id="3" name="Content Placeholder 2"/>
          <p:cNvSpPr>
            <a:spLocks noGrp="1"/>
          </p:cNvSpPr>
          <p:nvPr>
            <p:ph idx="1"/>
          </p:nvPr>
        </p:nvSpPr>
        <p:spPr/>
        <p:txBody>
          <a:bodyPr>
            <a:normAutofit fontScale="25000" lnSpcReduction="20000"/>
          </a:bodyPr>
          <a:lstStyle/>
          <a:p>
            <a:pPr marL="228600" lvl="1" indent="0">
              <a:buNone/>
            </a:pPr>
            <a:r>
              <a:rPr lang="en-US" dirty="0"/>
              <a:t>…</a:t>
            </a:r>
          </a:p>
        </p:txBody>
      </p:sp>
      <p:sp>
        <p:nvSpPr>
          <p:cNvPr id="4" name="Content Placeholder 2"/>
          <p:cNvSpPr txBox="1">
            <a:spLocks/>
          </p:cNvSpPr>
          <p:nvPr/>
        </p:nvSpPr>
        <p:spPr>
          <a:xfrm>
            <a:off x="838200" y="1825625"/>
            <a:ext cx="10515600" cy="4351338"/>
          </a:xfrm>
          <a:prstGeom prst="rect">
            <a:avLst/>
          </a:prstGeom>
        </p:spPr>
        <p:txBody>
          <a:bodyPr>
            <a:normAutofit/>
          </a:bodyPr>
          <a:lstStyle>
            <a:lvl1pPr marL="2286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1pPr>
            <a:lvl2pPr marL="4572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t>Stateless apps</a:t>
            </a:r>
          </a:p>
          <a:p>
            <a:pPr lvl="1"/>
            <a:r>
              <a:rPr lang="en-US" dirty="0"/>
              <a:t>VIP swaps</a:t>
            </a:r>
          </a:p>
          <a:p>
            <a:r>
              <a:rPr lang="en-US" b="1" dirty="0"/>
              <a:t>Stateful apps</a:t>
            </a:r>
          </a:p>
          <a:p>
            <a:pPr lvl="1"/>
            <a:r>
              <a:rPr lang="en-US" dirty="0"/>
              <a:t>Active – Active/Passive configurations</a:t>
            </a:r>
          </a:p>
          <a:p>
            <a:pPr lvl="2"/>
            <a:r>
              <a:rPr lang="en-US" dirty="0"/>
              <a:t>RPO – 15 mins</a:t>
            </a:r>
          </a:p>
          <a:p>
            <a:pPr lvl="1"/>
            <a:r>
              <a:rPr lang="en-US" dirty="0"/>
              <a:t>Backup and restore</a:t>
            </a:r>
          </a:p>
          <a:p>
            <a:pPr lvl="1"/>
            <a:r>
              <a:rPr lang="en-US" dirty="0"/>
              <a:t>Using </a:t>
            </a:r>
            <a:r>
              <a:rPr lang="en-US" dirty="0" err="1"/>
              <a:t>xstore</a:t>
            </a:r>
            <a:endParaRPr lang="en-US" dirty="0"/>
          </a:p>
          <a:p>
            <a:pPr lvl="1"/>
            <a:r>
              <a:rPr lang="en-US" dirty="0"/>
              <a:t>Copy state from Cluster A to Cluster B using custom code.</a:t>
            </a:r>
          </a:p>
          <a:p>
            <a:pPr lvl="1"/>
            <a:r>
              <a:rPr lang="en-US" dirty="0"/>
              <a:t>…</a:t>
            </a:r>
          </a:p>
        </p:txBody>
      </p:sp>
    </p:spTree>
    <p:extLst>
      <p:ext uri="{BB962C8B-B14F-4D97-AF65-F5344CB8AC3E}">
        <p14:creationId xmlns:p14="http://schemas.microsoft.com/office/powerpoint/2010/main" val="3766082928"/>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59" y="731520"/>
            <a:ext cx="9357677" cy="5293757"/>
          </a:xfrm>
        </p:spPr>
        <p:txBody>
          <a:bodyPr/>
          <a:lstStyle/>
          <a:p>
            <a:r>
              <a:rPr lang="en-US" sz="16600" dirty="0"/>
              <a:t>Thankyou</a:t>
            </a:r>
          </a:p>
        </p:txBody>
      </p:sp>
    </p:spTree>
    <p:extLst>
      <p:ext uri="{BB962C8B-B14F-4D97-AF65-F5344CB8AC3E}">
        <p14:creationId xmlns:p14="http://schemas.microsoft.com/office/powerpoint/2010/main" val="121718242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Links to the documents</a:t>
            </a:r>
          </a:p>
        </p:txBody>
      </p:sp>
      <p:sp>
        <p:nvSpPr>
          <p:cNvPr id="5" name="TextBox 4"/>
          <p:cNvSpPr txBox="1"/>
          <p:nvPr/>
        </p:nvSpPr>
        <p:spPr>
          <a:xfrm>
            <a:off x="731837" y="1280160"/>
            <a:ext cx="6320833" cy="4721292"/>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hlinkClick r:id="rId2"/>
              </a:rPr>
              <a:t>Capacity planning</a:t>
            </a:r>
          </a:p>
          <a:p>
            <a:pPr>
              <a:lnSpc>
                <a:spcPct val="90000"/>
              </a:lnSpc>
              <a:spcAft>
                <a:spcPts val="600"/>
              </a:spcAft>
            </a:pPr>
            <a:endParaRPr lang="en-US" sz="2400" dirty="0">
              <a:gradFill>
                <a:gsLst>
                  <a:gs pos="2917">
                    <a:schemeClr val="tx1"/>
                  </a:gs>
                  <a:gs pos="30000">
                    <a:schemeClr val="tx1"/>
                  </a:gs>
                </a:gsLst>
                <a:lin ang="5400000" scaled="0"/>
              </a:gradFill>
              <a:hlinkClick r:id="rId2"/>
            </a:endParaRPr>
          </a:p>
          <a:p>
            <a:pPr>
              <a:lnSpc>
                <a:spcPct val="90000"/>
              </a:lnSpc>
              <a:spcAft>
                <a:spcPts val="600"/>
              </a:spcAft>
            </a:pPr>
            <a:r>
              <a:rPr lang="en-US" sz="2400" dirty="0">
                <a:gradFill>
                  <a:gsLst>
                    <a:gs pos="2917">
                      <a:schemeClr val="tx1"/>
                    </a:gs>
                    <a:gs pos="30000">
                      <a:schemeClr val="tx1"/>
                    </a:gs>
                  </a:gsLst>
                  <a:lin ang="5400000" scaled="0"/>
                </a:gradFill>
                <a:hlinkClick r:id="rId2"/>
              </a:rPr>
              <a:t>Relationship between </a:t>
            </a:r>
            <a:r>
              <a:rPr lang="en-US" sz="2400" dirty="0" err="1">
                <a:gradFill>
                  <a:gsLst>
                    <a:gs pos="2917">
                      <a:schemeClr val="tx1"/>
                    </a:gs>
                    <a:gs pos="30000">
                      <a:schemeClr val="tx1"/>
                    </a:gs>
                  </a:gsLst>
                  <a:lin ang="5400000" scaled="0"/>
                </a:gradFill>
                <a:hlinkClick r:id="rId2"/>
              </a:rPr>
              <a:t>Nodetypes</a:t>
            </a:r>
            <a:r>
              <a:rPr lang="en-US" sz="2400" dirty="0">
                <a:gradFill>
                  <a:gsLst>
                    <a:gs pos="2917">
                      <a:schemeClr val="tx1"/>
                    </a:gs>
                    <a:gs pos="30000">
                      <a:schemeClr val="tx1"/>
                    </a:gs>
                  </a:gsLst>
                  <a:lin ang="5400000" scaled="0"/>
                </a:gradFill>
                <a:hlinkClick r:id="rId2"/>
              </a:rPr>
              <a:t> and VMSS</a:t>
            </a:r>
          </a:p>
          <a:p>
            <a:pPr>
              <a:lnSpc>
                <a:spcPct val="90000"/>
              </a:lnSpc>
              <a:spcAft>
                <a:spcPts val="600"/>
              </a:spcAft>
            </a:pPr>
            <a:endParaRPr lang="en-US" sz="2400" dirty="0">
              <a:gradFill>
                <a:gsLst>
                  <a:gs pos="2917">
                    <a:schemeClr val="tx1"/>
                  </a:gs>
                  <a:gs pos="30000">
                    <a:schemeClr val="tx1"/>
                  </a:gs>
                </a:gsLst>
                <a:lin ang="5400000" scaled="0"/>
              </a:gradFill>
              <a:hlinkClick r:id="rId2"/>
            </a:endParaRPr>
          </a:p>
          <a:p>
            <a:pPr>
              <a:lnSpc>
                <a:spcPct val="90000"/>
              </a:lnSpc>
              <a:spcAft>
                <a:spcPts val="600"/>
              </a:spcAft>
            </a:pPr>
            <a:r>
              <a:rPr lang="en-US" sz="2400" dirty="0">
                <a:gradFill>
                  <a:gsLst>
                    <a:gs pos="2917">
                      <a:schemeClr val="tx1"/>
                    </a:gs>
                    <a:gs pos="30000">
                      <a:schemeClr val="tx1"/>
                    </a:gs>
                  </a:gsLst>
                  <a:lin ang="5400000" scaled="0"/>
                </a:gradFill>
                <a:hlinkClick r:id="rId2"/>
              </a:rPr>
              <a:t>Cluster security </a:t>
            </a:r>
          </a:p>
          <a:p>
            <a:pPr>
              <a:lnSpc>
                <a:spcPct val="90000"/>
              </a:lnSpc>
              <a:spcAft>
                <a:spcPts val="600"/>
              </a:spcAft>
            </a:pPr>
            <a:endParaRPr lang="en-US" sz="2400" dirty="0">
              <a:gradFill>
                <a:gsLst>
                  <a:gs pos="2917">
                    <a:schemeClr val="tx1"/>
                  </a:gs>
                  <a:gs pos="30000">
                    <a:schemeClr val="tx1"/>
                  </a:gs>
                </a:gsLst>
                <a:lin ang="5400000" scaled="0"/>
              </a:gradFill>
              <a:hlinkClick r:id="rId2"/>
            </a:endParaRPr>
          </a:p>
          <a:p>
            <a:pPr>
              <a:lnSpc>
                <a:spcPct val="90000"/>
              </a:lnSpc>
              <a:spcAft>
                <a:spcPts val="600"/>
              </a:spcAft>
            </a:pPr>
            <a:r>
              <a:rPr lang="en-US" sz="2400" dirty="0">
                <a:gradFill>
                  <a:gsLst>
                    <a:gs pos="2917">
                      <a:schemeClr val="tx1"/>
                    </a:gs>
                    <a:gs pos="30000">
                      <a:schemeClr val="tx1"/>
                    </a:gs>
                  </a:gsLst>
                  <a:lin ang="5400000" scaled="0"/>
                </a:gradFill>
                <a:hlinkClick r:id="rId2"/>
              </a:rPr>
              <a:t>Upgrade your Cluster – Azure </a:t>
            </a:r>
            <a:endParaRPr lang="en-US" sz="2400" dirty="0">
              <a:gradFill>
                <a:gsLst>
                  <a:gs pos="2917">
                    <a:schemeClr val="tx1"/>
                  </a:gs>
                  <a:gs pos="30000">
                    <a:schemeClr val="tx1"/>
                  </a:gs>
                </a:gsLst>
                <a:lin ang="5400000" scaled="0"/>
              </a:gradFill>
            </a:endParaRPr>
          </a:p>
          <a:p>
            <a:pPr>
              <a:lnSpc>
                <a:spcPct val="90000"/>
              </a:lnSpc>
              <a:spcAft>
                <a:spcPts val="600"/>
              </a:spcAft>
            </a:pPr>
            <a:r>
              <a:rPr lang="en-US" sz="2400" dirty="0">
                <a:gradFill>
                  <a:gsLst>
                    <a:gs pos="2917">
                      <a:schemeClr val="tx1"/>
                    </a:gs>
                    <a:gs pos="30000">
                      <a:schemeClr val="tx1"/>
                    </a:gs>
                  </a:gsLst>
                  <a:lin ang="5400000" scaled="0"/>
                </a:gradFill>
                <a:hlinkClick r:id="rId3"/>
              </a:rPr>
              <a:t>Upgrade your Cluster – On premise</a:t>
            </a:r>
            <a:endParaRPr lang="en-US" sz="2400" dirty="0">
              <a:gradFill>
                <a:gsLst>
                  <a:gs pos="2917">
                    <a:schemeClr val="tx1"/>
                  </a:gs>
                  <a:gs pos="30000">
                    <a:schemeClr val="tx1"/>
                  </a:gs>
                </a:gsLst>
                <a:lin ang="5400000" scaled="0"/>
              </a:gradFill>
            </a:endParaRPr>
          </a:p>
          <a:p>
            <a:pPr>
              <a:lnSpc>
                <a:spcPct val="90000"/>
              </a:lnSpc>
              <a:spcAft>
                <a:spcPts val="600"/>
              </a:spcAft>
            </a:pPr>
            <a:endParaRPr lang="en-US" sz="2400" dirty="0">
              <a:gradFill>
                <a:gsLst>
                  <a:gs pos="2917">
                    <a:schemeClr val="tx1"/>
                  </a:gs>
                  <a:gs pos="30000">
                    <a:schemeClr val="tx1"/>
                  </a:gs>
                </a:gsLst>
                <a:lin ang="5400000" scaled="0"/>
              </a:gradFill>
            </a:endParaRPr>
          </a:p>
          <a:p>
            <a:pPr>
              <a:lnSpc>
                <a:spcPct val="90000"/>
              </a:lnSpc>
              <a:spcAft>
                <a:spcPts val="600"/>
              </a:spcAft>
            </a:pPr>
            <a:r>
              <a:rPr lang="en-US" sz="2400" dirty="0">
                <a:gradFill>
                  <a:gsLst>
                    <a:gs pos="2917">
                      <a:schemeClr val="tx1"/>
                    </a:gs>
                    <a:gs pos="30000">
                      <a:schemeClr val="tx1"/>
                    </a:gs>
                  </a:gsLst>
                  <a:lin ang="5400000" scaled="0"/>
                </a:gradFill>
                <a:hlinkClick r:id="rId4"/>
              </a:rPr>
              <a:t>Scale your cluster in or out – Azure </a:t>
            </a:r>
            <a:endParaRPr lang="en-US" sz="2400" dirty="0">
              <a:gradFill>
                <a:gsLst>
                  <a:gs pos="2917">
                    <a:schemeClr val="tx1"/>
                  </a:gs>
                  <a:gs pos="30000">
                    <a:schemeClr val="tx1"/>
                  </a:gs>
                </a:gsLst>
                <a:lin ang="5400000" scaled="0"/>
              </a:gradFill>
            </a:endParaRPr>
          </a:p>
          <a:p>
            <a:pPr>
              <a:lnSpc>
                <a:spcPct val="90000"/>
              </a:lnSpc>
              <a:spcAft>
                <a:spcPts val="600"/>
              </a:spcAft>
            </a:pPr>
            <a:r>
              <a:rPr lang="en-US" sz="2400" dirty="0">
                <a:gradFill>
                  <a:gsLst>
                    <a:gs pos="2917">
                      <a:schemeClr val="tx1"/>
                    </a:gs>
                    <a:gs pos="30000">
                      <a:schemeClr val="tx1"/>
                    </a:gs>
                  </a:gsLst>
                  <a:lin ang="5400000" scaled="0"/>
                </a:gradFill>
                <a:hlinkClick r:id="rId5"/>
              </a:rPr>
              <a:t>Scale your cluster in or out – On Premise</a:t>
            </a:r>
            <a:endParaRPr lang="en-US" sz="2400" dirty="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2431850672"/>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7390358"/>
      </p:ext>
    </p:extLst>
  </p:cSld>
  <p:clrMapOvr>
    <a:masterClrMapping/>
  </p:clrMapOvr>
  <p:transition>
    <p:fade/>
  </p:transition>
</p:sld>
</file>

<file path=ppt/theme/theme1.xml><?xml version="1.0" encoding="utf-8"?>
<a:theme xmlns:a="http://schemas.openxmlformats.org/drawingml/2006/main" name="WHITE TEMPLATE">
  <a:themeElements>
    <a:clrScheme name="Custom 6">
      <a:dk1>
        <a:srgbClr val="505050"/>
      </a:dk1>
      <a:lt1>
        <a:srgbClr val="FFFFFF"/>
      </a:lt1>
      <a:dk2>
        <a:srgbClr val="107C10"/>
      </a:dk2>
      <a:lt2>
        <a:srgbClr val="D5F7F6"/>
      </a:lt2>
      <a:accent1>
        <a:srgbClr val="107C10"/>
      </a:accent1>
      <a:accent2>
        <a:srgbClr val="0377D6"/>
      </a:accent2>
      <a:accent3>
        <a:srgbClr val="00B294"/>
      </a:accent3>
      <a:accent4>
        <a:srgbClr val="A80000"/>
      </a:accent4>
      <a:accent5>
        <a:srgbClr val="D83B01"/>
      </a:accent5>
      <a:accent6>
        <a:srgbClr val="FEB900"/>
      </a:accent6>
      <a:hlink>
        <a:srgbClr val="107C10"/>
      </a:hlink>
      <a:folHlink>
        <a:srgbClr val="107C1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rand_template_16-9_Consumer_GREEN_1.potx" id="{E6351070-060E-4EB7-8FC9-7F6CD9537A4B}" vid="{9FBE0A09-7139-47DB-B6B8-8BE9F30C10C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Brand_template_16-9_Consumer_GREEN_1</Template>
  <TotalTime>0</TotalTime>
  <Words>1412</Words>
  <Application>Microsoft Office PowerPoint</Application>
  <PresentationFormat>自定义</PresentationFormat>
  <Paragraphs>317</Paragraphs>
  <Slides>25</Slides>
  <Notes>11</Notes>
  <HiddenSlides>1</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25</vt:i4>
      </vt:variant>
    </vt:vector>
  </HeadingPairs>
  <TitlesOfParts>
    <vt:vector size="31" baseType="lpstr">
      <vt:lpstr>Arial</vt:lpstr>
      <vt:lpstr>Consolas</vt:lpstr>
      <vt:lpstr>Segoe UI</vt:lpstr>
      <vt:lpstr>Segoe UI Light</vt:lpstr>
      <vt:lpstr>Wingdings</vt:lpstr>
      <vt:lpstr>WHITE TEMPLATE</vt:lpstr>
      <vt:lpstr>Service Fabric Patterns &amp; Best Practices</vt:lpstr>
      <vt:lpstr>Cluster planning &amp; Management</vt:lpstr>
      <vt:lpstr>Problem</vt:lpstr>
      <vt:lpstr>Best Practice</vt:lpstr>
      <vt:lpstr>Best Practice</vt:lpstr>
      <vt:lpstr>Service Fabric Cluster planning</vt:lpstr>
      <vt:lpstr>Service Fabric Cluster planning</vt:lpstr>
      <vt:lpstr>Service Fabric Cluster planning</vt:lpstr>
      <vt:lpstr>Choosing the # of Fault Domains you need</vt:lpstr>
      <vt:lpstr>Choosing the # of Upgrade Domains you need</vt:lpstr>
      <vt:lpstr>Best practice –  capacity headroom</vt:lpstr>
      <vt:lpstr>Best practices – Cluster Set up</vt:lpstr>
      <vt:lpstr>Best practices – Cluster Set up</vt:lpstr>
      <vt:lpstr>Generate a custom ARM Template  and review</vt:lpstr>
      <vt:lpstr>Best practices – Cluster Security</vt:lpstr>
      <vt:lpstr>Best practices – Cluster Security</vt:lpstr>
      <vt:lpstr>NSG ports that needs to be opened</vt:lpstr>
      <vt:lpstr>ARM Template review   - 15 node , 3 nodetype , 1 Jump box - with NSG - with a Jump box </vt:lpstr>
      <vt:lpstr>Manage you Cluster Version</vt:lpstr>
      <vt:lpstr>Cluster Fabric Upgrade</vt:lpstr>
      <vt:lpstr>Additional topics to consider</vt:lpstr>
      <vt:lpstr>DR planning</vt:lpstr>
      <vt:lpstr>Thankyou</vt:lpstr>
      <vt:lpstr>Links to the documents</vt:lpstr>
      <vt:lpstr>PowerPoint 演示文稿</vt:lpstr>
    </vt:vector>
  </TitlesOfParts>
  <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2016-11-13T16:11:46Z</dcterms:created>
  <dcterms:modified xsi:type="dcterms:W3CDTF">2018-07-18T13:25:08Z</dcterms:modified>
</cp:coreProperties>
</file>