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Lst>
  <p:notesMasterIdLst>
    <p:notesMasterId r:id="rId17"/>
  </p:notesMasterIdLst>
  <p:handoutMasterIdLst>
    <p:handoutMasterId r:id="rId18"/>
  </p:handoutMasterIdLst>
  <p:sldIdLst>
    <p:sldId id="283" r:id="rId2"/>
    <p:sldId id="279" r:id="rId3"/>
    <p:sldId id="333" r:id="rId4"/>
    <p:sldId id="331" r:id="rId5"/>
    <p:sldId id="341" r:id="rId6"/>
    <p:sldId id="334" r:id="rId7"/>
    <p:sldId id="335" r:id="rId8"/>
    <p:sldId id="337" r:id="rId9"/>
    <p:sldId id="336" r:id="rId10"/>
    <p:sldId id="338" r:id="rId11"/>
    <p:sldId id="339" r:id="rId12"/>
    <p:sldId id="332" r:id="rId13"/>
    <p:sldId id="342" r:id="rId14"/>
    <p:sldId id="343" r:id="rId15"/>
    <p:sldId id="257" r:id="rId1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slides" id="{73C69594-0ADE-4BE2-8ADD-1BD08A5CD6F4}">
          <p14:sldIdLst>
            <p14:sldId id="283"/>
          </p14:sldIdLst>
        </p14:section>
        <p14:section name="IoT" id="{6496E292-1310-4CF5-8A4F-746412CAB9BC}">
          <p14:sldIdLst>
            <p14:sldId id="279"/>
            <p14:sldId id="333"/>
            <p14:sldId id="331"/>
            <p14:sldId id="341"/>
            <p14:sldId id="334"/>
            <p14:sldId id="335"/>
            <p14:sldId id="337"/>
            <p14:sldId id="336"/>
            <p14:sldId id="338"/>
            <p14:sldId id="339"/>
            <p14:sldId id="332"/>
            <p14:sldId id="342"/>
            <p14:sldId id="343"/>
            <p14:sldId id="257"/>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作者"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40" autoAdjust="0"/>
    <p:restoredTop sz="95742" autoAdjust="0"/>
  </p:normalViewPr>
  <p:slideViewPr>
    <p:cSldViewPr>
      <p:cViewPr varScale="1">
        <p:scale>
          <a:sx n="60" d="100"/>
          <a:sy n="60" d="100"/>
        </p:scale>
        <p:origin x="187" y="38"/>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7/18/2018 9:26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7/18/2018 9:26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350837" y="3421062"/>
            <a:ext cx="82295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endParaRPr lang="en-US" dirty="0">
              <a:solidFill>
                <a:schemeClr val="bg1"/>
              </a:solidFill>
            </a:endParaRPr>
          </a:p>
        </p:txBody>
      </p:sp>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Vaclav Turecek</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Service Fabric + IoT Hub</a:t>
            </a:r>
          </a:p>
        </p:txBody>
      </p:sp>
    </p:spTree>
    <p:extLst>
      <p:ext uri="{BB962C8B-B14F-4D97-AF65-F5344CB8AC3E}">
        <p14:creationId xmlns:p14="http://schemas.microsoft.com/office/powerpoint/2010/main" val="1251601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bwMode="auto">
          <a:xfrm>
            <a:off x="1798637" y="2430462"/>
            <a:ext cx="8763000" cy="28194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p:cNvSpPr/>
          <p:nvPr/>
        </p:nvSpPr>
        <p:spPr bwMode="auto">
          <a:xfrm>
            <a:off x="8199437" y="2278062"/>
            <a:ext cx="2362200" cy="38862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Application types and instances</a:t>
            </a:r>
          </a:p>
        </p:txBody>
      </p:sp>
      <p:sp>
        <p:nvSpPr>
          <p:cNvPr id="10" name="Text Placeholder 9"/>
          <p:cNvSpPr>
            <a:spLocks noGrp="1"/>
          </p:cNvSpPr>
          <p:nvPr>
            <p:ph type="body" sz="quarter" idx="10"/>
          </p:nvPr>
        </p:nvSpPr>
        <p:spPr>
          <a:xfrm>
            <a:off x="366077" y="1188720"/>
            <a:ext cx="11704320" cy="822960"/>
          </a:xfrm>
        </p:spPr>
        <p:txBody>
          <a:bodyPr/>
          <a:lstStyle/>
          <a:p>
            <a:r>
              <a:rPr lang="en-US" dirty="0"/>
              <a:t>Named application instances can be created at any time</a:t>
            </a:r>
          </a:p>
        </p:txBody>
      </p:sp>
      <p:sp>
        <p:nvSpPr>
          <p:cNvPr id="15" name="Rectangle 14"/>
          <p:cNvSpPr/>
          <p:nvPr/>
        </p:nvSpPr>
        <p:spPr bwMode="auto">
          <a:xfrm>
            <a:off x="2103437" y="3573462"/>
            <a:ext cx="16002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Package</a:t>
            </a:r>
          </a:p>
        </p:txBody>
      </p:sp>
      <p:sp>
        <p:nvSpPr>
          <p:cNvPr id="31" name="Rectangle 30"/>
          <p:cNvSpPr/>
          <p:nvPr/>
        </p:nvSpPr>
        <p:spPr bwMode="auto">
          <a:xfrm>
            <a:off x="4160837" y="3573462"/>
            <a:ext cx="16002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Copy</a:t>
            </a:r>
          </a:p>
        </p:txBody>
      </p:sp>
      <p:sp>
        <p:nvSpPr>
          <p:cNvPr id="32" name="Rectangle 31"/>
          <p:cNvSpPr/>
          <p:nvPr/>
        </p:nvSpPr>
        <p:spPr bwMode="auto">
          <a:xfrm>
            <a:off x="6218237" y="3573462"/>
            <a:ext cx="16002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Register</a:t>
            </a:r>
          </a:p>
        </p:txBody>
      </p:sp>
      <p:sp>
        <p:nvSpPr>
          <p:cNvPr id="33" name="Rectangle 32"/>
          <p:cNvSpPr/>
          <p:nvPr/>
        </p:nvSpPr>
        <p:spPr bwMode="auto">
          <a:xfrm>
            <a:off x="8580437" y="2811462"/>
            <a:ext cx="1600200" cy="5334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accent2"/>
                </a:solidFill>
                <a:ea typeface="Segoe UI" pitchFamily="34" charset="0"/>
                <a:cs typeface="Segoe UI" pitchFamily="34" charset="0"/>
              </a:rPr>
              <a:t>Create</a:t>
            </a:r>
          </a:p>
        </p:txBody>
      </p:sp>
      <p:sp>
        <p:nvSpPr>
          <p:cNvPr id="34" name="Rectangle 33"/>
          <p:cNvSpPr/>
          <p:nvPr/>
        </p:nvSpPr>
        <p:spPr bwMode="auto">
          <a:xfrm>
            <a:off x="8580437" y="3573462"/>
            <a:ext cx="1600200" cy="5334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accent2"/>
                </a:solidFill>
                <a:ea typeface="Segoe UI" pitchFamily="34" charset="0"/>
                <a:cs typeface="Segoe UI" pitchFamily="34" charset="0"/>
              </a:rPr>
              <a:t>Upgrade</a:t>
            </a:r>
          </a:p>
        </p:txBody>
      </p:sp>
      <p:sp>
        <p:nvSpPr>
          <p:cNvPr id="35" name="Rectangle 34"/>
          <p:cNvSpPr/>
          <p:nvPr/>
        </p:nvSpPr>
        <p:spPr bwMode="auto">
          <a:xfrm>
            <a:off x="8580437" y="4335462"/>
            <a:ext cx="1600200" cy="5334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accent2"/>
                </a:solidFill>
                <a:ea typeface="Segoe UI" pitchFamily="34" charset="0"/>
                <a:cs typeface="Segoe UI" pitchFamily="34" charset="0"/>
              </a:rPr>
              <a:t>Delete</a:t>
            </a:r>
          </a:p>
        </p:txBody>
      </p:sp>
      <p:cxnSp>
        <p:nvCxnSpPr>
          <p:cNvPr id="19" name="Straight Arrow Connector 18"/>
          <p:cNvCxnSpPr>
            <a:stCxn id="15" idx="3"/>
            <a:endCxn id="31" idx="1"/>
          </p:cNvCxnSpPr>
          <p:nvPr/>
        </p:nvCxnSpPr>
        <p:spPr>
          <a:xfrm>
            <a:off x="3703637" y="3840162"/>
            <a:ext cx="457200"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1" idx="3"/>
            <a:endCxn id="32" idx="1"/>
          </p:cNvCxnSpPr>
          <p:nvPr/>
        </p:nvCxnSpPr>
        <p:spPr>
          <a:xfrm>
            <a:off x="5761037" y="3840162"/>
            <a:ext cx="457200"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69059" y="4441416"/>
            <a:ext cx="409150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solidFill>
              </a:rPr>
              <a:t>Build and deployment time</a:t>
            </a:r>
          </a:p>
        </p:txBody>
      </p:sp>
      <p:sp>
        <p:nvSpPr>
          <p:cNvPr id="41" name="TextBox 40"/>
          <p:cNvSpPr txBox="1"/>
          <p:nvPr/>
        </p:nvSpPr>
        <p:spPr>
          <a:xfrm>
            <a:off x="8626805" y="5383998"/>
            <a:ext cx="1507464"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solidFill>
              </a:rPr>
              <a:t>Runtime</a:t>
            </a:r>
          </a:p>
        </p:txBody>
      </p:sp>
      <p:cxnSp>
        <p:nvCxnSpPr>
          <p:cNvPr id="45" name="Straight Arrow Connector 44"/>
          <p:cNvCxnSpPr>
            <a:stCxn id="32" idx="3"/>
          </p:cNvCxnSpPr>
          <p:nvPr/>
        </p:nvCxnSpPr>
        <p:spPr>
          <a:xfrm>
            <a:off x="7818437" y="3840162"/>
            <a:ext cx="381000"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02786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 and instances</a:t>
            </a:r>
          </a:p>
        </p:txBody>
      </p:sp>
      <p:sp>
        <p:nvSpPr>
          <p:cNvPr id="4" name="Rectangle 3"/>
          <p:cNvSpPr/>
          <p:nvPr/>
        </p:nvSpPr>
        <p:spPr bwMode="auto">
          <a:xfrm>
            <a:off x="1341437" y="3268662"/>
            <a:ext cx="2133600" cy="259080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ounded Rectangle 5"/>
          <p:cNvSpPr/>
          <p:nvPr/>
        </p:nvSpPr>
        <p:spPr bwMode="auto">
          <a:xfrm>
            <a:off x="5782137" y="3268662"/>
            <a:ext cx="2133600" cy="2590800"/>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Box 7"/>
          <p:cNvSpPr txBox="1"/>
          <p:nvPr/>
        </p:nvSpPr>
        <p:spPr>
          <a:xfrm>
            <a:off x="1112837" y="2640798"/>
            <a:ext cx="2476319" cy="627864"/>
          </a:xfrm>
          <a:prstGeom prst="rect">
            <a:avLst/>
          </a:prstGeom>
          <a:noFill/>
        </p:spPr>
        <p:txBody>
          <a:bodyPr wrap="none" lIns="182880" tIns="146304" rIns="182880" bIns="146304" rtlCol="0">
            <a:spAutoFit/>
          </a:bodyPr>
          <a:lstStyle/>
          <a:p>
            <a:pPr>
              <a:lnSpc>
                <a:spcPct val="90000"/>
              </a:lnSpc>
              <a:spcAft>
                <a:spcPts val="600"/>
              </a:spcAft>
            </a:pPr>
            <a:r>
              <a:rPr lang="en-US" sz="2400" dirty="0" err="1">
                <a:gradFill>
                  <a:gsLst>
                    <a:gs pos="2917">
                      <a:schemeClr val="tx1"/>
                    </a:gs>
                    <a:gs pos="30000">
                      <a:schemeClr val="tx1"/>
                    </a:gs>
                  </a:gsLst>
                  <a:lin ang="5400000" scaled="0"/>
                </a:gradFill>
              </a:rPr>
              <a:t>MyAppType</a:t>
            </a:r>
            <a:r>
              <a:rPr lang="en-US" sz="2400" dirty="0">
                <a:gradFill>
                  <a:gsLst>
                    <a:gs pos="2917">
                      <a:schemeClr val="tx1"/>
                    </a:gs>
                    <a:gs pos="30000">
                      <a:schemeClr val="tx1"/>
                    </a:gs>
                  </a:gsLst>
                  <a:lin ang="5400000" scaled="0"/>
                </a:gradFill>
              </a:rPr>
              <a:t> 2.0</a:t>
            </a:r>
          </a:p>
        </p:txBody>
      </p:sp>
      <p:sp>
        <p:nvSpPr>
          <p:cNvPr id="9" name="Rectangle 8"/>
          <p:cNvSpPr/>
          <p:nvPr/>
        </p:nvSpPr>
        <p:spPr bwMode="auto">
          <a:xfrm>
            <a:off x="1493837" y="3573462"/>
            <a:ext cx="1828800" cy="914400"/>
          </a:xfrm>
          <a:prstGeom prst="rect">
            <a:avLst/>
          </a:prstGeom>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dirty="0" err="1">
                <a:solidFill>
                  <a:schemeClr val="bg1"/>
                </a:solidFill>
                <a:ea typeface="Segoe UI" pitchFamily="34" charset="0"/>
                <a:cs typeface="Segoe UI" pitchFamily="34" charset="0"/>
              </a:rPr>
              <a:t>ServiceType</a:t>
            </a:r>
            <a:r>
              <a:rPr lang="en-US" dirty="0">
                <a:solidFill>
                  <a:schemeClr val="bg1"/>
                </a:solidFill>
                <a:ea typeface="Segoe UI" pitchFamily="34" charset="0"/>
                <a:cs typeface="Segoe UI" pitchFamily="34" charset="0"/>
              </a:rPr>
              <a:t> A</a:t>
            </a:r>
          </a:p>
          <a:p>
            <a:pPr algn="ctr" defTabSz="932472" fontAlgn="base">
              <a:spcBef>
                <a:spcPct val="0"/>
              </a:spcBef>
              <a:spcAft>
                <a:spcPct val="0"/>
              </a:spcAft>
            </a:pPr>
            <a:r>
              <a:rPr lang="en-US" dirty="0">
                <a:solidFill>
                  <a:schemeClr val="bg1"/>
                </a:solidFill>
                <a:ea typeface="Segoe UI" pitchFamily="34" charset="0"/>
                <a:cs typeface="Segoe UI" pitchFamily="34" charset="0"/>
              </a:rPr>
              <a:t>1.2</a:t>
            </a:r>
          </a:p>
        </p:txBody>
      </p:sp>
      <p:sp>
        <p:nvSpPr>
          <p:cNvPr id="11" name="Rectangle 10"/>
          <p:cNvSpPr/>
          <p:nvPr/>
        </p:nvSpPr>
        <p:spPr bwMode="auto">
          <a:xfrm>
            <a:off x="1493837" y="4658526"/>
            <a:ext cx="1828800" cy="914400"/>
          </a:xfrm>
          <a:prstGeom prst="rect">
            <a:avLst/>
          </a:prstGeom>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dirty="0" err="1">
                <a:solidFill>
                  <a:schemeClr val="bg1"/>
                </a:solidFill>
                <a:ea typeface="Segoe UI" pitchFamily="34" charset="0"/>
                <a:cs typeface="Segoe UI" pitchFamily="34" charset="0"/>
              </a:rPr>
              <a:t>ServiceType</a:t>
            </a:r>
            <a:r>
              <a:rPr lang="en-US" dirty="0">
                <a:solidFill>
                  <a:schemeClr val="bg1"/>
                </a:solidFill>
                <a:ea typeface="Segoe UI" pitchFamily="34" charset="0"/>
                <a:cs typeface="Segoe UI" pitchFamily="34" charset="0"/>
              </a:rPr>
              <a:t> B</a:t>
            </a:r>
          </a:p>
          <a:p>
            <a:pPr algn="ctr" defTabSz="932472" fontAlgn="base">
              <a:spcBef>
                <a:spcPct val="0"/>
              </a:spcBef>
              <a:spcAft>
                <a:spcPct val="0"/>
              </a:spcAft>
            </a:pPr>
            <a:r>
              <a:rPr lang="en-US" dirty="0">
                <a:solidFill>
                  <a:schemeClr val="bg1"/>
                </a:solidFill>
                <a:ea typeface="Segoe UI" pitchFamily="34" charset="0"/>
                <a:cs typeface="Segoe UI" pitchFamily="34" charset="0"/>
              </a:rPr>
              <a:t>1.5</a:t>
            </a:r>
          </a:p>
        </p:txBody>
      </p:sp>
      <p:sp>
        <p:nvSpPr>
          <p:cNvPr id="12" name="TextBox 11"/>
          <p:cNvSpPr txBox="1"/>
          <p:nvPr/>
        </p:nvSpPr>
        <p:spPr>
          <a:xfrm>
            <a:off x="5724109" y="2640798"/>
            <a:ext cx="224965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accent2"/>
                </a:solidFill>
              </a:rPr>
              <a:t>fabric:/</a:t>
            </a:r>
            <a:r>
              <a:rPr lang="en-US" sz="2400" dirty="0" err="1">
                <a:solidFill>
                  <a:schemeClr val="accent2"/>
                </a:solidFill>
              </a:rPr>
              <a:t>myapp</a:t>
            </a:r>
            <a:endParaRPr lang="en-US" sz="2400" dirty="0">
              <a:solidFill>
                <a:schemeClr val="accent2"/>
              </a:solidFill>
            </a:endParaRPr>
          </a:p>
        </p:txBody>
      </p:sp>
      <p:grpSp>
        <p:nvGrpSpPr>
          <p:cNvPr id="31" name="Group 30"/>
          <p:cNvGrpSpPr/>
          <p:nvPr/>
        </p:nvGrpSpPr>
        <p:grpSpPr>
          <a:xfrm>
            <a:off x="5772351" y="3497262"/>
            <a:ext cx="2199128" cy="2167711"/>
            <a:chOff x="5772351" y="3497262"/>
            <a:chExt cx="2199128" cy="2167711"/>
          </a:xfrm>
        </p:grpSpPr>
        <p:sp>
          <p:nvSpPr>
            <p:cNvPr id="7" name="Oval 6"/>
            <p:cNvSpPr/>
            <p:nvPr/>
          </p:nvSpPr>
          <p:spPr bwMode="auto">
            <a:xfrm>
              <a:off x="6642342" y="34972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4" name="TextBox 13"/>
            <p:cNvSpPr txBox="1"/>
            <p:nvPr/>
          </p:nvSpPr>
          <p:spPr>
            <a:xfrm>
              <a:off x="5772351" y="3956408"/>
              <a:ext cx="2199128"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myapp</a:t>
              </a:r>
              <a:r>
                <a:rPr lang="en-US" sz="1400" dirty="0">
                  <a:solidFill>
                    <a:schemeClr val="accent2"/>
                  </a:solidFill>
                </a:rPr>
                <a:t>/</a:t>
              </a:r>
              <a:r>
                <a:rPr lang="en-US" sz="1400" dirty="0" err="1">
                  <a:solidFill>
                    <a:schemeClr val="accent2"/>
                  </a:solidFill>
                </a:rPr>
                <a:t>serviceA</a:t>
              </a:r>
              <a:endParaRPr lang="en-US" sz="1400" dirty="0">
                <a:solidFill>
                  <a:schemeClr val="accent2"/>
                </a:solidFill>
              </a:endParaRPr>
            </a:p>
          </p:txBody>
        </p:sp>
        <p:sp>
          <p:nvSpPr>
            <p:cNvPr id="17" name="Oval 16"/>
            <p:cNvSpPr/>
            <p:nvPr/>
          </p:nvSpPr>
          <p:spPr bwMode="auto">
            <a:xfrm>
              <a:off x="6652128" y="47164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TextBox 17"/>
            <p:cNvSpPr txBox="1"/>
            <p:nvPr/>
          </p:nvSpPr>
          <p:spPr>
            <a:xfrm>
              <a:off x="5782137" y="5175608"/>
              <a:ext cx="2186304"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myapp</a:t>
              </a:r>
              <a:r>
                <a:rPr lang="en-US" sz="1400" dirty="0">
                  <a:solidFill>
                    <a:schemeClr val="accent2"/>
                  </a:solidFill>
                </a:rPr>
                <a:t>/</a:t>
              </a:r>
              <a:r>
                <a:rPr lang="en-US" sz="1400" dirty="0" err="1">
                  <a:solidFill>
                    <a:schemeClr val="accent2"/>
                  </a:solidFill>
                </a:rPr>
                <a:t>serviceB</a:t>
              </a:r>
              <a:endParaRPr lang="en-US" sz="1400" dirty="0">
                <a:solidFill>
                  <a:schemeClr val="accent2"/>
                </a:solidFill>
              </a:endParaRPr>
            </a:p>
          </p:txBody>
        </p:sp>
      </p:grpSp>
      <p:sp>
        <p:nvSpPr>
          <p:cNvPr id="10" name="Text Placeholder 9"/>
          <p:cNvSpPr>
            <a:spLocks noGrp="1"/>
          </p:cNvSpPr>
          <p:nvPr>
            <p:ph type="body" sz="quarter" idx="10"/>
          </p:nvPr>
        </p:nvSpPr>
        <p:spPr/>
        <p:txBody>
          <a:bodyPr/>
          <a:lstStyle/>
          <a:p>
            <a:r>
              <a:rPr lang="en-US" dirty="0"/>
              <a:t>Named application instances can be created at any time</a:t>
            </a:r>
          </a:p>
        </p:txBody>
      </p:sp>
      <p:sp>
        <p:nvSpPr>
          <p:cNvPr id="20" name="Rounded Rectangle 19"/>
          <p:cNvSpPr/>
          <p:nvPr/>
        </p:nvSpPr>
        <p:spPr bwMode="auto">
          <a:xfrm>
            <a:off x="8639817" y="3268662"/>
            <a:ext cx="2133600" cy="2590800"/>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Box 21"/>
          <p:cNvSpPr txBox="1"/>
          <p:nvPr/>
        </p:nvSpPr>
        <p:spPr>
          <a:xfrm>
            <a:off x="8291549" y="2653684"/>
            <a:ext cx="2895664"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accent2"/>
                </a:solidFill>
              </a:rPr>
              <a:t>fabric:/</a:t>
            </a:r>
            <a:r>
              <a:rPr lang="en-US" sz="2400" dirty="0" err="1">
                <a:solidFill>
                  <a:schemeClr val="accent2"/>
                </a:solidFill>
              </a:rPr>
              <a:t>anotherapp</a:t>
            </a:r>
            <a:endParaRPr lang="en-US" sz="2400" dirty="0">
              <a:solidFill>
                <a:schemeClr val="accent2"/>
              </a:solidFill>
            </a:endParaRPr>
          </a:p>
        </p:txBody>
      </p:sp>
      <p:grpSp>
        <p:nvGrpSpPr>
          <p:cNvPr id="34" name="Group 33"/>
          <p:cNvGrpSpPr/>
          <p:nvPr/>
        </p:nvGrpSpPr>
        <p:grpSpPr>
          <a:xfrm>
            <a:off x="8630031" y="3497262"/>
            <a:ext cx="2199128" cy="2167711"/>
            <a:chOff x="8630031" y="3497262"/>
            <a:chExt cx="2199128" cy="2167711"/>
          </a:xfrm>
        </p:grpSpPr>
        <p:sp>
          <p:nvSpPr>
            <p:cNvPr id="21" name="Oval 20"/>
            <p:cNvSpPr/>
            <p:nvPr/>
          </p:nvSpPr>
          <p:spPr bwMode="auto">
            <a:xfrm>
              <a:off x="9500022" y="34972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TextBox 22"/>
            <p:cNvSpPr txBox="1"/>
            <p:nvPr/>
          </p:nvSpPr>
          <p:spPr>
            <a:xfrm>
              <a:off x="8630031" y="3956408"/>
              <a:ext cx="2199128"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myapp</a:t>
              </a:r>
              <a:r>
                <a:rPr lang="en-US" sz="1400" dirty="0">
                  <a:solidFill>
                    <a:schemeClr val="accent2"/>
                  </a:solidFill>
                </a:rPr>
                <a:t>/</a:t>
              </a:r>
              <a:r>
                <a:rPr lang="en-US" sz="1400" dirty="0" err="1">
                  <a:solidFill>
                    <a:schemeClr val="accent2"/>
                  </a:solidFill>
                </a:rPr>
                <a:t>serviceA</a:t>
              </a:r>
              <a:endParaRPr lang="en-US" sz="1400" dirty="0">
                <a:solidFill>
                  <a:schemeClr val="accent2"/>
                </a:solidFill>
              </a:endParaRPr>
            </a:p>
          </p:txBody>
        </p:sp>
        <p:sp>
          <p:nvSpPr>
            <p:cNvPr id="24" name="Oval 23"/>
            <p:cNvSpPr/>
            <p:nvPr/>
          </p:nvSpPr>
          <p:spPr bwMode="auto">
            <a:xfrm>
              <a:off x="9509808" y="47164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TextBox 24"/>
            <p:cNvSpPr txBox="1"/>
            <p:nvPr/>
          </p:nvSpPr>
          <p:spPr>
            <a:xfrm>
              <a:off x="8639817" y="5175608"/>
              <a:ext cx="2186304"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myapp</a:t>
              </a:r>
              <a:r>
                <a:rPr lang="en-US" sz="1400" dirty="0">
                  <a:solidFill>
                    <a:schemeClr val="accent2"/>
                  </a:solidFill>
                </a:rPr>
                <a:t>/</a:t>
              </a:r>
              <a:r>
                <a:rPr lang="en-US" sz="1400" dirty="0" err="1">
                  <a:solidFill>
                    <a:schemeClr val="accent2"/>
                  </a:solidFill>
                </a:rPr>
                <a:t>serviceB</a:t>
              </a:r>
              <a:endParaRPr lang="en-US" sz="1400" dirty="0">
                <a:solidFill>
                  <a:schemeClr val="accent2"/>
                </a:solidFill>
              </a:endParaRPr>
            </a:p>
          </p:txBody>
        </p:sp>
      </p:grpSp>
      <p:grpSp>
        <p:nvGrpSpPr>
          <p:cNvPr id="29" name="Group 28"/>
          <p:cNvGrpSpPr/>
          <p:nvPr/>
        </p:nvGrpSpPr>
        <p:grpSpPr>
          <a:xfrm>
            <a:off x="3959307" y="4042515"/>
            <a:ext cx="1383802" cy="838200"/>
            <a:chOff x="3959307" y="4042515"/>
            <a:chExt cx="1383802" cy="838200"/>
          </a:xfrm>
        </p:grpSpPr>
        <p:sp>
          <p:nvSpPr>
            <p:cNvPr id="26" name="Right Arrow 25"/>
            <p:cNvSpPr/>
            <p:nvPr/>
          </p:nvSpPr>
          <p:spPr bwMode="auto">
            <a:xfrm>
              <a:off x="3971509" y="4042515"/>
              <a:ext cx="1371600" cy="838200"/>
            </a:xfrm>
            <a:prstGeom prst="rightArrow">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p:cNvSpPr txBox="1"/>
            <p:nvPr/>
          </p:nvSpPr>
          <p:spPr>
            <a:xfrm>
              <a:off x="3959307" y="4194915"/>
              <a:ext cx="1098121" cy="572464"/>
            </a:xfrm>
            <a:prstGeom prst="rect">
              <a:avLst/>
            </a:prstGeom>
            <a:noFill/>
          </p:spPr>
          <p:txBody>
            <a:bodyPr wrap="none" lIns="182880" tIns="146304" rIns="182880" bIns="146304" rtlCol="0">
              <a:spAutoFit/>
            </a:bodyPr>
            <a:lstStyle/>
            <a:p>
              <a:pPr>
                <a:lnSpc>
                  <a:spcPct val="90000"/>
                </a:lnSpc>
                <a:spcAft>
                  <a:spcPts val="600"/>
                </a:spcAft>
              </a:pPr>
              <a:r>
                <a:rPr lang="en-US" sz="2000" dirty="0">
                  <a:solidFill>
                    <a:schemeClr val="accent2"/>
                  </a:solidFill>
                </a:rPr>
                <a:t>Create</a:t>
              </a:r>
            </a:p>
          </p:txBody>
        </p:sp>
      </p:grpSp>
    </p:spTree>
    <p:extLst>
      <p:ext uri="{BB962C8B-B14F-4D97-AF65-F5344CB8AC3E}">
        <p14:creationId xmlns:p14="http://schemas.microsoft.com/office/powerpoint/2010/main" val="3562269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20" grpId="0" animBg="1"/>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Multi-tenant applications</a:t>
            </a:r>
          </a:p>
        </p:txBody>
      </p:sp>
      <p:sp>
        <p:nvSpPr>
          <p:cNvPr id="4" name="Rectangle 3"/>
          <p:cNvSpPr/>
          <p:nvPr/>
        </p:nvSpPr>
        <p:spPr bwMode="auto">
          <a:xfrm>
            <a:off x="1341437" y="3268662"/>
            <a:ext cx="2133600" cy="2590800"/>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ounded Rectangle 5"/>
          <p:cNvSpPr/>
          <p:nvPr/>
        </p:nvSpPr>
        <p:spPr bwMode="auto">
          <a:xfrm>
            <a:off x="5782137" y="3268662"/>
            <a:ext cx="2133600" cy="2590800"/>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Box 7"/>
          <p:cNvSpPr txBox="1"/>
          <p:nvPr/>
        </p:nvSpPr>
        <p:spPr>
          <a:xfrm>
            <a:off x="1112837" y="2640798"/>
            <a:ext cx="2952731" cy="627864"/>
          </a:xfrm>
          <a:prstGeom prst="rect">
            <a:avLst/>
          </a:prstGeom>
          <a:noFill/>
        </p:spPr>
        <p:txBody>
          <a:bodyPr wrap="none" lIns="182880" tIns="146304" rIns="182880" bIns="146304" rtlCol="0">
            <a:spAutoFit/>
          </a:bodyPr>
          <a:lstStyle/>
          <a:p>
            <a:pPr>
              <a:lnSpc>
                <a:spcPct val="90000"/>
              </a:lnSpc>
              <a:spcAft>
                <a:spcPts val="600"/>
              </a:spcAft>
            </a:pPr>
            <a:r>
              <a:rPr lang="en-US" sz="2400" dirty="0" err="1">
                <a:gradFill>
                  <a:gsLst>
                    <a:gs pos="2917">
                      <a:schemeClr val="tx1"/>
                    </a:gs>
                    <a:gs pos="30000">
                      <a:schemeClr val="tx1"/>
                    </a:gs>
                  </a:gsLst>
                  <a:lin ang="5400000" scaled="0"/>
                </a:gradFill>
              </a:rPr>
              <a:t>TenantAppType</a:t>
            </a:r>
            <a:r>
              <a:rPr lang="en-US" sz="2400" dirty="0">
                <a:gradFill>
                  <a:gsLst>
                    <a:gs pos="2917">
                      <a:schemeClr val="tx1"/>
                    </a:gs>
                    <a:gs pos="30000">
                      <a:schemeClr val="tx1"/>
                    </a:gs>
                  </a:gsLst>
                  <a:lin ang="5400000" scaled="0"/>
                </a:gradFill>
              </a:rPr>
              <a:t> 2.0</a:t>
            </a:r>
          </a:p>
        </p:txBody>
      </p:sp>
      <p:sp>
        <p:nvSpPr>
          <p:cNvPr id="9" name="Rectangle 8"/>
          <p:cNvSpPr/>
          <p:nvPr/>
        </p:nvSpPr>
        <p:spPr bwMode="auto">
          <a:xfrm>
            <a:off x="1493837" y="3573462"/>
            <a:ext cx="1828800" cy="914400"/>
          </a:xfrm>
          <a:prstGeom prst="rect">
            <a:avLst/>
          </a:prstGeom>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err="1">
                <a:solidFill>
                  <a:schemeClr val="bg1"/>
                </a:solidFill>
                <a:ea typeface="Segoe UI" pitchFamily="34" charset="0"/>
                <a:cs typeface="Segoe UI" pitchFamily="34" charset="0"/>
              </a:rPr>
              <a:t>WebServiceType</a:t>
            </a:r>
            <a:endParaRPr lang="en-US" sz="1400" dirty="0">
              <a:solidFill>
                <a:schemeClr val="bg1"/>
              </a:solidFill>
              <a:ea typeface="Segoe UI" pitchFamily="34" charset="0"/>
              <a:cs typeface="Segoe UI" pitchFamily="34" charset="0"/>
            </a:endParaRPr>
          </a:p>
          <a:p>
            <a:pPr algn="ctr" defTabSz="932472" fontAlgn="base">
              <a:spcBef>
                <a:spcPct val="0"/>
              </a:spcBef>
              <a:spcAft>
                <a:spcPct val="0"/>
              </a:spcAft>
            </a:pPr>
            <a:r>
              <a:rPr lang="en-US" sz="1400" dirty="0">
                <a:solidFill>
                  <a:schemeClr val="bg1"/>
                </a:solidFill>
                <a:ea typeface="Segoe UI" pitchFamily="34" charset="0"/>
                <a:cs typeface="Segoe UI" pitchFamily="34" charset="0"/>
              </a:rPr>
              <a:t>1.2</a:t>
            </a:r>
          </a:p>
        </p:txBody>
      </p:sp>
      <p:sp>
        <p:nvSpPr>
          <p:cNvPr id="11" name="Rectangle 10"/>
          <p:cNvSpPr/>
          <p:nvPr/>
        </p:nvSpPr>
        <p:spPr bwMode="auto">
          <a:xfrm>
            <a:off x="1493837" y="4658526"/>
            <a:ext cx="1828800" cy="914400"/>
          </a:xfrm>
          <a:prstGeom prst="rect">
            <a:avLst/>
          </a:prstGeom>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400" dirty="0" err="1">
                <a:solidFill>
                  <a:schemeClr val="bg1"/>
                </a:solidFill>
                <a:ea typeface="Segoe UI" pitchFamily="34" charset="0"/>
                <a:cs typeface="Segoe UI" pitchFamily="34" charset="0"/>
              </a:rPr>
              <a:t>DataServiceType</a:t>
            </a:r>
            <a:endParaRPr lang="en-US" sz="1400" dirty="0">
              <a:solidFill>
                <a:schemeClr val="bg1"/>
              </a:solidFill>
              <a:ea typeface="Segoe UI" pitchFamily="34" charset="0"/>
              <a:cs typeface="Segoe UI" pitchFamily="34" charset="0"/>
            </a:endParaRPr>
          </a:p>
          <a:p>
            <a:pPr algn="ctr" defTabSz="932472" fontAlgn="base">
              <a:spcBef>
                <a:spcPct val="0"/>
              </a:spcBef>
              <a:spcAft>
                <a:spcPct val="0"/>
              </a:spcAft>
            </a:pPr>
            <a:r>
              <a:rPr lang="en-US" sz="1400" dirty="0">
                <a:solidFill>
                  <a:schemeClr val="bg1"/>
                </a:solidFill>
                <a:ea typeface="Segoe UI" pitchFamily="34" charset="0"/>
                <a:cs typeface="Segoe UI" pitchFamily="34" charset="0"/>
              </a:rPr>
              <a:t>1.5</a:t>
            </a:r>
          </a:p>
        </p:txBody>
      </p:sp>
      <p:sp>
        <p:nvSpPr>
          <p:cNvPr id="12" name="TextBox 11"/>
          <p:cNvSpPr txBox="1"/>
          <p:nvPr/>
        </p:nvSpPr>
        <p:spPr>
          <a:xfrm>
            <a:off x="5822778" y="2653684"/>
            <a:ext cx="2124621"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accent2"/>
                </a:solidFill>
              </a:rPr>
              <a:t>fabric:/</a:t>
            </a:r>
            <a:r>
              <a:rPr lang="en-US" sz="2400" dirty="0" err="1">
                <a:solidFill>
                  <a:schemeClr val="accent2"/>
                </a:solidFill>
              </a:rPr>
              <a:t>UserA</a:t>
            </a:r>
            <a:endParaRPr lang="en-US" sz="2400" dirty="0">
              <a:solidFill>
                <a:schemeClr val="accent2"/>
              </a:solidFill>
            </a:endParaRPr>
          </a:p>
        </p:txBody>
      </p:sp>
      <p:grpSp>
        <p:nvGrpSpPr>
          <p:cNvPr id="31" name="Group 30"/>
          <p:cNvGrpSpPr/>
          <p:nvPr/>
        </p:nvGrpSpPr>
        <p:grpSpPr>
          <a:xfrm>
            <a:off x="5772351" y="3497262"/>
            <a:ext cx="1844263" cy="2167711"/>
            <a:chOff x="5772351" y="3497262"/>
            <a:chExt cx="1844263" cy="2167711"/>
          </a:xfrm>
        </p:grpSpPr>
        <p:sp>
          <p:nvSpPr>
            <p:cNvPr id="7" name="Oval 6"/>
            <p:cNvSpPr/>
            <p:nvPr/>
          </p:nvSpPr>
          <p:spPr bwMode="auto">
            <a:xfrm>
              <a:off x="6642342" y="34972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4" name="TextBox 13"/>
            <p:cNvSpPr txBox="1"/>
            <p:nvPr/>
          </p:nvSpPr>
          <p:spPr>
            <a:xfrm>
              <a:off x="5772351" y="3956408"/>
              <a:ext cx="1828578"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UserA</a:t>
              </a:r>
              <a:r>
                <a:rPr lang="en-US" sz="1400" dirty="0">
                  <a:solidFill>
                    <a:schemeClr val="accent2"/>
                  </a:solidFill>
                </a:rPr>
                <a:t>/Web</a:t>
              </a:r>
            </a:p>
          </p:txBody>
        </p:sp>
        <p:sp>
          <p:nvSpPr>
            <p:cNvPr id="17" name="Oval 16"/>
            <p:cNvSpPr/>
            <p:nvPr/>
          </p:nvSpPr>
          <p:spPr bwMode="auto">
            <a:xfrm>
              <a:off x="6652128" y="47164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TextBox 17"/>
            <p:cNvSpPr txBox="1"/>
            <p:nvPr/>
          </p:nvSpPr>
          <p:spPr>
            <a:xfrm>
              <a:off x="5782137" y="5175608"/>
              <a:ext cx="1834477"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UserA</a:t>
              </a:r>
              <a:r>
                <a:rPr lang="en-US" sz="1400" dirty="0">
                  <a:solidFill>
                    <a:schemeClr val="accent2"/>
                  </a:solidFill>
                </a:rPr>
                <a:t>/Data</a:t>
              </a:r>
            </a:p>
          </p:txBody>
        </p:sp>
      </p:grpSp>
      <p:sp>
        <p:nvSpPr>
          <p:cNvPr id="10" name="Text Placeholder 9"/>
          <p:cNvSpPr>
            <a:spLocks noGrp="1"/>
          </p:cNvSpPr>
          <p:nvPr>
            <p:ph type="body" sz="quarter" idx="10"/>
          </p:nvPr>
        </p:nvSpPr>
        <p:spPr/>
        <p:txBody>
          <a:bodyPr/>
          <a:lstStyle/>
          <a:p>
            <a:r>
              <a:rPr lang="en-US" dirty="0"/>
              <a:t>A named application instance is created for each tenant.</a:t>
            </a:r>
          </a:p>
        </p:txBody>
      </p:sp>
      <p:sp>
        <p:nvSpPr>
          <p:cNvPr id="20" name="Rounded Rectangle 19"/>
          <p:cNvSpPr/>
          <p:nvPr/>
        </p:nvSpPr>
        <p:spPr bwMode="auto">
          <a:xfrm>
            <a:off x="8639817" y="3268662"/>
            <a:ext cx="2133600" cy="2590800"/>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Box 21"/>
          <p:cNvSpPr txBox="1"/>
          <p:nvPr/>
        </p:nvSpPr>
        <p:spPr>
          <a:xfrm>
            <a:off x="8653519" y="2640798"/>
            <a:ext cx="2102179"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accent2"/>
                </a:solidFill>
              </a:rPr>
              <a:t>fabric:/</a:t>
            </a:r>
            <a:r>
              <a:rPr lang="en-US" sz="2400" dirty="0" err="1">
                <a:solidFill>
                  <a:schemeClr val="accent2"/>
                </a:solidFill>
              </a:rPr>
              <a:t>UserB</a:t>
            </a:r>
            <a:endParaRPr lang="en-US" sz="2400" dirty="0">
              <a:solidFill>
                <a:schemeClr val="accent2"/>
              </a:solidFill>
            </a:endParaRPr>
          </a:p>
        </p:txBody>
      </p:sp>
      <p:grpSp>
        <p:nvGrpSpPr>
          <p:cNvPr id="34" name="Group 33"/>
          <p:cNvGrpSpPr/>
          <p:nvPr/>
        </p:nvGrpSpPr>
        <p:grpSpPr>
          <a:xfrm>
            <a:off x="8630031" y="3497262"/>
            <a:ext cx="1831439" cy="2167711"/>
            <a:chOff x="8630031" y="3497262"/>
            <a:chExt cx="1831439" cy="2167711"/>
          </a:xfrm>
        </p:grpSpPr>
        <p:sp>
          <p:nvSpPr>
            <p:cNvPr id="21" name="Oval 20"/>
            <p:cNvSpPr/>
            <p:nvPr/>
          </p:nvSpPr>
          <p:spPr bwMode="auto">
            <a:xfrm>
              <a:off x="9500022" y="34972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TextBox 22"/>
            <p:cNvSpPr txBox="1"/>
            <p:nvPr/>
          </p:nvSpPr>
          <p:spPr>
            <a:xfrm>
              <a:off x="8630031" y="3956408"/>
              <a:ext cx="1815753"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UserB</a:t>
              </a:r>
              <a:r>
                <a:rPr lang="en-US" sz="1400" dirty="0">
                  <a:solidFill>
                    <a:schemeClr val="accent2"/>
                  </a:solidFill>
                </a:rPr>
                <a:t>/Web</a:t>
              </a:r>
            </a:p>
          </p:txBody>
        </p:sp>
        <p:sp>
          <p:nvSpPr>
            <p:cNvPr id="24" name="Oval 23"/>
            <p:cNvSpPr/>
            <p:nvPr/>
          </p:nvSpPr>
          <p:spPr bwMode="auto">
            <a:xfrm>
              <a:off x="9509808" y="4716462"/>
              <a:ext cx="459146" cy="459146"/>
            </a:xfrm>
            <a:prstGeom prst="ellipse">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TextBox 24"/>
            <p:cNvSpPr txBox="1"/>
            <p:nvPr/>
          </p:nvSpPr>
          <p:spPr>
            <a:xfrm>
              <a:off x="8639817" y="5175608"/>
              <a:ext cx="1821653" cy="489365"/>
            </a:xfrm>
            <a:prstGeom prst="rect">
              <a:avLst/>
            </a:prstGeom>
            <a:noFill/>
          </p:spPr>
          <p:txBody>
            <a:bodyPr wrap="none" lIns="182880" tIns="146304" rIns="182880" bIns="146304" rtlCol="0">
              <a:spAutoFit/>
            </a:bodyPr>
            <a:lstStyle/>
            <a:p>
              <a:pPr>
                <a:lnSpc>
                  <a:spcPct val="90000"/>
                </a:lnSpc>
                <a:spcAft>
                  <a:spcPts val="600"/>
                </a:spcAft>
              </a:pPr>
              <a:r>
                <a:rPr lang="en-US" sz="1400" dirty="0">
                  <a:solidFill>
                    <a:schemeClr val="accent2"/>
                  </a:solidFill>
                </a:rPr>
                <a:t>fabric:/</a:t>
              </a:r>
              <a:r>
                <a:rPr lang="en-US" sz="1400" dirty="0" err="1">
                  <a:solidFill>
                    <a:schemeClr val="accent2"/>
                  </a:solidFill>
                </a:rPr>
                <a:t>UserB</a:t>
              </a:r>
              <a:r>
                <a:rPr lang="en-US" sz="1400" dirty="0">
                  <a:solidFill>
                    <a:schemeClr val="accent2"/>
                  </a:solidFill>
                </a:rPr>
                <a:t>/Data</a:t>
              </a:r>
            </a:p>
          </p:txBody>
        </p:sp>
      </p:grpSp>
      <p:grpSp>
        <p:nvGrpSpPr>
          <p:cNvPr id="29" name="Group 28"/>
          <p:cNvGrpSpPr/>
          <p:nvPr/>
        </p:nvGrpSpPr>
        <p:grpSpPr>
          <a:xfrm>
            <a:off x="3959307" y="4042515"/>
            <a:ext cx="1383802" cy="838200"/>
            <a:chOff x="3959307" y="4042515"/>
            <a:chExt cx="1383802" cy="838200"/>
          </a:xfrm>
        </p:grpSpPr>
        <p:sp>
          <p:nvSpPr>
            <p:cNvPr id="26" name="Right Arrow 25"/>
            <p:cNvSpPr/>
            <p:nvPr/>
          </p:nvSpPr>
          <p:spPr bwMode="auto">
            <a:xfrm>
              <a:off x="3971509" y="4042515"/>
              <a:ext cx="1371600" cy="838200"/>
            </a:xfrm>
            <a:prstGeom prst="rightArrow">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p:cNvSpPr txBox="1"/>
            <p:nvPr/>
          </p:nvSpPr>
          <p:spPr>
            <a:xfrm>
              <a:off x="3959307" y="4194915"/>
              <a:ext cx="1098121" cy="572464"/>
            </a:xfrm>
            <a:prstGeom prst="rect">
              <a:avLst/>
            </a:prstGeom>
            <a:noFill/>
          </p:spPr>
          <p:txBody>
            <a:bodyPr wrap="none" lIns="182880" tIns="146304" rIns="182880" bIns="146304" rtlCol="0">
              <a:spAutoFit/>
            </a:bodyPr>
            <a:lstStyle/>
            <a:p>
              <a:pPr>
                <a:lnSpc>
                  <a:spcPct val="90000"/>
                </a:lnSpc>
                <a:spcAft>
                  <a:spcPts val="600"/>
                </a:spcAft>
              </a:pPr>
              <a:r>
                <a:rPr lang="en-US" sz="2000" dirty="0">
                  <a:solidFill>
                    <a:schemeClr val="accent2"/>
                  </a:solidFill>
                </a:rPr>
                <a:t>Create</a:t>
              </a:r>
            </a:p>
          </p:txBody>
        </p:sp>
      </p:grpSp>
    </p:spTree>
    <p:extLst>
      <p:ext uri="{BB962C8B-B14F-4D97-AF65-F5344CB8AC3E}">
        <p14:creationId xmlns:p14="http://schemas.microsoft.com/office/powerpoint/2010/main" val="1304248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20"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IoT data flow</a:t>
            </a:r>
          </a:p>
        </p:txBody>
      </p:sp>
      <p:pic>
        <p:nvPicPr>
          <p:cNvPr id="4" name="Picture 3"/>
          <p:cNvPicPr>
            <a:picLocks noChangeAspect="1"/>
          </p:cNvPicPr>
          <p:nvPr/>
        </p:nvPicPr>
        <p:blipFill>
          <a:blip r:embed="rId2"/>
          <a:stretch>
            <a:fillRect/>
          </a:stretch>
        </p:blipFill>
        <p:spPr>
          <a:xfrm>
            <a:off x="383575" y="2049462"/>
            <a:ext cx="11706347" cy="3642800"/>
          </a:xfrm>
          <a:prstGeom prst="rect">
            <a:avLst/>
          </a:prstGeom>
        </p:spPr>
      </p:pic>
    </p:spTree>
    <p:extLst>
      <p:ext uri="{BB962C8B-B14F-4D97-AF65-F5344CB8AC3E}">
        <p14:creationId xmlns:p14="http://schemas.microsoft.com/office/powerpoint/2010/main" val="234631489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Hub and Event Hub partitioning</a:t>
            </a:r>
          </a:p>
        </p:txBody>
      </p:sp>
      <p:sp>
        <p:nvSpPr>
          <p:cNvPr id="10" name="Text Placeholder 9"/>
          <p:cNvSpPr>
            <a:spLocks noGrp="1"/>
          </p:cNvSpPr>
          <p:nvPr>
            <p:ph type="body" sz="quarter" idx="10"/>
          </p:nvPr>
        </p:nvSpPr>
        <p:spPr>
          <a:xfrm>
            <a:off x="366077" y="1188720"/>
            <a:ext cx="11704320" cy="822960"/>
          </a:xfrm>
        </p:spPr>
        <p:txBody>
          <a:bodyPr/>
          <a:lstStyle/>
          <a:p>
            <a:r>
              <a:rPr lang="en-US" dirty="0"/>
              <a:t>A partition in IoT Hub and Event Hub is an ordered sequence of events.</a:t>
            </a:r>
          </a:p>
          <a:p>
            <a:r>
              <a:rPr lang="en-US" dirty="0"/>
              <a:t>Similar to a commit log.</a:t>
            </a:r>
          </a:p>
        </p:txBody>
      </p:sp>
      <p:pic>
        <p:nvPicPr>
          <p:cNvPr id="1026" name="Picture 2" descr="Event Hub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420" y="3268662"/>
            <a:ext cx="5715000"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63106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Hub and Event Hub partitioning</a:t>
            </a:r>
          </a:p>
        </p:txBody>
      </p:sp>
      <p:sp>
        <p:nvSpPr>
          <p:cNvPr id="10" name="Text Placeholder 9"/>
          <p:cNvSpPr>
            <a:spLocks noGrp="1"/>
          </p:cNvSpPr>
          <p:nvPr>
            <p:ph type="body" sz="quarter" idx="10"/>
          </p:nvPr>
        </p:nvSpPr>
        <p:spPr>
          <a:xfrm>
            <a:off x="366077" y="1188720"/>
            <a:ext cx="11704320" cy="822960"/>
          </a:xfrm>
        </p:spPr>
        <p:txBody>
          <a:bodyPr/>
          <a:lstStyle/>
          <a:p>
            <a:r>
              <a:rPr lang="en-US" dirty="0"/>
              <a:t>An offset is a position in the event stream of a partition.</a:t>
            </a:r>
          </a:p>
          <a:p>
            <a:r>
              <a:rPr lang="en-US" dirty="0"/>
              <a:t>Consumers must keep track of the offset outside of IoT Hub and Event Hub.</a:t>
            </a:r>
          </a:p>
        </p:txBody>
      </p:sp>
      <p:pic>
        <p:nvPicPr>
          <p:cNvPr id="3074" name="Picture 2" descr="Event Hub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420" y="3116262"/>
            <a:ext cx="57150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15148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IoT Hub and Event Hub partitioning</a:t>
            </a:r>
          </a:p>
        </p:txBody>
      </p:sp>
      <p:sp>
        <p:nvSpPr>
          <p:cNvPr id="10" name="Text Placeholder 9"/>
          <p:cNvSpPr>
            <a:spLocks noGrp="1"/>
          </p:cNvSpPr>
          <p:nvPr>
            <p:ph type="body" sz="quarter" idx="10"/>
          </p:nvPr>
        </p:nvSpPr>
        <p:spPr>
          <a:xfrm>
            <a:off x="366077" y="1188720"/>
            <a:ext cx="11704320" cy="822960"/>
          </a:xfrm>
        </p:spPr>
        <p:txBody>
          <a:bodyPr/>
          <a:lstStyle/>
          <a:p>
            <a:r>
              <a:rPr lang="en-US" dirty="0"/>
              <a:t>Multiple independent partitions contain their own sequence of event data.</a:t>
            </a:r>
          </a:p>
          <a:p>
            <a:r>
              <a:rPr lang="en-US" dirty="0"/>
              <a:t>Partitions are distributed across machines for scale.</a:t>
            </a:r>
          </a:p>
          <a:p>
            <a:r>
              <a:rPr lang="en-US" dirty="0"/>
              <a:t>Consumers must coordinate with each other to read from multiple partitions.</a:t>
            </a:r>
          </a:p>
        </p:txBody>
      </p:sp>
      <p:pic>
        <p:nvPicPr>
          <p:cNvPr id="2050" name="Picture 2" descr="Event Hub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420" y="2826702"/>
            <a:ext cx="571500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56332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bwMode="auto">
          <a:xfrm>
            <a:off x="8908493" y="4041450"/>
            <a:ext cx="2438400" cy="204491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p:cNvSpPr/>
          <p:nvPr/>
        </p:nvSpPr>
        <p:spPr bwMode="auto">
          <a:xfrm>
            <a:off x="3170237" y="2365050"/>
            <a:ext cx="2438400" cy="323818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p:cNvSpPr/>
          <p:nvPr/>
        </p:nvSpPr>
        <p:spPr bwMode="auto">
          <a:xfrm>
            <a:off x="3398837" y="2769228"/>
            <a:ext cx="1981200" cy="275780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IoT Hub and Event Hub partitioning</a:t>
            </a:r>
          </a:p>
        </p:txBody>
      </p:sp>
      <p:sp>
        <p:nvSpPr>
          <p:cNvPr id="10" name="Text Placeholder 9"/>
          <p:cNvSpPr>
            <a:spLocks noGrp="1"/>
          </p:cNvSpPr>
          <p:nvPr>
            <p:ph type="body" sz="quarter" idx="10"/>
          </p:nvPr>
        </p:nvSpPr>
        <p:spPr>
          <a:xfrm>
            <a:off x="366077" y="1188720"/>
            <a:ext cx="11704320" cy="822960"/>
          </a:xfrm>
        </p:spPr>
        <p:txBody>
          <a:bodyPr/>
          <a:lstStyle/>
          <a:p>
            <a:r>
              <a:rPr lang="en-US" dirty="0" err="1"/>
              <a:t>EventProcessorHost</a:t>
            </a:r>
            <a:r>
              <a:rPr lang="en-US" dirty="0"/>
              <a:t>: Consuming events with stateless workers</a:t>
            </a:r>
          </a:p>
        </p:txBody>
      </p:sp>
      <p:sp>
        <p:nvSpPr>
          <p:cNvPr id="3" name="Rectangle 2"/>
          <p:cNvSpPr/>
          <p:nvPr/>
        </p:nvSpPr>
        <p:spPr bwMode="auto">
          <a:xfrm>
            <a:off x="960437" y="2365050"/>
            <a:ext cx="1600200" cy="323818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p:nvSpPr>
        <p:spPr bwMode="auto">
          <a:xfrm>
            <a:off x="1112837" y="3226428"/>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1</a:t>
            </a:r>
          </a:p>
        </p:txBody>
      </p:sp>
      <p:sp>
        <p:nvSpPr>
          <p:cNvPr id="8" name="Rectangle 7"/>
          <p:cNvSpPr/>
          <p:nvPr/>
        </p:nvSpPr>
        <p:spPr bwMode="auto">
          <a:xfrm>
            <a:off x="1112837" y="3622032"/>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2</a:t>
            </a:r>
          </a:p>
        </p:txBody>
      </p:sp>
      <p:sp>
        <p:nvSpPr>
          <p:cNvPr id="9" name="Rectangle 8"/>
          <p:cNvSpPr/>
          <p:nvPr/>
        </p:nvSpPr>
        <p:spPr bwMode="auto">
          <a:xfrm>
            <a:off x="1112837" y="4022415"/>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14" name="Rectangle 13"/>
          <p:cNvSpPr/>
          <p:nvPr/>
        </p:nvSpPr>
        <p:spPr bwMode="auto">
          <a:xfrm>
            <a:off x="1112837" y="4409960"/>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4</a:t>
            </a:r>
          </a:p>
        </p:txBody>
      </p:sp>
      <p:sp>
        <p:nvSpPr>
          <p:cNvPr id="15" name="Rectangle 14"/>
          <p:cNvSpPr/>
          <p:nvPr/>
        </p:nvSpPr>
        <p:spPr bwMode="auto">
          <a:xfrm>
            <a:off x="1112837" y="4788826"/>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5</a:t>
            </a:r>
          </a:p>
        </p:txBody>
      </p:sp>
      <p:sp>
        <p:nvSpPr>
          <p:cNvPr id="16" name="Rectangle 15"/>
          <p:cNvSpPr/>
          <p:nvPr/>
        </p:nvSpPr>
        <p:spPr bwMode="auto">
          <a:xfrm>
            <a:off x="1112307" y="5155379"/>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6</a:t>
            </a:r>
          </a:p>
        </p:txBody>
      </p:sp>
      <p:sp>
        <p:nvSpPr>
          <p:cNvPr id="18" name="Rectangle 17"/>
          <p:cNvSpPr/>
          <p:nvPr/>
        </p:nvSpPr>
        <p:spPr bwMode="auto">
          <a:xfrm>
            <a:off x="3627437" y="3226428"/>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1</a:t>
            </a:r>
          </a:p>
        </p:txBody>
      </p:sp>
      <p:sp>
        <p:nvSpPr>
          <p:cNvPr id="19" name="Rectangle 18"/>
          <p:cNvSpPr/>
          <p:nvPr/>
        </p:nvSpPr>
        <p:spPr bwMode="auto">
          <a:xfrm>
            <a:off x="3627437" y="3622032"/>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2</a:t>
            </a:r>
          </a:p>
        </p:txBody>
      </p:sp>
      <p:sp>
        <p:nvSpPr>
          <p:cNvPr id="20" name="Rectangle 19"/>
          <p:cNvSpPr/>
          <p:nvPr/>
        </p:nvSpPr>
        <p:spPr bwMode="auto">
          <a:xfrm>
            <a:off x="3627437" y="4022415"/>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3</a:t>
            </a:r>
          </a:p>
        </p:txBody>
      </p:sp>
      <p:sp>
        <p:nvSpPr>
          <p:cNvPr id="21" name="Rectangle 20"/>
          <p:cNvSpPr/>
          <p:nvPr/>
        </p:nvSpPr>
        <p:spPr bwMode="auto">
          <a:xfrm>
            <a:off x="3627437" y="4409960"/>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4</a:t>
            </a:r>
          </a:p>
        </p:txBody>
      </p:sp>
      <p:sp>
        <p:nvSpPr>
          <p:cNvPr id="22" name="Rectangle 21"/>
          <p:cNvSpPr/>
          <p:nvPr/>
        </p:nvSpPr>
        <p:spPr bwMode="auto">
          <a:xfrm>
            <a:off x="3627437" y="4788826"/>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5</a:t>
            </a:r>
          </a:p>
        </p:txBody>
      </p:sp>
      <p:sp>
        <p:nvSpPr>
          <p:cNvPr id="23" name="Rectangle 22"/>
          <p:cNvSpPr/>
          <p:nvPr/>
        </p:nvSpPr>
        <p:spPr bwMode="auto">
          <a:xfrm>
            <a:off x="3626907" y="5155379"/>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6</a:t>
            </a:r>
          </a:p>
        </p:txBody>
      </p:sp>
      <p:sp>
        <p:nvSpPr>
          <p:cNvPr id="24" name="TextBox 23"/>
          <p:cNvSpPr txBox="1"/>
          <p:nvPr/>
        </p:nvSpPr>
        <p:spPr>
          <a:xfrm>
            <a:off x="3322637" y="2762385"/>
            <a:ext cx="2155975" cy="517065"/>
          </a:xfrm>
          <a:prstGeom prst="rect">
            <a:avLst/>
          </a:prstGeom>
          <a:noFill/>
        </p:spPr>
        <p:txBody>
          <a:bodyPr wrap="none" lIns="182880" tIns="146304" rIns="182880" bIns="146304" rtlCol="0">
            <a:spAutoFit/>
          </a:bodyPr>
          <a:lstStyle/>
          <a:p>
            <a:pPr>
              <a:lnSpc>
                <a:spcPct val="90000"/>
              </a:lnSpc>
              <a:spcAft>
                <a:spcPts val="600"/>
              </a:spcAft>
            </a:pPr>
            <a:r>
              <a:rPr lang="en-US" sz="1600" dirty="0" err="1">
                <a:gradFill>
                  <a:gsLst>
                    <a:gs pos="0">
                      <a:srgbClr val="FFFFFF"/>
                    </a:gs>
                    <a:gs pos="100000">
                      <a:srgbClr val="FFFFFF"/>
                    </a:gs>
                  </a:gsLst>
                  <a:lin ang="5400000" scaled="0"/>
                </a:gradFill>
                <a:ea typeface="Segoe UI" pitchFamily="34" charset="0"/>
                <a:cs typeface="Segoe UI" pitchFamily="34" charset="0"/>
              </a:rPr>
              <a:t>EventProcessorHost</a:t>
            </a:r>
            <a:endParaRPr lang="en-US" sz="1600" dirty="0">
              <a:gradFill>
                <a:gsLst>
                  <a:gs pos="2917">
                    <a:schemeClr val="tx1"/>
                  </a:gs>
                  <a:gs pos="30000">
                    <a:schemeClr val="tx1"/>
                  </a:gs>
                </a:gsLst>
                <a:lin ang="5400000" scaled="0"/>
              </a:gradFill>
            </a:endParaRPr>
          </a:p>
        </p:txBody>
      </p:sp>
      <p:sp>
        <p:nvSpPr>
          <p:cNvPr id="26" name="TextBox 25"/>
          <p:cNvSpPr txBox="1"/>
          <p:nvPr/>
        </p:nvSpPr>
        <p:spPr>
          <a:xfrm>
            <a:off x="1050942" y="2278062"/>
            <a:ext cx="145296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IoT Hub</a:t>
            </a:r>
          </a:p>
        </p:txBody>
      </p:sp>
      <p:sp>
        <p:nvSpPr>
          <p:cNvPr id="28" name="TextBox 27"/>
          <p:cNvSpPr txBox="1"/>
          <p:nvPr/>
        </p:nvSpPr>
        <p:spPr>
          <a:xfrm>
            <a:off x="3260536" y="2278062"/>
            <a:ext cx="228017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Worker Role 1</a:t>
            </a:r>
          </a:p>
        </p:txBody>
      </p:sp>
      <p:cxnSp>
        <p:nvCxnSpPr>
          <p:cNvPr id="29" name="Straight Arrow Connector 28"/>
          <p:cNvCxnSpPr>
            <a:endCxn id="18" idx="1"/>
          </p:cNvCxnSpPr>
          <p:nvPr/>
        </p:nvCxnSpPr>
        <p:spPr>
          <a:xfrm>
            <a:off x="2408237" y="3378828"/>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a:stCxn id="8" idx="3"/>
            <a:endCxn id="19" idx="1"/>
          </p:cNvCxnSpPr>
          <p:nvPr/>
        </p:nvCxnSpPr>
        <p:spPr>
          <a:xfrm>
            <a:off x="2408237" y="3774432"/>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p:cNvCxnSpPr/>
          <p:nvPr/>
        </p:nvCxnSpPr>
        <p:spPr>
          <a:xfrm>
            <a:off x="2408237" y="4155432"/>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p:cNvCxnSpPr/>
          <p:nvPr/>
        </p:nvCxnSpPr>
        <p:spPr>
          <a:xfrm>
            <a:off x="2408237" y="4544262"/>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p:cNvCxnSpPr/>
          <p:nvPr/>
        </p:nvCxnSpPr>
        <p:spPr>
          <a:xfrm>
            <a:off x="2408237" y="4941226"/>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p:nvPr/>
        </p:nvCxnSpPr>
        <p:spPr>
          <a:xfrm>
            <a:off x="2407707" y="5307779"/>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sp>
        <p:nvSpPr>
          <p:cNvPr id="32" name="Rectangle 31"/>
          <p:cNvSpPr/>
          <p:nvPr/>
        </p:nvSpPr>
        <p:spPr bwMode="auto">
          <a:xfrm>
            <a:off x="3170237" y="6469062"/>
            <a:ext cx="2438400" cy="381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Azure Storage</a:t>
            </a:r>
          </a:p>
        </p:txBody>
      </p:sp>
      <p:sp>
        <p:nvSpPr>
          <p:cNvPr id="87" name="Rectangle 86"/>
          <p:cNvSpPr/>
          <p:nvPr/>
        </p:nvSpPr>
        <p:spPr bwMode="auto">
          <a:xfrm>
            <a:off x="8908493" y="1907850"/>
            <a:ext cx="2438400" cy="204491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8" name="Rectangle 87"/>
          <p:cNvSpPr/>
          <p:nvPr/>
        </p:nvSpPr>
        <p:spPr bwMode="auto">
          <a:xfrm>
            <a:off x="9137093" y="2312028"/>
            <a:ext cx="1981200" cy="162263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p:txBody>
      </p:sp>
      <p:sp>
        <p:nvSpPr>
          <p:cNvPr id="89" name="Rectangle 88"/>
          <p:cNvSpPr/>
          <p:nvPr/>
        </p:nvSpPr>
        <p:spPr bwMode="auto">
          <a:xfrm>
            <a:off x="6698693" y="2365050"/>
            <a:ext cx="1600200" cy="323818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0" name="Rectangle 89"/>
          <p:cNvSpPr/>
          <p:nvPr/>
        </p:nvSpPr>
        <p:spPr bwMode="auto">
          <a:xfrm>
            <a:off x="6851093" y="3226428"/>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1</a:t>
            </a:r>
          </a:p>
        </p:txBody>
      </p:sp>
      <p:sp>
        <p:nvSpPr>
          <p:cNvPr id="91" name="Rectangle 90"/>
          <p:cNvSpPr/>
          <p:nvPr/>
        </p:nvSpPr>
        <p:spPr bwMode="auto">
          <a:xfrm>
            <a:off x="6851093" y="3622032"/>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2</a:t>
            </a:r>
          </a:p>
        </p:txBody>
      </p:sp>
      <p:sp>
        <p:nvSpPr>
          <p:cNvPr id="92" name="Rectangle 91"/>
          <p:cNvSpPr/>
          <p:nvPr/>
        </p:nvSpPr>
        <p:spPr bwMode="auto">
          <a:xfrm>
            <a:off x="6851093" y="4022415"/>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93" name="Rectangle 92"/>
          <p:cNvSpPr/>
          <p:nvPr/>
        </p:nvSpPr>
        <p:spPr bwMode="auto">
          <a:xfrm>
            <a:off x="6851093" y="4409960"/>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4</a:t>
            </a:r>
          </a:p>
        </p:txBody>
      </p:sp>
      <p:sp>
        <p:nvSpPr>
          <p:cNvPr id="94" name="Rectangle 93"/>
          <p:cNvSpPr/>
          <p:nvPr/>
        </p:nvSpPr>
        <p:spPr bwMode="auto">
          <a:xfrm>
            <a:off x="6851093" y="4788826"/>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5</a:t>
            </a:r>
          </a:p>
        </p:txBody>
      </p:sp>
      <p:sp>
        <p:nvSpPr>
          <p:cNvPr id="95" name="Rectangle 94"/>
          <p:cNvSpPr/>
          <p:nvPr/>
        </p:nvSpPr>
        <p:spPr bwMode="auto">
          <a:xfrm>
            <a:off x="6850563" y="5155379"/>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6</a:t>
            </a:r>
          </a:p>
        </p:txBody>
      </p:sp>
      <p:sp>
        <p:nvSpPr>
          <p:cNvPr id="96" name="Rectangle 95"/>
          <p:cNvSpPr/>
          <p:nvPr/>
        </p:nvSpPr>
        <p:spPr bwMode="auto">
          <a:xfrm>
            <a:off x="9365693" y="2769228"/>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1</a:t>
            </a:r>
          </a:p>
        </p:txBody>
      </p:sp>
      <p:sp>
        <p:nvSpPr>
          <p:cNvPr id="97" name="Rectangle 96"/>
          <p:cNvSpPr/>
          <p:nvPr/>
        </p:nvSpPr>
        <p:spPr bwMode="auto">
          <a:xfrm>
            <a:off x="9365693" y="3164832"/>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2</a:t>
            </a:r>
          </a:p>
        </p:txBody>
      </p:sp>
      <p:sp>
        <p:nvSpPr>
          <p:cNvPr id="98" name="Rectangle 97"/>
          <p:cNvSpPr/>
          <p:nvPr/>
        </p:nvSpPr>
        <p:spPr bwMode="auto">
          <a:xfrm>
            <a:off x="9365693" y="3565215"/>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3</a:t>
            </a:r>
          </a:p>
        </p:txBody>
      </p:sp>
      <p:sp>
        <p:nvSpPr>
          <p:cNvPr id="102" name="TextBox 101"/>
          <p:cNvSpPr txBox="1"/>
          <p:nvPr/>
        </p:nvSpPr>
        <p:spPr>
          <a:xfrm>
            <a:off x="9060893" y="2305185"/>
            <a:ext cx="2155975" cy="517065"/>
          </a:xfrm>
          <a:prstGeom prst="rect">
            <a:avLst/>
          </a:prstGeom>
          <a:noFill/>
        </p:spPr>
        <p:txBody>
          <a:bodyPr wrap="none" lIns="182880" tIns="146304" rIns="182880" bIns="146304" rtlCol="0">
            <a:spAutoFit/>
          </a:bodyPr>
          <a:lstStyle/>
          <a:p>
            <a:pPr>
              <a:lnSpc>
                <a:spcPct val="90000"/>
              </a:lnSpc>
              <a:spcAft>
                <a:spcPts val="600"/>
              </a:spcAft>
            </a:pPr>
            <a:r>
              <a:rPr lang="en-US" sz="1600" dirty="0" err="1">
                <a:gradFill>
                  <a:gsLst>
                    <a:gs pos="0">
                      <a:srgbClr val="FFFFFF"/>
                    </a:gs>
                    <a:gs pos="100000">
                      <a:srgbClr val="FFFFFF"/>
                    </a:gs>
                  </a:gsLst>
                  <a:lin ang="5400000" scaled="0"/>
                </a:gradFill>
                <a:ea typeface="Segoe UI" pitchFamily="34" charset="0"/>
                <a:cs typeface="Segoe UI" pitchFamily="34" charset="0"/>
              </a:rPr>
              <a:t>EventProcessorHost</a:t>
            </a:r>
            <a:endParaRPr lang="en-US" sz="1600" dirty="0">
              <a:gradFill>
                <a:gsLst>
                  <a:gs pos="2917">
                    <a:schemeClr val="tx1"/>
                  </a:gs>
                  <a:gs pos="30000">
                    <a:schemeClr val="tx1"/>
                  </a:gs>
                </a:gsLst>
                <a:lin ang="5400000" scaled="0"/>
              </a:gradFill>
            </a:endParaRPr>
          </a:p>
        </p:txBody>
      </p:sp>
      <p:sp>
        <p:nvSpPr>
          <p:cNvPr id="103" name="TextBox 102"/>
          <p:cNvSpPr txBox="1"/>
          <p:nvPr/>
        </p:nvSpPr>
        <p:spPr>
          <a:xfrm>
            <a:off x="6789198" y="2278062"/>
            <a:ext cx="145296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IoT Hub</a:t>
            </a:r>
          </a:p>
        </p:txBody>
      </p:sp>
      <p:sp>
        <p:nvSpPr>
          <p:cNvPr id="104" name="TextBox 103"/>
          <p:cNvSpPr txBox="1"/>
          <p:nvPr/>
        </p:nvSpPr>
        <p:spPr>
          <a:xfrm>
            <a:off x="8998792" y="1820862"/>
            <a:ext cx="228017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Worker Role 1</a:t>
            </a:r>
          </a:p>
        </p:txBody>
      </p:sp>
      <p:cxnSp>
        <p:nvCxnSpPr>
          <p:cNvPr id="105" name="Straight Arrow Connector 104"/>
          <p:cNvCxnSpPr>
            <a:stCxn id="90" idx="3"/>
            <a:endCxn id="96" idx="1"/>
          </p:cNvCxnSpPr>
          <p:nvPr/>
        </p:nvCxnSpPr>
        <p:spPr>
          <a:xfrm flipV="1">
            <a:off x="8146493" y="2921628"/>
            <a:ext cx="1219200" cy="45720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p:cNvCxnSpPr>
            <a:stCxn id="91" idx="3"/>
            <a:endCxn id="97" idx="1"/>
          </p:cNvCxnSpPr>
          <p:nvPr/>
        </p:nvCxnSpPr>
        <p:spPr>
          <a:xfrm flipV="1">
            <a:off x="8146493" y="3317232"/>
            <a:ext cx="1219200" cy="45720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7" name="Straight Arrow Connector 106"/>
          <p:cNvCxnSpPr>
            <a:endCxn id="98" idx="1"/>
          </p:cNvCxnSpPr>
          <p:nvPr/>
        </p:nvCxnSpPr>
        <p:spPr>
          <a:xfrm flipV="1">
            <a:off x="8145963" y="3717615"/>
            <a:ext cx="1219730" cy="45720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8" name="Straight Arrow Connector 107"/>
          <p:cNvCxnSpPr>
            <a:endCxn id="118" idx="1"/>
          </p:cNvCxnSpPr>
          <p:nvPr/>
        </p:nvCxnSpPr>
        <p:spPr>
          <a:xfrm>
            <a:off x="8146493" y="4544262"/>
            <a:ext cx="1219200" cy="510966"/>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p:cNvCxnSpPr>
            <a:endCxn id="119" idx="1"/>
          </p:cNvCxnSpPr>
          <p:nvPr/>
        </p:nvCxnSpPr>
        <p:spPr>
          <a:xfrm>
            <a:off x="8146493" y="4941226"/>
            <a:ext cx="1219200" cy="509606"/>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10" name="Straight Arrow Connector 109"/>
          <p:cNvCxnSpPr>
            <a:endCxn id="120" idx="1"/>
          </p:cNvCxnSpPr>
          <p:nvPr/>
        </p:nvCxnSpPr>
        <p:spPr>
          <a:xfrm>
            <a:off x="8145963" y="5307779"/>
            <a:ext cx="1219730" cy="543436"/>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sp>
        <p:nvSpPr>
          <p:cNvPr id="111" name="Rectangle 110"/>
          <p:cNvSpPr/>
          <p:nvPr/>
        </p:nvSpPr>
        <p:spPr bwMode="auto">
          <a:xfrm>
            <a:off x="8908493" y="6469062"/>
            <a:ext cx="2438400" cy="381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Azure Storage</a:t>
            </a:r>
          </a:p>
        </p:txBody>
      </p:sp>
      <p:sp>
        <p:nvSpPr>
          <p:cNvPr id="117" name="Rectangle 116"/>
          <p:cNvSpPr/>
          <p:nvPr/>
        </p:nvSpPr>
        <p:spPr bwMode="auto">
          <a:xfrm>
            <a:off x="9137093" y="4445628"/>
            <a:ext cx="1981200" cy="162263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p:txBody>
      </p:sp>
      <p:sp>
        <p:nvSpPr>
          <p:cNvPr id="118" name="Rectangle 117"/>
          <p:cNvSpPr/>
          <p:nvPr/>
        </p:nvSpPr>
        <p:spPr bwMode="auto">
          <a:xfrm>
            <a:off x="9365693" y="4902828"/>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3</a:t>
            </a:r>
          </a:p>
        </p:txBody>
      </p:sp>
      <p:sp>
        <p:nvSpPr>
          <p:cNvPr id="119" name="Rectangle 118"/>
          <p:cNvSpPr/>
          <p:nvPr/>
        </p:nvSpPr>
        <p:spPr bwMode="auto">
          <a:xfrm>
            <a:off x="9365693" y="5298432"/>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4</a:t>
            </a:r>
          </a:p>
        </p:txBody>
      </p:sp>
      <p:sp>
        <p:nvSpPr>
          <p:cNvPr id="120" name="Rectangle 119"/>
          <p:cNvSpPr/>
          <p:nvPr/>
        </p:nvSpPr>
        <p:spPr bwMode="auto">
          <a:xfrm>
            <a:off x="9365693" y="5698815"/>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Consumer 5</a:t>
            </a:r>
          </a:p>
        </p:txBody>
      </p:sp>
      <p:sp>
        <p:nvSpPr>
          <p:cNvPr id="121" name="TextBox 120"/>
          <p:cNvSpPr txBox="1"/>
          <p:nvPr/>
        </p:nvSpPr>
        <p:spPr>
          <a:xfrm>
            <a:off x="9060893" y="4438785"/>
            <a:ext cx="2155975" cy="517065"/>
          </a:xfrm>
          <a:prstGeom prst="rect">
            <a:avLst/>
          </a:prstGeom>
          <a:noFill/>
        </p:spPr>
        <p:txBody>
          <a:bodyPr wrap="none" lIns="182880" tIns="146304" rIns="182880" bIns="146304" rtlCol="0">
            <a:spAutoFit/>
          </a:bodyPr>
          <a:lstStyle/>
          <a:p>
            <a:pPr>
              <a:lnSpc>
                <a:spcPct val="90000"/>
              </a:lnSpc>
              <a:spcAft>
                <a:spcPts val="600"/>
              </a:spcAft>
            </a:pPr>
            <a:r>
              <a:rPr lang="en-US" sz="1600" dirty="0" err="1">
                <a:gradFill>
                  <a:gsLst>
                    <a:gs pos="0">
                      <a:srgbClr val="FFFFFF"/>
                    </a:gs>
                    <a:gs pos="100000">
                      <a:srgbClr val="FFFFFF"/>
                    </a:gs>
                  </a:gsLst>
                  <a:lin ang="5400000" scaled="0"/>
                </a:gradFill>
                <a:ea typeface="Segoe UI" pitchFamily="34" charset="0"/>
                <a:cs typeface="Segoe UI" pitchFamily="34" charset="0"/>
              </a:rPr>
              <a:t>EventProcessorHost</a:t>
            </a:r>
            <a:endParaRPr lang="en-US" sz="1600" dirty="0">
              <a:gradFill>
                <a:gsLst>
                  <a:gs pos="2917">
                    <a:schemeClr val="tx1"/>
                  </a:gs>
                  <a:gs pos="30000">
                    <a:schemeClr val="tx1"/>
                  </a:gs>
                </a:gsLst>
                <a:lin ang="5400000" scaled="0"/>
              </a:gradFill>
            </a:endParaRPr>
          </a:p>
        </p:txBody>
      </p:sp>
      <p:sp>
        <p:nvSpPr>
          <p:cNvPr id="122" name="TextBox 121"/>
          <p:cNvSpPr txBox="1"/>
          <p:nvPr/>
        </p:nvSpPr>
        <p:spPr>
          <a:xfrm>
            <a:off x="8998792" y="3954462"/>
            <a:ext cx="228017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Worker Role 2</a:t>
            </a:r>
          </a:p>
        </p:txBody>
      </p:sp>
      <p:sp>
        <p:nvSpPr>
          <p:cNvPr id="135" name="Down Arrow 134"/>
          <p:cNvSpPr/>
          <p:nvPr/>
        </p:nvSpPr>
        <p:spPr bwMode="auto">
          <a:xfrm>
            <a:off x="4160837" y="5851215"/>
            <a:ext cx="457200" cy="389247"/>
          </a:xfrm>
          <a:prstGeom prst="down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7" name="Down Arrow 136"/>
          <p:cNvSpPr/>
          <p:nvPr/>
        </p:nvSpPr>
        <p:spPr bwMode="auto">
          <a:xfrm>
            <a:off x="9910280" y="6094448"/>
            <a:ext cx="457200" cy="389247"/>
          </a:xfrm>
          <a:prstGeom prst="down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6" name="Right Arrow 135"/>
          <p:cNvSpPr/>
          <p:nvPr/>
        </p:nvSpPr>
        <p:spPr bwMode="auto">
          <a:xfrm>
            <a:off x="5908327" y="3774432"/>
            <a:ext cx="609600" cy="635528"/>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85274787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bwMode="auto">
          <a:xfrm>
            <a:off x="8908493" y="4041450"/>
            <a:ext cx="2438400" cy="204491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p:cNvSpPr/>
          <p:nvPr/>
        </p:nvSpPr>
        <p:spPr bwMode="auto">
          <a:xfrm>
            <a:off x="3170237" y="2365050"/>
            <a:ext cx="2438400" cy="323818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p:cNvSpPr/>
          <p:nvPr/>
        </p:nvSpPr>
        <p:spPr bwMode="auto">
          <a:xfrm>
            <a:off x="3398837" y="2769228"/>
            <a:ext cx="1981200" cy="275780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IoT Hub and Event Hub partitioning</a:t>
            </a:r>
          </a:p>
        </p:txBody>
      </p:sp>
      <p:sp>
        <p:nvSpPr>
          <p:cNvPr id="10" name="Text Placeholder 9"/>
          <p:cNvSpPr>
            <a:spLocks noGrp="1"/>
          </p:cNvSpPr>
          <p:nvPr>
            <p:ph type="body" sz="quarter" idx="10"/>
          </p:nvPr>
        </p:nvSpPr>
        <p:spPr>
          <a:xfrm>
            <a:off x="366077" y="1188720"/>
            <a:ext cx="11704320" cy="822960"/>
          </a:xfrm>
        </p:spPr>
        <p:txBody>
          <a:bodyPr/>
          <a:lstStyle/>
          <a:p>
            <a:r>
              <a:rPr lang="en-US" dirty="0" err="1"/>
              <a:t>EventHubReceiver</a:t>
            </a:r>
            <a:r>
              <a:rPr lang="en-US" dirty="0"/>
              <a:t>: Consuming events with a stateful service</a:t>
            </a:r>
          </a:p>
        </p:txBody>
      </p:sp>
      <p:sp>
        <p:nvSpPr>
          <p:cNvPr id="3" name="Rectangle 2"/>
          <p:cNvSpPr/>
          <p:nvPr/>
        </p:nvSpPr>
        <p:spPr bwMode="auto">
          <a:xfrm>
            <a:off x="960437" y="2365050"/>
            <a:ext cx="1600200" cy="323818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Rectangle 4"/>
          <p:cNvSpPr/>
          <p:nvPr/>
        </p:nvSpPr>
        <p:spPr bwMode="auto">
          <a:xfrm>
            <a:off x="1112837" y="3226428"/>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1</a:t>
            </a:r>
          </a:p>
        </p:txBody>
      </p:sp>
      <p:sp>
        <p:nvSpPr>
          <p:cNvPr id="8" name="Rectangle 7"/>
          <p:cNvSpPr/>
          <p:nvPr/>
        </p:nvSpPr>
        <p:spPr bwMode="auto">
          <a:xfrm>
            <a:off x="1112837" y="3622032"/>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2</a:t>
            </a:r>
          </a:p>
        </p:txBody>
      </p:sp>
      <p:sp>
        <p:nvSpPr>
          <p:cNvPr id="9" name="Rectangle 8"/>
          <p:cNvSpPr/>
          <p:nvPr/>
        </p:nvSpPr>
        <p:spPr bwMode="auto">
          <a:xfrm>
            <a:off x="1112837" y="4022415"/>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14" name="Rectangle 13"/>
          <p:cNvSpPr/>
          <p:nvPr/>
        </p:nvSpPr>
        <p:spPr bwMode="auto">
          <a:xfrm>
            <a:off x="1112837" y="4409960"/>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4</a:t>
            </a:r>
          </a:p>
        </p:txBody>
      </p:sp>
      <p:sp>
        <p:nvSpPr>
          <p:cNvPr id="15" name="Rectangle 14"/>
          <p:cNvSpPr/>
          <p:nvPr/>
        </p:nvSpPr>
        <p:spPr bwMode="auto">
          <a:xfrm>
            <a:off x="1112837" y="4788826"/>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5</a:t>
            </a:r>
          </a:p>
        </p:txBody>
      </p:sp>
      <p:sp>
        <p:nvSpPr>
          <p:cNvPr id="16" name="Rectangle 15"/>
          <p:cNvSpPr/>
          <p:nvPr/>
        </p:nvSpPr>
        <p:spPr bwMode="auto">
          <a:xfrm>
            <a:off x="1112307" y="5155379"/>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6</a:t>
            </a:r>
          </a:p>
        </p:txBody>
      </p:sp>
      <p:sp>
        <p:nvSpPr>
          <p:cNvPr id="18" name="Rectangle 17"/>
          <p:cNvSpPr/>
          <p:nvPr/>
        </p:nvSpPr>
        <p:spPr bwMode="auto">
          <a:xfrm>
            <a:off x="3627437" y="3226428"/>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1</a:t>
            </a:r>
          </a:p>
        </p:txBody>
      </p:sp>
      <p:sp>
        <p:nvSpPr>
          <p:cNvPr id="19" name="Rectangle 18"/>
          <p:cNvSpPr/>
          <p:nvPr/>
        </p:nvSpPr>
        <p:spPr bwMode="auto">
          <a:xfrm>
            <a:off x="3627437" y="3622032"/>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2</a:t>
            </a:r>
          </a:p>
        </p:txBody>
      </p:sp>
      <p:sp>
        <p:nvSpPr>
          <p:cNvPr id="20" name="Rectangle 19"/>
          <p:cNvSpPr/>
          <p:nvPr/>
        </p:nvSpPr>
        <p:spPr bwMode="auto">
          <a:xfrm>
            <a:off x="3627437" y="4022415"/>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21" name="Rectangle 20"/>
          <p:cNvSpPr/>
          <p:nvPr/>
        </p:nvSpPr>
        <p:spPr bwMode="auto">
          <a:xfrm>
            <a:off x="3627437" y="4409960"/>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4</a:t>
            </a:r>
          </a:p>
        </p:txBody>
      </p:sp>
      <p:sp>
        <p:nvSpPr>
          <p:cNvPr id="22" name="Rectangle 21"/>
          <p:cNvSpPr/>
          <p:nvPr/>
        </p:nvSpPr>
        <p:spPr bwMode="auto">
          <a:xfrm>
            <a:off x="3627437" y="4788826"/>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5</a:t>
            </a:r>
          </a:p>
        </p:txBody>
      </p:sp>
      <p:sp>
        <p:nvSpPr>
          <p:cNvPr id="23" name="Rectangle 22"/>
          <p:cNvSpPr/>
          <p:nvPr/>
        </p:nvSpPr>
        <p:spPr bwMode="auto">
          <a:xfrm>
            <a:off x="3626907" y="5155379"/>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6</a:t>
            </a:r>
          </a:p>
        </p:txBody>
      </p:sp>
      <p:sp>
        <p:nvSpPr>
          <p:cNvPr id="24" name="TextBox 23"/>
          <p:cNvSpPr txBox="1"/>
          <p:nvPr/>
        </p:nvSpPr>
        <p:spPr>
          <a:xfrm>
            <a:off x="3322637" y="2762385"/>
            <a:ext cx="2057400" cy="517065"/>
          </a:xfrm>
          <a:prstGeom prst="rect">
            <a:avLst/>
          </a:prstGeom>
          <a:noFill/>
        </p:spPr>
        <p:txBody>
          <a:bodyPr wrap="square" lIns="182880" tIns="146304" rIns="182880" bIns="146304" rtlCol="0">
            <a:spAutoFit/>
          </a:bodyPr>
          <a:lstStyle/>
          <a:p>
            <a:pPr algn="ctr">
              <a:lnSpc>
                <a:spcPct val="90000"/>
              </a:lnSpc>
              <a:spcAft>
                <a:spcPts val="600"/>
              </a:spcAft>
            </a:pPr>
            <a:r>
              <a:rPr lang="en-US" sz="1600" dirty="0">
                <a:gradFill>
                  <a:gsLst>
                    <a:gs pos="0">
                      <a:srgbClr val="FFFFFF"/>
                    </a:gs>
                    <a:gs pos="100000">
                      <a:srgbClr val="FFFFFF"/>
                    </a:gs>
                  </a:gsLst>
                  <a:lin ang="5400000" scaled="0"/>
                </a:gradFill>
                <a:ea typeface="Segoe UI" pitchFamily="34" charset="0"/>
                <a:cs typeface="Segoe UI" pitchFamily="34" charset="0"/>
              </a:rPr>
              <a:t>Stateful Service</a:t>
            </a:r>
            <a:endParaRPr lang="en-US" sz="1600" dirty="0">
              <a:gradFill>
                <a:gsLst>
                  <a:gs pos="2917">
                    <a:schemeClr val="tx1"/>
                  </a:gs>
                  <a:gs pos="30000">
                    <a:schemeClr val="tx1"/>
                  </a:gs>
                </a:gsLst>
                <a:lin ang="5400000" scaled="0"/>
              </a:gradFill>
            </a:endParaRPr>
          </a:p>
        </p:txBody>
      </p:sp>
      <p:sp>
        <p:nvSpPr>
          <p:cNvPr id="26" name="TextBox 25"/>
          <p:cNvSpPr txBox="1"/>
          <p:nvPr/>
        </p:nvSpPr>
        <p:spPr>
          <a:xfrm>
            <a:off x="1050942" y="2278062"/>
            <a:ext cx="145296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IoT Hub</a:t>
            </a:r>
          </a:p>
        </p:txBody>
      </p:sp>
      <p:sp>
        <p:nvSpPr>
          <p:cNvPr id="28" name="TextBox 27"/>
          <p:cNvSpPr txBox="1"/>
          <p:nvPr/>
        </p:nvSpPr>
        <p:spPr>
          <a:xfrm>
            <a:off x="3701699" y="2278062"/>
            <a:ext cx="137441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Node 1</a:t>
            </a:r>
          </a:p>
        </p:txBody>
      </p:sp>
      <p:cxnSp>
        <p:nvCxnSpPr>
          <p:cNvPr id="29" name="Straight Arrow Connector 28"/>
          <p:cNvCxnSpPr>
            <a:endCxn id="18" idx="1"/>
          </p:cNvCxnSpPr>
          <p:nvPr/>
        </p:nvCxnSpPr>
        <p:spPr>
          <a:xfrm>
            <a:off x="2408237" y="3378828"/>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a:stCxn id="8" idx="3"/>
            <a:endCxn id="19" idx="1"/>
          </p:cNvCxnSpPr>
          <p:nvPr/>
        </p:nvCxnSpPr>
        <p:spPr>
          <a:xfrm>
            <a:off x="2408237" y="3774432"/>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p:cNvCxnSpPr/>
          <p:nvPr/>
        </p:nvCxnSpPr>
        <p:spPr>
          <a:xfrm>
            <a:off x="2408237" y="4155432"/>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p:cNvCxnSpPr/>
          <p:nvPr/>
        </p:nvCxnSpPr>
        <p:spPr>
          <a:xfrm>
            <a:off x="2408237" y="4544262"/>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p:cNvCxnSpPr/>
          <p:nvPr/>
        </p:nvCxnSpPr>
        <p:spPr>
          <a:xfrm>
            <a:off x="2408237" y="4941226"/>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p:nvPr/>
        </p:nvCxnSpPr>
        <p:spPr>
          <a:xfrm>
            <a:off x="2407707" y="5307779"/>
            <a:ext cx="1219200" cy="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sp>
        <p:nvSpPr>
          <p:cNvPr id="87" name="Rectangle 86"/>
          <p:cNvSpPr/>
          <p:nvPr/>
        </p:nvSpPr>
        <p:spPr bwMode="auto">
          <a:xfrm>
            <a:off x="8908493" y="1907850"/>
            <a:ext cx="2438400" cy="204491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8" name="Rectangle 87"/>
          <p:cNvSpPr/>
          <p:nvPr/>
        </p:nvSpPr>
        <p:spPr bwMode="auto">
          <a:xfrm>
            <a:off x="9137093" y="2312028"/>
            <a:ext cx="1981200" cy="162263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p:txBody>
      </p:sp>
      <p:sp>
        <p:nvSpPr>
          <p:cNvPr id="89" name="Rectangle 88"/>
          <p:cNvSpPr/>
          <p:nvPr/>
        </p:nvSpPr>
        <p:spPr bwMode="auto">
          <a:xfrm>
            <a:off x="6698693" y="2365050"/>
            <a:ext cx="1600200" cy="3238182"/>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0" name="Rectangle 89"/>
          <p:cNvSpPr/>
          <p:nvPr/>
        </p:nvSpPr>
        <p:spPr bwMode="auto">
          <a:xfrm>
            <a:off x="6851093" y="3226428"/>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1</a:t>
            </a:r>
          </a:p>
        </p:txBody>
      </p:sp>
      <p:sp>
        <p:nvSpPr>
          <p:cNvPr id="91" name="Rectangle 90"/>
          <p:cNvSpPr/>
          <p:nvPr/>
        </p:nvSpPr>
        <p:spPr bwMode="auto">
          <a:xfrm>
            <a:off x="6851093" y="3622032"/>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2</a:t>
            </a:r>
          </a:p>
        </p:txBody>
      </p:sp>
      <p:sp>
        <p:nvSpPr>
          <p:cNvPr id="92" name="Rectangle 91"/>
          <p:cNvSpPr/>
          <p:nvPr/>
        </p:nvSpPr>
        <p:spPr bwMode="auto">
          <a:xfrm>
            <a:off x="6851093" y="4022415"/>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93" name="Rectangle 92"/>
          <p:cNvSpPr/>
          <p:nvPr/>
        </p:nvSpPr>
        <p:spPr bwMode="auto">
          <a:xfrm>
            <a:off x="6851093" y="4409960"/>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4</a:t>
            </a:r>
          </a:p>
        </p:txBody>
      </p:sp>
      <p:sp>
        <p:nvSpPr>
          <p:cNvPr id="94" name="Rectangle 93"/>
          <p:cNvSpPr/>
          <p:nvPr/>
        </p:nvSpPr>
        <p:spPr bwMode="auto">
          <a:xfrm>
            <a:off x="6851093" y="4788826"/>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5</a:t>
            </a:r>
          </a:p>
        </p:txBody>
      </p:sp>
      <p:sp>
        <p:nvSpPr>
          <p:cNvPr id="95" name="Rectangle 94"/>
          <p:cNvSpPr/>
          <p:nvPr/>
        </p:nvSpPr>
        <p:spPr bwMode="auto">
          <a:xfrm>
            <a:off x="6850563" y="5155379"/>
            <a:ext cx="12954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6</a:t>
            </a:r>
          </a:p>
        </p:txBody>
      </p:sp>
      <p:sp>
        <p:nvSpPr>
          <p:cNvPr id="96" name="Rectangle 95"/>
          <p:cNvSpPr/>
          <p:nvPr/>
        </p:nvSpPr>
        <p:spPr bwMode="auto">
          <a:xfrm>
            <a:off x="9365693" y="2769228"/>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1</a:t>
            </a:r>
          </a:p>
        </p:txBody>
      </p:sp>
      <p:sp>
        <p:nvSpPr>
          <p:cNvPr id="97" name="Rectangle 96"/>
          <p:cNvSpPr/>
          <p:nvPr/>
        </p:nvSpPr>
        <p:spPr bwMode="auto">
          <a:xfrm>
            <a:off x="9365693" y="3164832"/>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2</a:t>
            </a:r>
          </a:p>
        </p:txBody>
      </p:sp>
      <p:sp>
        <p:nvSpPr>
          <p:cNvPr id="98" name="Rectangle 97"/>
          <p:cNvSpPr/>
          <p:nvPr/>
        </p:nvSpPr>
        <p:spPr bwMode="auto">
          <a:xfrm>
            <a:off x="9365693" y="3565215"/>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102" name="TextBox 101"/>
          <p:cNvSpPr txBox="1"/>
          <p:nvPr/>
        </p:nvSpPr>
        <p:spPr>
          <a:xfrm>
            <a:off x="9060893" y="2305185"/>
            <a:ext cx="2042160" cy="517065"/>
          </a:xfrm>
          <a:prstGeom prst="rect">
            <a:avLst/>
          </a:prstGeom>
          <a:noFill/>
        </p:spPr>
        <p:txBody>
          <a:bodyPr wrap="square" lIns="182880" tIns="146304" rIns="182880" bIns="146304" rtlCol="0">
            <a:spAutoFit/>
          </a:bodyPr>
          <a:lstStyle/>
          <a:p>
            <a:pPr algn="ctr">
              <a:lnSpc>
                <a:spcPct val="90000"/>
              </a:lnSpc>
              <a:spcAft>
                <a:spcPts val="600"/>
              </a:spcAft>
            </a:pPr>
            <a:r>
              <a:rPr lang="en-US" sz="1600" dirty="0">
                <a:gradFill>
                  <a:gsLst>
                    <a:gs pos="0">
                      <a:srgbClr val="FFFFFF"/>
                    </a:gs>
                    <a:gs pos="100000">
                      <a:srgbClr val="FFFFFF"/>
                    </a:gs>
                  </a:gsLst>
                  <a:lin ang="5400000" scaled="0"/>
                </a:gradFill>
                <a:ea typeface="Segoe UI" pitchFamily="34" charset="0"/>
                <a:cs typeface="Segoe UI" pitchFamily="34" charset="0"/>
              </a:rPr>
              <a:t>Stateful Service</a:t>
            </a:r>
            <a:endParaRPr lang="en-US" sz="1600" dirty="0">
              <a:gradFill>
                <a:gsLst>
                  <a:gs pos="2917">
                    <a:schemeClr val="tx1"/>
                  </a:gs>
                  <a:gs pos="30000">
                    <a:schemeClr val="tx1"/>
                  </a:gs>
                </a:gsLst>
                <a:lin ang="5400000" scaled="0"/>
              </a:gradFill>
            </a:endParaRPr>
          </a:p>
        </p:txBody>
      </p:sp>
      <p:sp>
        <p:nvSpPr>
          <p:cNvPr id="103" name="TextBox 102"/>
          <p:cNvSpPr txBox="1"/>
          <p:nvPr/>
        </p:nvSpPr>
        <p:spPr>
          <a:xfrm>
            <a:off x="6789198" y="2278062"/>
            <a:ext cx="145296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IoT Hub</a:t>
            </a:r>
          </a:p>
        </p:txBody>
      </p:sp>
      <p:sp>
        <p:nvSpPr>
          <p:cNvPr id="104" name="TextBox 103"/>
          <p:cNvSpPr txBox="1"/>
          <p:nvPr/>
        </p:nvSpPr>
        <p:spPr>
          <a:xfrm>
            <a:off x="9454961" y="1830480"/>
            <a:ext cx="137441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Node 1</a:t>
            </a:r>
          </a:p>
        </p:txBody>
      </p:sp>
      <p:cxnSp>
        <p:nvCxnSpPr>
          <p:cNvPr id="105" name="Straight Arrow Connector 104"/>
          <p:cNvCxnSpPr>
            <a:stCxn id="90" idx="3"/>
            <a:endCxn id="96" idx="1"/>
          </p:cNvCxnSpPr>
          <p:nvPr/>
        </p:nvCxnSpPr>
        <p:spPr>
          <a:xfrm flipV="1">
            <a:off x="8146493" y="2921628"/>
            <a:ext cx="1219200" cy="45720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6" name="Straight Arrow Connector 105"/>
          <p:cNvCxnSpPr>
            <a:stCxn id="91" idx="3"/>
            <a:endCxn id="97" idx="1"/>
          </p:cNvCxnSpPr>
          <p:nvPr/>
        </p:nvCxnSpPr>
        <p:spPr>
          <a:xfrm flipV="1">
            <a:off x="8146493" y="3317232"/>
            <a:ext cx="1219200" cy="45720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7" name="Straight Arrow Connector 106"/>
          <p:cNvCxnSpPr>
            <a:endCxn id="98" idx="1"/>
          </p:cNvCxnSpPr>
          <p:nvPr/>
        </p:nvCxnSpPr>
        <p:spPr>
          <a:xfrm flipV="1">
            <a:off x="8145963" y="3717615"/>
            <a:ext cx="1219730" cy="457200"/>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8" name="Straight Arrow Connector 107"/>
          <p:cNvCxnSpPr>
            <a:endCxn id="118" idx="1"/>
          </p:cNvCxnSpPr>
          <p:nvPr/>
        </p:nvCxnSpPr>
        <p:spPr>
          <a:xfrm>
            <a:off x="8146493" y="4544262"/>
            <a:ext cx="1219200" cy="510966"/>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09" name="Straight Arrow Connector 108"/>
          <p:cNvCxnSpPr>
            <a:endCxn id="119" idx="1"/>
          </p:cNvCxnSpPr>
          <p:nvPr/>
        </p:nvCxnSpPr>
        <p:spPr>
          <a:xfrm>
            <a:off x="8146493" y="4941226"/>
            <a:ext cx="1219200" cy="509606"/>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cxnSp>
        <p:nvCxnSpPr>
          <p:cNvPr id="110" name="Straight Arrow Connector 109"/>
          <p:cNvCxnSpPr>
            <a:endCxn id="120" idx="1"/>
          </p:cNvCxnSpPr>
          <p:nvPr/>
        </p:nvCxnSpPr>
        <p:spPr>
          <a:xfrm>
            <a:off x="8145963" y="5307779"/>
            <a:ext cx="1219730" cy="543436"/>
          </a:xfrm>
          <a:prstGeom prst="straightConnector1">
            <a:avLst/>
          </a:prstGeom>
          <a:ln w="19050">
            <a:headEnd type="none"/>
            <a:tailEnd type="triangle"/>
          </a:ln>
        </p:spPr>
        <p:style>
          <a:lnRef idx="1">
            <a:schemeClr val="accent2"/>
          </a:lnRef>
          <a:fillRef idx="0">
            <a:schemeClr val="accent2"/>
          </a:fillRef>
          <a:effectRef idx="0">
            <a:schemeClr val="accent2"/>
          </a:effectRef>
          <a:fontRef idx="minor">
            <a:schemeClr val="tx1"/>
          </a:fontRef>
        </p:style>
      </p:cxnSp>
      <p:sp>
        <p:nvSpPr>
          <p:cNvPr id="117" name="Rectangle 116"/>
          <p:cNvSpPr/>
          <p:nvPr/>
        </p:nvSpPr>
        <p:spPr bwMode="auto">
          <a:xfrm>
            <a:off x="9137093" y="4445628"/>
            <a:ext cx="1981200" cy="162263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400" dirty="0">
              <a:gradFill>
                <a:gsLst>
                  <a:gs pos="0">
                    <a:srgbClr val="FFFFFF"/>
                  </a:gs>
                  <a:gs pos="100000">
                    <a:srgbClr val="FFFFFF"/>
                  </a:gs>
                </a:gsLst>
                <a:lin ang="5400000" scaled="0"/>
              </a:gradFill>
              <a:ea typeface="Segoe UI" pitchFamily="34" charset="0"/>
              <a:cs typeface="Segoe UI" pitchFamily="34" charset="0"/>
            </a:endParaRPr>
          </a:p>
        </p:txBody>
      </p:sp>
      <p:sp>
        <p:nvSpPr>
          <p:cNvPr id="118" name="Rectangle 117"/>
          <p:cNvSpPr/>
          <p:nvPr/>
        </p:nvSpPr>
        <p:spPr bwMode="auto">
          <a:xfrm>
            <a:off x="9365693" y="4902828"/>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3</a:t>
            </a:r>
          </a:p>
        </p:txBody>
      </p:sp>
      <p:sp>
        <p:nvSpPr>
          <p:cNvPr id="119" name="Rectangle 118"/>
          <p:cNvSpPr/>
          <p:nvPr/>
        </p:nvSpPr>
        <p:spPr bwMode="auto">
          <a:xfrm>
            <a:off x="9365693" y="5298432"/>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4</a:t>
            </a:r>
          </a:p>
        </p:txBody>
      </p:sp>
      <p:sp>
        <p:nvSpPr>
          <p:cNvPr id="120" name="Rectangle 119"/>
          <p:cNvSpPr/>
          <p:nvPr/>
        </p:nvSpPr>
        <p:spPr bwMode="auto">
          <a:xfrm>
            <a:off x="9365693" y="5698815"/>
            <a:ext cx="1524000" cy="304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Partition 5</a:t>
            </a:r>
          </a:p>
        </p:txBody>
      </p:sp>
      <p:sp>
        <p:nvSpPr>
          <p:cNvPr id="121" name="TextBox 120"/>
          <p:cNvSpPr txBox="1"/>
          <p:nvPr/>
        </p:nvSpPr>
        <p:spPr>
          <a:xfrm>
            <a:off x="9060893" y="4438785"/>
            <a:ext cx="2042160" cy="517065"/>
          </a:xfrm>
          <a:prstGeom prst="rect">
            <a:avLst/>
          </a:prstGeom>
          <a:noFill/>
        </p:spPr>
        <p:txBody>
          <a:bodyPr wrap="square" lIns="182880" tIns="146304" rIns="182880" bIns="146304" rtlCol="0">
            <a:spAutoFit/>
          </a:bodyPr>
          <a:lstStyle/>
          <a:p>
            <a:pPr algn="ctr">
              <a:lnSpc>
                <a:spcPct val="90000"/>
              </a:lnSpc>
              <a:spcAft>
                <a:spcPts val="600"/>
              </a:spcAft>
            </a:pPr>
            <a:r>
              <a:rPr lang="en-US" sz="1600" dirty="0">
                <a:gradFill>
                  <a:gsLst>
                    <a:gs pos="0">
                      <a:srgbClr val="FFFFFF"/>
                    </a:gs>
                    <a:gs pos="100000">
                      <a:srgbClr val="FFFFFF"/>
                    </a:gs>
                  </a:gsLst>
                  <a:lin ang="5400000" scaled="0"/>
                </a:gradFill>
                <a:ea typeface="Segoe UI" pitchFamily="34" charset="0"/>
                <a:cs typeface="Segoe UI" pitchFamily="34" charset="0"/>
              </a:rPr>
              <a:t>Stateful Service</a:t>
            </a:r>
            <a:endParaRPr lang="en-US" sz="1600" dirty="0">
              <a:gradFill>
                <a:gsLst>
                  <a:gs pos="2917">
                    <a:schemeClr val="tx1"/>
                  </a:gs>
                  <a:gs pos="30000">
                    <a:schemeClr val="tx1"/>
                  </a:gs>
                </a:gsLst>
                <a:lin ang="5400000" scaled="0"/>
              </a:gradFill>
            </a:endParaRPr>
          </a:p>
        </p:txBody>
      </p:sp>
      <p:sp>
        <p:nvSpPr>
          <p:cNvPr id="122" name="TextBox 121"/>
          <p:cNvSpPr txBox="1"/>
          <p:nvPr/>
        </p:nvSpPr>
        <p:spPr>
          <a:xfrm>
            <a:off x="9445628" y="3953418"/>
            <a:ext cx="137441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Node 2</a:t>
            </a:r>
          </a:p>
        </p:txBody>
      </p:sp>
      <p:sp>
        <p:nvSpPr>
          <p:cNvPr id="60" name="Right Arrow 59"/>
          <p:cNvSpPr/>
          <p:nvPr/>
        </p:nvSpPr>
        <p:spPr bwMode="auto">
          <a:xfrm>
            <a:off x="5908327" y="3774432"/>
            <a:ext cx="609600" cy="635528"/>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41322257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onceptu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6407" y="525462"/>
            <a:ext cx="8963025" cy="52482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Multi-tenant IoT application</a:t>
            </a:r>
          </a:p>
        </p:txBody>
      </p:sp>
    </p:spTree>
    <p:extLst>
      <p:ext uri="{BB962C8B-B14F-4D97-AF65-F5344CB8AC3E}">
        <p14:creationId xmlns:p14="http://schemas.microsoft.com/office/powerpoint/2010/main" val="185046581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Multi-tenant IoT application</a:t>
            </a:r>
          </a:p>
        </p:txBody>
      </p:sp>
      <p:pic>
        <p:nvPicPr>
          <p:cNvPr id="7170" name="Picture 2" descr="Overvi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 y="1188216"/>
            <a:ext cx="11658600" cy="5752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17721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9" y="1209973"/>
            <a:ext cx="10744198" cy="2179058"/>
          </a:xfrm>
        </p:spPr>
        <p:txBody>
          <a:bodyPr/>
          <a:lstStyle/>
          <a:p>
            <a:r>
              <a:rPr lang="en-US" dirty="0"/>
              <a:t>Multi-tenant IoT application</a:t>
            </a:r>
          </a:p>
        </p:txBody>
      </p:sp>
      <p:sp>
        <p:nvSpPr>
          <p:cNvPr id="8" name="Text Placeholder 4"/>
          <p:cNvSpPr>
            <a:spLocks noGrp="1"/>
          </p:cNvSpPr>
          <p:nvPr>
            <p:ph type="body" sz="quarter" idx="12" hasCustomPrompt="1"/>
          </p:nvPr>
        </p:nvSpPr>
        <p:spPr>
          <a:xfrm>
            <a:off x="274638" y="3954463"/>
            <a:ext cx="10058401" cy="6832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sz="2800" dirty="0"/>
              <a:t>https://github.com/Azure-Samples/service-fabric-dotnet-iot</a:t>
            </a:r>
          </a:p>
        </p:txBody>
      </p:sp>
    </p:spTree>
    <p:extLst>
      <p:ext uri="{BB962C8B-B14F-4D97-AF65-F5344CB8AC3E}">
        <p14:creationId xmlns:p14="http://schemas.microsoft.com/office/powerpoint/2010/main" val="20493298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390358"/>
      </p:ext>
    </p:extLst>
  </p:cSld>
  <p:clrMapOvr>
    <a:masterClrMapping/>
  </p:clrMapOvr>
  <p:transition>
    <p:fade/>
  </p:transition>
</p:sld>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387</Words>
  <Application>Microsoft Office PowerPoint</Application>
  <PresentationFormat>自定义</PresentationFormat>
  <Paragraphs>126</Paragraphs>
  <Slides>15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Arial</vt:lpstr>
      <vt:lpstr>Consolas</vt:lpstr>
      <vt:lpstr>Segoe UI</vt:lpstr>
      <vt:lpstr>Segoe UI Light</vt:lpstr>
      <vt:lpstr>Wingdings</vt:lpstr>
      <vt:lpstr>WHITE TEMPLATE</vt:lpstr>
      <vt:lpstr>Service Fabric Patterns &amp; Best Practices</vt:lpstr>
      <vt:lpstr>Service Fabric + IoT Hub</vt:lpstr>
      <vt:lpstr>Application types and instances</vt:lpstr>
      <vt:lpstr>Application types and instances</vt:lpstr>
      <vt:lpstr>Multi-tenant applications</vt:lpstr>
      <vt:lpstr>Typical IoT data flow</vt:lpstr>
      <vt:lpstr>IoT Hub and Event Hub partitioning</vt:lpstr>
      <vt:lpstr>IoT Hub and Event Hub partitioning</vt:lpstr>
      <vt:lpstr>IoT Hub and Event Hub partitioning</vt:lpstr>
      <vt:lpstr>IoT Hub and Event Hub partitioning</vt:lpstr>
      <vt:lpstr>IoT Hub and Event Hub partitioning</vt:lpstr>
      <vt:lpstr>Multi-tenant IoT application</vt:lpstr>
      <vt:lpstr>Multi-tenant IoT application</vt:lpstr>
      <vt:lpstr>Multi-tenant IoT application</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2016-11-13T16:32:45Z</dcterms:created>
  <dcterms:modified xsi:type="dcterms:W3CDTF">2018-07-18T13:26:40Z</dcterms:modified>
</cp:coreProperties>
</file>