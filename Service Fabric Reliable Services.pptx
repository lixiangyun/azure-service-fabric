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949" r:id="rId1"/>
  </p:sldMasterIdLst>
  <p:notesMasterIdLst>
    <p:notesMasterId r:id="rId21"/>
  </p:notesMasterIdLst>
  <p:sldIdLst>
    <p:sldId id="489" r:id="rId2"/>
    <p:sldId id="327" r:id="rId3"/>
    <p:sldId id="498" r:id="rId4"/>
    <p:sldId id="499" r:id="rId5"/>
    <p:sldId id="414" r:id="rId6"/>
    <p:sldId id="495" r:id="rId7"/>
    <p:sldId id="479" r:id="rId8"/>
    <p:sldId id="478" r:id="rId9"/>
    <p:sldId id="351" r:id="rId10"/>
    <p:sldId id="476" r:id="rId11"/>
    <p:sldId id="494" r:id="rId12"/>
    <p:sldId id="492" r:id="rId13"/>
    <p:sldId id="497" r:id="rId14"/>
    <p:sldId id="491" r:id="rId15"/>
    <p:sldId id="488" r:id="rId16"/>
    <p:sldId id="324" r:id="rId17"/>
    <p:sldId id="427" r:id="rId18"/>
    <p:sldId id="496" r:id="rId19"/>
    <p:sldId id="49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g Model Intro" id="{8B229C09-BD86-4F4D-9AD4-B1177B5E9DC5}">
          <p14:sldIdLst>
            <p14:sldId id="489"/>
            <p14:sldId id="327"/>
            <p14:sldId id="498"/>
            <p14:sldId id="499"/>
            <p14:sldId id="414"/>
            <p14:sldId id="495"/>
            <p14:sldId id="479"/>
            <p14:sldId id="478"/>
            <p14:sldId id="351"/>
            <p14:sldId id="476"/>
            <p14:sldId id="494"/>
            <p14:sldId id="492"/>
            <p14:sldId id="497"/>
            <p14:sldId id="491"/>
            <p14:sldId id="488"/>
            <p14:sldId id="324"/>
            <p14:sldId id="427"/>
            <p14:sldId id="496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7" autoAdjust="0"/>
    <p:restoredTop sz="80090" autoAdjust="0"/>
  </p:normalViewPr>
  <p:slideViewPr>
    <p:cSldViewPr snapToGrid="0">
      <p:cViewPr varScale="1">
        <p:scale>
          <a:sx n="52" d="100"/>
          <a:sy n="52" d="100"/>
        </p:scale>
        <p:origin x="854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20"/>
        <a:sy n="33" d="20"/>
      </p:scale>
      <p:origin x="0" y="-909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D095A-D48C-4EB3-93A4-11A44A9E4AE9}" type="datetimeFigureOut">
              <a:rPr lang="en-US" smtClean="0"/>
              <a:t>7/18/2018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882A8-7401-4BD1-8A1B-5FE40FC4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66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1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42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72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08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882A8-7401-4BD1-8A1B-5FE40FC489E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3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1104" y="3877271"/>
            <a:ext cx="6273418" cy="1794661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6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9303" y="2075840"/>
            <a:ext cx="9860610" cy="1801436"/>
          </a:xfrm>
          <a:noFill/>
        </p:spPr>
        <p:txBody>
          <a:bodyPr lIns="146304" tIns="91440" rIns="146304" bIns="91440" anchor="t" anchorCtr="0"/>
          <a:lstStyle>
            <a:lvl1pPr>
              <a:defRPr sz="6000" spc="-98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449322" y="6061766"/>
            <a:ext cx="1522404" cy="326167"/>
          </a:xfrm>
          <a:prstGeom prst="rect">
            <a:avLst/>
          </a:prstGeom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3113" y="4309988"/>
            <a:ext cx="12188887" cy="2551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8963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0027795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455 -1.34362E-6 L -3.90605E-7 -1.34362E-6 " pathEditMode="relative" rAng="0" ptsTypes="AA">
                                      <p:cBhvr>
                                        <p:cTn id="9" dur="9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8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" presetClass="emph" presetSubtype="0" accel="100000" autoRev="1" fill="hold" grpId="2" nodeType="withEffect">
                                  <p:stCondLst>
                                    <p:cond delay="50"/>
                                  </p:stCondLst>
                                  <p:childTnLst>
                                    <p:animScale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01455 -1.34362E-6 L -3.90605E-7 -1.34362E-6 " pathEditMode="relative" rAng="0" ptsTypes="AA">
                                      <p:cBhvr>
                                        <p:cTn id="16" dur="9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8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accel="100000" autoRev="1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10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1455 -1.34362E-6 L -3.90605E-7 -1.34362E-6 " pathEditMode="relative" rAng="0" ptsTypes="AA">
                                      <p:cBhvr>
                                        <p:cTn id="23" dur="9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8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6" presetClass="emph" presetSubtype="0" accel="100000" autoRev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95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1">
        <p:tmplLst>
          <p:tmpl>
            <p:tnLst>
              <p:par>
                <p:cTn presetID="63" presetClass="path" presetSubtype="0" decel="100000" fill="hold" nodeType="withEffect">
                  <p:stCondLst>
                    <p:cond delay="800"/>
                  </p:stCondLst>
                  <p:childTnLst>
                    <p:animMotion origin="layout" path="M -0.01455 -1.34362E-6 L -3.90605E-7 -1.34362E-6 " pathEditMode="relative" rAng="0" ptsTypes="AA">
                      <p:cBhvr>
                        <p:cTn dur="950" fill="hold"/>
                        <p:tgtEl>
                          <p:spTgt spid="5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728" y="0"/>
                    </p:animMotion>
                  </p:childTnLst>
                </p:cTn>
              </p:par>
            </p:tnLst>
          </p:tmpl>
        </p:tmplLst>
      </p:bldP>
      <p:bldP spid="5" grpId="2">
        <p:tmplLst>
          <p:tmpl>
            <p:tnLst>
              <p:par>
                <p:cTn presetID="6" presetClass="emph" presetSubtype="0" accel="100000" autoRev="1" fill="hold" nodeType="withEffect">
                  <p:stCondLst>
                    <p:cond delay="100"/>
                  </p:stCondLst>
                  <p:childTnLst>
                    <p:animScale>
                      <p:cBhvr>
                        <p:cTn dur="500" fill="hold"/>
                        <p:tgtEl>
                          <p:spTgt spid="5"/>
                        </p:tgtEl>
                      </p:cBhvr>
                      <p:by x="95000" y="95000"/>
                    </p:animScale>
                  </p:childTnLst>
                </p:cTn>
              </p:par>
            </p:tnLst>
          </p:tmpl>
        </p:tmplLst>
      </p:bldP>
      <p:bldP spid="9" grpId="0"/>
      <p:bldP spid="9" grpId="1"/>
      <p:bldP spid="9" grpId="2"/>
    </p:bldLst>
  </p:timing>
  <p:extLst mod="1">
    <p:ext uri="{DCECCB84-F9BA-43D5-87BE-67443E8EF086}">
      <p15:sldGuideLst xmlns:p15="http://schemas.microsoft.com/office/powerpoint/2012/main">
        <p15:guide id="4" orient="horz" pos="4406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39" y="2084172"/>
            <a:ext cx="11653523" cy="1403461"/>
          </a:xfrm>
          <a:noFill/>
        </p:spPr>
        <p:txBody>
          <a:bodyPr tIns="91440" bIns="91440" anchor="t" anchorCtr="0">
            <a:spAutoFit/>
          </a:bodyPr>
          <a:lstStyle>
            <a:lvl1pPr algn="l" defTabSz="91436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800" b="0" kern="1200" cap="none" spc="-98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1268620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214965"/>
          </a:xfrm>
        </p:spPr>
        <p:txBody>
          <a:bodyPr>
            <a:spAutoFit/>
          </a:bodyPr>
          <a:lstStyle>
            <a:lvl1pPr>
              <a:buClrTx/>
              <a:defRPr sz="3600">
                <a:solidFill>
                  <a:schemeClr val="tx1"/>
                </a:solidFill>
              </a:defRPr>
            </a:lvl1pPr>
            <a:lvl2pPr>
              <a:buClrTx/>
              <a:defRPr sz="2400">
                <a:solidFill>
                  <a:schemeClr val="tx1"/>
                </a:solidFill>
              </a:defRPr>
            </a:lvl2pPr>
            <a:lvl3pPr>
              <a:buClrTx/>
              <a:defRPr sz="2400">
                <a:solidFill>
                  <a:schemeClr val="tx1"/>
                </a:solidFill>
              </a:defRPr>
            </a:lvl3pPr>
            <a:lvl4pPr>
              <a:buClrTx/>
              <a:defRPr sz="2000">
                <a:solidFill>
                  <a:schemeClr val="tx1"/>
                </a:solidFill>
              </a:defRPr>
            </a:lvl4pPr>
            <a:lvl5pPr>
              <a:buClrTx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763630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550563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04953" y="298255"/>
            <a:ext cx="4322760" cy="6275864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 bwMode="auto">
          <a:xfrm>
            <a:off x="269302" y="1187644"/>
            <a:ext cx="9860610" cy="2689632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02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353" b="0" i="0" u="none" strike="noStrike" kern="0" cap="none" spc="0" normalizeH="0" baseline="0" noProof="0" dirty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0" y="1186356"/>
            <a:ext cx="7170265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98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 title</a:t>
            </a:r>
          </a:p>
        </p:txBody>
      </p:sp>
    </p:spTree>
    <p:extLst>
      <p:ext uri="{BB962C8B-B14F-4D97-AF65-F5344CB8AC3E}">
        <p14:creationId xmlns:p14="http://schemas.microsoft.com/office/powerpoint/2010/main" val="234505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1" y="1189178"/>
            <a:ext cx="11653521" cy="2184808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49057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0" r:id="rId1"/>
    <p:sldLayoutId id="2147483951" r:id="rId2"/>
    <p:sldLayoutId id="2147483952" r:id="rId3"/>
    <p:sldLayoutId id="2147483953" r:id="rId4"/>
    <p:sldLayoutId id="2147483954" r:id="rId5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5294" b="0" kern="1200" cap="none" spc="-10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§"/>
        <a:tabLst/>
        <a:defRPr sz="3600" kern="1200" spc="0" baseline="0">
          <a:solidFill>
            <a:schemeClr val="tx1"/>
          </a:soli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§"/>
        <a:tabLst/>
        <a:defRPr sz="2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§"/>
        <a:tabLst/>
        <a:defRPr sz="24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§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§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661">
          <p15:clr>
            <a:srgbClr val="5ACBF0"/>
          </p15:clr>
        </p15:guide>
        <p15:guide id="4" orient="horz" pos="4219">
          <p15:clr>
            <a:srgbClr val="5ACBF0"/>
          </p15:clr>
        </p15:guide>
        <p15:guide id="5" pos="749">
          <p15:clr>
            <a:srgbClr val="5ACBF0"/>
          </p15:clr>
        </p15:guide>
        <p15:guide id="6" pos="1325">
          <p15:clr>
            <a:srgbClr val="5ACBF0"/>
          </p15:clr>
        </p15:guide>
        <p15:guide id="7" pos="1901">
          <p15:clr>
            <a:srgbClr val="5ACBF0"/>
          </p15:clr>
        </p15:guide>
        <p15:guide id="8" pos="2477">
          <p15:clr>
            <a:srgbClr val="5ACBF0"/>
          </p15:clr>
        </p15:guide>
        <p15:guide id="9" pos="3053">
          <p15:clr>
            <a:srgbClr val="5ACBF0"/>
          </p15:clr>
        </p15:guide>
        <p15:guide id="10" pos="3629">
          <p15:clr>
            <a:srgbClr val="5ACBF0"/>
          </p15:clr>
        </p15:guide>
        <p15:guide id="11" pos="4205">
          <p15:clr>
            <a:srgbClr val="5ACBF0"/>
          </p15:clr>
        </p15:guide>
        <p15:guide id="12" pos="4781">
          <p15:clr>
            <a:srgbClr val="5ACBF0"/>
          </p15:clr>
        </p15:guide>
        <p15:guide id="13" pos="5357">
          <p15:clr>
            <a:srgbClr val="5ACBF0"/>
          </p15:clr>
        </p15:guide>
        <p15:guide id="14" pos="5933">
          <p15:clr>
            <a:srgbClr val="5ACBF0"/>
          </p15:clr>
        </p15:guide>
        <p15:guide id="15" pos="6509">
          <p15:clr>
            <a:srgbClr val="5ACBF0"/>
          </p15:clr>
        </p15:guide>
        <p15:guide id="16" pos="7085">
          <p15:clr>
            <a:srgbClr val="5ACBF0"/>
          </p15:clr>
        </p15:guide>
        <p15:guide id="17" orient="horz" pos="763">
          <p15:clr>
            <a:srgbClr val="5ACBF0"/>
          </p15:clr>
        </p15:guide>
        <p15:guide id="18" orient="horz" pos="1339">
          <p15:clr>
            <a:srgbClr val="5ACBF0"/>
          </p15:clr>
        </p15:guide>
        <p15:guide id="19" orient="horz" pos="1915">
          <p15:clr>
            <a:srgbClr val="5ACBF0"/>
          </p15:clr>
        </p15:guide>
        <p15:guide id="20" orient="horz" pos="2491">
          <p15:clr>
            <a:srgbClr val="5ACBF0"/>
          </p15:clr>
        </p15:guide>
        <p15:guide id="21" orient="horz" pos="3067">
          <p15:clr>
            <a:srgbClr val="5ACBF0"/>
          </p15:clr>
        </p15:guide>
        <p15:guide id="22" orient="horz" pos="3643">
          <p15:clr>
            <a:srgbClr val="5ACBF0"/>
          </p15:clr>
        </p15:guide>
        <p15:guide id="23" pos="288">
          <p15:clr>
            <a:srgbClr val="C35EA4"/>
          </p15:clr>
        </p15:guide>
        <p15:guide id="24" pos="7546">
          <p15:clr>
            <a:srgbClr val="C35EA4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azure/dn707638.aspx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msdn.microsoft.com/en-us/library/mt628272.aspx" TargetMode="External"/><Relationship Id="rId5" Type="http://schemas.openxmlformats.org/officeDocument/2006/relationships/hyperlink" Target="https://msdn.microsoft.com/en-us/library/microsoft.servicefabric.services.client.servicepartitionresolver.aspx" TargetMode="External"/><Relationship Id="rId4" Type="http://schemas.openxmlformats.org/officeDocument/2006/relationships/hyperlink" Target="https://msdn.microsoft.com/en-us/library/mt125970.aspx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Jeffrey Richter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Reliable Services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7843265" y="5534587"/>
            <a:ext cx="4027148" cy="1138773"/>
            <a:chOff x="4032944" y="2597680"/>
            <a:chExt cx="4027148" cy="1138773"/>
          </a:xfrm>
        </p:grpSpPr>
        <p:sp>
          <p:nvSpPr>
            <p:cNvPr id="9" name="TextBox 8"/>
            <p:cNvSpPr txBox="1"/>
            <p:nvPr/>
          </p:nvSpPr>
          <p:spPr>
            <a:xfrm>
              <a:off x="4947344" y="2597680"/>
              <a:ext cx="3112748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Microsoft Azure </a:t>
              </a:r>
            </a:p>
            <a:p>
              <a:r>
                <a:rPr lang="en-US" sz="4000" b="1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Service Fabric</a:t>
              </a: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2944" y="2709867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3718488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4154984"/>
          </a:xfrm>
        </p:spPr>
        <p:txBody>
          <a:bodyPr/>
          <a:lstStyle/>
          <a:p>
            <a:r>
              <a:rPr lang="en-US" dirty="0"/>
              <a:t>.NET Programming model benefits</a:t>
            </a:r>
          </a:p>
          <a:p>
            <a:pPr lvl="1"/>
            <a:r>
              <a:rPr lang="en-US" dirty="0"/>
              <a:t>Networking naming service support</a:t>
            </a:r>
          </a:p>
          <a:p>
            <a:pPr lvl="1"/>
            <a:r>
              <a:rPr lang="en-US" dirty="0"/>
              <a:t>Self-reporting of instance’s load metrics</a:t>
            </a:r>
          </a:p>
          <a:p>
            <a:pPr lvl="1"/>
            <a:r>
              <a:rPr lang="en-US" dirty="0"/>
              <a:t>Integrate with code, </a:t>
            </a:r>
            <a:r>
              <a:rPr lang="en-US" dirty="0" err="1"/>
              <a:t>config</a:t>
            </a:r>
            <a:r>
              <a:rPr lang="en-US" dirty="0"/>
              <a:t>, &amp; data upgrades</a:t>
            </a:r>
          </a:p>
          <a:p>
            <a:pPr lvl="1"/>
            <a:r>
              <a:rPr lang="en-US" dirty="0"/>
              <a:t>Efficiency (better density): Multiple services (types &amp; instances) </a:t>
            </a:r>
            <a:br>
              <a:rPr lang="en-US" dirty="0"/>
            </a:br>
            <a:r>
              <a:rPr lang="en-US" dirty="0"/>
              <a:t>in a single process</a:t>
            </a:r>
          </a:p>
          <a:p>
            <a:r>
              <a:rPr lang="en-US" dirty="0"/>
              <a:t>Other programming models can be built on </a:t>
            </a:r>
            <a:br>
              <a:rPr lang="en-US" dirty="0"/>
            </a:br>
            <a:r>
              <a:rPr lang="en-US" dirty="0"/>
              <a:t>Service Fabric</a:t>
            </a:r>
          </a:p>
          <a:p>
            <a:pPr lvl="1"/>
            <a:r>
              <a:rPr lang="en-US" dirty="0"/>
              <a:t>Example: Reliable Actors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Reliable Services (Stateless &amp; Stateful)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59334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693866"/>
          </a:xfrm>
        </p:spPr>
        <p:txBody>
          <a:bodyPr/>
          <a:lstStyle/>
          <a:p>
            <a:r>
              <a:rPr lang="en-US" dirty="0"/>
              <a:t>Turn-based threading</a:t>
            </a:r>
          </a:p>
          <a:p>
            <a:pPr lvl="1"/>
            <a:r>
              <a:rPr lang="en-US" dirty="0"/>
              <a:t>Pro: No concurrency issues in a single Actor</a:t>
            </a:r>
          </a:p>
          <a:p>
            <a:pPr lvl="1"/>
            <a:r>
              <a:rPr lang="en-US" dirty="0"/>
              <a:t>Con: Hurts scalability as no operations execute simultaneously (including reads)</a:t>
            </a:r>
          </a:p>
          <a:p>
            <a:pPr lvl="2"/>
            <a:r>
              <a:rPr lang="en-US" dirty="0"/>
              <a:t>New requests are blocked while current request runs</a:t>
            </a:r>
          </a:p>
          <a:p>
            <a:pPr lvl="3"/>
            <a:r>
              <a:rPr lang="en-US" dirty="0"/>
              <a:t>You must ensure that all operations are short; beware I/O requests to other Actor/server</a:t>
            </a:r>
          </a:p>
          <a:p>
            <a:pPr lvl="2"/>
            <a:r>
              <a:rPr lang="en-US" dirty="0"/>
              <a:t>Can’t query an Actor’s progress while it is in progress</a:t>
            </a:r>
          </a:p>
          <a:p>
            <a:r>
              <a:rPr lang="en-US" dirty="0"/>
              <a:t>Automatic partition placement</a:t>
            </a:r>
          </a:p>
          <a:p>
            <a:pPr lvl="1"/>
            <a:r>
              <a:rPr lang="en-US" dirty="0"/>
              <a:t>Pro: Actors are distributed across partitions giving location transparency</a:t>
            </a:r>
          </a:p>
          <a:p>
            <a:pPr lvl="1"/>
            <a:r>
              <a:rPr lang="en-US" dirty="0"/>
              <a:t>Con: All Actor access requires network communication</a:t>
            </a:r>
          </a:p>
          <a:p>
            <a:pPr lvl="2"/>
            <a:r>
              <a:rPr lang="en-US" dirty="0"/>
              <a:t>Client must be .NET since protocol is proprietary</a:t>
            </a:r>
          </a:p>
          <a:p>
            <a:pPr lvl="2"/>
            <a:r>
              <a:rPr lang="en-US" dirty="0"/>
              <a:t>Causes performance issues when doing query/batch operations</a:t>
            </a:r>
          </a:p>
          <a:p>
            <a:pPr lvl="2"/>
            <a:r>
              <a:rPr lang="en-US" dirty="0"/>
              <a:t>Cross-actor transactions are not supported</a:t>
            </a:r>
          </a:p>
          <a:p>
            <a:pPr lvl="2"/>
            <a:r>
              <a:rPr lang="en-US" dirty="0"/>
              <a:t>Note: You must still decide # partitions based on Actor resource requirements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Actor Models Provide 2 Main Features</a:t>
            </a:r>
          </a:p>
        </p:txBody>
      </p:sp>
    </p:spTree>
    <p:extLst>
      <p:ext uri="{BB962C8B-B14F-4D97-AF65-F5344CB8AC3E}">
        <p14:creationId xmlns:p14="http://schemas.microsoft.com/office/powerpoint/2010/main" val="37711581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4524315"/>
          </a:xfrm>
        </p:spPr>
        <p:txBody>
          <a:bodyPr/>
          <a:lstStyle/>
          <a:p>
            <a:r>
              <a:rPr lang="en-US" sz="3200" dirty="0">
                <a:sym typeface="Wingdings 3" panose="05040102010807070707" pitchFamily="18" charset="2"/>
              </a:rPr>
              <a:t>State</a:t>
            </a:r>
          </a:p>
          <a:p>
            <a:pPr lvl="1"/>
            <a:r>
              <a:rPr lang="en-US" sz="2000" dirty="0">
                <a:sym typeface="Wingdings 3" panose="05040102010807070707" pitchFamily="18" charset="2"/>
              </a:rPr>
              <a:t>No explicit creation (all actors virtually exist) &amp; no initialization data</a:t>
            </a:r>
          </a:p>
          <a:p>
            <a:pPr lvl="1"/>
            <a:r>
              <a:rPr lang="en-US" sz="2000" dirty="0">
                <a:sym typeface="Wingdings 3" panose="05040102010807070707" pitchFamily="18" charset="2"/>
              </a:rPr>
              <a:t>Upgrades must always remain backward compatible</a:t>
            </a:r>
          </a:p>
          <a:p>
            <a:pPr lvl="1"/>
            <a:r>
              <a:rPr lang="en-US" sz="2000" dirty="0">
                <a:sym typeface="Wingdings 3" panose="05040102010807070707" pitchFamily="18" charset="2"/>
              </a:rPr>
              <a:t>No backup/restore of individual Actors; no consistent backup since Actors </a:t>
            </a:r>
            <a:r>
              <a:rPr lang="en-US" sz="2000">
                <a:sym typeface="Wingdings 3" panose="05040102010807070707" pitchFamily="18" charset="2"/>
              </a:rPr>
              <a:t>span partitions</a:t>
            </a:r>
            <a:endParaRPr lang="en-US" sz="2000" dirty="0">
              <a:sym typeface="Wingdings 3" panose="05040102010807070707" pitchFamily="18" charset="2"/>
            </a:endParaRPr>
          </a:p>
          <a:p>
            <a:r>
              <a:rPr lang="en-US" sz="3200" dirty="0">
                <a:sym typeface="Wingdings 3" panose="05040102010807070707" pitchFamily="18" charset="2"/>
              </a:rPr>
              <a:t>Object lifetime</a:t>
            </a:r>
          </a:p>
          <a:p>
            <a:pPr lvl="1"/>
            <a:r>
              <a:rPr lang="en-US" sz="2000" dirty="0">
                <a:sym typeface="Wingdings 3" panose="05040102010807070707" pitchFamily="18" charset="2"/>
              </a:rPr>
              <a:t>Programmers require discipline to avoid extending Actor object’s lifetime</a:t>
            </a:r>
          </a:p>
          <a:p>
            <a:pPr lvl="2"/>
            <a:r>
              <a:rPr lang="en-US" sz="2000" dirty="0">
                <a:sym typeface="Wingdings 3" panose="05040102010807070707" pitchFamily="18" charset="2"/>
              </a:rPr>
              <a:t>Ex: Don’t save references to Actor objects (ex: callbacks)</a:t>
            </a:r>
          </a:p>
          <a:p>
            <a:pPr lvl="2"/>
            <a:r>
              <a:rPr lang="en-US" sz="2000" dirty="0">
                <a:sym typeface="Wingdings 3" panose="05040102010807070707" pitchFamily="18" charset="2"/>
              </a:rPr>
              <a:t>For timed callbacks, use special timers/reminders constructs instead</a:t>
            </a:r>
          </a:p>
          <a:p>
            <a:r>
              <a:rPr lang="en-US" sz="3200" dirty="0">
                <a:sym typeface="Wingdings 3" panose="05040102010807070707" pitchFamily="18" charset="2"/>
              </a:rPr>
              <a:t>Sweet spot for Actors: If you have 1000+ of them, they are independent without needing to communicate</a:t>
            </a:r>
          </a:p>
          <a:p>
            <a:pPr lvl="1"/>
            <a:r>
              <a:rPr lang="en-US" sz="2000" dirty="0"/>
              <a:t>Porting from “Orleans”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Reliable Actors: Things to Note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93524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Your class object is notified of service start/stop</a:t>
            </a:r>
          </a:p>
          <a:p>
            <a:pPr lvl="1"/>
            <a:r>
              <a:rPr lang="en-US"/>
              <a:t>Similar to Azure Cloud Services’ RoleEntryPoint</a:t>
            </a:r>
          </a:p>
          <a:p>
            <a:r>
              <a:rPr lang="en-US"/>
              <a:t>Your class object does whatever you need it to do</a:t>
            </a:r>
          </a:p>
          <a:p>
            <a:pPr lvl="1"/>
            <a:r>
              <a:rPr lang="en-US"/>
              <a:t>Ex: Process network requests or queue messages</a:t>
            </a:r>
          </a:p>
          <a:p>
            <a:r>
              <a:rPr lang="en-US"/>
              <a:t>Stateless services keep their state in an external store</a:t>
            </a:r>
          </a:p>
          <a:p>
            <a:pPr lvl="1"/>
            <a:r>
              <a:rPr lang="en-US"/>
              <a:t>Ex: Azure Storage, SQL Database, Document DB, etc.</a:t>
            </a:r>
          </a:p>
          <a:p>
            <a:pPr lvl="1"/>
            <a:r>
              <a:rPr lang="en-US"/>
              <a:t>Partition your data so it scales well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Reliable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99301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a Stateless Reliable Service Visual Studio 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81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App project has</a:t>
            </a:r>
          </a:p>
          <a:p>
            <a:pPr lvl="1"/>
            <a:r>
              <a:rPr lang="en-US"/>
              <a:t>“Services” node referencing 1+ service projects</a:t>
            </a:r>
          </a:p>
          <a:p>
            <a:pPr lvl="1"/>
            <a:r>
              <a:rPr lang="en-US"/>
              <a:t>Application Parameters: Local.xml &amp; Cloud.xml</a:t>
            </a:r>
          </a:p>
          <a:p>
            <a:pPr lvl="1"/>
            <a:r>
              <a:rPr lang="en-US"/>
              <a:t>Publish Profiles: Local.xml &amp; Cloud.xml</a:t>
            </a:r>
          </a:p>
          <a:p>
            <a:pPr lvl="1"/>
            <a:r>
              <a:rPr lang="en-US"/>
              <a:t>Scripts: Deploy-FabricApplication.ps1</a:t>
            </a:r>
          </a:p>
          <a:p>
            <a:pPr lvl="1"/>
            <a:r>
              <a:rPr lang="en-US"/>
              <a:t>ApplicationManifest.xml</a:t>
            </a:r>
          </a:p>
          <a:p>
            <a:pPr lvl="1"/>
            <a:r>
              <a:rPr lang="en-US"/>
              <a:t>Right-click to Build, Edit manifest versions, Package, Publish</a:t>
            </a:r>
          </a:p>
          <a:p>
            <a:r>
              <a:rPr lang="en-US"/>
              <a:t>Service project (Win32 EXE project)</a:t>
            </a:r>
          </a:p>
          <a:p>
            <a:pPr lvl="1"/>
            <a:r>
              <a:rPr lang="en-US"/>
              <a:t>References Microsoft.ServiceFabric.*.dll assemblies</a:t>
            </a:r>
          </a:p>
          <a:p>
            <a:pPr lvl="1"/>
            <a:r>
              <a:rPr lang="en-US"/>
              <a:t>PackageRoot: Dirs/Files for service’s package’s root (ex: ServiceManifest.xml)</a:t>
            </a:r>
          </a:p>
          <a:p>
            <a:pPr lvl="1"/>
            <a:r>
              <a:rPr lang="en-US"/>
              <a:t>Program.cs: Main, registering service type name </a:t>
            </a:r>
            <a:r>
              <a:rPr lang="en-US">
                <a:sym typeface="Wingdings" panose="05000000000000000000" pitchFamily="2" charset="2"/>
              </a:rPr>
              <a:t> .NET class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Stateless1.cs: StatelessService-derived class</a:t>
            </a:r>
          </a:p>
          <a:p>
            <a:pPr lvl="1"/>
            <a:r>
              <a:rPr lang="en-US"/>
              <a:t>ServiceEventSource.cs: Class you can use to produce ETW events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 Studio’s Stateless Service Template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499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500" dirty="0">
                <a:latin typeface="Consolas" panose="020B0609020204030204" pitchFamily="49" charset="0"/>
              </a:rPr>
              <a:t>namespace </a:t>
            </a:r>
            <a:r>
              <a:rPr lang="en-US" sz="1500" dirty="0" err="1">
                <a:latin typeface="Consolas" panose="020B0609020204030204" pitchFamily="49" charset="0"/>
              </a:rPr>
              <a:t>Microsoft.ServiceFabric.Services.Runtime</a:t>
            </a:r>
            <a:r>
              <a:rPr lang="en-US" sz="15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500" dirty="0">
                <a:latin typeface="Consolas" panose="020B0609020204030204" pitchFamily="49" charset="0"/>
              </a:rPr>
              <a:t>   public abstract class </a:t>
            </a:r>
            <a:r>
              <a:rPr lang="en-US" sz="1500" dirty="0" err="1">
                <a:latin typeface="Consolas" panose="020B0609020204030204" pitchFamily="49" charset="0"/>
              </a:rPr>
              <a:t>StatelessService</a:t>
            </a:r>
            <a:r>
              <a:rPr lang="en-US" sz="1500" dirty="0">
                <a:latin typeface="Consolas" panose="020B0609020204030204" pitchFamily="49" charset="0"/>
              </a:rPr>
              <a:t> {</a:t>
            </a:r>
            <a:br>
              <a:rPr lang="en-US" sz="1500" dirty="0">
                <a:latin typeface="Consolas" panose="020B0609020204030204" pitchFamily="49" charset="0"/>
              </a:rPr>
            </a:br>
            <a:endParaRPr lang="en-US" sz="1500" dirty="0">
              <a:latin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500" dirty="0">
                <a:latin typeface="Consolas" panose="020B0609020204030204" pitchFamily="49" charset="0"/>
              </a:rPr>
              <a:t>      // Override this for a polling service</a:t>
            </a:r>
            <a:br>
              <a:rPr lang="en-US" sz="1500" dirty="0">
                <a:latin typeface="Consolas" panose="020B0609020204030204" pitchFamily="49" charset="0"/>
              </a:rPr>
            </a:br>
            <a:r>
              <a:rPr lang="en-US" sz="1500" b="1" dirty="0">
                <a:latin typeface="Consolas" panose="020B0609020204030204" pitchFamily="49" charset="0"/>
              </a:rPr>
              <a:t>      // IMPORTANT: SF signals </a:t>
            </a:r>
            <a:r>
              <a:rPr lang="en-US" sz="1500" b="1" dirty="0" err="1">
                <a:latin typeface="Consolas" panose="020B0609020204030204" pitchFamily="49" charset="0"/>
              </a:rPr>
              <a:t>cancellationToken</a:t>
            </a:r>
            <a:r>
              <a:rPr lang="en-US" sz="1500" b="1" dirty="0">
                <a:latin typeface="Consolas" panose="020B0609020204030204" pitchFamily="49" charset="0"/>
              </a:rPr>
              <a:t> when moving/upgrading instance; honor this!</a:t>
            </a:r>
            <a:endParaRPr lang="en-US" sz="1500" b="1" i="1" dirty="0">
              <a:latin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500" dirty="0">
                <a:latin typeface="Consolas" panose="020B0609020204030204" pitchFamily="49" charset="0"/>
              </a:rPr>
              <a:t>      protected virtual Task </a:t>
            </a:r>
            <a:r>
              <a:rPr lang="en-US" sz="1500" dirty="0" err="1">
                <a:latin typeface="Consolas" panose="020B0609020204030204" pitchFamily="49" charset="0"/>
              </a:rPr>
              <a:t>RunAsync</a:t>
            </a:r>
            <a:r>
              <a:rPr lang="en-US" sz="1500" dirty="0">
                <a:latin typeface="Consolas" panose="020B0609020204030204" pitchFamily="49" charset="0"/>
              </a:rPr>
              <a:t>(</a:t>
            </a:r>
            <a:r>
              <a:rPr lang="en-US" sz="1500" dirty="0" err="1">
                <a:latin typeface="Consolas" panose="020B0609020204030204" pitchFamily="49" charset="0"/>
              </a:rPr>
              <a:t>CancellationToken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dirty="0" err="1">
                <a:latin typeface="Consolas" panose="020B0609020204030204" pitchFamily="49" charset="0"/>
              </a:rPr>
              <a:t>cancellationToken</a:t>
            </a:r>
            <a:r>
              <a:rPr lang="en-US" sz="15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500" dirty="0">
              <a:latin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500" dirty="0">
                <a:latin typeface="Consolas" panose="020B0609020204030204" pitchFamily="49" charset="0"/>
              </a:rPr>
              <a:t>      // Override this for a listening service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500" dirty="0">
                <a:latin typeface="Consolas" panose="020B0609020204030204" pitchFamily="49" charset="0"/>
              </a:rPr>
              <a:t>      protected virtual </a:t>
            </a:r>
            <a:r>
              <a:rPr lang="en-US" sz="1500" dirty="0" err="1">
                <a:latin typeface="Consolas" panose="020B0609020204030204" pitchFamily="49" charset="0"/>
              </a:rPr>
              <a:t>IEnumerable</a:t>
            </a:r>
            <a:r>
              <a:rPr lang="en-US" sz="1500" dirty="0">
                <a:latin typeface="Consolas" panose="020B0609020204030204" pitchFamily="49" charset="0"/>
              </a:rPr>
              <a:t>&lt;</a:t>
            </a:r>
            <a:r>
              <a:rPr lang="en-US" sz="1500" dirty="0" err="1">
                <a:latin typeface="Consolas" panose="020B0609020204030204" pitchFamily="49" charset="0"/>
              </a:rPr>
              <a:t>ServiceInstanceListener</a:t>
            </a:r>
            <a:r>
              <a:rPr lang="en-US" sz="1500" dirty="0">
                <a:latin typeface="Consolas" panose="020B0609020204030204" pitchFamily="49" charset="0"/>
              </a:rPr>
              <a:t>&gt; </a:t>
            </a:r>
            <a:r>
              <a:rPr lang="en-US" sz="1500" dirty="0" err="1">
                <a:latin typeface="Consolas" panose="020B0609020204030204" pitchFamily="49" charset="0"/>
              </a:rPr>
              <a:t>CreateServiceInstanceListeners</a:t>
            </a:r>
            <a:r>
              <a:rPr lang="en-US" sz="15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500" dirty="0">
              <a:latin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500" dirty="0">
                <a:latin typeface="Consolas" panose="020B0609020204030204" pitchFamily="49" charset="0"/>
              </a:rPr>
              <a:t>      protected virtual Task </a:t>
            </a:r>
            <a:r>
              <a:rPr lang="en-US" sz="1500" dirty="0" err="1">
                <a:latin typeface="Consolas" panose="020B0609020204030204" pitchFamily="49" charset="0"/>
              </a:rPr>
              <a:t>OnCloseAsync</a:t>
            </a:r>
            <a:r>
              <a:rPr lang="en-US" sz="1500" dirty="0">
                <a:latin typeface="Consolas" panose="020B0609020204030204" pitchFamily="49" charset="0"/>
              </a:rPr>
              <a:t>(</a:t>
            </a:r>
            <a:r>
              <a:rPr lang="en-US" sz="1500" dirty="0" err="1">
                <a:latin typeface="Consolas" panose="020B0609020204030204" pitchFamily="49" charset="0"/>
              </a:rPr>
              <a:t>CancellationToken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dirty="0" err="1">
                <a:latin typeface="Consolas" panose="020B0609020204030204" pitchFamily="49" charset="0"/>
              </a:rPr>
              <a:t>cancellationToken</a:t>
            </a:r>
            <a:r>
              <a:rPr lang="en-US" sz="1500" dirty="0">
                <a:latin typeface="Consolas" panose="020B0609020204030204" pitchFamily="49" charset="0"/>
              </a:rPr>
              <a:t>);  // Graceful close (Dispose)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500" dirty="0">
                <a:latin typeface="Consolas" panose="020B0609020204030204" pitchFamily="49" charset="0"/>
              </a:rPr>
              <a:t>      protected virtual void </a:t>
            </a:r>
            <a:r>
              <a:rPr lang="en-US" sz="1500" dirty="0" err="1">
                <a:latin typeface="Consolas" panose="020B0609020204030204" pitchFamily="49" charset="0"/>
              </a:rPr>
              <a:t>OnAbort</a:t>
            </a:r>
            <a:r>
              <a:rPr lang="en-US" sz="1500" dirty="0">
                <a:latin typeface="Consolas" panose="020B0609020204030204" pitchFamily="49" charset="0"/>
              </a:rPr>
              <a:t>();                                          // Non-graceful close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500" dirty="0">
                <a:latin typeface="Consolas" panose="020B0609020204030204" pitchFamily="49" charset="0"/>
              </a:rPr>
              <a:t>   }</a:t>
            </a:r>
            <a:br>
              <a:rPr lang="en-US" sz="1500" dirty="0">
                <a:latin typeface="Consolas" panose="020B0609020204030204" pitchFamily="49" charset="0"/>
              </a:rPr>
            </a:br>
            <a:r>
              <a:rPr lang="en-US" sz="15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StatelessService Base 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6081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Migrating from Azure Cloud Services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23974961"/>
              </p:ext>
            </p:extLst>
          </p:nvPr>
        </p:nvGraphicFramePr>
        <p:xfrm>
          <a:off x="919561" y="1189176"/>
          <a:ext cx="10396139" cy="147294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02249">
                  <a:extLst>
                    <a:ext uri="{9D8B030D-6E8A-4147-A177-3AD203B41FA5}">
                      <a16:colId xmlns:a16="http://schemas.microsoft.com/office/drawing/2014/main" xmlns="" val="4110544475"/>
                    </a:ext>
                  </a:extLst>
                </a:gridCol>
                <a:gridCol w="6093890">
                  <a:extLst>
                    <a:ext uri="{9D8B030D-6E8A-4147-A177-3AD203B41FA5}">
                      <a16:colId xmlns:a16="http://schemas.microsoft.com/office/drawing/2014/main" xmlns="" val="1615490445"/>
                    </a:ext>
                  </a:extLst>
                </a:gridCol>
              </a:tblGrid>
              <a:tr h="320600">
                <a:tc>
                  <a:txBody>
                    <a:bodyPr/>
                    <a:lstStyle/>
                    <a:p>
                      <a:r>
                        <a:rPr lang="en-US" dirty="0" err="1"/>
                        <a:t>RoleEntryPoint</a:t>
                      </a:r>
                      <a:r>
                        <a:rPr lang="en-US" dirty="0"/>
                        <a:t>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Service Fabric Equivalent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5166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OnStart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Service type </a:t>
                      </a:r>
                      <a:r>
                        <a:rPr lang="en-US" dirty="0" err="1"/>
                        <a:t>ctor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OpenAsync</a:t>
                      </a:r>
                      <a:r>
                        <a:rPr lang="en-US" dirty="0"/>
                        <a:t>, or </a:t>
                      </a:r>
                      <a:r>
                        <a:rPr lang="en-US" dirty="0" err="1"/>
                        <a:t>RunAsync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52700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RunAsync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9201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OnStop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RunAsync</a:t>
                      </a:r>
                      <a:r>
                        <a:rPr lang="en-US" baseline="0" dirty="0"/>
                        <a:t> after </a:t>
                      </a:r>
                      <a:r>
                        <a:rPr lang="en-US" baseline="0" dirty="0" err="1"/>
                        <a:t>CancellationToken</a:t>
                      </a:r>
                      <a:r>
                        <a:rPr lang="en-US" baseline="0" dirty="0"/>
                        <a:t> signaled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71920003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116301"/>
              </p:ext>
            </p:extLst>
          </p:nvPr>
        </p:nvGraphicFramePr>
        <p:xfrm>
          <a:off x="919561" y="2979839"/>
          <a:ext cx="10396139" cy="311302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13918">
                  <a:extLst>
                    <a:ext uri="{9D8B030D-6E8A-4147-A177-3AD203B41FA5}">
                      <a16:colId xmlns:a16="http://schemas.microsoft.com/office/drawing/2014/main" xmlns="" val="4110544475"/>
                    </a:ext>
                  </a:extLst>
                </a:gridCol>
                <a:gridCol w="6082221">
                  <a:extLst>
                    <a:ext uri="{9D8B030D-6E8A-4147-A177-3AD203B41FA5}">
                      <a16:colId xmlns:a16="http://schemas.microsoft.com/office/drawing/2014/main" xmlns="" val="1615490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RoleEnvironment</a:t>
                      </a:r>
                      <a:r>
                        <a:rPr lang="en-US" dirty="0"/>
                        <a:t>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Service Fabric Equivalent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5166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CurrentRoleInstance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52700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GetConfigurationSettingValue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9201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GetLocalResource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TODO – working directory in ServiceManifest.xml;</a:t>
                      </a:r>
                      <a:br>
                        <a:rPr lang="en-US" dirty="0"/>
                      </a:br>
                      <a:r>
                        <a:rPr lang="en-US" dirty="0"/>
                        <a:t>Can quota be set?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7192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(Simultaneous)Changing/Changed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TODO</a:t>
                      </a:r>
                      <a:r>
                        <a:rPr lang="en-US" baseline="0" dirty="0"/>
                        <a:t> event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0895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RunAsync’s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CancellationToken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52185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DeploymentId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IsAvailable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IsEmulated</a:t>
                      </a:r>
                      <a:r>
                        <a:rPr lang="en-US" dirty="0"/>
                        <a:t>, </a:t>
                      </a:r>
                      <a:br>
                        <a:rPr lang="en-US" dirty="0"/>
                      </a:br>
                      <a:r>
                        <a:rPr lang="en-US" dirty="0"/>
                        <a:t>Roles, </a:t>
                      </a:r>
                      <a:r>
                        <a:rPr lang="en-US" dirty="0" err="1"/>
                        <a:t>RequestRecycle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StatusCheck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44549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171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4838248"/>
          </a:xfrm>
        </p:spPr>
        <p:txBody>
          <a:bodyPr/>
          <a:lstStyle/>
          <a:p>
            <a:pPr marL="398463" indent="-398463">
              <a:buFont typeface="+mj-lt"/>
              <a:buAutoNum type="arabicPeriod"/>
            </a:pPr>
            <a:r>
              <a:rPr lang="en-US" dirty="0"/>
              <a:t>For input endpoint(s), configure load balancer to</a:t>
            </a:r>
            <a:br>
              <a:rPr lang="en-US" dirty="0"/>
            </a:br>
            <a:r>
              <a:rPr lang="en-US" dirty="0"/>
              <a:t>allow traffic over desired port(s)</a:t>
            </a:r>
          </a:p>
          <a:p>
            <a:pPr marL="398463" indent="-398463">
              <a:buFont typeface="+mj-lt"/>
              <a:buAutoNum type="arabicPeriod"/>
            </a:pPr>
            <a:r>
              <a:rPr lang="en-US" dirty="0"/>
              <a:t>Add endpoint(s) to ServiceManifest.xml (for </a:t>
            </a:r>
            <a:r>
              <a:rPr lang="en-US" dirty="0" err="1"/>
              <a:t>ACL’ing</a:t>
            </a:r>
            <a:r>
              <a:rPr lang="en-US" dirty="0"/>
              <a:t>)</a:t>
            </a:r>
          </a:p>
          <a:p>
            <a:pPr marL="398463" indent="-398463">
              <a:buFont typeface="+mj-lt"/>
              <a:buAutoNum type="arabicPeriod"/>
            </a:pPr>
            <a:r>
              <a:rPr lang="en-US" dirty="0"/>
              <a:t>When service starts, listen for network traffic</a:t>
            </a:r>
          </a:p>
          <a:p>
            <a:pPr lvl="1"/>
            <a:r>
              <a:rPr lang="en-US" dirty="0"/>
              <a:t>Override </a:t>
            </a:r>
            <a:r>
              <a:rPr lang="en-US" dirty="0" err="1"/>
              <a:t>CreateServiceInstanceListeners</a:t>
            </a:r>
            <a:endParaRPr lang="en-US" dirty="0"/>
          </a:p>
          <a:p>
            <a:pPr lvl="2"/>
            <a:r>
              <a:rPr lang="en-US" dirty="0"/>
              <a:t>Return method(s) that create listener objects/endpoint names</a:t>
            </a:r>
          </a:p>
          <a:p>
            <a:pPr lvl="1"/>
            <a:r>
              <a:rPr lang="en-US" dirty="0"/>
              <a:t>When service instance starts, SF invokes method(s) to create listener object(s)</a:t>
            </a:r>
          </a:p>
          <a:p>
            <a:pPr lvl="1"/>
            <a:r>
              <a:rPr lang="en-US" dirty="0"/>
              <a:t>Each listener object starts listening (</a:t>
            </a:r>
            <a:r>
              <a:rPr lang="en-US" dirty="0" err="1"/>
              <a:t>tcp</a:t>
            </a:r>
            <a:r>
              <a:rPr lang="en-US" dirty="0"/>
              <a:t>, http) &amp; returns endpoint to SF</a:t>
            </a:r>
          </a:p>
          <a:p>
            <a:pPr lvl="2"/>
            <a:r>
              <a:rPr lang="en-US" dirty="0"/>
              <a:t>SF runtime sends all names/endpoints to SF naming service</a:t>
            </a:r>
          </a:p>
          <a:p>
            <a:pPr lvl="2"/>
            <a:r>
              <a:rPr lang="en-US" dirty="0"/>
              <a:t>Endpoints are visible in Service Fabric Explorer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Steps to have your Service Listen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4234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355312"/>
          </a:xfrm>
        </p:spPr>
        <p:txBody>
          <a:bodyPr/>
          <a:lstStyle/>
          <a:p>
            <a:pPr marL="742950" indent="-742950">
              <a:buFont typeface="+mj-lt"/>
              <a:buAutoNum type="arabicPeriod" startAt="3"/>
            </a:pPr>
            <a:r>
              <a:rPr lang="en-US" dirty="0"/>
              <a:t>Make service-derived class implement interface:</a:t>
            </a:r>
          </a:p>
          <a:p>
            <a:pPr marL="74295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internal sealed class </a:t>
            </a:r>
            <a:r>
              <a:rPr lang="en-US" sz="2200" dirty="0" err="1">
                <a:latin typeface="Consolas" panose="020B0609020204030204" pitchFamily="49" charset="0"/>
              </a:rPr>
              <a:t>MyService</a:t>
            </a:r>
            <a:r>
              <a:rPr lang="en-US" sz="2200" dirty="0">
                <a:latin typeface="Consolas" panose="020B0609020204030204" pitchFamily="49" charset="0"/>
              </a:rPr>
              <a:t> : </a:t>
            </a:r>
            <a:r>
              <a:rPr lang="en-US" sz="2200" dirty="0" err="1">
                <a:latin typeface="Consolas" panose="020B0609020204030204" pitchFamily="49" charset="0"/>
              </a:rPr>
              <a:t>StatelessService</a:t>
            </a:r>
            <a:r>
              <a:rPr lang="en-US" sz="2200" dirty="0">
                <a:latin typeface="Consolas" panose="020B0609020204030204" pitchFamily="49" charset="0"/>
              </a:rPr>
              <a:t>, </a:t>
            </a:r>
            <a:r>
              <a:rPr lang="en-US" sz="2200" dirty="0" err="1">
                <a:latin typeface="Consolas" panose="020B0609020204030204" pitchFamily="49" charset="0"/>
              </a:rPr>
              <a:t>IMyService</a:t>
            </a:r>
            <a:r>
              <a:rPr lang="en-US" sz="22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        public Task&lt;Int32&gt; </a:t>
            </a:r>
            <a:r>
              <a:rPr lang="en-US" sz="2200" dirty="0" err="1">
                <a:latin typeface="Consolas" panose="020B0609020204030204" pitchFamily="49" charset="0"/>
              </a:rPr>
              <a:t>AddAsync</a:t>
            </a:r>
            <a:r>
              <a:rPr lang="en-US" sz="2200" dirty="0">
                <a:latin typeface="Consolas" panose="020B0609020204030204" pitchFamily="49" charset="0"/>
              </a:rPr>
              <a:t>(Int32 x, Int32 y) </a:t>
            </a: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</a:rPr>
              <a:t>           =&gt; </a:t>
            </a:r>
            <a:r>
              <a:rPr lang="en-US" sz="2200" dirty="0" err="1">
                <a:latin typeface="Consolas" panose="020B0609020204030204" pitchFamily="49" charset="0"/>
              </a:rPr>
              <a:t>Task.FromResult</a:t>
            </a:r>
            <a:r>
              <a:rPr lang="en-US" sz="2200" dirty="0">
                <a:latin typeface="Consolas" panose="020B0609020204030204" pitchFamily="49" charset="0"/>
              </a:rPr>
              <a:t>(x + y);</a:t>
            </a:r>
            <a:br>
              <a:rPr lang="en-US" sz="2200" dirty="0">
                <a:latin typeface="Consolas" panose="020B0609020204030204" pitchFamily="49" charset="0"/>
              </a:rPr>
            </a:br>
            <a:endParaRPr lang="en-US" sz="2200" dirty="0">
              <a:latin typeface="Consolas" panose="020B0609020204030204" pitchFamily="49" charset="0"/>
            </a:endParaRPr>
          </a:p>
          <a:p>
            <a:pPr marL="742950" indent="-742950">
              <a:buFont typeface="+mj-lt"/>
              <a:buAutoNum type="arabicPeriod" startAt="4"/>
            </a:pPr>
            <a:r>
              <a:rPr lang="en-US" dirty="0"/>
              <a:t>Add </a:t>
            </a:r>
            <a:r>
              <a:rPr lang="en-US" dirty="0" err="1"/>
              <a:t>ServiceRemotingListener</a:t>
            </a:r>
            <a:r>
              <a:rPr lang="en-US" dirty="0"/>
              <a:t> to Service:</a:t>
            </a:r>
            <a:br>
              <a:rPr lang="en-US" dirty="0"/>
            </a:br>
            <a:r>
              <a:rPr lang="en-US" sz="2200" dirty="0">
                <a:latin typeface="Consolas" panose="020B0609020204030204" pitchFamily="49" charset="0"/>
              </a:rPr>
              <a:t>protected override </a:t>
            </a:r>
            <a:r>
              <a:rPr lang="en-US" sz="2200" dirty="0" err="1">
                <a:latin typeface="Consolas" panose="020B0609020204030204" pitchFamily="49" charset="0"/>
              </a:rPr>
              <a:t>IEnumerable</a:t>
            </a:r>
            <a:r>
              <a:rPr lang="en-US" sz="2200" dirty="0">
                <a:latin typeface="Consolas" panose="020B0609020204030204" pitchFamily="49" charset="0"/>
              </a:rPr>
              <a:t>&lt;</a:t>
            </a:r>
            <a:r>
              <a:rPr lang="en-US" sz="2200" dirty="0" err="1">
                <a:latin typeface="Consolas" panose="020B0609020204030204" pitchFamily="49" charset="0"/>
              </a:rPr>
              <a:t>ServiceInstanceListener</a:t>
            </a:r>
            <a:r>
              <a:rPr lang="en-US" sz="2200" dirty="0">
                <a:latin typeface="Consolas" panose="020B0609020204030204" pitchFamily="49" charset="0"/>
              </a:rPr>
              <a:t>&gt;</a:t>
            </a: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</a:rPr>
              <a:t>      </a:t>
            </a:r>
            <a:r>
              <a:rPr lang="en-US" sz="2200" dirty="0" err="1">
                <a:latin typeface="Consolas" panose="020B0609020204030204" pitchFamily="49" charset="0"/>
              </a:rPr>
              <a:t>CreateServiceInstanceListeners</a:t>
            </a:r>
            <a:r>
              <a:rPr lang="en-US" sz="2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      =&gt; new[] { 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            // </a:t>
            </a:r>
            <a:r>
              <a:rPr lang="en-US" sz="2200" dirty="0" err="1">
                <a:latin typeface="Consolas" panose="020B0609020204030204" pitchFamily="49" charset="0"/>
              </a:rPr>
              <a:t>params</a:t>
            </a:r>
            <a:r>
              <a:rPr lang="en-US" sz="2200" dirty="0">
                <a:latin typeface="Consolas" panose="020B0609020204030204" pitchFamily="49" charset="0"/>
              </a:rPr>
              <a:t> has: Service type/name (strings), </a:t>
            </a: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</a:rPr>
              <a:t>            // partition Id (</a:t>
            </a:r>
            <a:r>
              <a:rPr lang="en-US" sz="2200" dirty="0" err="1">
                <a:latin typeface="Consolas" panose="020B0609020204030204" pitchFamily="49" charset="0"/>
              </a:rPr>
              <a:t>Guid</a:t>
            </a:r>
            <a:r>
              <a:rPr lang="en-US" sz="2200" dirty="0">
                <a:latin typeface="Consolas" panose="020B0609020204030204" pitchFamily="49" charset="0"/>
              </a:rPr>
              <a:t>), instance Id (Int64)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            new </a:t>
            </a:r>
            <a:r>
              <a:rPr lang="en-US" sz="2200" dirty="0" err="1">
                <a:latin typeface="Consolas" panose="020B0609020204030204" pitchFamily="49" charset="0"/>
              </a:rPr>
              <a:t>ServiceInstanceListener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 err="1">
                <a:latin typeface="Consolas" panose="020B0609020204030204" pitchFamily="49" charset="0"/>
              </a:rPr>
              <a:t>params</a:t>
            </a:r>
            <a:r>
              <a:rPr lang="en-US" sz="2200" dirty="0">
                <a:latin typeface="Consolas" panose="020B0609020204030204" pitchFamily="49" charset="0"/>
              </a:rPr>
              <a:t> =&gt; </a:t>
            </a: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</a:rPr>
              <a:t>                new </a:t>
            </a:r>
            <a:r>
              <a:rPr lang="en-US" sz="2200" dirty="0" err="1">
                <a:latin typeface="Consolas" panose="020B0609020204030204" pitchFamily="49" charset="0"/>
              </a:rPr>
              <a:t>ServiceRemotingListener</a:t>
            </a:r>
            <a:r>
              <a:rPr lang="en-US" sz="2200" dirty="0">
                <a:latin typeface="Consolas" panose="020B0609020204030204" pitchFamily="49" charset="0"/>
              </a:rPr>
              <a:t>&lt;</a:t>
            </a:r>
            <a:r>
              <a:rPr lang="en-US" sz="2200" dirty="0" err="1">
                <a:latin typeface="Consolas" panose="020B0609020204030204" pitchFamily="49" charset="0"/>
              </a:rPr>
              <a:t>IMyService</a:t>
            </a:r>
            <a:r>
              <a:rPr lang="en-US" sz="2200" dirty="0">
                <a:latin typeface="Consolas" panose="020B0609020204030204" pitchFamily="49" charset="0"/>
              </a:rPr>
              <a:t>&gt;(</a:t>
            </a:r>
            <a:r>
              <a:rPr lang="en-US" sz="2200" dirty="0" err="1">
                <a:latin typeface="Consolas" panose="020B0609020204030204" pitchFamily="49" charset="0"/>
              </a:rPr>
              <a:t>params</a:t>
            </a:r>
            <a:r>
              <a:rPr lang="en-US" sz="2200" dirty="0">
                <a:latin typeface="Consolas" panose="020B0609020204030204" pitchFamily="49" charset="0"/>
              </a:rPr>
              <a:t>, this),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                "</a:t>
            </a:r>
            <a:r>
              <a:rPr lang="en-US" sz="2200" dirty="0" err="1">
                <a:latin typeface="Consolas" panose="020B0609020204030204" pitchFamily="49" charset="0"/>
              </a:rPr>
              <a:t>RpcEndpoint</a:t>
            </a:r>
            <a:r>
              <a:rPr lang="en-US" sz="2200" dirty="0">
                <a:latin typeface="Consolas" panose="020B0609020204030204" pitchFamily="49" charset="0"/>
              </a:rPr>
              <a:t>") };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Built-In RPC Listener (Server-Side)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90507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973122"/>
          </a:xfrm>
        </p:spPr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dirty="0"/>
              <a:t>Create proxy object over interface:</a:t>
            </a:r>
          </a:p>
          <a:p>
            <a:pPr marL="746125" indent="0">
              <a:buNone/>
            </a:pPr>
            <a:r>
              <a:rPr lang="en-US" sz="2600" dirty="0" err="1">
                <a:latin typeface="Consolas" panose="020B0609020204030204" pitchFamily="49" charset="0"/>
              </a:rPr>
              <a:t>IMyService</a:t>
            </a:r>
            <a:r>
              <a:rPr lang="en-US" sz="2600" dirty="0">
                <a:latin typeface="Consolas" panose="020B0609020204030204" pitchFamily="49" charset="0"/>
              </a:rPr>
              <a:t> proxy = </a:t>
            </a:r>
            <a:r>
              <a:rPr lang="en-US" sz="2600" dirty="0" err="1">
                <a:latin typeface="Consolas" panose="020B0609020204030204" pitchFamily="49" charset="0"/>
              </a:rPr>
              <a:t>ServiceProxy.Create</a:t>
            </a:r>
            <a:r>
              <a:rPr lang="en-US" sz="2600" dirty="0">
                <a:latin typeface="Consolas" panose="020B0609020204030204" pitchFamily="49" charset="0"/>
              </a:rPr>
              <a:t>&lt;</a:t>
            </a:r>
            <a:r>
              <a:rPr lang="en-US" sz="2600" dirty="0" err="1">
                <a:latin typeface="Consolas" panose="020B0609020204030204" pitchFamily="49" charset="0"/>
              </a:rPr>
              <a:t>IMyService</a:t>
            </a:r>
            <a:r>
              <a:rPr lang="en-US" sz="2600" dirty="0">
                <a:latin typeface="Consolas" panose="020B0609020204030204" pitchFamily="49" charset="0"/>
              </a:rPr>
              <a:t>&gt;(</a:t>
            </a:r>
          </a:p>
          <a:p>
            <a:pPr marL="746125" indent="0">
              <a:buNone/>
            </a:pPr>
            <a:r>
              <a:rPr lang="en-US" sz="2600" dirty="0">
                <a:latin typeface="Consolas" panose="020B0609020204030204" pitchFamily="49" charset="0"/>
              </a:rPr>
              <a:t>   new Uri("fabric:/</a:t>
            </a:r>
            <a:r>
              <a:rPr lang="en-US" sz="2600" dirty="0" err="1">
                <a:latin typeface="Consolas" panose="020B0609020204030204" pitchFamily="49" charset="0"/>
              </a:rPr>
              <a:t>MyApp</a:t>
            </a:r>
            <a:r>
              <a:rPr lang="en-US" sz="2600" dirty="0">
                <a:latin typeface="Consolas" panose="020B0609020204030204" pitchFamily="49" charset="0"/>
              </a:rPr>
              <a:t>/</a:t>
            </a:r>
            <a:r>
              <a:rPr lang="en-US" sz="2600" dirty="0" err="1">
                <a:latin typeface="Consolas" panose="020B0609020204030204" pitchFamily="49" charset="0"/>
              </a:rPr>
              <a:t>MySvc</a:t>
            </a:r>
            <a:r>
              <a:rPr lang="en-US" sz="2600" dirty="0">
                <a:latin typeface="Consolas" panose="020B0609020204030204" pitchFamily="49" charset="0"/>
              </a:rPr>
              <a:t>"), "</a:t>
            </a:r>
            <a:r>
              <a:rPr lang="en-US" sz="2600" dirty="0" err="1">
                <a:latin typeface="Consolas" panose="020B0609020204030204" pitchFamily="49" charset="0"/>
              </a:rPr>
              <a:t>RpcEndpoint</a:t>
            </a:r>
            <a:r>
              <a:rPr lang="en-US" sz="2600" dirty="0">
                <a:latin typeface="Consolas" panose="020B0609020204030204" pitchFamily="49" charset="0"/>
              </a:rPr>
              <a:t>");</a:t>
            </a:r>
            <a:br>
              <a:rPr lang="en-US" sz="2600" dirty="0">
                <a:latin typeface="Consolas" panose="020B0609020204030204" pitchFamily="49" charset="0"/>
              </a:rPr>
            </a:br>
            <a:endParaRPr lang="en-US" sz="2600" dirty="0">
              <a:latin typeface="Consolas" panose="020B0609020204030204" pitchFamily="49" charset="0"/>
            </a:endParaRPr>
          </a:p>
          <a:p>
            <a:pPr marL="742950" indent="-742950">
              <a:buFont typeface="+mj-lt"/>
              <a:buAutoNum type="arabicPeriod" startAt="2"/>
            </a:pPr>
            <a:r>
              <a:rPr lang="en-US" dirty="0"/>
              <a:t>Call method (proxy chooses partition’s instance):</a:t>
            </a:r>
          </a:p>
          <a:p>
            <a:pPr marL="746125" indent="0">
              <a:buNone/>
            </a:pPr>
            <a:r>
              <a:rPr lang="en-US" sz="2600" dirty="0">
                <a:latin typeface="Consolas" panose="020B0609020204030204" pitchFamily="49" charset="0"/>
              </a:rPr>
              <a:t>Int32 sum = await </a:t>
            </a:r>
            <a:r>
              <a:rPr lang="en-US" sz="2600" dirty="0" err="1">
                <a:latin typeface="Consolas" panose="020B0609020204030204" pitchFamily="49" charset="0"/>
              </a:rPr>
              <a:t>proxy.AddAsync</a:t>
            </a:r>
            <a:r>
              <a:rPr lang="en-US" sz="2600" dirty="0">
                <a:latin typeface="Consolas" panose="020B0609020204030204" pitchFamily="49" charset="0"/>
              </a:rPr>
              <a:t>(1, 2);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Built-In RPC Listener (Client-Side)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38793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240" y="1186356"/>
            <a:ext cx="7170265" cy="3176254"/>
          </a:xfrm>
        </p:spPr>
        <p:txBody>
          <a:bodyPr/>
          <a:lstStyle/>
          <a:p>
            <a:r>
              <a:rPr lang="en-US" dirty="0"/>
              <a:t>Deploying &amp; Accessing the</a:t>
            </a:r>
            <a:br>
              <a:rPr lang="en-US" dirty="0"/>
            </a:br>
            <a:r>
              <a:rPr lang="en-US" dirty="0"/>
              <a:t>Service </a:t>
            </a:r>
          </a:p>
        </p:txBody>
      </p:sp>
    </p:spTree>
    <p:extLst>
      <p:ext uri="{BB962C8B-B14F-4D97-AF65-F5344CB8AC3E}">
        <p14:creationId xmlns:p14="http://schemas.microsoft.com/office/powerpoint/2010/main" val="2646666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4745915"/>
          </a:xfrm>
        </p:spPr>
        <p:txBody>
          <a:bodyPr/>
          <a:lstStyle/>
          <a:p>
            <a:pPr marL="398463" indent="-398463">
              <a:buFont typeface="+mj-lt"/>
              <a:buAutoNum type="arabicPeriod"/>
            </a:pPr>
            <a:r>
              <a:rPr lang="en-US" dirty="0"/>
              <a:t>Client queries naming service </a:t>
            </a:r>
          </a:p>
          <a:p>
            <a:pPr lvl="1"/>
            <a:r>
              <a:rPr lang="en-US" dirty="0"/>
              <a:t>Pass service/partition key; returns endpoint</a:t>
            </a:r>
          </a:p>
          <a:p>
            <a:pPr marL="398463" indent="-398463">
              <a:buFont typeface="+mj-lt"/>
              <a:buAutoNum type="arabicPeriod"/>
            </a:pPr>
            <a:r>
              <a:rPr lang="en-US" dirty="0"/>
              <a:t>Client communicates with endpoint</a:t>
            </a:r>
          </a:p>
          <a:p>
            <a:pPr lvl="1"/>
            <a:r>
              <a:rPr lang="en-US" dirty="0"/>
              <a:t>If service moves; communication fails. Re-query naming service.</a:t>
            </a:r>
          </a:p>
          <a:p>
            <a:pPr marL="336145" lvl="1" indent="0">
              <a:buNone/>
            </a:pPr>
            <a:endParaRPr lang="en-US" dirty="0"/>
          </a:p>
          <a:p>
            <a:r>
              <a:rPr lang="en-US" dirty="0"/>
              <a:t>Ways to query naming service</a:t>
            </a:r>
          </a:p>
          <a:p>
            <a:pPr lvl="1"/>
            <a:r>
              <a:rPr lang="en-US" dirty="0" err="1">
                <a:hlinkClick r:id="rId3"/>
              </a:rPr>
              <a:t>ResolvePartition</a:t>
            </a:r>
            <a:r>
              <a:rPr lang="en-US" dirty="0"/>
              <a:t> (REST)</a:t>
            </a:r>
          </a:p>
          <a:p>
            <a:pPr lvl="1"/>
            <a:r>
              <a:rPr lang="en-US" dirty="0">
                <a:hlinkClick r:id="rId4"/>
              </a:rPr>
              <a:t>Resolve-</a:t>
            </a:r>
            <a:r>
              <a:rPr lang="en-US" dirty="0" err="1">
                <a:hlinkClick r:id="rId4"/>
              </a:rPr>
              <a:t>ServiceFabricService</a:t>
            </a:r>
            <a:r>
              <a:rPr lang="en-US" dirty="0"/>
              <a:t> (PowerShell)</a:t>
            </a:r>
          </a:p>
          <a:p>
            <a:pPr lvl="1"/>
            <a:r>
              <a:rPr lang="en-US" dirty="0">
                <a:hlinkClick r:id="rId5"/>
              </a:rPr>
              <a:t>ServicePartitionResolver</a:t>
            </a:r>
            <a:r>
              <a:rPr lang="en-US" dirty="0"/>
              <a:t> (.NET)</a:t>
            </a:r>
          </a:p>
          <a:p>
            <a:pPr lvl="2"/>
            <a:r>
              <a:rPr lang="en-US" dirty="0"/>
              <a:t>See also </a:t>
            </a:r>
            <a:r>
              <a:rPr lang="en-US" dirty="0" err="1">
                <a:hlinkClick r:id="rId6"/>
              </a:rPr>
              <a:t>ServicePartitionClient</a:t>
            </a:r>
            <a:r>
              <a:rPr lang="en-US" dirty="0"/>
              <a:t> which adds retry support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have Client Talk to Service</a:t>
            </a:r>
          </a:p>
        </p:txBody>
      </p:sp>
    </p:spTree>
    <p:extLst>
      <p:ext uri="{BB962C8B-B14F-4D97-AF65-F5344CB8AC3E}">
        <p14:creationId xmlns:p14="http://schemas.microsoft.com/office/powerpoint/2010/main" val="215319734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538311"/>
            <a:ext cx="11759277" cy="4795159"/>
          </a:xfrm>
        </p:spPr>
        <p:txBody>
          <a:bodyPr/>
          <a:lstStyle/>
          <a:p>
            <a:pPr marL="0" indent="0">
              <a:buNone/>
            </a:pPr>
            <a:r>
              <a:rPr lang="en-US" sz="3400" dirty="0">
                <a:latin typeface="Consolas" panose="020B0609020204030204" pitchFamily="49" charset="0"/>
              </a:rPr>
              <a:t>$"http(s)://{</a:t>
            </a:r>
            <a:r>
              <a:rPr lang="en-US" sz="3400" dirty="0" err="1">
                <a:latin typeface="Consolas" panose="020B0609020204030204" pitchFamily="49" charset="0"/>
              </a:rPr>
              <a:t>nodeNameorIP</a:t>
            </a:r>
            <a:r>
              <a:rPr lang="en-US" sz="3400" dirty="0">
                <a:latin typeface="Consolas" panose="020B0609020204030204" pitchFamily="49" charset="0"/>
              </a:rPr>
              <a:t>}:{port}/" +</a:t>
            </a:r>
          </a:p>
          <a:p>
            <a:pPr marL="0" indent="0">
              <a:buNone/>
            </a:pPr>
            <a:r>
              <a:rPr lang="en-US" sz="3400" dirty="0">
                <a:latin typeface="Consolas" panose="020B0609020204030204" pitchFamily="49" charset="0"/>
              </a:rPr>
              <a:t>$"</a:t>
            </a:r>
            <a:r>
              <a:rPr lang="en-US" sz="3400" u="sng" dirty="0">
                <a:latin typeface="Consolas" panose="020B0609020204030204" pitchFamily="49" charset="0"/>
              </a:rPr>
              <a:t>{</a:t>
            </a:r>
            <a:r>
              <a:rPr lang="en-US" sz="3400" u="sng" dirty="0" err="1">
                <a:latin typeface="Consolas" panose="020B0609020204030204" pitchFamily="49" charset="0"/>
              </a:rPr>
              <a:t>partitionId</a:t>
            </a:r>
            <a:r>
              <a:rPr lang="en-US" sz="3400" u="sng" dirty="0">
                <a:latin typeface="Consolas" panose="020B0609020204030204" pitchFamily="49" charset="0"/>
              </a:rPr>
              <a:t>}/{</a:t>
            </a:r>
            <a:r>
              <a:rPr lang="en-US" sz="3400" u="sng" dirty="0" err="1">
                <a:latin typeface="Consolas" panose="020B0609020204030204" pitchFamily="49" charset="0"/>
              </a:rPr>
              <a:t>instanceId</a:t>
            </a:r>
            <a:r>
              <a:rPr lang="en-US" sz="3400" u="sng" dirty="0">
                <a:latin typeface="Consolas" panose="020B0609020204030204" pitchFamily="49" charset="0"/>
              </a:rPr>
              <a:t>}</a:t>
            </a:r>
            <a:r>
              <a:rPr lang="en-US" sz="3400" dirty="0">
                <a:latin typeface="Consolas" panose="020B0609020204030204" pitchFamily="49" charset="0"/>
              </a:rPr>
              <a:t>/</a:t>
            </a:r>
            <a:r>
              <a:rPr lang="en-US" sz="3400" u="sng" dirty="0">
                <a:latin typeface="Consolas" panose="020B0609020204030204" pitchFamily="49" charset="0"/>
              </a:rPr>
              <a:t>{</a:t>
            </a:r>
            <a:r>
              <a:rPr lang="en-US" sz="3400" u="sng" dirty="0" err="1">
                <a:latin typeface="Consolas" panose="020B0609020204030204" pitchFamily="49" charset="0"/>
              </a:rPr>
              <a:t>Guid.NewGuid</a:t>
            </a:r>
            <a:r>
              <a:rPr lang="en-US" sz="3400" u="sng" dirty="0">
                <a:latin typeface="Consolas" panose="020B0609020204030204" pitchFamily="49" charset="0"/>
              </a:rPr>
              <a:t>()}</a:t>
            </a:r>
            <a:r>
              <a:rPr lang="en-US" sz="3400" dirty="0">
                <a:latin typeface="Consolas" panose="020B0609020204030204" pitchFamily="49" charset="0"/>
              </a:rPr>
              <a:t>/"</a:t>
            </a:r>
            <a:br>
              <a:rPr lang="en-US" sz="3400" dirty="0">
                <a:latin typeface="Consolas" panose="020B0609020204030204" pitchFamily="49" charset="0"/>
              </a:rPr>
            </a:br>
            <a:r>
              <a:rPr lang="en-US" sz="3400" dirty="0">
                <a:latin typeface="Consolas" panose="020B0609020204030204" pitchFamily="49" charset="0"/>
              </a:rPr>
              <a:t/>
            </a:r>
            <a:br>
              <a:rPr lang="en-US" sz="3400" dirty="0">
                <a:latin typeface="Consolas" panose="020B0609020204030204" pitchFamily="49" charset="0"/>
              </a:rPr>
            </a:br>
            <a:r>
              <a:rPr lang="en-US" sz="3400" dirty="0">
                <a:latin typeface="Consolas" panose="020B0609020204030204" pitchFamily="49" charset="0"/>
              </a:rPr>
              <a:t/>
            </a:r>
            <a:br>
              <a:rPr lang="en-US" sz="3400" dirty="0">
                <a:latin typeface="Consolas" panose="020B0609020204030204" pitchFamily="49" charset="0"/>
              </a:rPr>
            </a:br>
            <a:r>
              <a:rPr lang="en-US" sz="3400" dirty="0">
                <a:latin typeface="Consolas" panose="020B0609020204030204" pitchFamily="49" charset="0"/>
              </a:rPr>
              <a:t/>
            </a:r>
            <a:br>
              <a:rPr lang="en-US" sz="3400" dirty="0">
                <a:latin typeface="Consolas" panose="020B0609020204030204" pitchFamily="49" charset="0"/>
              </a:rPr>
            </a:br>
            <a:endParaRPr lang="en-US" sz="3400" dirty="0">
              <a:latin typeface="Consolas" panose="020B0609020204030204" pitchFamily="49" charset="0"/>
            </a:endParaRPr>
          </a:p>
          <a:p>
            <a:r>
              <a:rPr lang="en-US" dirty="0"/>
              <a:t>Example:</a:t>
            </a:r>
          </a:p>
          <a:p>
            <a:pPr marL="336145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http://192.168.1.71:80/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99ab0795-c10f-4524-83e1-54025d8f9732/130951445550694185/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dc09a30c-9b7f-4374-91b7-e0784134995b/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HTTP Endpoint String Format</a:t>
            </a:r>
          </a:p>
        </p:txBody>
      </p:sp>
      <p:sp>
        <p:nvSpPr>
          <p:cNvPr id="5" name="Up Arrow Callout 4"/>
          <p:cNvSpPr/>
          <p:nvPr/>
        </p:nvSpPr>
        <p:spPr bwMode="auto">
          <a:xfrm>
            <a:off x="7406640" y="2701636"/>
            <a:ext cx="3674225" cy="1321724"/>
          </a:xfrm>
          <a:prstGeom prst="upArrowCallou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3175"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  <a:t>Makes every</a:t>
            </a:r>
            <a:b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</a:b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  <a:t>endpoint unique</a:t>
            </a:r>
          </a:p>
        </p:txBody>
      </p:sp>
      <p:sp>
        <p:nvSpPr>
          <p:cNvPr id="6" name="Up Arrow Callout 5"/>
          <p:cNvSpPr/>
          <p:nvPr/>
        </p:nvSpPr>
        <p:spPr bwMode="auto">
          <a:xfrm>
            <a:off x="897775" y="2701636"/>
            <a:ext cx="6159730" cy="1321724"/>
          </a:xfrm>
          <a:prstGeom prst="upArrowCallou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3175"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  <a:t>For</a:t>
            </a:r>
            <a:b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</a:b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  <a:t>diagnostics</a:t>
            </a:r>
          </a:p>
        </p:txBody>
      </p:sp>
    </p:spTree>
    <p:extLst>
      <p:ext uri="{BB962C8B-B14F-4D97-AF65-F5344CB8AC3E}">
        <p14:creationId xmlns:p14="http://schemas.microsoft.com/office/powerpoint/2010/main" val="100657194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5312223"/>
          </a:xfrm>
        </p:spPr>
        <p:txBody>
          <a:bodyPr/>
          <a:lstStyle/>
          <a:p>
            <a:r>
              <a:rPr lang="en-US" sz="1400" dirty="0"/>
              <a:t>Application log/temp/work directories:</a:t>
            </a:r>
          </a:p>
          <a:p>
            <a:pPr lvl="1"/>
            <a:r>
              <a:rPr lang="en-US" sz="1050" dirty="0"/>
              <a:t>C:\ProgramData\Microsoft\SF\(nodename)\Fabric\work\Applications\</a:t>
            </a:r>
            <a:br>
              <a:rPr lang="en-US" sz="1050" dirty="0"/>
            </a:br>
            <a:r>
              <a:rPr lang="en-US" sz="1050" dirty="0"/>
              <a:t>SFAuctionType_App4\[log | temp | work]</a:t>
            </a:r>
          </a:p>
          <a:p>
            <a:r>
              <a:rPr lang="en-US" sz="1400" dirty="0"/>
              <a:t>Add slides on </a:t>
            </a:r>
            <a:r>
              <a:rPr lang="en-US" sz="1400" dirty="0" err="1"/>
              <a:t>config</a:t>
            </a:r>
            <a:r>
              <a:rPr lang="en-US" sz="1400" dirty="0"/>
              <a:t> (settings), data</a:t>
            </a:r>
          </a:p>
          <a:p>
            <a:r>
              <a:rPr lang="en-US" sz="1400" dirty="0"/>
              <a:t>public </a:t>
            </a:r>
            <a:r>
              <a:rPr lang="en-US" sz="1400" dirty="0" err="1"/>
              <a:t>IList</a:t>
            </a:r>
            <a:r>
              <a:rPr lang="en-US" sz="1400" dirty="0"/>
              <a:t>&lt;string&gt; </a:t>
            </a:r>
            <a:r>
              <a:rPr lang="en-US" sz="1400" dirty="0" err="1"/>
              <a:t>GetCodePackageNames</a:t>
            </a:r>
            <a:r>
              <a:rPr lang="en-US" sz="1400" dirty="0"/>
              <a:t>();</a:t>
            </a:r>
            <a:br>
              <a:rPr lang="en-US" sz="1400" dirty="0"/>
            </a:br>
            <a:r>
              <a:rPr lang="en-US" sz="1400" dirty="0"/>
              <a:t>public </a:t>
            </a:r>
            <a:r>
              <a:rPr lang="en-US" sz="1400" dirty="0" err="1"/>
              <a:t>CodePackage</a:t>
            </a:r>
            <a:r>
              <a:rPr lang="en-US" sz="1400" dirty="0"/>
              <a:t> </a:t>
            </a:r>
            <a:r>
              <a:rPr lang="en-US" sz="1400" dirty="0" err="1"/>
              <a:t>GetCodePackageObject</a:t>
            </a:r>
            <a:r>
              <a:rPr lang="en-US" sz="1400" dirty="0"/>
              <a:t>(string </a:t>
            </a:r>
            <a:r>
              <a:rPr lang="en-US" sz="1400" dirty="0" err="1"/>
              <a:t>packageName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public event </a:t>
            </a:r>
            <a:r>
              <a:rPr lang="en-US" sz="1400" dirty="0" err="1"/>
              <a:t>EventHandler</a:t>
            </a:r>
            <a:r>
              <a:rPr lang="en-US" sz="1400" dirty="0"/>
              <a:t>&lt;</a:t>
            </a:r>
            <a:r>
              <a:rPr lang="en-US" sz="1400" dirty="0" err="1"/>
              <a:t>PackageAddedEventArgs</a:t>
            </a:r>
            <a:r>
              <a:rPr lang="en-US" sz="1400" dirty="0"/>
              <a:t>&lt;</a:t>
            </a:r>
            <a:r>
              <a:rPr lang="en-US" sz="1400" dirty="0" err="1"/>
              <a:t>CodePackage</a:t>
            </a:r>
            <a:r>
              <a:rPr lang="en-US" sz="1400" dirty="0"/>
              <a:t>&gt;&gt; </a:t>
            </a:r>
            <a:r>
              <a:rPr lang="en-US" sz="1400" dirty="0" err="1"/>
              <a:t>CodePackageAddedEvent</a:t>
            </a:r>
            <a:r>
              <a:rPr lang="en-US" sz="1400" dirty="0"/>
              <a:t>;</a:t>
            </a:r>
            <a:br>
              <a:rPr lang="en-US" sz="1400" dirty="0"/>
            </a:br>
            <a:r>
              <a:rPr lang="en-US" sz="1400" dirty="0"/>
              <a:t>public event </a:t>
            </a:r>
            <a:r>
              <a:rPr lang="en-US" sz="1400" dirty="0" err="1"/>
              <a:t>EventHandler</a:t>
            </a:r>
            <a:r>
              <a:rPr lang="en-US" sz="1400" dirty="0"/>
              <a:t>&lt;</a:t>
            </a:r>
            <a:r>
              <a:rPr lang="en-US" sz="1400" dirty="0" err="1"/>
              <a:t>PackageModifiedEventArgs</a:t>
            </a:r>
            <a:r>
              <a:rPr lang="en-US" sz="1400" dirty="0"/>
              <a:t>&lt;</a:t>
            </a:r>
            <a:r>
              <a:rPr lang="en-US" sz="1400" dirty="0" err="1"/>
              <a:t>CodePackage</a:t>
            </a:r>
            <a:r>
              <a:rPr lang="en-US" sz="1400" dirty="0"/>
              <a:t>&gt;&gt; </a:t>
            </a:r>
            <a:r>
              <a:rPr lang="en-US" sz="1400" dirty="0" err="1"/>
              <a:t>CodePackageModifiedEvent</a:t>
            </a:r>
            <a:r>
              <a:rPr lang="en-US" sz="1400" dirty="0"/>
              <a:t>;</a:t>
            </a:r>
            <a:br>
              <a:rPr lang="en-US" sz="1400" dirty="0"/>
            </a:br>
            <a:r>
              <a:rPr lang="en-US" sz="1400" dirty="0"/>
              <a:t>public event </a:t>
            </a:r>
            <a:r>
              <a:rPr lang="en-US" sz="1400" dirty="0" err="1"/>
              <a:t>EventHandler</a:t>
            </a:r>
            <a:r>
              <a:rPr lang="en-US" sz="1400" dirty="0"/>
              <a:t>&lt;</a:t>
            </a:r>
            <a:r>
              <a:rPr lang="en-US" sz="1400" dirty="0" err="1"/>
              <a:t>PackageRemovedEventArgs</a:t>
            </a:r>
            <a:r>
              <a:rPr lang="en-US" sz="1400" dirty="0"/>
              <a:t>&lt;</a:t>
            </a:r>
            <a:r>
              <a:rPr lang="en-US" sz="1400" dirty="0" err="1"/>
              <a:t>CodePackage</a:t>
            </a:r>
            <a:r>
              <a:rPr lang="en-US" sz="1400" dirty="0"/>
              <a:t>&gt;&gt; </a:t>
            </a:r>
            <a:r>
              <a:rPr lang="en-US" sz="1400" dirty="0" err="1"/>
              <a:t>CodePackageRemovedEvent</a:t>
            </a:r>
            <a:r>
              <a:rPr lang="en-US" sz="1400" dirty="0"/>
              <a:t>;</a:t>
            </a:r>
          </a:p>
          <a:p>
            <a:r>
              <a:rPr lang="en-US" sz="1400" dirty="0"/>
              <a:t>public </a:t>
            </a:r>
            <a:r>
              <a:rPr lang="en-US" sz="1400" dirty="0" err="1"/>
              <a:t>IList</a:t>
            </a:r>
            <a:r>
              <a:rPr lang="en-US" sz="1400" dirty="0"/>
              <a:t>&lt;string&gt; </a:t>
            </a:r>
            <a:r>
              <a:rPr lang="en-US" sz="1400" dirty="0" err="1"/>
              <a:t>GetConfigurationPackageNames</a:t>
            </a:r>
            <a:r>
              <a:rPr lang="en-US" sz="1400" dirty="0"/>
              <a:t>();</a:t>
            </a:r>
            <a:br>
              <a:rPr lang="en-US" sz="1400" dirty="0"/>
            </a:br>
            <a:r>
              <a:rPr lang="en-US" sz="1400" dirty="0"/>
              <a:t>public </a:t>
            </a:r>
            <a:r>
              <a:rPr lang="en-US" sz="1400" dirty="0" err="1"/>
              <a:t>ConfigurationPackage</a:t>
            </a:r>
            <a:r>
              <a:rPr lang="en-US" sz="1400" dirty="0"/>
              <a:t> </a:t>
            </a:r>
            <a:r>
              <a:rPr lang="en-US" sz="1400" dirty="0" err="1"/>
              <a:t>GetConfigurationPackageObject</a:t>
            </a:r>
            <a:r>
              <a:rPr lang="en-US" sz="1400" dirty="0"/>
              <a:t>(string </a:t>
            </a:r>
            <a:r>
              <a:rPr lang="en-US" sz="1400" dirty="0" err="1"/>
              <a:t>packageName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public event </a:t>
            </a:r>
            <a:r>
              <a:rPr lang="en-US" sz="1400" dirty="0" err="1"/>
              <a:t>EventHandler</a:t>
            </a:r>
            <a:r>
              <a:rPr lang="en-US" sz="1400" dirty="0"/>
              <a:t>&lt;</a:t>
            </a:r>
            <a:r>
              <a:rPr lang="en-US" sz="1400" dirty="0" err="1"/>
              <a:t>PackageAddedEventArgs</a:t>
            </a:r>
            <a:r>
              <a:rPr lang="en-US" sz="1400" dirty="0"/>
              <a:t>&lt;</a:t>
            </a:r>
            <a:r>
              <a:rPr lang="en-US" sz="1400" dirty="0" err="1"/>
              <a:t>ConfigurationPackage</a:t>
            </a:r>
            <a:r>
              <a:rPr lang="en-US" sz="1400" dirty="0"/>
              <a:t>&gt;&gt; </a:t>
            </a:r>
            <a:r>
              <a:rPr lang="en-US" sz="1400" dirty="0" err="1"/>
              <a:t>ConfigurationPackageAddedEvent</a:t>
            </a:r>
            <a:r>
              <a:rPr lang="en-US" sz="1400" dirty="0"/>
              <a:t>;</a:t>
            </a:r>
            <a:br>
              <a:rPr lang="en-US" sz="1400" dirty="0"/>
            </a:br>
            <a:r>
              <a:rPr lang="en-US" sz="1400" dirty="0"/>
              <a:t>public event </a:t>
            </a:r>
            <a:r>
              <a:rPr lang="en-US" sz="1400" dirty="0" err="1"/>
              <a:t>EventHandler</a:t>
            </a:r>
            <a:r>
              <a:rPr lang="en-US" sz="1400" dirty="0"/>
              <a:t>&lt;</a:t>
            </a:r>
            <a:r>
              <a:rPr lang="en-US" sz="1400" dirty="0" err="1"/>
              <a:t>PackageModifiedEventArgs</a:t>
            </a:r>
            <a:r>
              <a:rPr lang="en-US" sz="1400" dirty="0"/>
              <a:t>&lt;</a:t>
            </a:r>
            <a:r>
              <a:rPr lang="en-US" sz="1400" dirty="0" err="1"/>
              <a:t>ConfigurationPackage</a:t>
            </a:r>
            <a:r>
              <a:rPr lang="en-US" sz="1400" dirty="0"/>
              <a:t>&gt;&gt; </a:t>
            </a:r>
            <a:r>
              <a:rPr lang="en-US" sz="1400" dirty="0" err="1"/>
              <a:t>ConfigurationPackageModifiedEvent</a:t>
            </a:r>
            <a:r>
              <a:rPr lang="en-US" sz="1400" dirty="0"/>
              <a:t>;</a:t>
            </a:r>
            <a:br>
              <a:rPr lang="en-US" sz="1400" dirty="0"/>
            </a:br>
            <a:r>
              <a:rPr lang="en-US" sz="1400" dirty="0"/>
              <a:t>public event </a:t>
            </a:r>
            <a:r>
              <a:rPr lang="en-US" sz="1400" dirty="0" err="1"/>
              <a:t>EventHandler</a:t>
            </a:r>
            <a:r>
              <a:rPr lang="en-US" sz="1400" dirty="0"/>
              <a:t>&lt;</a:t>
            </a:r>
            <a:r>
              <a:rPr lang="en-US" sz="1400" dirty="0" err="1"/>
              <a:t>PackageRemovedEventArgs</a:t>
            </a:r>
            <a:r>
              <a:rPr lang="en-US" sz="1400" dirty="0"/>
              <a:t>&lt;</a:t>
            </a:r>
            <a:r>
              <a:rPr lang="en-US" sz="1400" dirty="0" err="1"/>
              <a:t>ConfigurationPackage</a:t>
            </a:r>
            <a:r>
              <a:rPr lang="en-US" sz="1400" dirty="0"/>
              <a:t>&gt;&gt; </a:t>
            </a:r>
            <a:r>
              <a:rPr lang="en-US" sz="1400" dirty="0" err="1"/>
              <a:t>ConfigurationPackageRemovedEvent</a:t>
            </a:r>
            <a:r>
              <a:rPr lang="en-US" sz="1400" dirty="0"/>
              <a:t>;</a:t>
            </a:r>
          </a:p>
          <a:p>
            <a:r>
              <a:rPr lang="en-US" sz="1400" dirty="0"/>
              <a:t>public </a:t>
            </a:r>
            <a:r>
              <a:rPr lang="en-US" sz="1400" dirty="0" err="1"/>
              <a:t>IList</a:t>
            </a:r>
            <a:r>
              <a:rPr lang="en-US" sz="1400" dirty="0"/>
              <a:t>&lt;string&gt; </a:t>
            </a:r>
            <a:r>
              <a:rPr lang="en-US" sz="1400" dirty="0" err="1"/>
              <a:t>GetDataPackageNames</a:t>
            </a:r>
            <a:r>
              <a:rPr lang="en-US" sz="1400" dirty="0"/>
              <a:t>();</a:t>
            </a:r>
            <a:br>
              <a:rPr lang="en-US" sz="1400" dirty="0"/>
            </a:br>
            <a:r>
              <a:rPr lang="en-US" sz="1400" dirty="0"/>
              <a:t>public </a:t>
            </a:r>
            <a:r>
              <a:rPr lang="en-US" sz="1400" dirty="0" err="1"/>
              <a:t>DataPackage</a:t>
            </a:r>
            <a:r>
              <a:rPr lang="en-US" sz="1400" dirty="0"/>
              <a:t> </a:t>
            </a:r>
            <a:r>
              <a:rPr lang="en-US" sz="1400" dirty="0" err="1"/>
              <a:t>GetDataPackageObject</a:t>
            </a:r>
            <a:r>
              <a:rPr lang="en-US" sz="1400" dirty="0"/>
              <a:t>(string </a:t>
            </a:r>
            <a:r>
              <a:rPr lang="en-US" sz="1400" dirty="0" err="1"/>
              <a:t>packageName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public event </a:t>
            </a:r>
            <a:r>
              <a:rPr lang="en-US" sz="1400" dirty="0" err="1"/>
              <a:t>EventHandler</a:t>
            </a:r>
            <a:r>
              <a:rPr lang="en-US" sz="1400" dirty="0"/>
              <a:t>&lt;</a:t>
            </a:r>
            <a:r>
              <a:rPr lang="en-US" sz="1400" dirty="0" err="1"/>
              <a:t>PackageAddedEventArgs</a:t>
            </a:r>
            <a:r>
              <a:rPr lang="en-US" sz="1400" dirty="0"/>
              <a:t>&lt;</a:t>
            </a:r>
            <a:r>
              <a:rPr lang="en-US" sz="1400" dirty="0" err="1"/>
              <a:t>DataPackage</a:t>
            </a:r>
            <a:r>
              <a:rPr lang="en-US" sz="1400" dirty="0"/>
              <a:t>&gt;&gt; </a:t>
            </a:r>
            <a:r>
              <a:rPr lang="en-US" sz="1400" dirty="0" err="1"/>
              <a:t>DataPackageAddedEvent</a:t>
            </a:r>
            <a:r>
              <a:rPr lang="en-US" sz="1400" dirty="0"/>
              <a:t>;</a:t>
            </a:r>
            <a:br>
              <a:rPr lang="en-US" sz="1400" dirty="0"/>
            </a:br>
            <a:r>
              <a:rPr lang="en-US" sz="1400" dirty="0"/>
              <a:t>public event </a:t>
            </a:r>
            <a:r>
              <a:rPr lang="en-US" sz="1400" dirty="0" err="1"/>
              <a:t>EventHandler</a:t>
            </a:r>
            <a:r>
              <a:rPr lang="en-US" sz="1400" dirty="0"/>
              <a:t>&lt;</a:t>
            </a:r>
            <a:r>
              <a:rPr lang="en-US" sz="1400" dirty="0" err="1"/>
              <a:t>PackageModifiedEventArgs</a:t>
            </a:r>
            <a:r>
              <a:rPr lang="en-US" sz="1400" dirty="0"/>
              <a:t>&lt;</a:t>
            </a:r>
            <a:r>
              <a:rPr lang="en-US" sz="1400" dirty="0" err="1"/>
              <a:t>DataPackage</a:t>
            </a:r>
            <a:r>
              <a:rPr lang="en-US" sz="1400" dirty="0"/>
              <a:t>&gt;&gt; </a:t>
            </a:r>
            <a:r>
              <a:rPr lang="en-US" sz="1400" dirty="0" err="1"/>
              <a:t>DataPackageModifiedEvent</a:t>
            </a:r>
            <a:r>
              <a:rPr lang="en-US" sz="1400" dirty="0"/>
              <a:t>;</a:t>
            </a:r>
            <a:br>
              <a:rPr lang="en-US" sz="1400" dirty="0"/>
            </a:br>
            <a:r>
              <a:rPr lang="en-US" sz="1400" dirty="0"/>
              <a:t>public event </a:t>
            </a:r>
            <a:r>
              <a:rPr lang="en-US" sz="1400" dirty="0" err="1"/>
              <a:t>EventHandler</a:t>
            </a:r>
            <a:r>
              <a:rPr lang="en-US" sz="1400" dirty="0"/>
              <a:t>&lt;</a:t>
            </a:r>
            <a:r>
              <a:rPr lang="en-US" sz="1400" dirty="0" err="1"/>
              <a:t>PackageRemovedEventArgs</a:t>
            </a:r>
            <a:r>
              <a:rPr lang="en-US" sz="1400" dirty="0"/>
              <a:t>&lt;</a:t>
            </a:r>
            <a:r>
              <a:rPr lang="en-US" sz="1400" dirty="0" err="1"/>
              <a:t>DataPackage</a:t>
            </a:r>
            <a:r>
              <a:rPr lang="en-US" sz="1400" dirty="0"/>
              <a:t>&gt;&gt; </a:t>
            </a:r>
            <a:r>
              <a:rPr lang="en-US" sz="1400" dirty="0" err="1"/>
              <a:t>DataPackageRemovedEvent</a:t>
            </a:r>
            <a:r>
              <a:rPr lang="en-US" sz="1400" dirty="0"/>
              <a:t>;</a:t>
            </a:r>
          </a:p>
          <a:p>
            <a:r>
              <a:rPr lang="en-US" sz="1400" dirty="0"/>
              <a:t>public </a:t>
            </a:r>
            <a:r>
              <a:rPr lang="en-US" sz="1400" dirty="0" err="1"/>
              <a:t>ApplicationPrincipalsDescription</a:t>
            </a:r>
            <a:r>
              <a:rPr lang="en-US" sz="1400" dirty="0"/>
              <a:t> </a:t>
            </a:r>
            <a:r>
              <a:rPr lang="en-US" sz="1400" dirty="0" err="1"/>
              <a:t>GetApplicationPrincipals</a:t>
            </a:r>
            <a:r>
              <a:rPr lang="en-US" sz="1400" dirty="0"/>
              <a:t>();</a:t>
            </a:r>
          </a:p>
          <a:p>
            <a:r>
              <a:rPr lang="en-US" sz="1400" dirty="0"/>
              <a:t>public </a:t>
            </a:r>
            <a:r>
              <a:rPr lang="en-US" sz="1400" dirty="0" err="1"/>
              <a:t>EndpointResourceDescription</a:t>
            </a:r>
            <a:r>
              <a:rPr lang="en-US" sz="1400" dirty="0"/>
              <a:t> </a:t>
            </a:r>
            <a:r>
              <a:rPr lang="en-US" sz="1400" dirty="0" err="1"/>
              <a:t>GetEndpoint</a:t>
            </a:r>
            <a:r>
              <a:rPr lang="en-US" sz="1400" dirty="0"/>
              <a:t>(string </a:t>
            </a:r>
            <a:r>
              <a:rPr lang="en-US" sz="1400" dirty="0" err="1"/>
              <a:t>endpointName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public </a:t>
            </a:r>
            <a:r>
              <a:rPr lang="en-US" sz="1400" dirty="0" err="1"/>
              <a:t>KeyedCollection</a:t>
            </a:r>
            <a:r>
              <a:rPr lang="en-US" sz="1400" dirty="0"/>
              <a:t>&lt;string, </a:t>
            </a:r>
            <a:r>
              <a:rPr lang="en-US" sz="1400" dirty="0" err="1"/>
              <a:t>EndpointResourceDescription</a:t>
            </a:r>
            <a:r>
              <a:rPr lang="en-US" sz="1400" dirty="0"/>
              <a:t>&gt; </a:t>
            </a:r>
            <a:r>
              <a:rPr lang="en-US" sz="1400" dirty="0" err="1"/>
              <a:t>GetEndpoints</a:t>
            </a:r>
            <a:r>
              <a:rPr lang="en-US" sz="1400" dirty="0"/>
              <a:t>();</a:t>
            </a:r>
          </a:p>
          <a:p>
            <a:r>
              <a:rPr lang="en-US" sz="1400" dirty="0"/>
              <a:t>public string </a:t>
            </a:r>
            <a:r>
              <a:rPr lang="en-US" sz="1400" dirty="0" err="1"/>
              <a:t>GetServiceManifestName</a:t>
            </a:r>
            <a:r>
              <a:rPr lang="en-US" sz="1400" dirty="0"/>
              <a:t>();</a:t>
            </a:r>
            <a:br>
              <a:rPr lang="en-US" sz="1400" dirty="0"/>
            </a:br>
            <a:r>
              <a:rPr lang="en-US" sz="1400" dirty="0"/>
              <a:t>public string </a:t>
            </a:r>
            <a:r>
              <a:rPr lang="en-US" sz="1400" dirty="0" err="1"/>
              <a:t>GetServiceManifestVersion</a:t>
            </a:r>
            <a:r>
              <a:rPr lang="en-US" sz="1400" dirty="0"/>
              <a:t>();</a:t>
            </a:r>
          </a:p>
          <a:p>
            <a:r>
              <a:rPr lang="en-US" sz="1400" dirty="0"/>
              <a:t>public </a:t>
            </a:r>
            <a:r>
              <a:rPr lang="en-US" sz="1400" dirty="0" err="1"/>
              <a:t>KeyedCollection</a:t>
            </a:r>
            <a:r>
              <a:rPr lang="en-US" sz="1400" dirty="0"/>
              <a:t>&lt;string, </a:t>
            </a:r>
            <a:r>
              <a:rPr lang="en-US" sz="1400" dirty="0" err="1"/>
              <a:t>ServiceTypeDescription</a:t>
            </a:r>
            <a:r>
              <a:rPr lang="en-US" sz="1400" dirty="0"/>
              <a:t>&gt; </a:t>
            </a:r>
            <a:r>
              <a:rPr lang="en-US" sz="1400" dirty="0" err="1"/>
              <a:t>GetServiceTypes</a:t>
            </a:r>
            <a:r>
              <a:rPr lang="en-US" sz="1400" dirty="0"/>
              <a:t>();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44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System.Fabric.dll</a:t>
            </a:r>
          </a:p>
          <a:p>
            <a:pPr lvl="1"/>
            <a:r>
              <a:rPr lang="en-US" dirty="0" err="1"/>
              <a:t>FabricRuntime</a:t>
            </a:r>
            <a:endParaRPr lang="en-US" dirty="0"/>
          </a:p>
          <a:p>
            <a:r>
              <a:rPr lang="en-US" dirty="0"/>
              <a:t>Microsoft.ServiceFabric.Services.dll</a:t>
            </a:r>
          </a:p>
          <a:p>
            <a:pPr lvl="1"/>
            <a:r>
              <a:rPr lang="en-US" dirty="0" err="1"/>
              <a:t>Microsoft.ServiceFabric.Services.Runtime</a:t>
            </a:r>
            <a:endParaRPr lang="en-US" dirty="0"/>
          </a:p>
          <a:p>
            <a:pPr lvl="2"/>
            <a:r>
              <a:rPr lang="en-US" dirty="0" err="1"/>
              <a:t>StatelessService</a:t>
            </a:r>
            <a:r>
              <a:rPr lang="en-US" dirty="0"/>
              <a:t>[Base]</a:t>
            </a:r>
          </a:p>
          <a:p>
            <a:pPr lvl="1"/>
            <a:r>
              <a:rPr lang="en-US" dirty="0" err="1"/>
              <a:t>Microsoft.ServiceFabric.Services.Communication.Runtime</a:t>
            </a:r>
            <a:endParaRPr lang="en-US" dirty="0"/>
          </a:p>
          <a:p>
            <a:pPr lvl="2"/>
            <a:r>
              <a:rPr lang="en-US" dirty="0" err="1"/>
              <a:t>ServiceInstanceListener</a:t>
            </a:r>
            <a:r>
              <a:rPr lang="en-US" dirty="0"/>
              <a:t>, </a:t>
            </a:r>
            <a:r>
              <a:rPr lang="en-US" dirty="0" err="1"/>
              <a:t>ICommunicationListener</a:t>
            </a:r>
            <a:endParaRPr lang="en-US" dirty="0"/>
          </a:p>
          <a:p>
            <a:pPr lvl="1"/>
            <a:r>
              <a:rPr lang="en-US" dirty="0" err="1"/>
              <a:t>Microsoft.ServiceFabric.Services.Client</a:t>
            </a:r>
            <a:endParaRPr lang="en-US" dirty="0"/>
          </a:p>
          <a:p>
            <a:pPr lvl="2"/>
            <a:r>
              <a:rPr lang="en-US" dirty="0"/>
              <a:t>ServicePartitionResolver</a:t>
            </a:r>
          </a:p>
          <a:p>
            <a:pPr lvl="1"/>
            <a:r>
              <a:rPr lang="en-US" dirty="0" err="1"/>
              <a:t>Microsoft.ServiceFabric.Services.Remoting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Runtime: </a:t>
            </a:r>
            <a:r>
              <a:rPr lang="en-US" dirty="0" err="1"/>
              <a:t>ServiceRemotingListener</a:t>
            </a:r>
            <a:endParaRPr lang="en-US" dirty="0"/>
          </a:p>
          <a:p>
            <a:pPr lvl="2"/>
            <a:r>
              <a:rPr lang="en-US" dirty="0"/>
              <a:t>Client: </a:t>
            </a:r>
            <a:r>
              <a:rPr lang="en-US" dirty="0" err="1"/>
              <a:t>ServiceProxy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Stateless Service .NET Assemblies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104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9240" y="1186356"/>
            <a:ext cx="7478222" cy="4173450"/>
          </a:xfrm>
        </p:spPr>
        <p:txBody>
          <a:bodyPr/>
          <a:lstStyle/>
          <a:p>
            <a:r>
              <a:rPr lang="en-US" dirty="0"/>
              <a:t>Upgrading a</a:t>
            </a:r>
            <a:br>
              <a:rPr lang="en-US" dirty="0"/>
            </a:br>
            <a:r>
              <a:rPr lang="en-US" dirty="0"/>
              <a:t>Named Application with Visual Studio</a:t>
            </a:r>
          </a:p>
        </p:txBody>
      </p:sp>
    </p:spTree>
    <p:extLst>
      <p:ext uri="{BB962C8B-B14F-4D97-AF65-F5344CB8AC3E}">
        <p14:creationId xmlns:p14="http://schemas.microsoft.com/office/powerpoint/2010/main" val="3037020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40932595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Jeffrey Richter">
  <a:themeElements>
    <a:clrScheme name="TR20 - BO">
      <a:dk1>
        <a:srgbClr val="505050"/>
      </a:dk1>
      <a:lt1>
        <a:srgbClr val="FFFFFF"/>
      </a:lt1>
      <a:dk2>
        <a:srgbClr val="0078D7"/>
      </a:dk2>
      <a:lt2>
        <a:srgbClr val="D2D2D2"/>
      </a:lt2>
      <a:accent1>
        <a:srgbClr val="D83B01"/>
      </a:accent1>
      <a:accent2>
        <a:srgbClr val="0078D7"/>
      </a:accent2>
      <a:accent3>
        <a:srgbClr val="BAD80A"/>
      </a:accent3>
      <a:accent4>
        <a:srgbClr val="FFB900"/>
      </a:accent4>
      <a:accent5>
        <a:srgbClr val="5C2D91"/>
      </a:accent5>
      <a:accent6>
        <a:srgbClr val="002050"/>
      </a:accent6>
      <a:hlink>
        <a:srgbClr val="002050"/>
      </a:hlink>
      <a:folHlink>
        <a:srgbClr val="002050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 w="3175"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Jeffrey Richter PPT Template.potx" id="{0EC3B29B-1691-4021-B91F-DD4F9F467C43}" vid="{219876D6-05DE-4F5A-B736-86EA333E67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0</TotalTime>
  <Words>710</Words>
  <Application>Microsoft Office PowerPoint</Application>
  <PresentationFormat>宽屏</PresentationFormat>
  <Paragraphs>170</Paragraphs>
  <Slides>19</Slides>
  <Notes>5</Notes>
  <HiddenSlides>10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Calibri</vt:lpstr>
      <vt:lpstr>Consolas</vt:lpstr>
      <vt:lpstr>Segoe UI</vt:lpstr>
      <vt:lpstr>Segoe UI Light</vt:lpstr>
      <vt:lpstr>Wingdings</vt:lpstr>
      <vt:lpstr>Wingdings 3</vt:lpstr>
      <vt:lpstr>Jeffrey Richter</vt:lpstr>
      <vt:lpstr>Reliable Services</vt:lpstr>
      <vt:lpstr>Reliable Services (Stateless &amp; Stateful)</vt:lpstr>
      <vt:lpstr>Many Actor Models Provide 2 Main Features</vt:lpstr>
      <vt:lpstr>Reliable Actors: Things to Note</vt:lpstr>
      <vt:lpstr>Reliable Services</vt:lpstr>
      <vt:lpstr>Creating a Stateless Reliable Service Visual Studio Solution</vt:lpstr>
      <vt:lpstr>Visual Studio’s Stateless Service Template</vt:lpstr>
      <vt:lpstr>StatelessService Base Class</vt:lpstr>
      <vt:lpstr>Migrating from Azure Cloud Services</vt:lpstr>
      <vt:lpstr>Steps to have your Service Listen</vt:lpstr>
      <vt:lpstr>Using the Built-In RPC Listener (Server-Side)</vt:lpstr>
      <vt:lpstr>Using the Built-In RPC Listener (Client-Side)</vt:lpstr>
      <vt:lpstr>Deploying &amp; Accessing the Service </vt:lpstr>
      <vt:lpstr>Steps to have Client Talk to Service</vt:lpstr>
      <vt:lpstr>Recommended HTTP Endpoint String Format</vt:lpstr>
      <vt:lpstr>TODOs</vt:lpstr>
      <vt:lpstr>Stateless Service .NET Assemblies</vt:lpstr>
      <vt:lpstr>Upgrading a Named Application with Visual Studio</vt:lpstr>
      <vt:lpstr>Q &amp; 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2016-09-07T16:51:30Z</dcterms:created>
  <dcterms:modified xsi:type="dcterms:W3CDTF">2018-07-18T13:48:24Z</dcterms:modified>
</cp:coreProperties>
</file>